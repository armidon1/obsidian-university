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8"/>
  </p:notesMasterIdLst>
  <p:sldIdLst>
    <p:sldId id="28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69" r:id="rId14"/>
    <p:sldId id="271" r:id="rId15"/>
    <p:sldId id="273" r:id="rId16"/>
    <p:sldId id="272" r:id="rId17"/>
    <p:sldId id="302" r:id="rId18"/>
    <p:sldId id="303" r:id="rId19"/>
    <p:sldId id="301" r:id="rId20"/>
    <p:sldId id="304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10287000" cy="6858000" type="35mm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56"/>
    <p:restoredTop sz="94627"/>
  </p:normalViewPr>
  <p:slideViewPr>
    <p:cSldViewPr snapToGrid="0" snapToObjects="1">
      <p:cViewPr varScale="1">
        <p:scale>
          <a:sx n="112" d="100"/>
          <a:sy n="112" d="100"/>
        </p:scale>
        <p:origin x="11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E011A8-73DC-FC45-B80B-8645A181BEA8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it-IT"/>
        </a:p>
      </dgm:t>
    </dgm:pt>
    <dgm:pt modelId="{8C2578A0-A666-374B-9190-3CACC6A55483}">
      <dgm:prSet phldrT="[Testo]"/>
      <dgm:spPr/>
      <dgm:t>
        <a:bodyPr/>
        <a:lstStyle/>
        <a:p>
          <a:r>
            <a:rPr lang="en-GB" noProof="0" dirty="0"/>
            <a:t>Coordinator-based</a:t>
          </a:r>
        </a:p>
      </dgm:t>
    </dgm:pt>
    <dgm:pt modelId="{3424AE94-8C34-F442-B56C-5F12ED258831}" type="parTrans" cxnId="{377BA1CF-3DE5-E649-9644-A5EF73963F6C}">
      <dgm:prSet/>
      <dgm:spPr/>
      <dgm:t>
        <a:bodyPr/>
        <a:lstStyle/>
        <a:p>
          <a:endParaRPr lang="en-GB" noProof="0" dirty="0"/>
        </a:p>
      </dgm:t>
    </dgm:pt>
    <dgm:pt modelId="{3D60629A-2C21-1641-B083-1B098155AE8E}" type="sibTrans" cxnId="{377BA1CF-3DE5-E649-9644-A5EF73963F6C}">
      <dgm:prSet/>
      <dgm:spPr/>
      <dgm:t>
        <a:bodyPr/>
        <a:lstStyle/>
        <a:p>
          <a:endParaRPr lang="en-GB" noProof="0" dirty="0"/>
        </a:p>
      </dgm:t>
    </dgm:pt>
    <dgm:pt modelId="{5C26C3BC-B2A9-3E4E-B0E7-AEA0EDEF984A}">
      <dgm:prSet phldrT="[Testo]"/>
      <dgm:spPr/>
      <dgm:t>
        <a:bodyPr/>
        <a:lstStyle/>
        <a:p>
          <a:r>
            <a:rPr lang="en-GB" noProof="0" dirty="0"/>
            <a:t>Token-based (over logical ring topology)</a:t>
          </a:r>
        </a:p>
      </dgm:t>
    </dgm:pt>
    <dgm:pt modelId="{070E0B65-A645-3D43-9EEF-73C9D74F374F}" type="parTrans" cxnId="{57C95894-800D-E842-B16F-1E7A22DA540B}">
      <dgm:prSet/>
      <dgm:spPr/>
      <dgm:t>
        <a:bodyPr/>
        <a:lstStyle/>
        <a:p>
          <a:endParaRPr lang="en-GB" noProof="0" dirty="0"/>
        </a:p>
      </dgm:t>
    </dgm:pt>
    <dgm:pt modelId="{9B6ED299-9131-224C-9C06-B335B0C246A7}" type="sibTrans" cxnId="{57C95894-800D-E842-B16F-1E7A22DA540B}">
      <dgm:prSet/>
      <dgm:spPr/>
      <dgm:t>
        <a:bodyPr/>
        <a:lstStyle/>
        <a:p>
          <a:endParaRPr lang="en-GB" noProof="0" dirty="0"/>
        </a:p>
      </dgm:t>
    </dgm:pt>
    <dgm:pt modelId="{3D0B83BC-7B30-C54F-B5D4-C76103829AC8}">
      <dgm:prSet phldrT="[Testo]"/>
      <dgm:spPr/>
      <dgm:t>
        <a:bodyPr/>
        <a:lstStyle/>
        <a:p>
          <a:r>
            <a:rPr lang="en-GB" noProof="0" dirty="0"/>
            <a:t>Logical Clock-based</a:t>
          </a:r>
        </a:p>
      </dgm:t>
    </dgm:pt>
    <dgm:pt modelId="{F045306C-70EC-0F43-A957-DFB4DB43F226}" type="parTrans" cxnId="{E022677C-3BAD-D748-A0CB-BECA7B5A6D74}">
      <dgm:prSet/>
      <dgm:spPr/>
      <dgm:t>
        <a:bodyPr/>
        <a:lstStyle/>
        <a:p>
          <a:endParaRPr lang="en-GB" noProof="0" dirty="0"/>
        </a:p>
      </dgm:t>
    </dgm:pt>
    <dgm:pt modelId="{6FDB2369-3F27-4F40-B35A-8F6CEFA708A2}" type="sibTrans" cxnId="{E022677C-3BAD-D748-A0CB-BECA7B5A6D74}">
      <dgm:prSet/>
      <dgm:spPr/>
      <dgm:t>
        <a:bodyPr/>
        <a:lstStyle/>
        <a:p>
          <a:endParaRPr lang="en-GB" noProof="0" dirty="0"/>
        </a:p>
      </dgm:t>
    </dgm:pt>
    <dgm:pt modelId="{9513326C-7BEF-3E41-86B5-F127C882BCD2}">
      <dgm:prSet/>
      <dgm:spPr/>
      <dgm:t>
        <a:bodyPr/>
        <a:lstStyle/>
        <a:p>
          <a:r>
            <a:rPr lang="en-GB" noProof="0" dirty="0"/>
            <a:t>Quorum-based</a:t>
          </a:r>
        </a:p>
      </dgm:t>
    </dgm:pt>
    <dgm:pt modelId="{9F43DDCF-249A-2744-B016-9B3A2ADCD026}" type="parTrans" cxnId="{F125F3C4-3DE5-DE4A-A1EE-03F14D00B900}">
      <dgm:prSet/>
      <dgm:spPr/>
      <dgm:t>
        <a:bodyPr/>
        <a:lstStyle/>
        <a:p>
          <a:endParaRPr lang="en-GB" noProof="0" dirty="0"/>
        </a:p>
      </dgm:t>
    </dgm:pt>
    <dgm:pt modelId="{CB0D11DB-320A-C64D-B673-4D91D79CE096}" type="sibTrans" cxnId="{F125F3C4-3DE5-DE4A-A1EE-03F14D00B900}">
      <dgm:prSet/>
      <dgm:spPr/>
      <dgm:t>
        <a:bodyPr/>
        <a:lstStyle/>
        <a:p>
          <a:endParaRPr lang="en-GB" noProof="0" dirty="0"/>
        </a:p>
      </dgm:t>
    </dgm:pt>
    <dgm:pt modelId="{719BF831-11C9-9249-BAB5-CA27A85E8F00}" type="pres">
      <dgm:prSet presAssocID="{39E011A8-73DC-FC45-B80B-8645A181BEA8}" presName="Name0" presStyleCnt="0">
        <dgm:presLayoutVars>
          <dgm:chMax val="7"/>
          <dgm:chPref val="7"/>
          <dgm:dir/>
        </dgm:presLayoutVars>
      </dgm:prSet>
      <dgm:spPr/>
    </dgm:pt>
    <dgm:pt modelId="{7905D21B-1C7E-024B-9EAA-07F6275DA735}" type="pres">
      <dgm:prSet presAssocID="{39E011A8-73DC-FC45-B80B-8645A181BEA8}" presName="Name1" presStyleCnt="0"/>
      <dgm:spPr/>
    </dgm:pt>
    <dgm:pt modelId="{55076190-6E77-6E47-B786-15D6EC17CE53}" type="pres">
      <dgm:prSet presAssocID="{39E011A8-73DC-FC45-B80B-8645A181BEA8}" presName="cycle" presStyleCnt="0"/>
      <dgm:spPr/>
    </dgm:pt>
    <dgm:pt modelId="{1258FFE0-ACBA-0A42-8D17-91A4E1D791CD}" type="pres">
      <dgm:prSet presAssocID="{39E011A8-73DC-FC45-B80B-8645A181BEA8}" presName="srcNode" presStyleLbl="node1" presStyleIdx="0" presStyleCnt="4"/>
      <dgm:spPr/>
    </dgm:pt>
    <dgm:pt modelId="{EC1424DD-AACF-9148-980D-5F8C3A45DB25}" type="pres">
      <dgm:prSet presAssocID="{39E011A8-73DC-FC45-B80B-8645A181BEA8}" presName="conn" presStyleLbl="parChTrans1D2" presStyleIdx="0" presStyleCnt="1"/>
      <dgm:spPr/>
    </dgm:pt>
    <dgm:pt modelId="{1F2F01D0-5920-344B-AAA5-322C03E883E6}" type="pres">
      <dgm:prSet presAssocID="{39E011A8-73DC-FC45-B80B-8645A181BEA8}" presName="extraNode" presStyleLbl="node1" presStyleIdx="0" presStyleCnt="4"/>
      <dgm:spPr/>
    </dgm:pt>
    <dgm:pt modelId="{05A75222-64D8-7446-AD9F-DBBCAE853C11}" type="pres">
      <dgm:prSet presAssocID="{39E011A8-73DC-FC45-B80B-8645A181BEA8}" presName="dstNode" presStyleLbl="node1" presStyleIdx="0" presStyleCnt="4"/>
      <dgm:spPr/>
    </dgm:pt>
    <dgm:pt modelId="{713CBBA3-64E5-3C43-BAB1-467D3C2F7589}" type="pres">
      <dgm:prSet presAssocID="{8C2578A0-A666-374B-9190-3CACC6A55483}" presName="text_1" presStyleLbl="node1" presStyleIdx="0" presStyleCnt="4">
        <dgm:presLayoutVars>
          <dgm:bulletEnabled val="1"/>
        </dgm:presLayoutVars>
      </dgm:prSet>
      <dgm:spPr/>
    </dgm:pt>
    <dgm:pt modelId="{8B2CC969-058C-CB4F-951B-5347DCC64FDF}" type="pres">
      <dgm:prSet presAssocID="{8C2578A0-A666-374B-9190-3CACC6A55483}" presName="accent_1" presStyleCnt="0"/>
      <dgm:spPr/>
    </dgm:pt>
    <dgm:pt modelId="{86F395A6-CB12-9840-949E-81895C0E947D}" type="pres">
      <dgm:prSet presAssocID="{8C2578A0-A666-374B-9190-3CACC6A55483}" presName="accentRepeatNode" presStyleLbl="solidFgAcc1" presStyleIdx="0" presStyleCnt="4"/>
      <dgm:spPr/>
    </dgm:pt>
    <dgm:pt modelId="{A4AE0A1A-92CF-BE4B-8222-CB373E96F891}" type="pres">
      <dgm:prSet presAssocID="{5C26C3BC-B2A9-3E4E-B0E7-AEA0EDEF984A}" presName="text_2" presStyleLbl="node1" presStyleIdx="1" presStyleCnt="4">
        <dgm:presLayoutVars>
          <dgm:bulletEnabled val="1"/>
        </dgm:presLayoutVars>
      </dgm:prSet>
      <dgm:spPr/>
    </dgm:pt>
    <dgm:pt modelId="{17FBD442-A6BC-4E48-B4EF-3DB4739CC9B5}" type="pres">
      <dgm:prSet presAssocID="{5C26C3BC-B2A9-3E4E-B0E7-AEA0EDEF984A}" presName="accent_2" presStyleCnt="0"/>
      <dgm:spPr/>
    </dgm:pt>
    <dgm:pt modelId="{7E9ED2DE-4905-6C4F-8E77-972CC57B9AA3}" type="pres">
      <dgm:prSet presAssocID="{5C26C3BC-B2A9-3E4E-B0E7-AEA0EDEF984A}" presName="accentRepeatNode" presStyleLbl="solidFgAcc1" presStyleIdx="1" presStyleCnt="4"/>
      <dgm:spPr/>
    </dgm:pt>
    <dgm:pt modelId="{DF92C4A1-AA5D-CE4D-B38D-62C816CC0060}" type="pres">
      <dgm:prSet presAssocID="{9513326C-7BEF-3E41-86B5-F127C882BCD2}" presName="text_3" presStyleLbl="node1" presStyleIdx="2" presStyleCnt="4">
        <dgm:presLayoutVars>
          <dgm:bulletEnabled val="1"/>
        </dgm:presLayoutVars>
      </dgm:prSet>
      <dgm:spPr/>
    </dgm:pt>
    <dgm:pt modelId="{29ADF8FB-B094-7C45-A4DD-0BB15E65D68F}" type="pres">
      <dgm:prSet presAssocID="{9513326C-7BEF-3E41-86B5-F127C882BCD2}" presName="accent_3" presStyleCnt="0"/>
      <dgm:spPr/>
    </dgm:pt>
    <dgm:pt modelId="{7DA64F3A-9E83-AF40-9FA9-5C225A50C128}" type="pres">
      <dgm:prSet presAssocID="{9513326C-7BEF-3E41-86B5-F127C882BCD2}" presName="accentRepeatNode" presStyleLbl="solidFgAcc1" presStyleIdx="2" presStyleCnt="4"/>
      <dgm:spPr/>
    </dgm:pt>
    <dgm:pt modelId="{51CB67B3-4165-8F41-BFFB-E0768DC86F7F}" type="pres">
      <dgm:prSet presAssocID="{3D0B83BC-7B30-C54F-B5D4-C76103829AC8}" presName="text_4" presStyleLbl="node1" presStyleIdx="3" presStyleCnt="4">
        <dgm:presLayoutVars>
          <dgm:bulletEnabled val="1"/>
        </dgm:presLayoutVars>
      </dgm:prSet>
      <dgm:spPr/>
    </dgm:pt>
    <dgm:pt modelId="{FE90948E-F572-2A41-ADF8-A17E675084F3}" type="pres">
      <dgm:prSet presAssocID="{3D0B83BC-7B30-C54F-B5D4-C76103829AC8}" presName="accent_4" presStyleCnt="0"/>
      <dgm:spPr/>
    </dgm:pt>
    <dgm:pt modelId="{C06A2036-34F4-F84B-9A69-8B404E306566}" type="pres">
      <dgm:prSet presAssocID="{3D0B83BC-7B30-C54F-B5D4-C76103829AC8}" presName="accentRepeatNode" presStyleLbl="solidFgAcc1" presStyleIdx="3" presStyleCnt="4"/>
      <dgm:spPr/>
    </dgm:pt>
  </dgm:ptLst>
  <dgm:cxnLst>
    <dgm:cxn modelId="{1A391B22-3785-7C47-AEB5-E0DAE705F525}" type="presOf" srcId="{9513326C-7BEF-3E41-86B5-F127C882BCD2}" destId="{DF92C4A1-AA5D-CE4D-B38D-62C816CC0060}" srcOrd="0" destOrd="0" presId="urn:microsoft.com/office/officeart/2008/layout/VerticalCurvedList"/>
    <dgm:cxn modelId="{9A567D69-A3D8-5D49-85B1-1C0CFB26E5CA}" type="presOf" srcId="{5C26C3BC-B2A9-3E4E-B0E7-AEA0EDEF984A}" destId="{A4AE0A1A-92CF-BE4B-8222-CB373E96F891}" srcOrd="0" destOrd="0" presId="urn:microsoft.com/office/officeart/2008/layout/VerticalCurvedList"/>
    <dgm:cxn modelId="{9E56006C-4738-FC4F-8E98-400D4615B2A4}" type="presOf" srcId="{3D60629A-2C21-1641-B083-1B098155AE8E}" destId="{EC1424DD-AACF-9148-980D-5F8C3A45DB25}" srcOrd="0" destOrd="0" presId="urn:microsoft.com/office/officeart/2008/layout/VerticalCurvedList"/>
    <dgm:cxn modelId="{E022677C-3BAD-D748-A0CB-BECA7B5A6D74}" srcId="{39E011A8-73DC-FC45-B80B-8645A181BEA8}" destId="{3D0B83BC-7B30-C54F-B5D4-C76103829AC8}" srcOrd="3" destOrd="0" parTransId="{F045306C-70EC-0F43-A957-DFB4DB43F226}" sibTransId="{6FDB2369-3F27-4F40-B35A-8F6CEFA708A2}"/>
    <dgm:cxn modelId="{2DCC278B-43DB-5044-8677-00042FC351FC}" type="presOf" srcId="{8C2578A0-A666-374B-9190-3CACC6A55483}" destId="{713CBBA3-64E5-3C43-BAB1-467D3C2F7589}" srcOrd="0" destOrd="0" presId="urn:microsoft.com/office/officeart/2008/layout/VerticalCurvedList"/>
    <dgm:cxn modelId="{57C95894-800D-E842-B16F-1E7A22DA540B}" srcId="{39E011A8-73DC-FC45-B80B-8645A181BEA8}" destId="{5C26C3BC-B2A9-3E4E-B0E7-AEA0EDEF984A}" srcOrd="1" destOrd="0" parTransId="{070E0B65-A645-3D43-9EEF-73C9D74F374F}" sibTransId="{9B6ED299-9131-224C-9C06-B335B0C246A7}"/>
    <dgm:cxn modelId="{F125F3C4-3DE5-DE4A-A1EE-03F14D00B900}" srcId="{39E011A8-73DC-FC45-B80B-8645A181BEA8}" destId="{9513326C-7BEF-3E41-86B5-F127C882BCD2}" srcOrd="2" destOrd="0" parTransId="{9F43DDCF-249A-2744-B016-9B3A2ADCD026}" sibTransId="{CB0D11DB-320A-C64D-B673-4D91D79CE096}"/>
    <dgm:cxn modelId="{377BA1CF-3DE5-E649-9644-A5EF73963F6C}" srcId="{39E011A8-73DC-FC45-B80B-8645A181BEA8}" destId="{8C2578A0-A666-374B-9190-3CACC6A55483}" srcOrd="0" destOrd="0" parTransId="{3424AE94-8C34-F442-B56C-5F12ED258831}" sibTransId="{3D60629A-2C21-1641-B083-1B098155AE8E}"/>
    <dgm:cxn modelId="{A0F0B4E7-8CA0-DA49-B4AD-393C9A694A6B}" type="presOf" srcId="{39E011A8-73DC-FC45-B80B-8645A181BEA8}" destId="{719BF831-11C9-9249-BAB5-CA27A85E8F00}" srcOrd="0" destOrd="0" presId="urn:microsoft.com/office/officeart/2008/layout/VerticalCurvedList"/>
    <dgm:cxn modelId="{A264D3EF-C585-544E-B46E-A14B83781E46}" type="presOf" srcId="{3D0B83BC-7B30-C54F-B5D4-C76103829AC8}" destId="{51CB67B3-4165-8F41-BFFB-E0768DC86F7F}" srcOrd="0" destOrd="0" presId="urn:microsoft.com/office/officeart/2008/layout/VerticalCurvedList"/>
    <dgm:cxn modelId="{BBB07B48-9322-1C4C-A2C5-20BDD82E7F91}" type="presParOf" srcId="{719BF831-11C9-9249-BAB5-CA27A85E8F00}" destId="{7905D21B-1C7E-024B-9EAA-07F6275DA735}" srcOrd="0" destOrd="0" presId="urn:microsoft.com/office/officeart/2008/layout/VerticalCurvedList"/>
    <dgm:cxn modelId="{D1A96BA1-1543-994F-A151-7F28F94185B1}" type="presParOf" srcId="{7905D21B-1C7E-024B-9EAA-07F6275DA735}" destId="{55076190-6E77-6E47-B786-15D6EC17CE53}" srcOrd="0" destOrd="0" presId="urn:microsoft.com/office/officeart/2008/layout/VerticalCurvedList"/>
    <dgm:cxn modelId="{6B52BC9E-F8C8-6A44-84C9-2056653624BA}" type="presParOf" srcId="{55076190-6E77-6E47-B786-15D6EC17CE53}" destId="{1258FFE0-ACBA-0A42-8D17-91A4E1D791CD}" srcOrd="0" destOrd="0" presId="urn:microsoft.com/office/officeart/2008/layout/VerticalCurvedList"/>
    <dgm:cxn modelId="{E2CDA7F0-2A02-2D4D-A21F-FEFD9A4CC535}" type="presParOf" srcId="{55076190-6E77-6E47-B786-15D6EC17CE53}" destId="{EC1424DD-AACF-9148-980D-5F8C3A45DB25}" srcOrd="1" destOrd="0" presId="urn:microsoft.com/office/officeart/2008/layout/VerticalCurvedList"/>
    <dgm:cxn modelId="{C612179D-3AB8-EB43-97D4-7691D31094F7}" type="presParOf" srcId="{55076190-6E77-6E47-B786-15D6EC17CE53}" destId="{1F2F01D0-5920-344B-AAA5-322C03E883E6}" srcOrd="2" destOrd="0" presId="urn:microsoft.com/office/officeart/2008/layout/VerticalCurvedList"/>
    <dgm:cxn modelId="{ADD15750-7FB1-D44E-AD1C-698377577778}" type="presParOf" srcId="{55076190-6E77-6E47-B786-15D6EC17CE53}" destId="{05A75222-64D8-7446-AD9F-DBBCAE853C11}" srcOrd="3" destOrd="0" presId="urn:microsoft.com/office/officeart/2008/layout/VerticalCurvedList"/>
    <dgm:cxn modelId="{87F9884C-BF3F-C249-A12D-321E17CDE58A}" type="presParOf" srcId="{7905D21B-1C7E-024B-9EAA-07F6275DA735}" destId="{713CBBA3-64E5-3C43-BAB1-467D3C2F7589}" srcOrd="1" destOrd="0" presId="urn:microsoft.com/office/officeart/2008/layout/VerticalCurvedList"/>
    <dgm:cxn modelId="{E554F704-7DD5-6049-8243-B278662EC6F0}" type="presParOf" srcId="{7905D21B-1C7E-024B-9EAA-07F6275DA735}" destId="{8B2CC969-058C-CB4F-951B-5347DCC64FDF}" srcOrd="2" destOrd="0" presId="urn:microsoft.com/office/officeart/2008/layout/VerticalCurvedList"/>
    <dgm:cxn modelId="{8157845A-E017-8B4F-9179-6E2A19CB426E}" type="presParOf" srcId="{8B2CC969-058C-CB4F-951B-5347DCC64FDF}" destId="{86F395A6-CB12-9840-949E-81895C0E947D}" srcOrd="0" destOrd="0" presId="urn:microsoft.com/office/officeart/2008/layout/VerticalCurvedList"/>
    <dgm:cxn modelId="{40B2218A-3DC8-674E-B54C-16CD30D85F21}" type="presParOf" srcId="{7905D21B-1C7E-024B-9EAA-07F6275DA735}" destId="{A4AE0A1A-92CF-BE4B-8222-CB373E96F891}" srcOrd="3" destOrd="0" presId="urn:microsoft.com/office/officeart/2008/layout/VerticalCurvedList"/>
    <dgm:cxn modelId="{B26BFF64-B0FA-E348-BE5B-596FB4F8603D}" type="presParOf" srcId="{7905D21B-1C7E-024B-9EAA-07F6275DA735}" destId="{17FBD442-A6BC-4E48-B4EF-3DB4739CC9B5}" srcOrd="4" destOrd="0" presId="urn:microsoft.com/office/officeart/2008/layout/VerticalCurvedList"/>
    <dgm:cxn modelId="{49553983-9441-674D-ABF0-9A71D6136A59}" type="presParOf" srcId="{17FBD442-A6BC-4E48-B4EF-3DB4739CC9B5}" destId="{7E9ED2DE-4905-6C4F-8E77-972CC57B9AA3}" srcOrd="0" destOrd="0" presId="urn:microsoft.com/office/officeart/2008/layout/VerticalCurvedList"/>
    <dgm:cxn modelId="{460438C6-A2EA-C749-9DD3-E9F1A62FBB33}" type="presParOf" srcId="{7905D21B-1C7E-024B-9EAA-07F6275DA735}" destId="{DF92C4A1-AA5D-CE4D-B38D-62C816CC0060}" srcOrd="5" destOrd="0" presId="urn:microsoft.com/office/officeart/2008/layout/VerticalCurvedList"/>
    <dgm:cxn modelId="{0BA878C6-0A10-8C4F-B7BE-A40EC691C505}" type="presParOf" srcId="{7905D21B-1C7E-024B-9EAA-07F6275DA735}" destId="{29ADF8FB-B094-7C45-A4DD-0BB15E65D68F}" srcOrd="6" destOrd="0" presId="urn:microsoft.com/office/officeart/2008/layout/VerticalCurvedList"/>
    <dgm:cxn modelId="{4D7AE5C5-18F4-4E41-8DFE-467EAE90AA8D}" type="presParOf" srcId="{29ADF8FB-B094-7C45-A4DD-0BB15E65D68F}" destId="{7DA64F3A-9E83-AF40-9FA9-5C225A50C128}" srcOrd="0" destOrd="0" presId="urn:microsoft.com/office/officeart/2008/layout/VerticalCurvedList"/>
    <dgm:cxn modelId="{3C91AA15-3ED1-194E-85D7-DD50D100AD6B}" type="presParOf" srcId="{7905D21B-1C7E-024B-9EAA-07F6275DA735}" destId="{51CB67B3-4165-8F41-BFFB-E0768DC86F7F}" srcOrd="7" destOrd="0" presId="urn:microsoft.com/office/officeart/2008/layout/VerticalCurvedList"/>
    <dgm:cxn modelId="{4EC7A6DD-885E-7041-9FF1-B3B31A2989AC}" type="presParOf" srcId="{7905D21B-1C7E-024B-9EAA-07F6275DA735}" destId="{FE90948E-F572-2A41-ADF8-A17E675084F3}" srcOrd="8" destOrd="0" presId="urn:microsoft.com/office/officeart/2008/layout/VerticalCurvedList"/>
    <dgm:cxn modelId="{AB2427A0-B385-9B46-9098-B25AEA0E811B}" type="presParOf" srcId="{FE90948E-F572-2A41-ADF8-A17E675084F3}" destId="{C06A2036-34F4-F84B-9A69-8B404E30656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424DD-AACF-9148-980D-5F8C3A45DB25}">
      <dsp:nvSpPr>
        <dsp:cNvPr id="0" name=""/>
        <dsp:cNvSpPr/>
      </dsp:nvSpPr>
      <dsp:spPr>
        <a:xfrm>
          <a:off x="-5169077" y="-791784"/>
          <a:ext cx="6155568" cy="6155568"/>
        </a:xfrm>
        <a:prstGeom prst="blockArc">
          <a:avLst>
            <a:gd name="adj1" fmla="val 18900000"/>
            <a:gd name="adj2" fmla="val 2700000"/>
            <a:gd name="adj3" fmla="val 351"/>
          </a:avLst>
        </a:pr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3CBBA3-64E5-3C43-BAB1-467D3C2F7589}">
      <dsp:nvSpPr>
        <dsp:cNvPr id="0" name=""/>
        <dsp:cNvSpPr/>
      </dsp:nvSpPr>
      <dsp:spPr>
        <a:xfrm>
          <a:off x="516519" y="351495"/>
          <a:ext cx="5650362" cy="7033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289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noProof="0" dirty="0"/>
            <a:t>Coordinator-based</a:t>
          </a:r>
        </a:p>
      </dsp:txBody>
      <dsp:txXfrm>
        <a:off x="516519" y="351495"/>
        <a:ext cx="5650362" cy="703356"/>
      </dsp:txXfrm>
    </dsp:sp>
    <dsp:sp modelId="{86F395A6-CB12-9840-949E-81895C0E947D}">
      <dsp:nvSpPr>
        <dsp:cNvPr id="0" name=""/>
        <dsp:cNvSpPr/>
      </dsp:nvSpPr>
      <dsp:spPr>
        <a:xfrm>
          <a:off x="76921" y="263575"/>
          <a:ext cx="879195" cy="8791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AE0A1A-92CF-BE4B-8222-CB373E96F891}">
      <dsp:nvSpPr>
        <dsp:cNvPr id="0" name=""/>
        <dsp:cNvSpPr/>
      </dsp:nvSpPr>
      <dsp:spPr>
        <a:xfrm>
          <a:off x="919770" y="1406712"/>
          <a:ext cx="5247112" cy="7033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289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noProof="0" dirty="0"/>
            <a:t>Token-based (over logical ring topology)</a:t>
          </a:r>
        </a:p>
      </dsp:txBody>
      <dsp:txXfrm>
        <a:off x="919770" y="1406712"/>
        <a:ext cx="5247112" cy="703356"/>
      </dsp:txXfrm>
    </dsp:sp>
    <dsp:sp modelId="{7E9ED2DE-4905-6C4F-8E77-972CC57B9AA3}">
      <dsp:nvSpPr>
        <dsp:cNvPr id="0" name=""/>
        <dsp:cNvSpPr/>
      </dsp:nvSpPr>
      <dsp:spPr>
        <a:xfrm>
          <a:off x="480172" y="1318793"/>
          <a:ext cx="879195" cy="8791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92C4A1-AA5D-CE4D-B38D-62C816CC0060}">
      <dsp:nvSpPr>
        <dsp:cNvPr id="0" name=""/>
        <dsp:cNvSpPr/>
      </dsp:nvSpPr>
      <dsp:spPr>
        <a:xfrm>
          <a:off x="919770" y="2461930"/>
          <a:ext cx="5247112" cy="7033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289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noProof="0" dirty="0"/>
            <a:t>Quorum-based</a:t>
          </a:r>
        </a:p>
      </dsp:txBody>
      <dsp:txXfrm>
        <a:off x="919770" y="2461930"/>
        <a:ext cx="5247112" cy="703356"/>
      </dsp:txXfrm>
    </dsp:sp>
    <dsp:sp modelId="{7DA64F3A-9E83-AF40-9FA9-5C225A50C128}">
      <dsp:nvSpPr>
        <dsp:cNvPr id="0" name=""/>
        <dsp:cNvSpPr/>
      </dsp:nvSpPr>
      <dsp:spPr>
        <a:xfrm>
          <a:off x="480172" y="2374011"/>
          <a:ext cx="879195" cy="8791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CB67B3-4165-8F41-BFFB-E0768DC86F7F}">
      <dsp:nvSpPr>
        <dsp:cNvPr id="0" name=""/>
        <dsp:cNvSpPr/>
      </dsp:nvSpPr>
      <dsp:spPr>
        <a:xfrm>
          <a:off x="516519" y="3517148"/>
          <a:ext cx="5650362" cy="7033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289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noProof="0" dirty="0"/>
            <a:t>Logical Clock-based</a:t>
          </a:r>
        </a:p>
      </dsp:txBody>
      <dsp:txXfrm>
        <a:off x="516519" y="3517148"/>
        <a:ext cx="5650362" cy="703356"/>
      </dsp:txXfrm>
    </dsp:sp>
    <dsp:sp modelId="{C06A2036-34F4-F84B-9A69-8B404E306566}">
      <dsp:nvSpPr>
        <dsp:cNvPr id="0" name=""/>
        <dsp:cNvSpPr/>
      </dsp:nvSpPr>
      <dsp:spPr>
        <a:xfrm>
          <a:off x="76921" y="3429228"/>
          <a:ext cx="879195" cy="8791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E9E7E-2BA7-3145-B34A-405F07DD9B7B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F1C3E-92FB-6D43-8A4C-FBE8FB7FE13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3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 altLang="it-IT"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9885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 altLang="it-IT"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4907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 altLang="it-IT"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084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 altLang="it-IT"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2393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 altLang="it-IT"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5995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 altLang="it-IT"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3065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 altLang="it-IT"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6823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 altLang="it-IT"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24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 altLang="it-IT"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020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 altLang="it-IT"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3251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8838" y="685800"/>
            <a:ext cx="5141912" cy="3427413"/>
          </a:xfrm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 altLang="it-IT"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3610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 altLang="it-IT"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501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5830" y="758952"/>
            <a:ext cx="8486775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8168" y="4455621"/>
            <a:ext cx="8486775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80CB-740F-D740-9F25-22825FEC792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A52FF-6C17-7949-ABCF-A8E655BEB9E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018962" y="4343400"/>
            <a:ext cx="833247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28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80CB-740F-D740-9F25-22825FEC792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A52FF-6C17-7949-ABCF-A8E655BEB9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5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30" y="758952"/>
            <a:ext cx="8486775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30" y="4453128"/>
            <a:ext cx="8486775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80CB-740F-D740-9F25-22825FEC792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A52FF-6C17-7949-ABCF-A8E655BEB9E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018962" y="4343400"/>
            <a:ext cx="833247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83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5830" y="1845736"/>
            <a:ext cx="4166235" cy="402335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6370" y="1845735"/>
            <a:ext cx="4166235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80CB-740F-D740-9F25-22825FEC792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A52FF-6C17-7949-ABCF-A8E655BEB9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48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30" y="1846052"/>
            <a:ext cx="4166235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" y="2582335"/>
            <a:ext cx="4166235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6370" y="1846052"/>
            <a:ext cx="4166235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46370" y="2582334"/>
            <a:ext cx="4166235" cy="32867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80CB-740F-D740-9F25-22825FEC792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A52FF-6C17-7949-ABCF-A8E655BEB9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881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80CB-740F-D740-9F25-22825FEC792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A52FF-6C17-7949-ABCF-A8E655BEB9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2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80CB-740F-D740-9F25-22825FEC792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A52FF-6C17-7949-ABCF-A8E655BEB9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329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41785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408810" y="0"/>
            <a:ext cx="54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762" y="594359"/>
            <a:ext cx="2700338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0506" y="731520"/>
            <a:ext cx="5477828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762" y="2926080"/>
            <a:ext cx="2700338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92777" y="6459787"/>
            <a:ext cx="2209368" cy="365125"/>
          </a:xfrm>
        </p:spPr>
        <p:txBody>
          <a:bodyPr/>
          <a:lstStyle>
            <a:lvl1pPr algn="l">
              <a:defRPr/>
            </a:lvl1pPr>
          </a:lstStyle>
          <a:p>
            <a:fld id="{9D1580CB-740F-D740-9F25-22825FEC792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0506" y="6459787"/>
            <a:ext cx="39219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EA52FF-6C17-7949-ABCF-A8E655BEB9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8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02843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" y="491507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30" y="5074920"/>
            <a:ext cx="853821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10286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Trascinare l'immagine su un segnaposto o fare clic sull'icona per aggiungerla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830" y="5907024"/>
            <a:ext cx="853821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80CB-740F-D740-9F25-22825FEC792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A52FF-6C17-7949-ABCF-A8E655BEB9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3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80CB-740F-D740-9F25-22825FEC792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A52FF-6C17-7949-ABCF-A8E655BEB9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4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81" y="6400800"/>
            <a:ext cx="102843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334316"/>
            <a:ext cx="102843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412302"/>
            <a:ext cx="2218134" cy="5759898"/>
          </a:xfrm>
        </p:spPr>
        <p:txBody>
          <a:bodyPr vert="eaVert"/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2" y="412302"/>
            <a:ext cx="6525816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580CB-740F-D740-9F25-22825FEC792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A52FF-6C17-7949-ABCF-A8E655BEB9E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1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0287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0287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5830" y="286605"/>
            <a:ext cx="8486775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829" y="1845734"/>
            <a:ext cx="8486776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5832" y="6459787"/>
            <a:ext cx="2085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D1580CB-740F-D740-9F25-22825FEC792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10219" y="6459787"/>
            <a:ext cx="40692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3513" y="6459787"/>
            <a:ext cx="1107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9EA52FF-6C17-7949-ABCF-A8E655BEB9ED}" type="slidenum">
              <a:rPr lang="en-US" smtClean="0"/>
              <a:t>‹N›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007042" y="1737845"/>
            <a:ext cx="840962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755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3375" dirty="0"/>
              <a:t>Dependable Distributed Systems</a:t>
            </a:r>
            <a:br>
              <a:rPr lang="en-GB" sz="3375" dirty="0"/>
            </a:br>
            <a:r>
              <a:rPr lang="en-GB" sz="3375" dirty="0"/>
              <a:t>Master of Science in Engineering in Computer Science  </a:t>
            </a:r>
            <a:br>
              <a:rPr lang="en-GB" sz="3375" dirty="0"/>
            </a:br>
            <a:br>
              <a:rPr lang="en-GB" sz="3375" dirty="0"/>
            </a:br>
            <a:r>
              <a:rPr lang="en-GB" sz="3375" dirty="0"/>
              <a:t>AA 2026/2027</a:t>
            </a:r>
          </a:p>
        </p:txBody>
      </p:sp>
      <p:sp>
        <p:nvSpPr>
          <p:cNvPr id="7" name="Sottotitolo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Lecture 5: Logical clock</a:t>
            </a:r>
          </a:p>
        </p:txBody>
      </p:sp>
    </p:spTree>
    <p:extLst>
      <p:ext uri="{BB962C8B-B14F-4D97-AF65-F5344CB8AC3E}">
        <p14:creationId xmlns:p14="http://schemas.microsoft.com/office/powerpoint/2010/main" val="1317465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 dirty="0" err="1">
                <a:ea typeface="ＭＳ Ｐゴシック" charset="-128"/>
              </a:rPr>
              <a:t>Recap</a:t>
            </a:r>
            <a:endParaRPr lang="it-IT" altLang="it-IT" sz="3038" dirty="0">
              <a:ea typeface="ＭＳ Ｐゴシック" charset="-128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 eaLnBrk="1" hangingPunct="1"/>
            <a:r>
              <a:rPr lang="en-GB" altLang="it-IT" dirty="0">
                <a:ea typeface="ＭＳ Ｐゴシック" charset="-128"/>
              </a:rPr>
              <a:t>Physical clock synchronization algorithms have the aim to coordinate processes to reach an agreement on a common notion of time</a:t>
            </a:r>
          </a:p>
          <a:p>
            <a:pPr lvl="1" algn="just" eaLnBrk="1" hangingPunct="1"/>
            <a:endParaRPr lang="en-GB" altLang="it-IT" dirty="0">
              <a:ea typeface="ＭＳ Ｐゴシック" charset="-128"/>
            </a:endParaRPr>
          </a:p>
          <a:p>
            <a:pPr algn="just"/>
            <a:r>
              <a:rPr lang="en-GB" altLang="it-IT" dirty="0">
                <a:ea typeface="ＭＳ Ｐゴシック" charset="-128"/>
              </a:rPr>
              <a:t>The accuracy of the synchronization is strongly dependent on the estimation of transmission delay </a:t>
            </a:r>
          </a:p>
          <a:p>
            <a:pPr lvl="1" algn="just"/>
            <a:r>
              <a:rPr lang="en-GB" altLang="it-IT" dirty="0">
                <a:solidFill>
                  <a:schemeClr val="accent1"/>
                </a:solidFill>
                <a:ea typeface="ＭＳ Ｐゴシック" charset="-128"/>
              </a:rPr>
              <a:t>ISSUE</a:t>
            </a:r>
            <a:r>
              <a:rPr lang="en-GB" altLang="it-IT" dirty="0">
                <a:ea typeface="ＭＳ Ｐゴシック" charset="-128"/>
              </a:rPr>
              <a:t>: it can be hard to find a good estimation</a:t>
            </a:r>
          </a:p>
          <a:p>
            <a:pPr lvl="1" algn="just" eaLnBrk="1" hangingPunct="1"/>
            <a:endParaRPr lang="en-GB" altLang="it-IT" dirty="0">
              <a:ea typeface="ＭＳ Ｐゴシック" charset="-128"/>
            </a:endParaRPr>
          </a:p>
          <a:p>
            <a:pPr algn="just"/>
            <a:r>
              <a:rPr lang="en-GB" altLang="it-IT" dirty="0">
                <a:solidFill>
                  <a:schemeClr val="accent2"/>
                </a:solidFill>
                <a:ea typeface="ＭＳ Ｐゴシック" charset="-128"/>
              </a:rPr>
              <a:t>OBSERVATION</a:t>
            </a:r>
          </a:p>
          <a:p>
            <a:pPr lvl="1" algn="just"/>
            <a:r>
              <a:rPr lang="en-GB" altLang="it-IT" dirty="0">
                <a:ea typeface="ＭＳ Ｐゴシック" charset="-128"/>
              </a:rPr>
              <a:t>In several applications it is not important when things happened but in which order they happened</a:t>
            </a:r>
          </a:p>
          <a:p>
            <a:pPr marL="0" indent="0" algn="just" eaLnBrk="1" hangingPunct="1">
              <a:buNone/>
            </a:pPr>
            <a:endParaRPr lang="en-GB" altLang="it-IT" dirty="0">
              <a:ea typeface="ＭＳ Ｐゴシック" charset="-128"/>
            </a:endParaRPr>
          </a:p>
          <a:p>
            <a:pPr algn="just" eaLnBrk="1" hangingPunct="1"/>
            <a:r>
              <a:rPr lang="en-GB" altLang="it-IT" dirty="0">
                <a:solidFill>
                  <a:srgbClr val="FF0000"/>
                </a:solidFill>
                <a:ea typeface="ＭＳ Ｐゴシック" charset="-128"/>
              </a:rPr>
              <a:t>We need to find a reliable way to order events without using clock synchronization!</a:t>
            </a:r>
          </a:p>
        </p:txBody>
      </p:sp>
    </p:spTree>
    <p:extLst>
      <p:ext uri="{BB962C8B-B14F-4D97-AF65-F5344CB8AC3E}">
        <p14:creationId xmlns:p14="http://schemas.microsoft.com/office/powerpoint/2010/main" val="915181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BFC48E-563F-044B-9906-B5A64310B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Happened-Before relation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D2B34A-7EE0-6546-AC9B-E6B8CC139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>
            <a:normAutofit/>
          </a:bodyPr>
          <a:lstStyle/>
          <a:p>
            <a:pPr algn="just"/>
            <a:r>
              <a:rPr lang="en-GB" altLang="it-IT" sz="1800" dirty="0">
                <a:solidFill>
                  <a:schemeClr val="accent1"/>
                </a:solidFill>
                <a:ea typeface="ＭＳ Ｐゴシック" charset="-128"/>
              </a:rPr>
              <a:t>OBSERVATION</a:t>
            </a:r>
          </a:p>
          <a:p>
            <a:pPr lvl="1" algn="just"/>
            <a:r>
              <a:rPr lang="en-GB" altLang="it-IT" sz="1600" dirty="0">
                <a:ea typeface="ＭＳ Ｐゴシック" charset="-128"/>
              </a:rPr>
              <a:t>Two events occurred at some process p</a:t>
            </a:r>
            <a:r>
              <a:rPr lang="en-GB" altLang="it-IT" sz="1600" baseline="-25000" dirty="0">
                <a:ea typeface="ＭＳ Ｐゴシック" charset="-128"/>
              </a:rPr>
              <a:t>i</a:t>
            </a:r>
            <a:r>
              <a:rPr lang="en-GB" altLang="it-IT" sz="1600" dirty="0">
                <a:ea typeface="ＭＳ Ｐゴシック" charset="-128"/>
              </a:rPr>
              <a:t> happened in the same order as p</a:t>
            </a:r>
            <a:r>
              <a:rPr lang="en-GB" altLang="it-IT" sz="1600" baseline="-25000" dirty="0">
                <a:ea typeface="ＭＳ Ｐゴシック" charset="-128"/>
              </a:rPr>
              <a:t>i</a:t>
            </a:r>
            <a:r>
              <a:rPr lang="en-GB" altLang="it-IT" sz="1600" dirty="0">
                <a:ea typeface="ＭＳ Ｐゴシック" charset="-128"/>
              </a:rPr>
              <a:t> observes them</a:t>
            </a:r>
          </a:p>
          <a:p>
            <a:pPr lvl="1" algn="just"/>
            <a:r>
              <a:rPr lang="en-GB" altLang="it-IT" sz="1600" dirty="0">
                <a:ea typeface="ＭＳ Ｐゴシック" charset="-128"/>
              </a:rPr>
              <a:t>When p</a:t>
            </a:r>
            <a:r>
              <a:rPr lang="en-GB" altLang="it-IT" sz="1600" baseline="-25000" dirty="0">
                <a:ea typeface="ＭＳ Ｐゴシック" charset="-128"/>
              </a:rPr>
              <a:t>i</a:t>
            </a:r>
            <a:r>
              <a:rPr lang="en-GB" altLang="it-IT" sz="1600" dirty="0">
                <a:ea typeface="ＭＳ Ｐゴシック" charset="-128"/>
              </a:rPr>
              <a:t> sends a message to </a:t>
            </a:r>
            <a:r>
              <a:rPr lang="en-GB" altLang="it-IT" sz="1600" dirty="0" err="1">
                <a:ea typeface="ＭＳ Ｐゴシック" charset="-128"/>
              </a:rPr>
              <a:t>p</a:t>
            </a:r>
            <a:r>
              <a:rPr lang="en-GB" altLang="it-IT" sz="1600" baseline="-25000" dirty="0" err="1">
                <a:ea typeface="ＭＳ Ｐゴシック" charset="-128"/>
              </a:rPr>
              <a:t>j</a:t>
            </a:r>
            <a:r>
              <a:rPr lang="en-GB" altLang="it-IT" sz="1600" dirty="0">
                <a:ea typeface="ＭＳ Ｐゴシック" charset="-128"/>
              </a:rPr>
              <a:t> the send event happens before the deliver event</a:t>
            </a:r>
          </a:p>
          <a:p>
            <a:pPr lvl="1" algn="just"/>
            <a:endParaRPr lang="en-GB" altLang="it-IT" sz="1600" dirty="0">
              <a:ea typeface="ＭＳ Ｐゴシック" charset="-128"/>
            </a:endParaRPr>
          </a:p>
          <a:p>
            <a:pPr algn="just"/>
            <a:r>
              <a:rPr lang="en-GB" altLang="it-IT" sz="1800" dirty="0" err="1">
                <a:ea typeface="ＭＳ Ｐゴシック" charset="-128"/>
              </a:rPr>
              <a:t>Lamport</a:t>
            </a:r>
            <a:r>
              <a:rPr lang="en-GB" altLang="it-IT" sz="1800" dirty="0">
                <a:ea typeface="ＭＳ Ｐゴシック" charset="-128"/>
              </a:rPr>
              <a:t> introduces the </a:t>
            </a:r>
            <a:r>
              <a:rPr lang="en-GB" altLang="it-IT" sz="1800" i="1" dirty="0">
                <a:solidFill>
                  <a:schemeClr val="accent1"/>
                </a:solidFill>
                <a:ea typeface="ＭＳ Ｐゴシック" charset="-128"/>
              </a:rPr>
              <a:t>happened-before relation</a:t>
            </a:r>
            <a:r>
              <a:rPr lang="en-GB" altLang="it-IT" sz="1800" dirty="0">
                <a:ea typeface="ＭＳ Ｐゴシック" charset="-128"/>
              </a:rPr>
              <a:t> to capture causal dependencies between events (causal order relation)</a:t>
            </a:r>
          </a:p>
          <a:p>
            <a:pPr lvl="1" algn="just"/>
            <a:r>
              <a:rPr lang="en-GB" altLang="it-IT" sz="1600" dirty="0">
                <a:ea typeface="ＭＳ Ｐゴシック" charset="-128"/>
              </a:rPr>
              <a:t>We note with </a:t>
            </a:r>
            <a:r>
              <a:rPr lang="en-GB" altLang="it-IT" sz="1600" dirty="0">
                <a:ea typeface="ＭＳ Ｐゴシック" charset="-128"/>
                <a:sym typeface="Symbol" charset="2"/>
              </a:rPr>
              <a:t></a:t>
            </a:r>
            <a:r>
              <a:rPr lang="en-GB" altLang="it-IT" sz="1600" baseline="-25000" dirty="0" err="1">
                <a:ea typeface="ＭＳ Ｐゴシック" charset="-128"/>
                <a:sym typeface="Symbol" charset="2"/>
              </a:rPr>
              <a:t>i</a:t>
            </a:r>
            <a:r>
              <a:rPr lang="en-GB" altLang="it-IT" sz="1600" dirty="0">
                <a:ea typeface="ＭＳ Ｐゴシック" charset="-128"/>
                <a:sym typeface="Symbol" charset="2"/>
              </a:rPr>
              <a:t> the ordering relation between events in a process p</a:t>
            </a:r>
            <a:r>
              <a:rPr lang="en-GB" altLang="it-IT" sz="1600" baseline="-25000" dirty="0">
                <a:ea typeface="ＭＳ Ｐゴシック" charset="-128"/>
                <a:sym typeface="Symbol" charset="2"/>
              </a:rPr>
              <a:t>i</a:t>
            </a:r>
            <a:r>
              <a:rPr lang="en-GB" altLang="it-IT" sz="1600" dirty="0">
                <a:ea typeface="ＭＳ Ｐゴシック" charset="-128"/>
                <a:sym typeface="Symbol" charset="2"/>
              </a:rPr>
              <a:t> </a:t>
            </a:r>
          </a:p>
          <a:p>
            <a:pPr lvl="1" algn="just"/>
            <a:r>
              <a:rPr lang="en-GB" altLang="it-IT" sz="1600" dirty="0">
                <a:ea typeface="ＭＳ Ｐゴシック" charset="-128"/>
                <a:sym typeface="Symbol" charset="2"/>
              </a:rPr>
              <a:t>We note with  the happened-before between any pair of events</a:t>
            </a:r>
          </a:p>
          <a:p>
            <a:pPr lvl="1" algn="just"/>
            <a:endParaRPr lang="en-GB" altLang="it-IT" sz="1600" dirty="0">
              <a:ea typeface="ＭＳ Ｐゴシック" charset="-128"/>
              <a:sym typeface="Symbol" charset="2"/>
            </a:endParaRPr>
          </a:p>
          <a:p>
            <a:pPr algn="just"/>
            <a:endParaRPr lang="en-GB" sz="1800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4851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>
                <a:ea typeface="ＭＳ Ｐゴシック" charset="-128"/>
              </a:rPr>
              <a:t>Happened-Before Relation: Definition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925829" y="1845734"/>
            <a:ext cx="8486776" cy="1621726"/>
          </a:xfrm>
        </p:spPr>
        <p:txBody>
          <a:bodyPr/>
          <a:lstStyle/>
          <a:p>
            <a:pPr algn="just">
              <a:spcAft>
                <a:spcPts val="1013"/>
              </a:spcAft>
            </a:pPr>
            <a:r>
              <a:rPr lang="en-GB" altLang="it-IT" dirty="0">
                <a:ea typeface="ＭＳ Ｐゴシック" charset="-128"/>
                <a:sym typeface="Symbol" charset="2"/>
              </a:rPr>
              <a:t>Two events </a:t>
            </a:r>
            <a:r>
              <a:rPr lang="en-GB" altLang="it-IT" i="1" dirty="0">
                <a:ea typeface="ＭＳ Ｐゴシック" charset="-128"/>
                <a:sym typeface="Symbol" charset="2"/>
              </a:rPr>
              <a:t>e</a:t>
            </a:r>
            <a:r>
              <a:rPr lang="en-GB" altLang="it-IT" dirty="0">
                <a:ea typeface="ＭＳ Ｐゴシック" charset="-128"/>
                <a:sym typeface="Symbol" charset="2"/>
              </a:rPr>
              <a:t> and </a:t>
            </a:r>
            <a:r>
              <a:rPr lang="en-GB" altLang="it-IT" i="1" dirty="0">
                <a:ea typeface="ＭＳ Ｐゴシック" charset="-128"/>
                <a:sym typeface="Symbol" charset="2"/>
              </a:rPr>
              <a:t>e’</a:t>
            </a:r>
            <a:r>
              <a:rPr lang="en-GB" altLang="it-IT" dirty="0">
                <a:ea typeface="ＭＳ Ｐゴシック" charset="-128"/>
                <a:sym typeface="Symbol" charset="2"/>
              </a:rPr>
              <a:t> are related by happened-before relation (e  e’) if:</a:t>
            </a:r>
          </a:p>
          <a:p>
            <a:pPr lvl="1" algn="just">
              <a:spcAft>
                <a:spcPts val="506"/>
              </a:spcAft>
            </a:pPr>
            <a:r>
              <a:rPr lang="en-GB" altLang="it-IT" dirty="0">
                <a:ea typeface="ＭＳ Ｐゴシック" charset="-128"/>
                <a:sym typeface="Symbol" charset="2"/>
              </a:rPr>
              <a:t> p</a:t>
            </a:r>
            <a:r>
              <a:rPr lang="en-GB" altLang="it-IT" baseline="-25000" dirty="0">
                <a:ea typeface="ＭＳ Ｐゴシック" charset="-128"/>
                <a:sym typeface="Symbol" charset="2"/>
              </a:rPr>
              <a:t>i</a:t>
            </a:r>
            <a:r>
              <a:rPr lang="en-GB" altLang="it-IT" dirty="0">
                <a:ea typeface="ＭＳ Ｐゴシック" charset="-128"/>
                <a:sym typeface="Symbol" charset="2"/>
              </a:rPr>
              <a:t> | e </a:t>
            </a:r>
            <a:r>
              <a:rPr lang="en-GB" altLang="it-IT" baseline="-25000" dirty="0" err="1">
                <a:ea typeface="ＭＳ Ｐゴシック" charset="-128"/>
                <a:sym typeface="Symbol" charset="2"/>
              </a:rPr>
              <a:t>i</a:t>
            </a:r>
            <a:r>
              <a:rPr lang="en-GB" altLang="it-IT" dirty="0">
                <a:ea typeface="ＭＳ Ｐゴシック" charset="-128"/>
                <a:sym typeface="Symbol" charset="2"/>
              </a:rPr>
              <a:t> e’ </a:t>
            </a:r>
          </a:p>
          <a:p>
            <a:pPr lvl="1" algn="just"/>
            <a:r>
              <a:rPr lang="en-GB" altLang="it-IT" dirty="0">
                <a:ea typeface="ＭＳ Ｐゴシック" charset="-128"/>
                <a:sym typeface="Symbol" charset="2"/>
              </a:rPr>
              <a:t> m | e=send(m) and e’=deliver(m)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GB" altLang="it-IT" dirty="0">
                <a:ea typeface="ＭＳ Ｐゴシック" charset="-128"/>
                <a:sym typeface="Symbol" charset="2"/>
              </a:rPr>
              <a:t> e, e’, e’’ | (e  e’’)  (e’’  e’) (happened-before relation is transitive)</a:t>
            </a:r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2257945F-C70E-D240-9C1C-B8C02D3F0F13}"/>
              </a:ext>
            </a:extLst>
          </p:cNvPr>
          <p:cNvCxnSpPr/>
          <p:nvPr/>
        </p:nvCxnSpPr>
        <p:spPr>
          <a:xfrm>
            <a:off x="1490133" y="4143021"/>
            <a:ext cx="61863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72AD414E-41CA-6C41-B518-F30C37141DF0}"/>
              </a:ext>
            </a:extLst>
          </p:cNvPr>
          <p:cNvCxnSpPr/>
          <p:nvPr/>
        </p:nvCxnSpPr>
        <p:spPr>
          <a:xfrm>
            <a:off x="1490133" y="5051777"/>
            <a:ext cx="61863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Ovale 3">
            <a:extLst>
              <a:ext uri="{FF2B5EF4-FFF2-40B4-BE49-F238E27FC236}">
                <a16:creationId xmlns:a16="http://schemas.microsoft.com/office/drawing/2014/main" id="{0D7E29BF-BB79-264F-9C53-383163B403AA}"/>
              </a:ext>
            </a:extLst>
          </p:cNvPr>
          <p:cNvSpPr/>
          <p:nvPr/>
        </p:nvSpPr>
        <p:spPr>
          <a:xfrm>
            <a:off x="2302932" y="4086578"/>
            <a:ext cx="124178" cy="124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975E9F20-FEC0-D645-A0C7-03506C39AD91}"/>
              </a:ext>
            </a:extLst>
          </p:cNvPr>
          <p:cNvSpPr/>
          <p:nvPr/>
        </p:nvSpPr>
        <p:spPr>
          <a:xfrm>
            <a:off x="3290708" y="4069643"/>
            <a:ext cx="124178" cy="124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068A4487-0F82-F545-A71C-A290003D9F94}"/>
              </a:ext>
            </a:extLst>
          </p:cNvPr>
          <p:cNvSpPr/>
          <p:nvPr/>
        </p:nvSpPr>
        <p:spPr>
          <a:xfrm>
            <a:off x="4096699" y="4063997"/>
            <a:ext cx="124178" cy="124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619ADE1D-DBC1-1B49-B44F-CB0A2B9AFA55}"/>
              </a:ext>
            </a:extLst>
          </p:cNvPr>
          <p:cNvSpPr/>
          <p:nvPr/>
        </p:nvSpPr>
        <p:spPr>
          <a:xfrm>
            <a:off x="4876797" y="4989688"/>
            <a:ext cx="124178" cy="124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B19C6AAC-727E-F54E-856B-13C62E886F2C}"/>
              </a:ext>
            </a:extLst>
          </p:cNvPr>
          <p:cNvCxnSpPr>
            <a:stCxn id="9" idx="5"/>
            <a:endCxn id="10" idx="1"/>
          </p:cNvCxnSpPr>
          <p:nvPr/>
        </p:nvCxnSpPr>
        <p:spPr>
          <a:xfrm>
            <a:off x="4202692" y="4169989"/>
            <a:ext cx="692290" cy="837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10F7125-5280-4441-9F55-F63E64FA42A8}"/>
              </a:ext>
            </a:extLst>
          </p:cNvPr>
          <p:cNvSpPr txBox="1"/>
          <p:nvPr/>
        </p:nvSpPr>
        <p:spPr>
          <a:xfrm>
            <a:off x="4676829" y="4516560"/>
            <a:ext cx="53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3C68D4BE-FBDA-8F46-82B0-CAC1B6417438}"/>
              </a:ext>
            </a:extLst>
          </p:cNvPr>
          <p:cNvSpPr/>
          <p:nvPr/>
        </p:nvSpPr>
        <p:spPr>
          <a:xfrm>
            <a:off x="6035157" y="4996582"/>
            <a:ext cx="124178" cy="124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C1CBC5D-1A47-AC47-854F-A4191B6551D4}"/>
              </a:ext>
            </a:extLst>
          </p:cNvPr>
          <p:cNvSpPr txBox="1"/>
          <p:nvPr/>
        </p:nvSpPr>
        <p:spPr>
          <a:xfrm>
            <a:off x="2136420" y="3757056"/>
            <a:ext cx="457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</a:t>
            </a:r>
            <a:r>
              <a:rPr lang="en-GB" sz="1400" baseline="-25000" dirty="0"/>
              <a:t>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5A3FF1E-6A6D-6046-99A3-0A9C14B24315}"/>
              </a:ext>
            </a:extLst>
          </p:cNvPr>
          <p:cNvSpPr txBox="1"/>
          <p:nvPr/>
        </p:nvSpPr>
        <p:spPr>
          <a:xfrm>
            <a:off x="3113736" y="3726872"/>
            <a:ext cx="457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</a:t>
            </a:r>
            <a:r>
              <a:rPr lang="en-GB" sz="1400" baseline="-25000" dirty="0"/>
              <a:t>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5F599C4-E9C8-4D41-B98A-197BE61CE022}"/>
              </a:ext>
            </a:extLst>
          </p:cNvPr>
          <p:cNvSpPr txBox="1"/>
          <p:nvPr/>
        </p:nvSpPr>
        <p:spPr>
          <a:xfrm>
            <a:off x="3930187" y="3728841"/>
            <a:ext cx="457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</a:t>
            </a:r>
            <a:r>
              <a:rPr lang="en-GB" sz="1400" baseline="-25000" dirty="0"/>
              <a:t>3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43DEF82-DE31-F540-83BB-B00A8696D6EB}"/>
              </a:ext>
            </a:extLst>
          </p:cNvPr>
          <p:cNvSpPr txBox="1"/>
          <p:nvPr/>
        </p:nvSpPr>
        <p:spPr>
          <a:xfrm>
            <a:off x="4750032" y="5095682"/>
            <a:ext cx="457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</a:t>
            </a:r>
            <a:r>
              <a:rPr lang="en-GB" sz="1400" baseline="-25000" dirty="0"/>
              <a:t>4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3EF1A26-D3A2-4441-9799-4C2FFFF0B4EA}"/>
              </a:ext>
            </a:extLst>
          </p:cNvPr>
          <p:cNvSpPr txBox="1"/>
          <p:nvPr/>
        </p:nvSpPr>
        <p:spPr>
          <a:xfrm>
            <a:off x="5868645" y="5132755"/>
            <a:ext cx="457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</a:t>
            </a:r>
            <a:r>
              <a:rPr lang="en-GB" sz="1400" baseline="-25000" dirty="0"/>
              <a:t>5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43DEFE2-62EB-F64F-96CD-38026C54C1C6}"/>
              </a:ext>
            </a:extLst>
          </p:cNvPr>
          <p:cNvSpPr txBox="1"/>
          <p:nvPr/>
        </p:nvSpPr>
        <p:spPr>
          <a:xfrm>
            <a:off x="1151867" y="3972196"/>
            <a:ext cx="451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</a:t>
            </a:r>
            <a:r>
              <a:rPr lang="en-GB" sz="1400" baseline="-25000" dirty="0"/>
              <a:t>i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E1E5559-5DBA-564D-9398-7FBB9DA7D2C2}"/>
              </a:ext>
            </a:extLst>
          </p:cNvPr>
          <p:cNvSpPr txBox="1"/>
          <p:nvPr/>
        </p:nvSpPr>
        <p:spPr>
          <a:xfrm>
            <a:off x="1172112" y="4885892"/>
            <a:ext cx="451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/>
              <a:t>p</a:t>
            </a:r>
            <a:r>
              <a:rPr lang="en-GB" sz="1400" baseline="-25000" dirty="0" err="1"/>
              <a:t>j</a:t>
            </a:r>
            <a:endParaRPr lang="en-GB" sz="1400" baseline="-25000" dirty="0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87715F11-319B-F346-B14B-01DA50F02F1E}"/>
              </a:ext>
            </a:extLst>
          </p:cNvPr>
          <p:cNvSpPr/>
          <p:nvPr/>
        </p:nvSpPr>
        <p:spPr>
          <a:xfrm>
            <a:off x="1671336" y="4066852"/>
            <a:ext cx="124178" cy="124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C6650636-F840-0647-8817-AAFFCACD9A28}"/>
              </a:ext>
            </a:extLst>
          </p:cNvPr>
          <p:cNvSpPr txBox="1"/>
          <p:nvPr/>
        </p:nvSpPr>
        <p:spPr>
          <a:xfrm>
            <a:off x="1504824" y="3737330"/>
            <a:ext cx="457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</a:t>
            </a:r>
            <a:r>
              <a:rPr lang="en-GB" sz="1400" baseline="-250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758543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1" grpId="0"/>
      <p:bldP spid="14" grpId="0" animBg="1"/>
      <p:bldP spid="12" grpId="0"/>
      <p:bldP spid="16" grpId="0"/>
      <p:bldP spid="17" grpId="0"/>
      <p:bldP spid="18" grpId="0"/>
      <p:bldP spid="19" grpId="0"/>
      <p:bldP spid="13" grpId="0"/>
      <p:bldP spid="21" grpId="0"/>
      <p:bldP spid="22" grpId="0" animBg="1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>
                <a:ea typeface="ＭＳ Ｐゴシック" charset="-128"/>
              </a:rPr>
              <a:t>Happened-Before Relation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0" tIns="45720" rIns="0" bIns="45720" rtlCol="0">
            <a:normAutofit/>
          </a:bodyPr>
          <a:lstStyle/>
          <a:p>
            <a:pPr algn="just"/>
            <a:r>
              <a:rPr lang="en-GB" altLang="it-IT" dirty="0">
                <a:solidFill>
                  <a:schemeClr val="accent1"/>
                </a:solidFill>
                <a:ea typeface="ＭＳ Ｐゴシック" charset="-128"/>
                <a:sym typeface="Symbol" charset="2"/>
              </a:rPr>
              <a:t>OBSERVATIONS</a:t>
            </a:r>
            <a:endParaRPr lang="en-GB" altLang="it-IT" dirty="0">
              <a:ea typeface="ＭＳ Ｐゴシック" charset="-128"/>
              <a:sym typeface="Symbol" charset="2"/>
            </a:endParaRPr>
          </a:p>
          <a:p>
            <a:pPr lvl="1" algn="just"/>
            <a:r>
              <a:rPr lang="en-GB" altLang="it-IT" dirty="0">
                <a:ea typeface="ＭＳ Ｐゴシック" charset="-128"/>
                <a:sym typeface="Symbol" charset="2"/>
              </a:rPr>
              <a:t>Happened-before relation imposes a partial order over events of the execution history</a:t>
            </a:r>
          </a:p>
          <a:p>
            <a:pPr lvl="2" algn="just"/>
            <a:r>
              <a:rPr lang="en-GB" altLang="it-IT" dirty="0">
                <a:ea typeface="ＭＳ Ｐゴシック" charset="-128"/>
                <a:sym typeface="Symbol" charset="2"/>
              </a:rPr>
              <a:t>It may exists a pair of events &lt;</a:t>
            </a:r>
            <a:r>
              <a:rPr lang="en-GB" altLang="it-IT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baseline="-25000" dirty="0" err="1">
                <a:ea typeface="ＭＳ Ｐゴシック" charset="-128"/>
                <a:sym typeface="Symbol" charset="2"/>
              </a:rPr>
              <a:t>i</a:t>
            </a:r>
            <a:r>
              <a:rPr lang="en-GB" altLang="it-IT" dirty="0" err="1">
                <a:ea typeface="ＭＳ Ｐゴシック" charset="-128"/>
                <a:sym typeface="Symbol" charset="2"/>
              </a:rPr>
              <a:t>,e</a:t>
            </a:r>
            <a:r>
              <a:rPr lang="en-GB" altLang="it-IT" baseline="-25000" dirty="0" err="1">
                <a:ea typeface="ＭＳ Ｐゴシック" charset="-128"/>
                <a:sym typeface="Symbol" charset="2"/>
              </a:rPr>
              <a:t>j</a:t>
            </a:r>
            <a:r>
              <a:rPr lang="en-GB" altLang="it-IT" dirty="0">
                <a:ea typeface="ＭＳ Ｐゴシック" charset="-128"/>
                <a:sym typeface="Symbol" charset="2"/>
              </a:rPr>
              <a:t>&gt; such that </a:t>
            </a:r>
            <a:r>
              <a:rPr lang="en-GB" altLang="it-IT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baseline="-25000" dirty="0" err="1">
                <a:ea typeface="ＭＳ Ｐゴシック" charset="-128"/>
                <a:sym typeface="Symbol" charset="2"/>
              </a:rPr>
              <a:t>i</a:t>
            </a:r>
            <a:r>
              <a:rPr lang="en-GB" altLang="it-IT" dirty="0">
                <a:ea typeface="ＭＳ Ｐゴシック" charset="-128"/>
                <a:sym typeface="Symbol" charset="2"/>
              </a:rPr>
              <a:t> and </a:t>
            </a:r>
            <a:r>
              <a:rPr lang="en-GB" altLang="it-IT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baseline="-25000" dirty="0" err="1">
                <a:ea typeface="ＭＳ Ｐゴシック" charset="-128"/>
                <a:sym typeface="Symbol" charset="2"/>
              </a:rPr>
              <a:t>j</a:t>
            </a:r>
            <a:r>
              <a:rPr lang="en-GB" altLang="it-IT" dirty="0">
                <a:ea typeface="ＭＳ Ｐゴシック" charset="-128"/>
                <a:sym typeface="Symbol" charset="2"/>
              </a:rPr>
              <a:t> are not in happened-before relation</a:t>
            </a:r>
          </a:p>
          <a:p>
            <a:pPr lvl="2"/>
            <a:r>
              <a:rPr lang="en-GB" altLang="it-IT" dirty="0">
                <a:sym typeface="Symbol" charset="2"/>
              </a:rPr>
              <a:t>If </a:t>
            </a:r>
            <a:r>
              <a:rPr lang="en-GB" altLang="it-IT" dirty="0" err="1">
                <a:sym typeface="Symbol" charset="2"/>
              </a:rPr>
              <a:t>e</a:t>
            </a:r>
            <a:r>
              <a:rPr lang="en-GB" altLang="it-IT" baseline="-25000" dirty="0" err="1">
                <a:sym typeface="Symbol" charset="2"/>
              </a:rPr>
              <a:t>i</a:t>
            </a:r>
            <a:r>
              <a:rPr lang="en-GB" altLang="it-IT" dirty="0">
                <a:sym typeface="Symbol" charset="2"/>
              </a:rPr>
              <a:t> and </a:t>
            </a:r>
            <a:r>
              <a:rPr lang="en-GB" altLang="it-IT" dirty="0" err="1">
                <a:sym typeface="Symbol" charset="2"/>
              </a:rPr>
              <a:t>e</a:t>
            </a:r>
            <a:r>
              <a:rPr lang="en-GB" altLang="it-IT" baseline="-25000" dirty="0" err="1">
                <a:sym typeface="Symbol" charset="2"/>
              </a:rPr>
              <a:t>j</a:t>
            </a:r>
            <a:r>
              <a:rPr lang="en-GB" altLang="it-IT" dirty="0">
                <a:sym typeface="Symbol" charset="2"/>
              </a:rPr>
              <a:t> are not in happened-before relation then they are concurrent (</a:t>
            </a:r>
            <a:r>
              <a:rPr lang="en-GB" altLang="it-IT" dirty="0" err="1">
                <a:sym typeface="Symbol" charset="2"/>
              </a:rPr>
              <a:t>e</a:t>
            </a:r>
            <a:r>
              <a:rPr lang="en-GB" altLang="it-IT" baseline="-25000" dirty="0" err="1">
                <a:sym typeface="Symbol" charset="2"/>
              </a:rPr>
              <a:t>i</a:t>
            </a:r>
            <a:r>
              <a:rPr lang="en-GB" altLang="it-IT" dirty="0">
                <a:sym typeface="Symbol" charset="2"/>
              </a:rPr>
              <a:t>||</a:t>
            </a:r>
            <a:r>
              <a:rPr lang="en-GB" altLang="it-IT" dirty="0" err="1">
                <a:sym typeface="Symbol" charset="2"/>
              </a:rPr>
              <a:t>e</a:t>
            </a:r>
            <a:r>
              <a:rPr lang="en-GB" altLang="it-IT" baseline="-25000" dirty="0" err="1">
                <a:sym typeface="Symbol" charset="2"/>
              </a:rPr>
              <a:t>j</a:t>
            </a:r>
            <a:r>
              <a:rPr lang="en-GB" altLang="it-IT" dirty="0">
                <a:sym typeface="Symbol" charset="2"/>
              </a:rPr>
              <a:t>)</a:t>
            </a:r>
          </a:p>
          <a:p>
            <a:pPr marL="384048" lvl="2" indent="0">
              <a:buNone/>
            </a:pPr>
            <a:r>
              <a:rPr lang="en-GB" altLang="it-IT" dirty="0">
                <a:sym typeface="Symbol" charset="2"/>
              </a:rPr>
              <a:t> </a:t>
            </a:r>
          </a:p>
          <a:p>
            <a:pPr lvl="1" algn="just"/>
            <a:r>
              <a:rPr lang="en-GB" altLang="it-IT" dirty="0">
                <a:ea typeface="ＭＳ Ｐゴシック" charset="-128"/>
                <a:sym typeface="Symbol" charset="2"/>
              </a:rPr>
              <a:t>For any pair of events </a:t>
            </a:r>
            <a:r>
              <a:rPr lang="en-GB" altLang="it-IT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baseline="-25000" dirty="0" err="1">
                <a:ea typeface="ＭＳ Ｐゴシック" charset="-128"/>
                <a:sym typeface="Symbol" charset="2"/>
              </a:rPr>
              <a:t>i</a:t>
            </a:r>
            <a:r>
              <a:rPr lang="en-GB" altLang="it-IT" dirty="0">
                <a:ea typeface="ＭＳ Ｐゴシック" charset="-128"/>
                <a:sym typeface="Symbol" charset="2"/>
              </a:rPr>
              <a:t> and </a:t>
            </a:r>
            <a:r>
              <a:rPr lang="en-GB" altLang="it-IT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baseline="-25000" dirty="0" err="1">
                <a:ea typeface="ＭＳ Ｐゴシック" charset="-128"/>
                <a:sym typeface="Symbol" charset="2"/>
              </a:rPr>
              <a:t>j</a:t>
            </a:r>
            <a:r>
              <a:rPr lang="en-GB" altLang="it-IT" dirty="0">
                <a:ea typeface="ＭＳ Ｐゴシック" charset="-128"/>
                <a:sym typeface="Symbol" charset="2"/>
              </a:rPr>
              <a:t> in a distributed system only one of the following holds</a:t>
            </a:r>
          </a:p>
          <a:p>
            <a:pPr lvl="2" algn="just"/>
            <a:r>
              <a:rPr lang="en-GB" altLang="it-IT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baseline="-25000" dirty="0" err="1">
                <a:ea typeface="ＭＳ Ｐゴシック" charset="-128"/>
                <a:sym typeface="Symbol" charset="2"/>
              </a:rPr>
              <a:t>i</a:t>
            </a:r>
            <a:r>
              <a:rPr lang="en-GB" altLang="it-IT" dirty="0">
                <a:ea typeface="ＭＳ Ｐゴシック" charset="-128"/>
                <a:sym typeface="Symbol" charset="2"/>
              </a:rPr>
              <a:t>   </a:t>
            </a:r>
            <a:r>
              <a:rPr lang="en-GB" altLang="it-IT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baseline="-25000" dirty="0" err="1">
                <a:ea typeface="ＭＳ Ｐゴシック" charset="-128"/>
                <a:sym typeface="Symbol" charset="2"/>
              </a:rPr>
              <a:t>j</a:t>
            </a:r>
            <a:r>
              <a:rPr lang="en-GB" altLang="it-IT" dirty="0">
                <a:ea typeface="ＭＳ Ｐゴシック" charset="-128"/>
                <a:sym typeface="Symbol" charset="2"/>
              </a:rPr>
              <a:t>, </a:t>
            </a:r>
          </a:p>
          <a:p>
            <a:pPr lvl="2" algn="just"/>
            <a:r>
              <a:rPr lang="en-GB" altLang="it-IT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baseline="-25000" dirty="0" err="1">
                <a:ea typeface="ＭＳ Ｐゴシック" charset="-128"/>
                <a:sym typeface="Symbol" charset="2"/>
              </a:rPr>
              <a:t>j</a:t>
            </a:r>
            <a:r>
              <a:rPr lang="en-GB" altLang="it-IT" dirty="0">
                <a:ea typeface="ＭＳ Ｐゴシック" charset="-128"/>
                <a:sym typeface="Symbol" charset="2"/>
              </a:rPr>
              <a:t>   </a:t>
            </a:r>
            <a:r>
              <a:rPr lang="en-GB" altLang="it-IT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baseline="-25000" dirty="0" err="1">
                <a:ea typeface="ＭＳ Ｐゴシック" charset="-128"/>
                <a:sym typeface="Symbol" charset="2"/>
              </a:rPr>
              <a:t>i</a:t>
            </a:r>
            <a:r>
              <a:rPr lang="en-GB" altLang="it-IT" dirty="0">
                <a:ea typeface="ＭＳ Ｐゴシック" charset="-128"/>
                <a:sym typeface="Symbol" charset="2"/>
              </a:rPr>
              <a:t> </a:t>
            </a:r>
          </a:p>
          <a:p>
            <a:pPr lvl="2" algn="just"/>
            <a:r>
              <a:rPr lang="en-GB" altLang="it-IT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baseline="-25000" dirty="0" err="1">
                <a:ea typeface="ＭＳ Ｐゴシック" charset="-128"/>
                <a:sym typeface="Symbol" charset="2"/>
              </a:rPr>
              <a:t>i</a:t>
            </a:r>
            <a:r>
              <a:rPr lang="en-GB" altLang="it-IT" dirty="0">
                <a:ea typeface="ＭＳ Ｐゴシック" charset="-128"/>
                <a:sym typeface="Symbol" charset="2"/>
              </a:rPr>
              <a:t>||</a:t>
            </a:r>
            <a:r>
              <a:rPr lang="en-GB" altLang="it-IT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baseline="-25000" dirty="0" err="1">
                <a:ea typeface="ＭＳ Ｐゴシック" charset="-128"/>
                <a:sym typeface="Symbol" charset="2"/>
              </a:rPr>
              <a:t>j</a:t>
            </a:r>
            <a:endParaRPr lang="en-GB" altLang="it-IT" baseline="-25000" dirty="0">
              <a:ea typeface="ＭＳ Ｐゴシック" charset="-128"/>
              <a:sym typeface="Symbol" charset="2"/>
            </a:endParaRP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3833C13C-F4F7-AE43-AF33-BB70B78755E4}"/>
              </a:ext>
            </a:extLst>
          </p:cNvPr>
          <p:cNvCxnSpPr/>
          <p:nvPr/>
        </p:nvCxnSpPr>
        <p:spPr>
          <a:xfrm>
            <a:off x="2427111" y="4960338"/>
            <a:ext cx="61863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77233A19-F334-7E4E-B208-1091F29CBBD5}"/>
              </a:ext>
            </a:extLst>
          </p:cNvPr>
          <p:cNvCxnSpPr/>
          <p:nvPr/>
        </p:nvCxnSpPr>
        <p:spPr>
          <a:xfrm>
            <a:off x="2427111" y="5869094"/>
            <a:ext cx="61863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Ovale 5">
            <a:extLst>
              <a:ext uri="{FF2B5EF4-FFF2-40B4-BE49-F238E27FC236}">
                <a16:creationId xmlns:a16="http://schemas.microsoft.com/office/drawing/2014/main" id="{D3A19C6D-0587-7446-AD25-09910E7CAA6C}"/>
              </a:ext>
            </a:extLst>
          </p:cNvPr>
          <p:cNvSpPr/>
          <p:nvPr/>
        </p:nvSpPr>
        <p:spPr>
          <a:xfrm>
            <a:off x="3239910" y="4903895"/>
            <a:ext cx="124178" cy="124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B6C7711F-D11D-2C45-82A6-B005F118745D}"/>
              </a:ext>
            </a:extLst>
          </p:cNvPr>
          <p:cNvSpPr/>
          <p:nvPr/>
        </p:nvSpPr>
        <p:spPr>
          <a:xfrm>
            <a:off x="4113750" y="5812572"/>
            <a:ext cx="124178" cy="124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2992227A-9BE6-0E4A-BE9A-25D395710318}"/>
              </a:ext>
            </a:extLst>
          </p:cNvPr>
          <p:cNvSpPr/>
          <p:nvPr/>
        </p:nvSpPr>
        <p:spPr>
          <a:xfrm>
            <a:off x="5033677" y="4881314"/>
            <a:ext cx="124178" cy="124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87F9662A-4109-374A-A8EE-9C4FDEB6B8C0}"/>
              </a:ext>
            </a:extLst>
          </p:cNvPr>
          <p:cNvSpPr/>
          <p:nvPr/>
        </p:nvSpPr>
        <p:spPr>
          <a:xfrm>
            <a:off x="5813775" y="5807005"/>
            <a:ext cx="124178" cy="124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B8F129A8-9437-FA4C-824F-AD60F5D11B24}"/>
              </a:ext>
            </a:extLst>
          </p:cNvPr>
          <p:cNvCxnSpPr>
            <a:stCxn id="8" idx="5"/>
            <a:endCxn id="9" idx="1"/>
          </p:cNvCxnSpPr>
          <p:nvPr/>
        </p:nvCxnSpPr>
        <p:spPr>
          <a:xfrm>
            <a:off x="5139670" y="4987306"/>
            <a:ext cx="692290" cy="837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EC9EFDE-C1B4-3A4A-95F1-43A54BDA068C}"/>
              </a:ext>
            </a:extLst>
          </p:cNvPr>
          <p:cNvSpPr txBox="1"/>
          <p:nvPr/>
        </p:nvSpPr>
        <p:spPr>
          <a:xfrm>
            <a:off x="5613807" y="5333877"/>
            <a:ext cx="53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C4E703EB-136C-D945-B371-EB6C7343C7CC}"/>
              </a:ext>
            </a:extLst>
          </p:cNvPr>
          <p:cNvSpPr/>
          <p:nvPr/>
        </p:nvSpPr>
        <p:spPr>
          <a:xfrm>
            <a:off x="6972135" y="5813899"/>
            <a:ext cx="124178" cy="124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F4A12CC-CC48-FA43-8B33-B0F20CC60309}"/>
              </a:ext>
            </a:extLst>
          </p:cNvPr>
          <p:cNvSpPr txBox="1"/>
          <p:nvPr/>
        </p:nvSpPr>
        <p:spPr>
          <a:xfrm>
            <a:off x="3073398" y="4574373"/>
            <a:ext cx="457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</a:t>
            </a:r>
            <a:r>
              <a:rPr lang="en-GB" sz="1400" baseline="-25000" dirty="0"/>
              <a:t>1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526FA9B-2001-4146-815F-86CD377041CD}"/>
              </a:ext>
            </a:extLst>
          </p:cNvPr>
          <p:cNvSpPr txBox="1"/>
          <p:nvPr/>
        </p:nvSpPr>
        <p:spPr>
          <a:xfrm>
            <a:off x="3936778" y="5469801"/>
            <a:ext cx="457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</a:t>
            </a:r>
            <a:r>
              <a:rPr lang="en-GB" sz="1400" baseline="-25000" dirty="0"/>
              <a:t>2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0DFCBF1-897B-9142-8D98-AA9AE8AC1331}"/>
              </a:ext>
            </a:extLst>
          </p:cNvPr>
          <p:cNvSpPr txBox="1"/>
          <p:nvPr/>
        </p:nvSpPr>
        <p:spPr>
          <a:xfrm>
            <a:off x="4867165" y="4546158"/>
            <a:ext cx="457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</a:t>
            </a:r>
            <a:r>
              <a:rPr lang="en-GB" sz="1400" baseline="-25000" dirty="0"/>
              <a:t>3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37A90C6-D2D4-1A4A-AB57-59FCBB447679}"/>
              </a:ext>
            </a:extLst>
          </p:cNvPr>
          <p:cNvSpPr txBox="1"/>
          <p:nvPr/>
        </p:nvSpPr>
        <p:spPr>
          <a:xfrm>
            <a:off x="5687010" y="5912999"/>
            <a:ext cx="457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</a:t>
            </a:r>
            <a:r>
              <a:rPr lang="en-GB" sz="1400" baseline="-25000" dirty="0"/>
              <a:t>4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82B0505-4E3D-EE4A-992D-6B1F15C21025}"/>
              </a:ext>
            </a:extLst>
          </p:cNvPr>
          <p:cNvSpPr txBox="1"/>
          <p:nvPr/>
        </p:nvSpPr>
        <p:spPr>
          <a:xfrm>
            <a:off x="6805623" y="5950072"/>
            <a:ext cx="457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</a:t>
            </a:r>
            <a:r>
              <a:rPr lang="en-GB" sz="1400" baseline="-25000" dirty="0"/>
              <a:t>5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C4D6678-3DDA-C14D-91C8-F47AFFAA685D}"/>
              </a:ext>
            </a:extLst>
          </p:cNvPr>
          <p:cNvSpPr txBox="1"/>
          <p:nvPr/>
        </p:nvSpPr>
        <p:spPr>
          <a:xfrm>
            <a:off x="2088845" y="4789513"/>
            <a:ext cx="451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</a:t>
            </a:r>
            <a:r>
              <a:rPr lang="en-GB" sz="1400" baseline="-25000" dirty="0"/>
              <a:t>i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3B6BED1-F887-4D46-884B-3A6F1CF8835D}"/>
              </a:ext>
            </a:extLst>
          </p:cNvPr>
          <p:cNvSpPr txBox="1"/>
          <p:nvPr/>
        </p:nvSpPr>
        <p:spPr>
          <a:xfrm>
            <a:off x="2109090" y="5703209"/>
            <a:ext cx="451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/>
              <a:t>p</a:t>
            </a:r>
            <a:r>
              <a:rPr lang="en-GB" sz="1400" baseline="-25000" dirty="0" err="1"/>
              <a:t>j</a:t>
            </a:r>
            <a:endParaRPr lang="en-GB" sz="1400" baseline="-25000" dirty="0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0D8FB862-988B-B247-A821-9913F7D58D8B}"/>
              </a:ext>
            </a:extLst>
          </p:cNvPr>
          <p:cNvSpPr/>
          <p:nvPr/>
        </p:nvSpPr>
        <p:spPr>
          <a:xfrm>
            <a:off x="2608314" y="4884169"/>
            <a:ext cx="124178" cy="1241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04D8BB4-97C4-C645-98EA-55B1689F84D5}"/>
              </a:ext>
            </a:extLst>
          </p:cNvPr>
          <p:cNvSpPr txBox="1"/>
          <p:nvPr/>
        </p:nvSpPr>
        <p:spPr>
          <a:xfrm>
            <a:off x="2441802" y="4554647"/>
            <a:ext cx="457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e</a:t>
            </a:r>
            <a:r>
              <a:rPr lang="en-GB" sz="1400" baseline="-250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312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it-IT" sz="3038">
                <a:ea typeface="ＭＳ Ｐゴシック" charset="-128"/>
              </a:rPr>
              <a:t>Logical Clock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25829" y="1845733"/>
            <a:ext cx="8486776" cy="4460063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5000"/>
              </a:lnSpc>
            </a:pPr>
            <a:r>
              <a:rPr lang="en-GB" altLang="it-IT" sz="1800" dirty="0">
                <a:ea typeface="ＭＳ Ｐゴシック" charset="-128"/>
              </a:rPr>
              <a:t>The Logical Clock, introduced by </a:t>
            </a:r>
            <a:r>
              <a:rPr lang="en-GB" altLang="it-IT" sz="1800" dirty="0" err="1">
                <a:ea typeface="ＭＳ Ｐゴシック" charset="-128"/>
              </a:rPr>
              <a:t>Lamport</a:t>
            </a:r>
            <a:r>
              <a:rPr lang="en-GB" altLang="it-IT" sz="1800" dirty="0">
                <a:ea typeface="ＭＳ Ｐゴシック" charset="-128"/>
              </a:rPr>
              <a:t>, is a software counter that </a:t>
            </a:r>
            <a:r>
              <a:rPr lang="en-GB" altLang="it-IT" sz="1800" i="1" dirty="0">
                <a:ea typeface="ＭＳ Ｐゴシック" charset="-128"/>
              </a:rPr>
              <a:t>monotonically</a:t>
            </a:r>
            <a:r>
              <a:rPr lang="en-GB" altLang="it-IT" sz="1800" dirty="0">
                <a:ea typeface="ＭＳ Ｐゴシック" charset="-128"/>
              </a:rPr>
              <a:t> increases its value</a:t>
            </a:r>
          </a:p>
          <a:p>
            <a:pPr algn="just" eaLnBrk="1" hangingPunct="1">
              <a:lnSpc>
                <a:spcPct val="125000"/>
              </a:lnSpc>
            </a:pPr>
            <a:r>
              <a:rPr lang="en-GB" altLang="it-IT" sz="1800" dirty="0">
                <a:ea typeface="ＭＳ Ｐゴシック" charset="-128"/>
              </a:rPr>
              <a:t>A logical clock L</a:t>
            </a:r>
            <a:r>
              <a:rPr lang="en-GB" altLang="it-IT" sz="1800" baseline="-25000" dirty="0">
                <a:ea typeface="ＭＳ Ｐゴシック" charset="-128"/>
              </a:rPr>
              <a:t>i</a:t>
            </a:r>
            <a:r>
              <a:rPr lang="en-GB" altLang="it-IT" sz="1800" dirty="0">
                <a:ea typeface="ＭＳ Ｐゴシック" charset="-128"/>
              </a:rPr>
              <a:t> can be used to </a:t>
            </a:r>
            <a:r>
              <a:rPr lang="en-GB" altLang="it-IT" sz="1800" i="1" dirty="0">
                <a:ea typeface="ＭＳ Ｐゴシック" charset="-128"/>
              </a:rPr>
              <a:t>timestamp</a:t>
            </a:r>
            <a:r>
              <a:rPr lang="en-GB" altLang="it-IT" sz="1800" dirty="0">
                <a:ea typeface="ＭＳ Ｐゴシック" charset="-128"/>
              </a:rPr>
              <a:t> events </a:t>
            </a:r>
          </a:p>
          <a:p>
            <a:pPr algn="just">
              <a:lnSpc>
                <a:spcPct val="125000"/>
              </a:lnSpc>
            </a:pPr>
            <a:r>
              <a:rPr lang="en-GB" altLang="it-IT" sz="1800" dirty="0" err="1">
                <a:ea typeface="ＭＳ Ｐゴシック" charset="-128"/>
              </a:rPr>
              <a:t>ts</a:t>
            </a:r>
            <a:r>
              <a:rPr lang="en-GB" altLang="it-IT" sz="1800" baseline="-25000" dirty="0" err="1">
                <a:ea typeface="ＭＳ Ｐゴシック" charset="-128"/>
              </a:rPr>
              <a:t>e</a:t>
            </a:r>
            <a:r>
              <a:rPr lang="en-GB" altLang="it-IT" sz="1800" dirty="0">
                <a:ea typeface="ＭＳ Ｐゴシック" charset="-128"/>
              </a:rPr>
              <a:t> = L</a:t>
            </a:r>
            <a:r>
              <a:rPr lang="en-GB" altLang="it-IT" sz="1800" baseline="-25000" dirty="0">
                <a:ea typeface="ＭＳ Ｐゴシック" charset="-128"/>
              </a:rPr>
              <a:t>i</a:t>
            </a:r>
            <a:r>
              <a:rPr lang="en-GB" altLang="it-IT" sz="1800" dirty="0">
                <a:ea typeface="ＭＳ Ｐゴシック" charset="-128"/>
              </a:rPr>
              <a:t>(e) is the “logical” timestamp assigned by a process p</a:t>
            </a:r>
            <a:r>
              <a:rPr lang="en-GB" altLang="it-IT" sz="1800" baseline="-25000" dirty="0">
                <a:ea typeface="ＭＳ Ｐゴシック" charset="-128"/>
              </a:rPr>
              <a:t>i</a:t>
            </a:r>
            <a:r>
              <a:rPr lang="en-GB" altLang="it-IT" sz="1800" dirty="0">
                <a:ea typeface="ＭＳ Ｐゴシック" charset="-128"/>
              </a:rPr>
              <a:t> to events e using its current logical clock</a:t>
            </a:r>
          </a:p>
          <a:p>
            <a:pPr algn="just" eaLnBrk="1" hangingPunct="1">
              <a:lnSpc>
                <a:spcPct val="125000"/>
              </a:lnSpc>
            </a:pPr>
            <a:r>
              <a:rPr lang="en-GB" altLang="it-IT" sz="1800" b="1" dirty="0">
                <a:solidFill>
                  <a:schemeClr val="accent1"/>
                </a:solidFill>
                <a:ea typeface="ＭＳ Ｐゴシック" charset="-128"/>
              </a:rPr>
              <a:t>PROPERTY</a:t>
            </a:r>
            <a:endParaRPr lang="en-GB" altLang="it-IT" sz="1800" dirty="0">
              <a:ea typeface="ＭＳ Ｐゴシック" charset="-128"/>
            </a:endParaRPr>
          </a:p>
          <a:p>
            <a:pPr lvl="1" algn="just" eaLnBrk="1" hangingPunct="1">
              <a:lnSpc>
                <a:spcPct val="125000"/>
              </a:lnSpc>
            </a:pPr>
            <a:r>
              <a:rPr lang="en-GB" altLang="it-IT" sz="1600" dirty="0">
                <a:ea typeface="ＭＳ Ｐゴシック" charset="-128"/>
              </a:rPr>
              <a:t>If e </a:t>
            </a:r>
            <a:r>
              <a:rPr lang="en-GB" altLang="it-IT" sz="1600" dirty="0">
                <a:ea typeface="ＭＳ Ｐゴシック" charset="-128"/>
                <a:sym typeface="Symbol" charset="2"/>
              </a:rPr>
              <a:t> e’ then </a:t>
            </a:r>
            <a:r>
              <a:rPr lang="en-GB" altLang="it-IT" sz="1600" dirty="0" err="1">
                <a:ea typeface="ＭＳ Ｐゴシック" charset="-128"/>
                <a:sym typeface="Symbol" charset="2"/>
              </a:rPr>
              <a:t>ts</a:t>
            </a:r>
            <a:r>
              <a:rPr lang="en-GB" altLang="it-IT" sz="1600" baseline="-25000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sz="1600" dirty="0">
                <a:ea typeface="ＭＳ Ｐゴシック" charset="-128"/>
                <a:sym typeface="Symbol" charset="2"/>
              </a:rPr>
              <a:t> &lt; </a:t>
            </a:r>
            <a:r>
              <a:rPr lang="en-GB" altLang="it-IT" sz="1600" dirty="0" err="1">
                <a:ea typeface="ＭＳ Ｐゴシック" charset="-128"/>
                <a:sym typeface="Symbol" charset="2"/>
              </a:rPr>
              <a:t>ts</a:t>
            </a:r>
            <a:r>
              <a:rPr lang="en-GB" altLang="it-IT" sz="1600" baseline="-25000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sz="1600" baseline="-25000" dirty="0">
                <a:ea typeface="ＭＳ Ｐゴシック" charset="-128"/>
                <a:sym typeface="Symbol" charset="2"/>
              </a:rPr>
              <a:t>’</a:t>
            </a:r>
          </a:p>
          <a:p>
            <a:pPr algn="just" eaLnBrk="1" hangingPunct="1">
              <a:lnSpc>
                <a:spcPct val="125000"/>
              </a:lnSpc>
            </a:pPr>
            <a:r>
              <a:rPr lang="en-GB" altLang="it-IT" sz="1800" b="1" dirty="0">
                <a:solidFill>
                  <a:schemeClr val="accent1"/>
                </a:solidFill>
                <a:ea typeface="ＭＳ Ｐゴシック" charset="-128"/>
                <a:sym typeface="Symbol" charset="2"/>
              </a:rPr>
              <a:t>Observation</a:t>
            </a:r>
            <a:endParaRPr lang="en-GB" altLang="it-IT" sz="1800" dirty="0">
              <a:ea typeface="ＭＳ Ｐゴシック" charset="-128"/>
              <a:sym typeface="Symbol" charset="2"/>
            </a:endParaRPr>
          </a:p>
          <a:p>
            <a:pPr lvl="1" algn="just" eaLnBrk="1" hangingPunct="1">
              <a:lnSpc>
                <a:spcPct val="125000"/>
              </a:lnSpc>
            </a:pPr>
            <a:r>
              <a:rPr lang="en-GB" altLang="it-IT" sz="1600" dirty="0">
                <a:ea typeface="ＭＳ Ｐゴシック" charset="-128"/>
                <a:sym typeface="Symbol" charset="2"/>
              </a:rPr>
              <a:t>The ordering relation obtained through logical timestamps is only a partial order</a:t>
            </a:r>
          </a:p>
        </p:txBody>
      </p:sp>
    </p:spTree>
    <p:extLst>
      <p:ext uri="{BB962C8B-B14F-4D97-AF65-F5344CB8AC3E}">
        <p14:creationId xmlns:p14="http://schemas.microsoft.com/office/powerpoint/2010/main" val="1384408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>
                <a:ea typeface="ＭＳ Ｐゴシック" charset="-128"/>
              </a:rPr>
              <a:t>Scalar Logical Clock: an implementation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it-IT" sz="1800" dirty="0">
                <a:ea typeface="ＭＳ Ｐゴシック" charset="-128"/>
              </a:rPr>
              <a:t>Each process p</a:t>
            </a:r>
            <a:r>
              <a:rPr lang="en-US" altLang="it-IT" sz="1800" baseline="-25000" dirty="0">
                <a:ea typeface="ＭＳ Ｐゴシック" charset="-128"/>
              </a:rPr>
              <a:t>i</a:t>
            </a:r>
            <a:r>
              <a:rPr lang="en-US" altLang="it-IT" sz="1800" dirty="0">
                <a:ea typeface="ＭＳ Ｐゴシック" charset="-128"/>
              </a:rPr>
              <a:t> initializes its logical clock  L</a:t>
            </a:r>
            <a:r>
              <a:rPr lang="en-US" altLang="it-IT" sz="1800" baseline="-25000" dirty="0">
                <a:ea typeface="ＭＳ Ｐゴシック" charset="-128"/>
              </a:rPr>
              <a:t>i</a:t>
            </a:r>
            <a:r>
              <a:rPr lang="en-US" altLang="it-IT" sz="1800" dirty="0">
                <a:ea typeface="ＭＳ Ｐゴシック" charset="-128"/>
              </a:rPr>
              <a:t>=0 (</a:t>
            </a:r>
            <a:r>
              <a:rPr lang="en-US" altLang="it-IT" sz="1800" dirty="0">
                <a:ea typeface="ＭＳ Ｐゴシック" charset="-128"/>
                <a:sym typeface="Symbol" charset="2"/>
              </a:rPr>
              <a:t> </a:t>
            </a:r>
            <a:r>
              <a:rPr lang="en-US" altLang="it-IT" sz="1800" dirty="0" err="1">
                <a:ea typeface="ＭＳ Ｐゴシック" charset="-128"/>
                <a:sym typeface="Symbol" charset="2"/>
              </a:rPr>
              <a:t>i</a:t>
            </a:r>
            <a:r>
              <a:rPr lang="en-US" altLang="it-IT" sz="1800" dirty="0">
                <a:ea typeface="ＭＳ Ｐゴシック" charset="-128"/>
                <a:sym typeface="Symbol" charset="2"/>
              </a:rPr>
              <a:t> = 1….N)</a:t>
            </a:r>
          </a:p>
          <a:p>
            <a:pPr eaLnBrk="1" hangingPunct="1"/>
            <a:r>
              <a:rPr lang="en-US" altLang="it-IT" sz="1800" dirty="0">
                <a:ea typeface="ＭＳ Ｐゴシック" charset="-128"/>
              </a:rPr>
              <a:t>p</a:t>
            </a:r>
            <a:r>
              <a:rPr lang="en-US" altLang="it-IT" sz="1800" baseline="-25000" dirty="0">
                <a:ea typeface="ＭＳ Ｐゴシック" charset="-128"/>
              </a:rPr>
              <a:t>i</a:t>
            </a:r>
            <a:r>
              <a:rPr lang="en-US" altLang="it-IT" sz="1800" dirty="0">
                <a:ea typeface="ＭＳ Ｐゴシック" charset="-128"/>
              </a:rPr>
              <a:t> increases L</a:t>
            </a:r>
            <a:r>
              <a:rPr lang="en-US" altLang="it-IT" sz="1800" baseline="-25000" dirty="0">
                <a:ea typeface="ＭＳ Ｐゴシック" charset="-128"/>
              </a:rPr>
              <a:t>i</a:t>
            </a:r>
            <a:r>
              <a:rPr lang="en-US" altLang="it-IT" sz="1800" dirty="0">
                <a:ea typeface="ＭＳ Ｐゴシック" charset="-128"/>
              </a:rPr>
              <a:t> of 1 when it generates an event (either </a:t>
            </a:r>
            <a:r>
              <a:rPr lang="en-US" altLang="it-IT" sz="1800" i="1" dirty="0">
                <a:ea typeface="ＭＳ Ｐゴシック" charset="-128"/>
              </a:rPr>
              <a:t>send</a:t>
            </a:r>
            <a:r>
              <a:rPr lang="en-US" altLang="it-IT" sz="1800" dirty="0">
                <a:ea typeface="ＭＳ Ｐゴシック" charset="-128"/>
              </a:rPr>
              <a:t> or </a:t>
            </a:r>
            <a:r>
              <a:rPr lang="en-US" altLang="it-IT" sz="1800" i="1" dirty="0">
                <a:ea typeface="ＭＳ Ｐゴシック" charset="-128"/>
              </a:rPr>
              <a:t>receive</a:t>
            </a:r>
            <a:r>
              <a:rPr lang="en-US" altLang="it-IT" sz="1800" dirty="0">
                <a:ea typeface="ＭＳ Ｐゴシック" charset="-128"/>
              </a:rPr>
              <a:t>)</a:t>
            </a:r>
          </a:p>
          <a:p>
            <a:pPr lvl="1" eaLnBrk="1" hangingPunct="1"/>
            <a:r>
              <a:rPr lang="en-US" altLang="it-IT" sz="1600" dirty="0">
                <a:ea typeface="ＭＳ Ｐゴシック" charset="-128"/>
              </a:rPr>
              <a:t>L</a:t>
            </a:r>
            <a:r>
              <a:rPr lang="en-US" altLang="it-IT" sz="1600" baseline="-25000" dirty="0">
                <a:ea typeface="ＭＳ Ｐゴシック" charset="-128"/>
              </a:rPr>
              <a:t>i</a:t>
            </a:r>
            <a:r>
              <a:rPr lang="en-US" altLang="it-IT" sz="1600" dirty="0">
                <a:ea typeface="ＭＳ Ｐゴシック" charset="-128"/>
              </a:rPr>
              <a:t> = L</a:t>
            </a:r>
            <a:r>
              <a:rPr lang="en-US" altLang="it-IT" sz="1600" baseline="-25000" dirty="0">
                <a:ea typeface="ＭＳ Ｐゴシック" charset="-128"/>
              </a:rPr>
              <a:t>i</a:t>
            </a:r>
            <a:r>
              <a:rPr lang="en-US" altLang="it-IT" sz="1600" dirty="0">
                <a:ea typeface="ＭＳ Ｐゴシック" charset="-128"/>
              </a:rPr>
              <a:t> + 1</a:t>
            </a:r>
          </a:p>
          <a:p>
            <a:pPr eaLnBrk="1" hangingPunct="1"/>
            <a:r>
              <a:rPr lang="en-US" altLang="it-IT" sz="1800" dirty="0">
                <a:ea typeface="ＭＳ Ｐゴシック" charset="-128"/>
              </a:rPr>
              <a:t>When p</a:t>
            </a:r>
            <a:r>
              <a:rPr lang="en-US" altLang="it-IT" sz="1800" baseline="-25000" dirty="0">
                <a:ea typeface="ＭＳ Ｐゴシック" charset="-128"/>
              </a:rPr>
              <a:t>i</a:t>
            </a:r>
            <a:r>
              <a:rPr lang="en-US" altLang="it-IT" sz="1800" dirty="0">
                <a:ea typeface="ＭＳ Ｐゴシック" charset="-128"/>
              </a:rPr>
              <a:t> sends a message </a:t>
            </a:r>
            <a:r>
              <a:rPr lang="en-US" altLang="it-IT" sz="1800" i="1" dirty="0">
                <a:ea typeface="ＭＳ Ｐゴシック" charset="-128"/>
              </a:rPr>
              <a:t>m</a:t>
            </a:r>
          </a:p>
          <a:p>
            <a:pPr lvl="1" eaLnBrk="1" hangingPunct="1"/>
            <a:r>
              <a:rPr lang="en-US" altLang="it-IT" sz="1600" dirty="0">
                <a:ea typeface="ＭＳ Ｐゴシック" charset="-128"/>
              </a:rPr>
              <a:t>creates an event </a:t>
            </a:r>
            <a:r>
              <a:rPr lang="en-US" altLang="it-IT" sz="1600" i="1" dirty="0">
                <a:ea typeface="ＭＳ Ｐゴシック" charset="-128"/>
              </a:rPr>
              <a:t>send(m)</a:t>
            </a:r>
          </a:p>
          <a:p>
            <a:pPr lvl="1" eaLnBrk="1" hangingPunct="1"/>
            <a:r>
              <a:rPr lang="en-US" altLang="it-IT" sz="1600" dirty="0">
                <a:ea typeface="ＭＳ Ｐゴシック" charset="-128"/>
              </a:rPr>
              <a:t>increases L</a:t>
            </a:r>
            <a:r>
              <a:rPr lang="en-US" altLang="it-IT" sz="1600" baseline="-25000" dirty="0">
                <a:ea typeface="ＭＳ Ｐゴシック" charset="-128"/>
              </a:rPr>
              <a:t>i</a:t>
            </a:r>
            <a:endParaRPr lang="en-US" altLang="it-IT" sz="1600" dirty="0">
              <a:ea typeface="ＭＳ Ｐゴシック" charset="-128"/>
            </a:endParaRPr>
          </a:p>
          <a:p>
            <a:pPr lvl="1" eaLnBrk="1" hangingPunct="1"/>
            <a:r>
              <a:rPr lang="en-US" altLang="it-IT" sz="1600" dirty="0">
                <a:ea typeface="ＭＳ Ｐゴシック" charset="-128"/>
              </a:rPr>
              <a:t>timestamps </a:t>
            </a:r>
            <a:r>
              <a:rPr lang="en-US" altLang="it-IT" sz="1600" i="1" dirty="0">
                <a:ea typeface="ＭＳ Ｐゴシック" charset="-128"/>
              </a:rPr>
              <a:t>m </a:t>
            </a:r>
            <a:r>
              <a:rPr lang="en-US" altLang="it-IT" sz="1600" dirty="0">
                <a:ea typeface="ＭＳ Ｐゴシック" charset="-128"/>
              </a:rPr>
              <a:t>with </a:t>
            </a:r>
            <a:r>
              <a:rPr lang="en-US" altLang="it-IT" sz="1600" dirty="0" err="1">
                <a:ea typeface="ＭＳ Ｐゴシック" charset="-128"/>
              </a:rPr>
              <a:t>ts</a:t>
            </a:r>
            <a:r>
              <a:rPr lang="en-US" altLang="it-IT" sz="1600" dirty="0">
                <a:ea typeface="ＭＳ Ｐゴシック" charset="-128"/>
              </a:rPr>
              <a:t>=L</a:t>
            </a:r>
            <a:r>
              <a:rPr lang="en-US" altLang="it-IT" sz="1600" baseline="-25000" dirty="0">
                <a:ea typeface="ＭＳ Ｐゴシック" charset="-128"/>
              </a:rPr>
              <a:t>i</a:t>
            </a:r>
          </a:p>
          <a:p>
            <a:pPr eaLnBrk="1" hangingPunct="1"/>
            <a:r>
              <a:rPr lang="en-US" altLang="it-IT" sz="1800" dirty="0">
                <a:ea typeface="ＭＳ Ｐゴシック" charset="-128"/>
              </a:rPr>
              <a:t>When p</a:t>
            </a:r>
            <a:r>
              <a:rPr lang="en-US" altLang="it-IT" sz="1800" baseline="-25000" dirty="0">
                <a:ea typeface="ＭＳ Ｐゴシック" charset="-128"/>
              </a:rPr>
              <a:t>i</a:t>
            </a:r>
            <a:r>
              <a:rPr lang="en-US" altLang="it-IT" sz="1800" dirty="0">
                <a:ea typeface="ＭＳ Ｐゴシック" charset="-128"/>
              </a:rPr>
              <a:t> receives a message </a:t>
            </a:r>
            <a:r>
              <a:rPr lang="en-US" altLang="it-IT" sz="1800" i="1" dirty="0">
                <a:ea typeface="ＭＳ Ｐゴシック" charset="-128"/>
              </a:rPr>
              <a:t>m</a:t>
            </a:r>
            <a:r>
              <a:rPr lang="en-US" altLang="it-IT" sz="1800" dirty="0">
                <a:ea typeface="ＭＳ Ｐゴシック" charset="-128"/>
              </a:rPr>
              <a:t> with timestamp </a:t>
            </a:r>
            <a:r>
              <a:rPr lang="en-US" altLang="it-IT" sz="1800" i="1" dirty="0" err="1">
                <a:ea typeface="ＭＳ Ｐゴシック" charset="-128"/>
              </a:rPr>
              <a:t>ts</a:t>
            </a:r>
            <a:endParaRPr lang="en-US" altLang="it-IT" sz="1800" i="1" dirty="0">
              <a:ea typeface="ＭＳ Ｐゴシック" charset="-128"/>
            </a:endParaRPr>
          </a:p>
          <a:p>
            <a:pPr lvl="1" eaLnBrk="1" hangingPunct="1"/>
            <a:r>
              <a:rPr lang="en-US" altLang="it-IT" sz="1600" dirty="0">
                <a:ea typeface="ＭＳ Ｐゴシック" charset="-128"/>
              </a:rPr>
              <a:t>Updates its logical clock L</a:t>
            </a:r>
            <a:r>
              <a:rPr lang="en-US" altLang="it-IT" sz="1600" baseline="-25000" dirty="0">
                <a:ea typeface="ＭＳ Ｐゴシック" charset="-128"/>
              </a:rPr>
              <a:t>i </a:t>
            </a:r>
            <a:r>
              <a:rPr lang="en-US" altLang="it-IT" sz="1600" dirty="0">
                <a:ea typeface="ＭＳ Ｐゴシック" charset="-128"/>
              </a:rPr>
              <a:t>= max(</a:t>
            </a:r>
            <a:r>
              <a:rPr lang="en-US" altLang="it-IT" sz="1600" dirty="0" err="1">
                <a:ea typeface="ＭＳ Ｐゴシック" charset="-128"/>
              </a:rPr>
              <a:t>ts</a:t>
            </a:r>
            <a:r>
              <a:rPr lang="en-US" altLang="it-IT" sz="1600" dirty="0">
                <a:ea typeface="ＭＳ Ｐゴシック" charset="-128"/>
              </a:rPr>
              <a:t>, L</a:t>
            </a:r>
            <a:r>
              <a:rPr lang="en-US" altLang="it-IT" sz="1600" baseline="-25000" dirty="0">
                <a:ea typeface="ＭＳ Ｐゴシック" charset="-128"/>
              </a:rPr>
              <a:t>i</a:t>
            </a:r>
            <a:r>
              <a:rPr lang="en-US" altLang="it-IT" sz="1600" dirty="0">
                <a:ea typeface="ＭＳ Ｐゴシック" charset="-128"/>
              </a:rPr>
              <a:t>)</a:t>
            </a:r>
          </a:p>
          <a:p>
            <a:pPr lvl="1" eaLnBrk="1" hangingPunct="1"/>
            <a:r>
              <a:rPr lang="en-US" altLang="it-IT" sz="1600" dirty="0">
                <a:ea typeface="ＭＳ Ｐゴシック" charset="-128"/>
              </a:rPr>
              <a:t>Produces an event </a:t>
            </a:r>
            <a:r>
              <a:rPr lang="en-US" altLang="it-IT" sz="1600" i="1" dirty="0">
                <a:ea typeface="ＭＳ Ｐゴシック" charset="-128"/>
              </a:rPr>
              <a:t>receive(m)</a:t>
            </a:r>
          </a:p>
          <a:p>
            <a:pPr lvl="1" eaLnBrk="1" hangingPunct="1"/>
            <a:r>
              <a:rPr lang="en-US" altLang="it-IT" sz="1600" dirty="0">
                <a:ea typeface="ＭＳ Ｐゴシック" charset="-128"/>
              </a:rPr>
              <a:t>Increases L</a:t>
            </a:r>
            <a:r>
              <a:rPr lang="en-US" altLang="it-IT" sz="1600" baseline="-25000" dirty="0">
                <a:ea typeface="ＭＳ Ｐゴシック" charset="-128"/>
              </a:rPr>
              <a:t>i</a:t>
            </a:r>
            <a:endParaRPr lang="en-US" altLang="it-IT" sz="1600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15928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>
                <a:ea typeface="ＭＳ Ｐゴシック" charset="-128"/>
              </a:rPr>
              <a:t>Scalar Logical Clock: example</a:t>
            </a: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D053F515-6FE7-104D-8CAF-1C367C78A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829" y="3945228"/>
            <a:ext cx="8486776" cy="21881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</a:t>
            </a:r>
            <a:r>
              <a:rPr lang="en-US" sz="1800" dirty="0" err="1"/>
              <a:t>e</a:t>
            </a:r>
            <a:r>
              <a:rPr lang="en-US" sz="1800" baseline="30000" dirty="0" err="1"/>
              <a:t>j</a:t>
            </a:r>
            <a:r>
              <a:rPr lang="en-US" sz="1800" baseline="-25000" dirty="0" err="1"/>
              <a:t>i</a:t>
            </a:r>
            <a:r>
              <a:rPr lang="en-US" sz="1800" dirty="0"/>
              <a:t> is j-</a:t>
            </a:r>
            <a:r>
              <a:rPr lang="en-US" sz="1800" dirty="0" err="1"/>
              <a:t>th</a:t>
            </a:r>
            <a:r>
              <a:rPr lang="en-US" sz="1800" dirty="0"/>
              <a:t> event of process p</a:t>
            </a:r>
            <a:r>
              <a:rPr lang="en-US" sz="1800" baseline="-25000" dirty="0"/>
              <a:t>i</a:t>
            </a:r>
          </a:p>
          <a:p>
            <a:r>
              <a:rPr lang="en-US" sz="1800" dirty="0"/>
              <a:t> L</a:t>
            </a:r>
            <a:r>
              <a:rPr lang="en-US" sz="1800" baseline="-25000" dirty="0"/>
              <a:t>i</a:t>
            </a:r>
            <a:r>
              <a:rPr lang="en-US" sz="1800" dirty="0"/>
              <a:t> is the logical clock of p</a:t>
            </a:r>
            <a:r>
              <a:rPr lang="en-US" sz="1800" baseline="-25000" dirty="0"/>
              <a:t>i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NOTE</a:t>
            </a:r>
            <a:endParaRPr lang="en-US" dirty="0"/>
          </a:p>
          <a:p>
            <a:pPr lvl="1"/>
            <a:r>
              <a:rPr lang="en-US" dirty="0"/>
              <a:t> e</a:t>
            </a:r>
            <a:r>
              <a:rPr lang="en-US" baseline="30000" dirty="0"/>
              <a:t>1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 e</a:t>
            </a:r>
            <a:r>
              <a:rPr lang="en-US" baseline="30000" dirty="0">
                <a:sym typeface="Symbol" pitchFamily="18" charset="2"/>
              </a:rPr>
              <a:t>2</a:t>
            </a:r>
            <a:r>
              <a:rPr lang="en-US" baseline="-25000" dirty="0"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and timestamps reflect this property</a:t>
            </a:r>
          </a:p>
          <a:p>
            <a:pPr lvl="1"/>
            <a:r>
              <a:rPr lang="en-US" dirty="0">
                <a:sym typeface="Symbol" pitchFamily="18" charset="2"/>
              </a:rPr>
              <a:t> </a:t>
            </a:r>
            <a:r>
              <a:rPr lang="en-US" dirty="0"/>
              <a:t>e</a:t>
            </a:r>
            <a:r>
              <a:rPr lang="en-US" baseline="30000" dirty="0"/>
              <a:t>1</a:t>
            </a:r>
            <a:r>
              <a:rPr lang="en-US" baseline="-25000" dirty="0"/>
              <a:t>1</a:t>
            </a:r>
            <a:r>
              <a:rPr lang="en-US" dirty="0"/>
              <a:t> || e</a:t>
            </a:r>
            <a:r>
              <a:rPr lang="en-US" baseline="30000" dirty="0"/>
              <a:t>1</a:t>
            </a:r>
            <a:r>
              <a:rPr lang="en-US" baseline="-25000" dirty="0"/>
              <a:t>3</a:t>
            </a:r>
            <a:r>
              <a:rPr lang="en-US" dirty="0"/>
              <a:t>  and respective timestamps have the same value</a:t>
            </a:r>
          </a:p>
          <a:p>
            <a:pPr lvl="1"/>
            <a:r>
              <a:rPr lang="en-US" dirty="0"/>
              <a:t> e</a:t>
            </a:r>
            <a:r>
              <a:rPr lang="en-US" baseline="30000" dirty="0"/>
              <a:t>1</a:t>
            </a:r>
            <a:r>
              <a:rPr lang="en-US" baseline="-25000" dirty="0"/>
              <a:t>2</a:t>
            </a:r>
            <a:r>
              <a:rPr lang="en-US" dirty="0"/>
              <a:t> || e</a:t>
            </a:r>
            <a:r>
              <a:rPr lang="en-US" baseline="30000" dirty="0"/>
              <a:t>1</a:t>
            </a:r>
            <a:r>
              <a:rPr lang="en-US" baseline="-25000" dirty="0"/>
              <a:t>3</a:t>
            </a:r>
            <a:r>
              <a:rPr lang="en-US" dirty="0"/>
              <a:t>  but respective timestamps have different values</a:t>
            </a:r>
            <a:endParaRPr lang="en-US" dirty="0">
              <a:sym typeface="Symbol" pitchFamily="18" charset="2"/>
            </a:endParaRPr>
          </a:p>
          <a:p>
            <a:endParaRPr lang="en-US" dirty="0"/>
          </a:p>
          <a:p>
            <a:endParaRPr lang="en-GB" dirty="0"/>
          </a:p>
        </p:txBody>
      </p:sp>
      <p:sp>
        <p:nvSpPr>
          <p:cNvPr id="13315" name="Line 5"/>
          <p:cNvSpPr>
            <a:spLocks noChangeShapeType="1"/>
          </p:cNvSpPr>
          <p:nvPr/>
        </p:nvSpPr>
        <p:spPr bwMode="auto">
          <a:xfrm>
            <a:off x="2894559" y="2395611"/>
            <a:ext cx="42527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16" name="Line 6"/>
          <p:cNvSpPr>
            <a:spLocks noChangeShapeType="1"/>
          </p:cNvSpPr>
          <p:nvPr/>
        </p:nvSpPr>
        <p:spPr bwMode="auto">
          <a:xfrm>
            <a:off x="2894559" y="2942108"/>
            <a:ext cx="42527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17" name="Line 7"/>
          <p:cNvSpPr>
            <a:spLocks noChangeShapeType="1"/>
          </p:cNvSpPr>
          <p:nvPr/>
        </p:nvSpPr>
        <p:spPr bwMode="auto">
          <a:xfrm>
            <a:off x="2894559" y="3489945"/>
            <a:ext cx="42527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18" name="Line 8"/>
          <p:cNvSpPr>
            <a:spLocks noChangeShapeType="1"/>
          </p:cNvSpPr>
          <p:nvPr/>
        </p:nvSpPr>
        <p:spPr bwMode="auto">
          <a:xfrm>
            <a:off x="3320505" y="2335336"/>
            <a:ext cx="0" cy="121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19" name="Line 9"/>
          <p:cNvSpPr>
            <a:spLocks noChangeShapeType="1"/>
          </p:cNvSpPr>
          <p:nvPr/>
        </p:nvSpPr>
        <p:spPr bwMode="auto">
          <a:xfrm>
            <a:off x="6298108" y="2335336"/>
            <a:ext cx="0" cy="121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20" name="Line 10"/>
          <p:cNvSpPr>
            <a:spLocks noChangeShapeType="1"/>
          </p:cNvSpPr>
          <p:nvPr/>
        </p:nvSpPr>
        <p:spPr bwMode="auto">
          <a:xfrm>
            <a:off x="5143500" y="2335336"/>
            <a:ext cx="0" cy="121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21" name="Line 11"/>
          <p:cNvSpPr>
            <a:spLocks noChangeShapeType="1"/>
          </p:cNvSpPr>
          <p:nvPr/>
        </p:nvSpPr>
        <p:spPr bwMode="auto">
          <a:xfrm>
            <a:off x="3684836" y="2881833"/>
            <a:ext cx="0" cy="121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22" name="Line 12"/>
          <p:cNvSpPr>
            <a:spLocks noChangeShapeType="1"/>
          </p:cNvSpPr>
          <p:nvPr/>
        </p:nvSpPr>
        <p:spPr bwMode="auto">
          <a:xfrm>
            <a:off x="6904881" y="2881833"/>
            <a:ext cx="0" cy="121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23" name="Line 13"/>
          <p:cNvSpPr>
            <a:spLocks noChangeShapeType="1"/>
          </p:cNvSpPr>
          <p:nvPr/>
        </p:nvSpPr>
        <p:spPr bwMode="auto">
          <a:xfrm>
            <a:off x="4413498" y="3428330"/>
            <a:ext cx="0" cy="121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24" name="Line 14"/>
          <p:cNvSpPr>
            <a:spLocks noChangeShapeType="1"/>
          </p:cNvSpPr>
          <p:nvPr/>
        </p:nvSpPr>
        <p:spPr bwMode="auto">
          <a:xfrm>
            <a:off x="4839444" y="3428330"/>
            <a:ext cx="0" cy="121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25" name="Line 15"/>
          <p:cNvSpPr>
            <a:spLocks noChangeShapeType="1"/>
          </p:cNvSpPr>
          <p:nvPr/>
        </p:nvSpPr>
        <p:spPr bwMode="auto">
          <a:xfrm>
            <a:off x="5264051" y="3428330"/>
            <a:ext cx="0" cy="121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26" name="Line 16"/>
          <p:cNvSpPr>
            <a:spLocks noChangeShapeType="1"/>
          </p:cNvSpPr>
          <p:nvPr/>
        </p:nvSpPr>
        <p:spPr bwMode="auto">
          <a:xfrm>
            <a:off x="3867001" y="2942108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27" name="Line 17"/>
          <p:cNvSpPr>
            <a:spLocks noChangeShapeType="1"/>
          </p:cNvSpPr>
          <p:nvPr/>
        </p:nvSpPr>
        <p:spPr bwMode="auto">
          <a:xfrm>
            <a:off x="3320505" y="2395611"/>
            <a:ext cx="364331" cy="5464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28" name="Line 18"/>
          <p:cNvSpPr>
            <a:spLocks noChangeShapeType="1"/>
          </p:cNvSpPr>
          <p:nvPr/>
        </p:nvSpPr>
        <p:spPr bwMode="auto">
          <a:xfrm>
            <a:off x="4110783" y="2942108"/>
            <a:ext cx="302716" cy="547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29" name="Line 19"/>
          <p:cNvSpPr>
            <a:spLocks noChangeShapeType="1"/>
          </p:cNvSpPr>
          <p:nvPr/>
        </p:nvSpPr>
        <p:spPr bwMode="auto">
          <a:xfrm>
            <a:off x="4110782" y="2881833"/>
            <a:ext cx="0" cy="121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30" name="Line 20"/>
          <p:cNvSpPr>
            <a:spLocks noChangeShapeType="1"/>
          </p:cNvSpPr>
          <p:nvPr/>
        </p:nvSpPr>
        <p:spPr bwMode="auto">
          <a:xfrm flipV="1">
            <a:off x="4839445" y="2395611"/>
            <a:ext cx="304055" cy="109433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31" name="Line 21"/>
          <p:cNvSpPr>
            <a:spLocks noChangeShapeType="1"/>
          </p:cNvSpPr>
          <p:nvPr/>
        </p:nvSpPr>
        <p:spPr bwMode="auto">
          <a:xfrm>
            <a:off x="6298108" y="2395611"/>
            <a:ext cx="606773" cy="5464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32" name="Line 22"/>
          <p:cNvSpPr>
            <a:spLocks noChangeShapeType="1"/>
          </p:cNvSpPr>
          <p:nvPr/>
        </p:nvSpPr>
        <p:spPr bwMode="auto">
          <a:xfrm>
            <a:off x="5568107" y="2881833"/>
            <a:ext cx="0" cy="121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33" name="Line 23"/>
          <p:cNvSpPr>
            <a:spLocks noChangeShapeType="1"/>
          </p:cNvSpPr>
          <p:nvPr/>
        </p:nvSpPr>
        <p:spPr bwMode="auto">
          <a:xfrm flipV="1">
            <a:off x="5264052" y="2942108"/>
            <a:ext cx="304056" cy="547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34" name="Text Box 24"/>
          <p:cNvSpPr txBox="1">
            <a:spLocks noChangeArrowheads="1"/>
          </p:cNvSpPr>
          <p:nvPr/>
        </p:nvSpPr>
        <p:spPr bwMode="auto">
          <a:xfrm>
            <a:off x="2652117" y="3246165"/>
            <a:ext cx="364331" cy="32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519"/>
              <a:t>p</a:t>
            </a:r>
            <a:r>
              <a:rPr lang="it-IT" altLang="it-IT" sz="1519" baseline="-25000"/>
              <a:t>3</a:t>
            </a:r>
          </a:p>
        </p:txBody>
      </p:sp>
      <p:sp>
        <p:nvSpPr>
          <p:cNvPr id="13335" name="Text Box 25"/>
          <p:cNvSpPr txBox="1">
            <a:spLocks noChangeArrowheads="1"/>
          </p:cNvSpPr>
          <p:nvPr/>
        </p:nvSpPr>
        <p:spPr bwMode="auto">
          <a:xfrm>
            <a:off x="2652117" y="2699668"/>
            <a:ext cx="364331" cy="32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519"/>
              <a:t>p</a:t>
            </a:r>
            <a:r>
              <a:rPr lang="it-IT" altLang="it-IT" sz="1519" baseline="-25000"/>
              <a:t>2</a:t>
            </a:r>
          </a:p>
        </p:txBody>
      </p:sp>
      <p:sp>
        <p:nvSpPr>
          <p:cNvPr id="13336" name="Text Box 26"/>
          <p:cNvSpPr txBox="1">
            <a:spLocks noChangeArrowheads="1"/>
          </p:cNvSpPr>
          <p:nvPr/>
        </p:nvSpPr>
        <p:spPr bwMode="auto">
          <a:xfrm>
            <a:off x="2652117" y="2153171"/>
            <a:ext cx="364331" cy="32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519"/>
              <a:t>p</a:t>
            </a:r>
            <a:r>
              <a:rPr lang="it-IT" altLang="it-IT" sz="1519" baseline="-25000"/>
              <a:t>1</a:t>
            </a:r>
          </a:p>
        </p:txBody>
      </p:sp>
      <p:sp>
        <p:nvSpPr>
          <p:cNvPr id="13337" name="Text Box 27"/>
          <p:cNvSpPr txBox="1">
            <a:spLocks noChangeArrowheads="1"/>
          </p:cNvSpPr>
          <p:nvPr/>
        </p:nvSpPr>
        <p:spPr bwMode="auto">
          <a:xfrm>
            <a:off x="3198615" y="2091556"/>
            <a:ext cx="4259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e</a:t>
            </a:r>
            <a:r>
              <a:rPr lang="it-IT" altLang="it-IT" sz="1181" baseline="30000"/>
              <a:t>1</a:t>
            </a:r>
            <a:r>
              <a:rPr lang="it-IT" altLang="it-IT" sz="1181" baseline="-25000"/>
              <a:t>1</a:t>
            </a:r>
          </a:p>
        </p:txBody>
      </p:sp>
      <p:sp>
        <p:nvSpPr>
          <p:cNvPr id="13338" name="Text Box 28"/>
          <p:cNvSpPr txBox="1">
            <a:spLocks noChangeArrowheads="1"/>
          </p:cNvSpPr>
          <p:nvPr/>
        </p:nvSpPr>
        <p:spPr bwMode="auto">
          <a:xfrm>
            <a:off x="3867003" y="2091556"/>
            <a:ext cx="4259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e</a:t>
            </a:r>
            <a:r>
              <a:rPr lang="it-IT" altLang="it-IT" sz="1181" baseline="30000"/>
              <a:t>2</a:t>
            </a:r>
            <a:r>
              <a:rPr lang="it-IT" altLang="it-IT" sz="1181" baseline="-25000"/>
              <a:t>1</a:t>
            </a:r>
          </a:p>
        </p:txBody>
      </p:sp>
      <p:sp>
        <p:nvSpPr>
          <p:cNvPr id="13339" name="Text Box 29"/>
          <p:cNvSpPr txBox="1">
            <a:spLocks noChangeArrowheads="1"/>
          </p:cNvSpPr>
          <p:nvPr/>
        </p:nvSpPr>
        <p:spPr bwMode="auto">
          <a:xfrm>
            <a:off x="4961336" y="2091556"/>
            <a:ext cx="4259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e</a:t>
            </a:r>
            <a:r>
              <a:rPr lang="it-IT" altLang="it-IT" sz="1181" baseline="30000"/>
              <a:t>3</a:t>
            </a:r>
            <a:r>
              <a:rPr lang="it-IT" altLang="it-IT" sz="1181" baseline="-25000"/>
              <a:t>1</a:t>
            </a:r>
          </a:p>
        </p:txBody>
      </p:sp>
      <p:sp>
        <p:nvSpPr>
          <p:cNvPr id="13340" name="Text Box 30"/>
          <p:cNvSpPr txBox="1">
            <a:spLocks noChangeArrowheads="1"/>
          </p:cNvSpPr>
          <p:nvPr/>
        </p:nvSpPr>
        <p:spPr bwMode="auto">
          <a:xfrm>
            <a:off x="3562947" y="2684934"/>
            <a:ext cx="4259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e</a:t>
            </a:r>
            <a:r>
              <a:rPr lang="it-IT" altLang="it-IT" sz="1181" baseline="30000"/>
              <a:t>1</a:t>
            </a:r>
            <a:r>
              <a:rPr lang="it-IT" altLang="it-IT" sz="1181" baseline="-25000"/>
              <a:t>2</a:t>
            </a:r>
          </a:p>
        </p:txBody>
      </p:sp>
      <p:sp>
        <p:nvSpPr>
          <p:cNvPr id="13341" name="Text Box 31"/>
          <p:cNvSpPr txBox="1">
            <a:spLocks noChangeArrowheads="1"/>
          </p:cNvSpPr>
          <p:nvPr/>
        </p:nvSpPr>
        <p:spPr bwMode="auto">
          <a:xfrm>
            <a:off x="3988893" y="2684934"/>
            <a:ext cx="4259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e</a:t>
            </a:r>
            <a:r>
              <a:rPr lang="it-IT" altLang="it-IT" sz="1181" baseline="30000"/>
              <a:t>2</a:t>
            </a:r>
            <a:r>
              <a:rPr lang="it-IT" altLang="it-IT" sz="1181" baseline="-25000"/>
              <a:t>2</a:t>
            </a:r>
          </a:p>
        </p:txBody>
      </p:sp>
      <p:sp>
        <p:nvSpPr>
          <p:cNvPr id="13342" name="Text Box 32"/>
          <p:cNvSpPr txBox="1">
            <a:spLocks noChangeArrowheads="1"/>
          </p:cNvSpPr>
          <p:nvPr/>
        </p:nvSpPr>
        <p:spPr bwMode="auto">
          <a:xfrm>
            <a:off x="5446218" y="2684934"/>
            <a:ext cx="4259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e</a:t>
            </a:r>
            <a:r>
              <a:rPr lang="it-IT" altLang="it-IT" sz="1181" baseline="30000"/>
              <a:t>3</a:t>
            </a:r>
            <a:r>
              <a:rPr lang="it-IT" altLang="it-IT" sz="1181" baseline="-25000"/>
              <a:t>2</a:t>
            </a:r>
          </a:p>
        </p:txBody>
      </p:sp>
      <p:sp>
        <p:nvSpPr>
          <p:cNvPr id="13343" name="Text Box 33"/>
          <p:cNvSpPr txBox="1">
            <a:spLocks noChangeArrowheads="1"/>
          </p:cNvSpPr>
          <p:nvPr/>
        </p:nvSpPr>
        <p:spPr bwMode="auto">
          <a:xfrm>
            <a:off x="3502672" y="3232770"/>
            <a:ext cx="4259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e</a:t>
            </a:r>
            <a:r>
              <a:rPr lang="it-IT" altLang="it-IT" sz="1181" baseline="30000"/>
              <a:t>1</a:t>
            </a:r>
            <a:r>
              <a:rPr lang="it-IT" altLang="it-IT" sz="1181" baseline="-25000"/>
              <a:t>3</a:t>
            </a:r>
          </a:p>
        </p:txBody>
      </p:sp>
      <p:sp>
        <p:nvSpPr>
          <p:cNvPr id="13344" name="Text Box 34"/>
          <p:cNvSpPr txBox="1">
            <a:spLocks noChangeArrowheads="1"/>
          </p:cNvSpPr>
          <p:nvPr/>
        </p:nvSpPr>
        <p:spPr bwMode="auto">
          <a:xfrm>
            <a:off x="4292949" y="3246165"/>
            <a:ext cx="4259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e</a:t>
            </a:r>
            <a:r>
              <a:rPr lang="it-IT" altLang="it-IT" sz="1181" baseline="30000"/>
              <a:t>2</a:t>
            </a:r>
            <a:r>
              <a:rPr lang="it-IT" altLang="it-IT" sz="1181" baseline="-25000"/>
              <a:t>3</a:t>
            </a:r>
          </a:p>
        </p:txBody>
      </p:sp>
      <p:sp>
        <p:nvSpPr>
          <p:cNvPr id="13345" name="Text Box 35"/>
          <p:cNvSpPr txBox="1">
            <a:spLocks noChangeArrowheads="1"/>
          </p:cNvSpPr>
          <p:nvPr/>
        </p:nvSpPr>
        <p:spPr bwMode="auto">
          <a:xfrm>
            <a:off x="4717555" y="3246165"/>
            <a:ext cx="4259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e</a:t>
            </a:r>
            <a:r>
              <a:rPr lang="it-IT" altLang="it-IT" sz="1181" baseline="30000"/>
              <a:t>3</a:t>
            </a:r>
            <a:r>
              <a:rPr lang="it-IT" altLang="it-IT" sz="1181" baseline="-25000"/>
              <a:t>3</a:t>
            </a:r>
          </a:p>
        </p:txBody>
      </p:sp>
      <p:sp>
        <p:nvSpPr>
          <p:cNvPr id="13346" name="Line 36"/>
          <p:cNvSpPr>
            <a:spLocks noChangeShapeType="1"/>
          </p:cNvSpPr>
          <p:nvPr/>
        </p:nvSpPr>
        <p:spPr bwMode="auto">
          <a:xfrm>
            <a:off x="3684836" y="3428330"/>
            <a:ext cx="0" cy="121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47" name="Line 37"/>
          <p:cNvSpPr>
            <a:spLocks noChangeShapeType="1"/>
          </p:cNvSpPr>
          <p:nvPr/>
        </p:nvSpPr>
        <p:spPr bwMode="auto">
          <a:xfrm>
            <a:off x="4049167" y="2335336"/>
            <a:ext cx="0" cy="121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48" name="Line 38"/>
          <p:cNvSpPr>
            <a:spLocks noChangeShapeType="1"/>
          </p:cNvSpPr>
          <p:nvPr/>
        </p:nvSpPr>
        <p:spPr bwMode="auto">
          <a:xfrm flipV="1">
            <a:off x="3684836" y="2395611"/>
            <a:ext cx="364331" cy="109433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49" name="Text Box 39"/>
          <p:cNvSpPr txBox="1">
            <a:spLocks noChangeArrowheads="1"/>
          </p:cNvSpPr>
          <p:nvPr/>
        </p:nvSpPr>
        <p:spPr bwMode="auto">
          <a:xfrm>
            <a:off x="5689998" y="2091556"/>
            <a:ext cx="4259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e</a:t>
            </a:r>
            <a:r>
              <a:rPr lang="it-IT" altLang="it-IT" sz="1181" baseline="30000"/>
              <a:t>4</a:t>
            </a:r>
            <a:r>
              <a:rPr lang="it-IT" altLang="it-IT" sz="1181" baseline="-25000"/>
              <a:t>1</a:t>
            </a:r>
          </a:p>
        </p:txBody>
      </p:sp>
      <p:sp>
        <p:nvSpPr>
          <p:cNvPr id="13350" name="Text Box 40"/>
          <p:cNvSpPr txBox="1">
            <a:spLocks noChangeArrowheads="1"/>
          </p:cNvSpPr>
          <p:nvPr/>
        </p:nvSpPr>
        <p:spPr bwMode="auto">
          <a:xfrm>
            <a:off x="5081886" y="3246165"/>
            <a:ext cx="4259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e</a:t>
            </a:r>
            <a:r>
              <a:rPr lang="it-IT" altLang="it-IT" sz="1181" baseline="30000"/>
              <a:t>4</a:t>
            </a:r>
            <a:r>
              <a:rPr lang="it-IT" altLang="it-IT" sz="1181" baseline="-25000"/>
              <a:t>3</a:t>
            </a:r>
          </a:p>
        </p:txBody>
      </p:sp>
      <p:sp>
        <p:nvSpPr>
          <p:cNvPr id="13351" name="Line 41"/>
          <p:cNvSpPr>
            <a:spLocks noChangeShapeType="1"/>
          </p:cNvSpPr>
          <p:nvPr/>
        </p:nvSpPr>
        <p:spPr bwMode="auto">
          <a:xfrm>
            <a:off x="5872162" y="2335336"/>
            <a:ext cx="0" cy="121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52" name="Line 42"/>
          <p:cNvSpPr>
            <a:spLocks noChangeShapeType="1"/>
          </p:cNvSpPr>
          <p:nvPr/>
        </p:nvSpPr>
        <p:spPr bwMode="auto">
          <a:xfrm>
            <a:off x="6236494" y="3428330"/>
            <a:ext cx="0" cy="121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53" name="Line 43"/>
          <p:cNvSpPr>
            <a:spLocks noChangeShapeType="1"/>
          </p:cNvSpPr>
          <p:nvPr/>
        </p:nvSpPr>
        <p:spPr bwMode="auto">
          <a:xfrm>
            <a:off x="5872163" y="2395611"/>
            <a:ext cx="364331" cy="109433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13354" name="Text Box 44"/>
          <p:cNvSpPr txBox="1">
            <a:spLocks noChangeArrowheads="1"/>
          </p:cNvSpPr>
          <p:nvPr/>
        </p:nvSpPr>
        <p:spPr bwMode="auto">
          <a:xfrm>
            <a:off x="6174880" y="2091556"/>
            <a:ext cx="4259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e</a:t>
            </a:r>
            <a:r>
              <a:rPr lang="it-IT" altLang="it-IT" sz="1181" baseline="30000"/>
              <a:t>5</a:t>
            </a:r>
            <a:r>
              <a:rPr lang="it-IT" altLang="it-IT" sz="1181" baseline="-25000"/>
              <a:t>1</a:t>
            </a:r>
          </a:p>
        </p:txBody>
      </p:sp>
      <p:sp>
        <p:nvSpPr>
          <p:cNvPr id="13355" name="Text Box 45"/>
          <p:cNvSpPr txBox="1">
            <a:spLocks noChangeArrowheads="1"/>
          </p:cNvSpPr>
          <p:nvPr/>
        </p:nvSpPr>
        <p:spPr bwMode="auto">
          <a:xfrm>
            <a:off x="6174880" y="3246165"/>
            <a:ext cx="4259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e</a:t>
            </a:r>
            <a:r>
              <a:rPr lang="it-IT" altLang="it-IT" sz="1181" baseline="30000"/>
              <a:t>5</a:t>
            </a:r>
            <a:r>
              <a:rPr lang="it-IT" altLang="it-IT" sz="1181" baseline="-25000"/>
              <a:t>3</a:t>
            </a:r>
          </a:p>
        </p:txBody>
      </p:sp>
      <p:sp>
        <p:nvSpPr>
          <p:cNvPr id="13356" name="Text Box 48"/>
          <p:cNvSpPr txBox="1">
            <a:spLocks noChangeArrowheads="1"/>
          </p:cNvSpPr>
          <p:nvPr/>
        </p:nvSpPr>
        <p:spPr bwMode="auto">
          <a:xfrm>
            <a:off x="2469952" y="1971006"/>
            <a:ext cx="608111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 dirty="0">
                <a:solidFill>
                  <a:srgbClr val="FF3300"/>
                </a:solidFill>
              </a:rPr>
              <a:t>L</a:t>
            </a:r>
            <a:r>
              <a:rPr lang="it-IT" altLang="it-IT" sz="1181" baseline="-25000" dirty="0">
                <a:solidFill>
                  <a:srgbClr val="FF3300"/>
                </a:solidFill>
              </a:rPr>
              <a:t>1</a:t>
            </a:r>
            <a:r>
              <a:rPr lang="it-IT" altLang="it-IT" sz="1181" dirty="0">
                <a:solidFill>
                  <a:srgbClr val="FF3300"/>
                </a:solidFill>
              </a:rPr>
              <a:t>=0</a:t>
            </a:r>
          </a:p>
        </p:txBody>
      </p:sp>
      <p:sp>
        <p:nvSpPr>
          <p:cNvPr id="13357" name="Text Box 49"/>
          <p:cNvSpPr txBox="1">
            <a:spLocks noChangeArrowheads="1"/>
          </p:cNvSpPr>
          <p:nvPr/>
        </p:nvSpPr>
        <p:spPr bwMode="auto">
          <a:xfrm>
            <a:off x="2591842" y="2517502"/>
            <a:ext cx="54515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 dirty="0">
                <a:solidFill>
                  <a:srgbClr val="FF3300"/>
                </a:solidFill>
              </a:rPr>
              <a:t>L</a:t>
            </a:r>
            <a:r>
              <a:rPr lang="it-IT" altLang="it-IT" sz="1181" baseline="-25000" dirty="0">
                <a:solidFill>
                  <a:srgbClr val="FF3300"/>
                </a:solidFill>
              </a:rPr>
              <a:t>2</a:t>
            </a:r>
            <a:r>
              <a:rPr lang="it-IT" altLang="it-IT" sz="1181" dirty="0">
                <a:solidFill>
                  <a:srgbClr val="FF3300"/>
                </a:solidFill>
              </a:rPr>
              <a:t>=0</a:t>
            </a:r>
          </a:p>
        </p:txBody>
      </p:sp>
      <p:sp>
        <p:nvSpPr>
          <p:cNvPr id="13358" name="Text Box 50"/>
          <p:cNvSpPr txBox="1">
            <a:spLocks noChangeArrowheads="1"/>
          </p:cNvSpPr>
          <p:nvPr/>
        </p:nvSpPr>
        <p:spPr bwMode="auto">
          <a:xfrm>
            <a:off x="2591842" y="3063999"/>
            <a:ext cx="54515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 dirty="0">
                <a:solidFill>
                  <a:srgbClr val="FF3300"/>
                </a:solidFill>
              </a:rPr>
              <a:t>L</a:t>
            </a:r>
            <a:r>
              <a:rPr lang="it-IT" altLang="it-IT" sz="1181" baseline="-25000" dirty="0">
                <a:solidFill>
                  <a:srgbClr val="FF3300"/>
                </a:solidFill>
              </a:rPr>
              <a:t>3</a:t>
            </a:r>
            <a:r>
              <a:rPr lang="it-IT" altLang="it-IT" sz="1181" dirty="0">
                <a:solidFill>
                  <a:srgbClr val="FF3300"/>
                </a:solidFill>
              </a:rPr>
              <a:t>=0</a:t>
            </a:r>
          </a:p>
        </p:txBody>
      </p:sp>
      <p:sp>
        <p:nvSpPr>
          <p:cNvPr id="13359" name="Text Box 51"/>
          <p:cNvSpPr txBox="1">
            <a:spLocks noChangeArrowheads="1"/>
          </p:cNvSpPr>
          <p:nvPr/>
        </p:nvSpPr>
        <p:spPr bwMode="auto">
          <a:xfrm>
            <a:off x="3138339" y="1895996"/>
            <a:ext cx="545158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 dirty="0">
                <a:solidFill>
                  <a:srgbClr val="FF3300"/>
                </a:solidFill>
              </a:rPr>
              <a:t>L</a:t>
            </a:r>
            <a:r>
              <a:rPr lang="it-IT" altLang="it-IT" sz="1181" baseline="-25000" dirty="0">
                <a:solidFill>
                  <a:srgbClr val="FF3300"/>
                </a:solidFill>
              </a:rPr>
              <a:t>1</a:t>
            </a:r>
            <a:r>
              <a:rPr lang="it-IT" altLang="it-IT" sz="1181" dirty="0">
                <a:solidFill>
                  <a:srgbClr val="FF3300"/>
                </a:solidFill>
              </a:rPr>
              <a:t>=1</a:t>
            </a:r>
          </a:p>
        </p:txBody>
      </p:sp>
      <p:sp>
        <p:nvSpPr>
          <p:cNvPr id="13360" name="Text Box 52"/>
          <p:cNvSpPr txBox="1">
            <a:spLocks noChangeArrowheads="1"/>
          </p:cNvSpPr>
          <p:nvPr/>
        </p:nvSpPr>
        <p:spPr bwMode="auto">
          <a:xfrm>
            <a:off x="3380780" y="3063999"/>
            <a:ext cx="545155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 dirty="0">
                <a:solidFill>
                  <a:srgbClr val="FF3300"/>
                </a:solidFill>
              </a:rPr>
              <a:t>L</a:t>
            </a:r>
            <a:r>
              <a:rPr lang="it-IT" altLang="it-IT" sz="1181" baseline="-25000" dirty="0">
                <a:solidFill>
                  <a:srgbClr val="FF3300"/>
                </a:solidFill>
              </a:rPr>
              <a:t>3</a:t>
            </a:r>
            <a:r>
              <a:rPr lang="it-IT" altLang="it-IT" sz="1181" dirty="0">
                <a:solidFill>
                  <a:srgbClr val="FF3300"/>
                </a:solidFill>
              </a:rPr>
              <a:t>=1</a:t>
            </a:r>
          </a:p>
        </p:txBody>
      </p:sp>
      <p:sp>
        <p:nvSpPr>
          <p:cNvPr id="13361" name="Text Box 53"/>
          <p:cNvSpPr txBox="1">
            <a:spLocks noChangeArrowheads="1"/>
          </p:cNvSpPr>
          <p:nvPr/>
        </p:nvSpPr>
        <p:spPr bwMode="auto">
          <a:xfrm>
            <a:off x="3529492" y="2502768"/>
            <a:ext cx="546495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>
                <a:solidFill>
                  <a:srgbClr val="FF3300"/>
                </a:solidFill>
              </a:rPr>
              <a:t>L</a:t>
            </a:r>
            <a:r>
              <a:rPr lang="it-IT" altLang="it-IT" sz="1181" baseline="-25000">
                <a:solidFill>
                  <a:srgbClr val="FF3300"/>
                </a:solidFill>
              </a:rPr>
              <a:t>2</a:t>
            </a:r>
            <a:r>
              <a:rPr lang="it-IT" altLang="it-IT" sz="1181">
                <a:solidFill>
                  <a:srgbClr val="FF3300"/>
                </a:solidFill>
              </a:rPr>
              <a:t>=2</a:t>
            </a:r>
          </a:p>
        </p:txBody>
      </p:sp>
      <p:sp>
        <p:nvSpPr>
          <p:cNvPr id="13362" name="Text Box 54"/>
          <p:cNvSpPr txBox="1">
            <a:spLocks noChangeArrowheads="1"/>
          </p:cNvSpPr>
          <p:nvPr/>
        </p:nvSpPr>
        <p:spPr bwMode="auto">
          <a:xfrm>
            <a:off x="4292948" y="3063999"/>
            <a:ext cx="54515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 dirty="0">
                <a:solidFill>
                  <a:srgbClr val="FF3300"/>
                </a:solidFill>
              </a:rPr>
              <a:t>L</a:t>
            </a:r>
            <a:r>
              <a:rPr lang="it-IT" altLang="it-IT" sz="1181" baseline="-25000" dirty="0">
                <a:solidFill>
                  <a:srgbClr val="FF3300"/>
                </a:solidFill>
              </a:rPr>
              <a:t>3</a:t>
            </a:r>
            <a:r>
              <a:rPr lang="it-IT" altLang="it-IT" sz="1181" dirty="0">
                <a:solidFill>
                  <a:srgbClr val="FF3300"/>
                </a:solidFill>
              </a:rPr>
              <a:t>=4</a:t>
            </a:r>
          </a:p>
        </p:txBody>
      </p:sp>
      <p:sp>
        <p:nvSpPr>
          <p:cNvPr id="13363" name="Text Box 55"/>
          <p:cNvSpPr txBox="1">
            <a:spLocks noChangeArrowheads="1"/>
          </p:cNvSpPr>
          <p:nvPr/>
        </p:nvSpPr>
        <p:spPr bwMode="auto">
          <a:xfrm>
            <a:off x="4049167" y="2502768"/>
            <a:ext cx="57331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 dirty="0">
                <a:solidFill>
                  <a:srgbClr val="FF3300"/>
                </a:solidFill>
              </a:rPr>
              <a:t>L</a:t>
            </a:r>
            <a:r>
              <a:rPr lang="it-IT" altLang="it-IT" sz="1181" baseline="-25000" dirty="0">
                <a:solidFill>
                  <a:srgbClr val="FF3300"/>
                </a:solidFill>
              </a:rPr>
              <a:t>2</a:t>
            </a:r>
            <a:r>
              <a:rPr lang="it-IT" altLang="it-IT" sz="1181" dirty="0">
                <a:solidFill>
                  <a:srgbClr val="FF3300"/>
                </a:solidFill>
              </a:rPr>
              <a:t>=3</a:t>
            </a:r>
          </a:p>
        </p:txBody>
      </p:sp>
      <p:sp>
        <p:nvSpPr>
          <p:cNvPr id="13364" name="Text Box 56"/>
          <p:cNvSpPr txBox="1">
            <a:spLocks noChangeArrowheads="1"/>
          </p:cNvSpPr>
          <p:nvPr/>
        </p:nvSpPr>
        <p:spPr bwMode="auto">
          <a:xfrm>
            <a:off x="4657279" y="3063999"/>
            <a:ext cx="54515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>
                <a:solidFill>
                  <a:srgbClr val="FF3300"/>
                </a:solidFill>
              </a:rPr>
              <a:t>L</a:t>
            </a:r>
            <a:r>
              <a:rPr lang="it-IT" altLang="it-IT" sz="1181" baseline="-25000">
                <a:solidFill>
                  <a:srgbClr val="FF3300"/>
                </a:solidFill>
              </a:rPr>
              <a:t>3</a:t>
            </a:r>
            <a:r>
              <a:rPr lang="it-IT" altLang="it-IT" sz="1181">
                <a:solidFill>
                  <a:srgbClr val="FF3300"/>
                </a:solidFill>
              </a:rPr>
              <a:t>=5</a:t>
            </a:r>
          </a:p>
        </p:txBody>
      </p:sp>
      <p:sp>
        <p:nvSpPr>
          <p:cNvPr id="13365" name="Text Box 57"/>
          <p:cNvSpPr txBox="1">
            <a:spLocks noChangeArrowheads="1"/>
          </p:cNvSpPr>
          <p:nvPr/>
        </p:nvSpPr>
        <p:spPr bwMode="auto">
          <a:xfrm>
            <a:off x="5143500" y="3063999"/>
            <a:ext cx="546493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 dirty="0">
                <a:solidFill>
                  <a:srgbClr val="FF3300"/>
                </a:solidFill>
              </a:rPr>
              <a:t>L</a:t>
            </a:r>
            <a:r>
              <a:rPr lang="it-IT" altLang="it-IT" sz="1181" baseline="-25000" dirty="0">
                <a:solidFill>
                  <a:srgbClr val="FF3300"/>
                </a:solidFill>
              </a:rPr>
              <a:t>3</a:t>
            </a:r>
            <a:r>
              <a:rPr lang="it-IT" altLang="it-IT" sz="1181" dirty="0">
                <a:solidFill>
                  <a:srgbClr val="FF3300"/>
                </a:solidFill>
              </a:rPr>
              <a:t>=6</a:t>
            </a:r>
          </a:p>
        </p:txBody>
      </p:sp>
      <p:sp>
        <p:nvSpPr>
          <p:cNvPr id="13366" name="Text Box 58"/>
          <p:cNvSpPr txBox="1">
            <a:spLocks noChangeArrowheads="1"/>
          </p:cNvSpPr>
          <p:nvPr/>
        </p:nvSpPr>
        <p:spPr bwMode="auto">
          <a:xfrm>
            <a:off x="5021610" y="1909391"/>
            <a:ext cx="545158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 dirty="0">
                <a:solidFill>
                  <a:srgbClr val="FF3300"/>
                </a:solidFill>
              </a:rPr>
              <a:t>L</a:t>
            </a:r>
            <a:r>
              <a:rPr lang="it-IT" altLang="it-IT" sz="1181" baseline="-25000" dirty="0">
                <a:solidFill>
                  <a:srgbClr val="FF3300"/>
                </a:solidFill>
              </a:rPr>
              <a:t>1</a:t>
            </a:r>
            <a:r>
              <a:rPr lang="it-IT" altLang="it-IT" sz="1181" dirty="0">
                <a:solidFill>
                  <a:srgbClr val="FF3300"/>
                </a:solidFill>
              </a:rPr>
              <a:t>=6</a:t>
            </a:r>
          </a:p>
        </p:txBody>
      </p:sp>
      <p:sp>
        <p:nvSpPr>
          <p:cNvPr id="13367" name="Text Box 59"/>
          <p:cNvSpPr txBox="1">
            <a:spLocks noChangeArrowheads="1"/>
          </p:cNvSpPr>
          <p:nvPr/>
        </p:nvSpPr>
        <p:spPr bwMode="auto">
          <a:xfrm>
            <a:off x="3927278" y="1909391"/>
            <a:ext cx="545158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 dirty="0">
                <a:solidFill>
                  <a:srgbClr val="FF3300"/>
                </a:solidFill>
              </a:rPr>
              <a:t>L</a:t>
            </a:r>
            <a:r>
              <a:rPr lang="it-IT" altLang="it-IT" sz="1181" baseline="-25000" dirty="0">
                <a:solidFill>
                  <a:srgbClr val="FF3300"/>
                </a:solidFill>
              </a:rPr>
              <a:t>1</a:t>
            </a:r>
            <a:r>
              <a:rPr lang="it-IT" altLang="it-IT" sz="1181" dirty="0">
                <a:solidFill>
                  <a:srgbClr val="FF3300"/>
                </a:solidFill>
              </a:rPr>
              <a:t>=2</a:t>
            </a:r>
          </a:p>
        </p:txBody>
      </p:sp>
      <p:sp>
        <p:nvSpPr>
          <p:cNvPr id="13368" name="Text Box 60"/>
          <p:cNvSpPr txBox="1">
            <a:spLocks noChangeArrowheads="1"/>
          </p:cNvSpPr>
          <p:nvPr/>
        </p:nvSpPr>
        <p:spPr bwMode="auto">
          <a:xfrm>
            <a:off x="6782992" y="2684934"/>
            <a:ext cx="4259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e</a:t>
            </a:r>
            <a:r>
              <a:rPr lang="it-IT" altLang="it-IT" sz="1181" baseline="30000"/>
              <a:t>4</a:t>
            </a:r>
            <a:r>
              <a:rPr lang="it-IT" altLang="it-IT" sz="1181" baseline="-25000"/>
              <a:t>2</a:t>
            </a:r>
          </a:p>
        </p:txBody>
      </p:sp>
      <p:sp>
        <p:nvSpPr>
          <p:cNvPr id="13369" name="Text Box 61"/>
          <p:cNvSpPr txBox="1">
            <a:spLocks noChangeArrowheads="1"/>
          </p:cNvSpPr>
          <p:nvPr/>
        </p:nvSpPr>
        <p:spPr bwMode="auto">
          <a:xfrm>
            <a:off x="5750273" y="1909391"/>
            <a:ext cx="545157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 dirty="0">
                <a:solidFill>
                  <a:srgbClr val="FF3300"/>
                </a:solidFill>
              </a:rPr>
              <a:t>L</a:t>
            </a:r>
            <a:r>
              <a:rPr lang="it-IT" altLang="it-IT" sz="1181" baseline="-25000" dirty="0">
                <a:solidFill>
                  <a:srgbClr val="FF3300"/>
                </a:solidFill>
              </a:rPr>
              <a:t>1</a:t>
            </a:r>
            <a:r>
              <a:rPr lang="it-IT" altLang="it-IT" sz="1181" dirty="0">
                <a:solidFill>
                  <a:srgbClr val="FF3300"/>
                </a:solidFill>
              </a:rPr>
              <a:t>=7</a:t>
            </a:r>
          </a:p>
        </p:txBody>
      </p:sp>
      <p:sp>
        <p:nvSpPr>
          <p:cNvPr id="13370" name="Text Box 62"/>
          <p:cNvSpPr txBox="1">
            <a:spLocks noChangeArrowheads="1"/>
          </p:cNvSpPr>
          <p:nvPr/>
        </p:nvSpPr>
        <p:spPr bwMode="auto">
          <a:xfrm>
            <a:off x="6236494" y="1895996"/>
            <a:ext cx="543815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>
                <a:solidFill>
                  <a:srgbClr val="FF3300"/>
                </a:solidFill>
              </a:rPr>
              <a:t>L</a:t>
            </a:r>
            <a:r>
              <a:rPr lang="it-IT" altLang="it-IT" sz="1181" baseline="-25000">
                <a:solidFill>
                  <a:srgbClr val="FF3300"/>
                </a:solidFill>
              </a:rPr>
              <a:t>1</a:t>
            </a:r>
            <a:r>
              <a:rPr lang="it-IT" altLang="it-IT" sz="1181">
                <a:solidFill>
                  <a:srgbClr val="FF3300"/>
                </a:solidFill>
              </a:rPr>
              <a:t>=8</a:t>
            </a:r>
          </a:p>
        </p:txBody>
      </p:sp>
      <p:sp>
        <p:nvSpPr>
          <p:cNvPr id="13371" name="Text Box 63"/>
          <p:cNvSpPr txBox="1">
            <a:spLocks noChangeArrowheads="1"/>
          </p:cNvSpPr>
          <p:nvPr/>
        </p:nvSpPr>
        <p:spPr bwMode="auto">
          <a:xfrm>
            <a:off x="6114604" y="3063999"/>
            <a:ext cx="665705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 dirty="0">
                <a:solidFill>
                  <a:srgbClr val="FF3300"/>
                </a:solidFill>
              </a:rPr>
              <a:t>L</a:t>
            </a:r>
            <a:r>
              <a:rPr lang="it-IT" altLang="it-IT" sz="1181" baseline="-25000" dirty="0">
                <a:solidFill>
                  <a:srgbClr val="FF3300"/>
                </a:solidFill>
              </a:rPr>
              <a:t>3</a:t>
            </a:r>
            <a:r>
              <a:rPr lang="it-IT" altLang="it-IT" sz="1181" dirty="0">
                <a:solidFill>
                  <a:srgbClr val="FF3300"/>
                </a:solidFill>
              </a:rPr>
              <a:t>=8</a:t>
            </a:r>
          </a:p>
        </p:txBody>
      </p:sp>
      <p:sp>
        <p:nvSpPr>
          <p:cNvPr id="13372" name="Text Box 64"/>
          <p:cNvSpPr txBox="1">
            <a:spLocks noChangeArrowheads="1"/>
          </p:cNvSpPr>
          <p:nvPr/>
        </p:nvSpPr>
        <p:spPr bwMode="auto">
          <a:xfrm>
            <a:off x="5446217" y="2502768"/>
            <a:ext cx="547831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 dirty="0">
                <a:solidFill>
                  <a:srgbClr val="FF3300"/>
                </a:solidFill>
              </a:rPr>
              <a:t>L</a:t>
            </a:r>
            <a:r>
              <a:rPr lang="it-IT" altLang="it-IT" sz="1181" baseline="-25000" dirty="0">
                <a:solidFill>
                  <a:srgbClr val="FF3300"/>
                </a:solidFill>
              </a:rPr>
              <a:t>2</a:t>
            </a:r>
            <a:r>
              <a:rPr lang="it-IT" altLang="it-IT" sz="1181" dirty="0">
                <a:solidFill>
                  <a:srgbClr val="FF3300"/>
                </a:solidFill>
              </a:rPr>
              <a:t>=7</a:t>
            </a:r>
          </a:p>
        </p:txBody>
      </p:sp>
      <p:sp>
        <p:nvSpPr>
          <p:cNvPr id="13373" name="Text Box 66"/>
          <p:cNvSpPr txBox="1">
            <a:spLocks noChangeArrowheads="1"/>
          </p:cNvSpPr>
          <p:nvPr/>
        </p:nvSpPr>
        <p:spPr bwMode="auto">
          <a:xfrm>
            <a:off x="6782992" y="2502768"/>
            <a:ext cx="606770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 dirty="0">
                <a:solidFill>
                  <a:srgbClr val="FF3300"/>
                </a:solidFill>
              </a:rPr>
              <a:t>L</a:t>
            </a:r>
            <a:r>
              <a:rPr lang="it-IT" altLang="it-IT" sz="1181" baseline="-25000" dirty="0">
                <a:solidFill>
                  <a:srgbClr val="FF3300"/>
                </a:solidFill>
              </a:rPr>
              <a:t>2</a:t>
            </a:r>
            <a:r>
              <a:rPr lang="it-IT" altLang="it-IT" sz="1181" dirty="0">
                <a:solidFill>
                  <a:srgbClr val="FF3300"/>
                </a:solidFill>
              </a:rPr>
              <a:t>=9</a:t>
            </a:r>
          </a:p>
        </p:txBody>
      </p:sp>
      <p:sp>
        <p:nvSpPr>
          <p:cNvPr id="98374" name="Text Box 70"/>
          <p:cNvSpPr txBox="1">
            <a:spLocks noChangeArrowheads="1"/>
          </p:cNvSpPr>
          <p:nvPr/>
        </p:nvSpPr>
        <p:spPr bwMode="auto">
          <a:xfrm>
            <a:off x="1801565" y="3915222"/>
            <a:ext cx="6804422" cy="223240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chemeClr val="accent1"/>
                </a:solidFill>
                <a:ea typeface="ＭＳ Ｐゴシック" charset="-128"/>
              </a:defRPr>
            </a:lvl1pPr>
            <a:lvl2pPr marL="384048" lvl="1" indent="-182880" algn="just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charset="-128"/>
              </a:defRPr>
            </a:lvl2pPr>
            <a:lvl3pPr marL="566928" lvl="2" indent="-182880" algn="just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ea typeface="ＭＳ Ｐゴシック" charset="-128"/>
              </a:defRPr>
            </a:lvl3pPr>
            <a:lvl4pPr marL="749808" indent="-18288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597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>
                <a:ea typeface="ＭＳ Ｐゴシック" charset="-128"/>
              </a:rPr>
              <a:t>Limits of Scalar Logical Clock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eaLnBrk="1" hangingPunct="1">
              <a:lnSpc>
                <a:spcPct val="125000"/>
              </a:lnSpc>
            </a:pPr>
            <a:r>
              <a:rPr lang="en-GB" altLang="it-IT" sz="1800" dirty="0">
                <a:ea typeface="ＭＳ Ｐゴシック" charset="-128"/>
              </a:rPr>
              <a:t>Scalar logical clock can guarantee the following property</a:t>
            </a:r>
          </a:p>
          <a:p>
            <a:pPr lvl="1" algn="just" eaLnBrk="1" hangingPunct="1">
              <a:lnSpc>
                <a:spcPct val="125000"/>
              </a:lnSpc>
            </a:pPr>
            <a:r>
              <a:rPr lang="en-GB" altLang="it-IT" sz="1600" dirty="0">
                <a:ea typeface="ＭＳ Ｐゴシック" charset="-128"/>
              </a:rPr>
              <a:t>If e </a:t>
            </a:r>
            <a:r>
              <a:rPr lang="en-GB" altLang="it-IT" sz="1600" dirty="0">
                <a:ea typeface="ＭＳ Ｐゴシック" charset="-128"/>
                <a:sym typeface="Symbol" charset="2"/>
              </a:rPr>
              <a:t> e’ then </a:t>
            </a:r>
            <a:r>
              <a:rPr lang="en-GB" altLang="it-IT" sz="1600" dirty="0" err="1">
                <a:ea typeface="ＭＳ Ｐゴシック" charset="-128"/>
                <a:sym typeface="Symbol" charset="2"/>
              </a:rPr>
              <a:t>ts</a:t>
            </a:r>
            <a:r>
              <a:rPr lang="en-GB" altLang="it-IT" sz="1600" baseline="-25000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sz="1600" dirty="0">
                <a:ea typeface="ＭＳ Ｐゴシック" charset="-128"/>
                <a:sym typeface="Symbol" charset="2"/>
              </a:rPr>
              <a:t> &lt; </a:t>
            </a:r>
            <a:r>
              <a:rPr lang="en-GB" altLang="it-IT" sz="1600" dirty="0" err="1">
                <a:ea typeface="ＭＳ Ｐゴシック" charset="-128"/>
                <a:sym typeface="Symbol" charset="2"/>
              </a:rPr>
              <a:t>ts</a:t>
            </a:r>
            <a:r>
              <a:rPr lang="en-GB" altLang="it-IT" sz="1600" baseline="-25000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sz="1600" baseline="-25000" dirty="0">
                <a:ea typeface="ＭＳ Ｐゴシック" charset="-128"/>
                <a:sym typeface="Symbol" charset="2"/>
              </a:rPr>
              <a:t>’</a:t>
            </a:r>
            <a:endParaRPr lang="en-GB" altLang="it-IT" sz="1600" dirty="0">
              <a:ea typeface="ＭＳ Ｐゴシック" charset="-128"/>
              <a:sym typeface="Symbol" charset="2"/>
            </a:endParaRPr>
          </a:p>
          <a:p>
            <a:pPr algn="just" eaLnBrk="1" hangingPunct="1">
              <a:lnSpc>
                <a:spcPct val="125000"/>
              </a:lnSpc>
            </a:pPr>
            <a:r>
              <a:rPr lang="en-GB" altLang="it-IT" sz="1800" dirty="0">
                <a:ea typeface="ＭＳ Ｐゴシック" charset="-128"/>
                <a:sym typeface="Symbol" charset="2"/>
              </a:rPr>
              <a:t>But it is not possible to guarantee</a:t>
            </a:r>
          </a:p>
          <a:p>
            <a:pPr lvl="1" algn="just" eaLnBrk="1" hangingPunct="1">
              <a:lnSpc>
                <a:spcPct val="125000"/>
              </a:lnSpc>
            </a:pPr>
            <a:r>
              <a:rPr lang="en-GB" altLang="it-IT" sz="1600" dirty="0">
                <a:ea typeface="ＭＳ Ｐゴシック" charset="-128"/>
                <a:sym typeface="Symbol" charset="2"/>
              </a:rPr>
              <a:t>If </a:t>
            </a:r>
            <a:r>
              <a:rPr lang="en-GB" altLang="it-IT" sz="1600" dirty="0" err="1">
                <a:ea typeface="ＭＳ Ｐゴシック" charset="-128"/>
                <a:sym typeface="Symbol" charset="2"/>
              </a:rPr>
              <a:t>ts</a:t>
            </a:r>
            <a:r>
              <a:rPr lang="en-GB" altLang="it-IT" sz="1600" baseline="-25000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sz="1600" dirty="0">
                <a:ea typeface="ＭＳ Ｐゴシック" charset="-128"/>
                <a:sym typeface="Symbol" charset="2"/>
              </a:rPr>
              <a:t> &lt; </a:t>
            </a:r>
            <a:r>
              <a:rPr lang="en-GB" altLang="it-IT" sz="1600" dirty="0" err="1">
                <a:ea typeface="ＭＳ Ｐゴシック" charset="-128"/>
                <a:sym typeface="Symbol" charset="2"/>
              </a:rPr>
              <a:t>ts</a:t>
            </a:r>
            <a:r>
              <a:rPr lang="en-GB" altLang="it-IT" sz="1600" baseline="-25000" dirty="0" err="1">
                <a:ea typeface="ＭＳ Ｐゴシック" charset="-128"/>
                <a:sym typeface="Symbol" charset="2"/>
              </a:rPr>
              <a:t>e</a:t>
            </a:r>
            <a:r>
              <a:rPr lang="en-GB" altLang="it-IT" sz="1600" baseline="-25000" dirty="0">
                <a:ea typeface="ＭＳ Ｐゴシック" charset="-128"/>
                <a:sym typeface="Symbol" charset="2"/>
              </a:rPr>
              <a:t>’</a:t>
            </a:r>
            <a:r>
              <a:rPr lang="en-GB" altLang="it-IT" sz="1600" dirty="0">
                <a:ea typeface="ＭＳ Ｐゴシック" charset="-128"/>
                <a:sym typeface="Symbol" charset="2"/>
              </a:rPr>
              <a:t> then e  e’</a:t>
            </a:r>
          </a:p>
          <a:p>
            <a:pPr algn="just" eaLnBrk="1" hangingPunct="1">
              <a:lnSpc>
                <a:spcPct val="125000"/>
              </a:lnSpc>
            </a:pPr>
            <a:r>
              <a:rPr lang="en-GB" altLang="it-IT" sz="1800" b="1" dirty="0">
                <a:ea typeface="ＭＳ Ｐゴシック" charset="-128"/>
                <a:sym typeface="Symbol" charset="2"/>
              </a:rPr>
              <a:t>Consequently</a:t>
            </a:r>
            <a:r>
              <a:rPr lang="en-GB" altLang="it-IT" sz="1800" dirty="0">
                <a:ea typeface="ＭＳ Ｐゴシック" charset="-128"/>
                <a:sym typeface="Symbol" charset="2"/>
              </a:rPr>
              <a:t>:</a:t>
            </a:r>
          </a:p>
          <a:p>
            <a:pPr lvl="1" algn="just" eaLnBrk="1" hangingPunct="1">
              <a:lnSpc>
                <a:spcPct val="125000"/>
              </a:lnSpc>
            </a:pPr>
            <a:r>
              <a:rPr lang="en-GB" altLang="it-IT" sz="1600" dirty="0">
                <a:ea typeface="ＭＳ Ｐゴシック" charset="-128"/>
                <a:sym typeface="Symbol" charset="2"/>
              </a:rPr>
              <a:t>Using scalar logical clocks, it is not possible to determine if two events are concurrent or related by the happened-before relation</a:t>
            </a:r>
          </a:p>
          <a:p>
            <a:pPr algn="just" eaLnBrk="1" hangingPunct="1">
              <a:lnSpc>
                <a:spcPct val="125000"/>
              </a:lnSpc>
            </a:pPr>
            <a:r>
              <a:rPr lang="en-GB" altLang="it-IT" sz="1800" dirty="0" err="1">
                <a:ea typeface="ＭＳ Ｐゴシック" charset="-128"/>
                <a:sym typeface="Symbol" charset="2"/>
              </a:rPr>
              <a:t>Mattern</a:t>
            </a:r>
            <a:r>
              <a:rPr lang="en-GB" altLang="it-IT" sz="1800" dirty="0">
                <a:ea typeface="ＭＳ Ｐゴシック" charset="-128"/>
                <a:sym typeface="Symbol" charset="2"/>
              </a:rPr>
              <a:t> [1989] and Fridge [1991] proposed an improved version of logical clock where events are timestamped with local logical clock and node identifier </a:t>
            </a:r>
          </a:p>
          <a:p>
            <a:pPr lvl="1" algn="just" eaLnBrk="1" hangingPunct="1">
              <a:lnSpc>
                <a:spcPct val="125000"/>
              </a:lnSpc>
            </a:pPr>
            <a:r>
              <a:rPr lang="en-GB" altLang="it-IT" sz="1600" b="1" i="1" dirty="0">
                <a:ea typeface="ＭＳ Ｐゴシック" charset="-128"/>
                <a:sym typeface="Symbol" charset="2"/>
              </a:rPr>
              <a:t>Vector Clock</a:t>
            </a:r>
          </a:p>
        </p:txBody>
      </p:sp>
    </p:spTree>
    <p:extLst>
      <p:ext uri="{BB962C8B-B14F-4D97-AF65-F5344CB8AC3E}">
        <p14:creationId xmlns:p14="http://schemas.microsoft.com/office/powerpoint/2010/main" val="484632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>
                <a:ea typeface="ＭＳ Ｐゴシック" charset="-128"/>
              </a:rPr>
              <a:t>Vector Clock : definition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 eaLnBrk="1" hangingPunct="1">
              <a:lnSpc>
                <a:spcPct val="125000"/>
              </a:lnSpc>
            </a:pPr>
            <a:r>
              <a:rPr lang="en-GB" altLang="it-IT" dirty="0">
                <a:ea typeface="ＭＳ Ｐゴシック" charset="-128"/>
              </a:rPr>
              <a:t>Vector Clock for a set of N processes is composed by an array of N integer counters</a:t>
            </a:r>
          </a:p>
          <a:p>
            <a:pPr algn="just" eaLnBrk="1" hangingPunct="1">
              <a:lnSpc>
                <a:spcPct val="125000"/>
              </a:lnSpc>
            </a:pPr>
            <a:r>
              <a:rPr lang="en-GB" altLang="it-IT" dirty="0">
                <a:ea typeface="ＭＳ Ｐゴシック" charset="-128"/>
              </a:rPr>
              <a:t>Each process p</a:t>
            </a:r>
            <a:r>
              <a:rPr lang="en-GB" altLang="it-IT" baseline="-25000" dirty="0">
                <a:ea typeface="ＭＳ Ｐゴシック" charset="-128"/>
              </a:rPr>
              <a:t>i</a:t>
            </a:r>
            <a:r>
              <a:rPr lang="en-GB" altLang="it-IT" dirty="0">
                <a:ea typeface="ＭＳ Ｐゴシック" charset="-128"/>
              </a:rPr>
              <a:t> maintains a Vector Clock V</a:t>
            </a:r>
            <a:r>
              <a:rPr lang="en-GB" altLang="it-IT" baseline="-25000" dirty="0">
                <a:ea typeface="ＭＳ Ｐゴシック" charset="-128"/>
              </a:rPr>
              <a:t>i</a:t>
            </a:r>
            <a:r>
              <a:rPr lang="en-GB" altLang="it-IT" dirty="0">
                <a:ea typeface="ＭＳ Ｐゴシック" charset="-128"/>
              </a:rPr>
              <a:t> and timestamps events by mean of its Vector Clock</a:t>
            </a:r>
            <a:endParaRPr lang="en-GB" altLang="it-IT" baseline="-25000" dirty="0">
              <a:ea typeface="ＭＳ Ｐゴシック" charset="-128"/>
            </a:endParaRPr>
          </a:p>
          <a:p>
            <a:pPr algn="just" eaLnBrk="1" hangingPunct="1">
              <a:lnSpc>
                <a:spcPct val="125000"/>
              </a:lnSpc>
            </a:pPr>
            <a:r>
              <a:rPr lang="en-GB" altLang="it-IT" dirty="0">
                <a:ea typeface="ＭＳ Ｐゴシック" charset="-128"/>
              </a:rPr>
              <a:t>Similarly to scalar clock, Vector Clock is attached to message m </a:t>
            </a:r>
          </a:p>
          <a:p>
            <a:pPr lvl="1" algn="just">
              <a:lnSpc>
                <a:spcPct val="125000"/>
              </a:lnSpc>
            </a:pPr>
            <a:r>
              <a:rPr lang="en-GB" altLang="it-IT" dirty="0">
                <a:ea typeface="ＭＳ Ｐゴシック" charset="-128"/>
              </a:rPr>
              <a:t>in this case the timestamp will be an integer vector (i.e., an array of integer)</a:t>
            </a:r>
          </a:p>
          <a:p>
            <a:pPr algn="just" eaLnBrk="1" hangingPunct="1">
              <a:lnSpc>
                <a:spcPct val="125000"/>
              </a:lnSpc>
            </a:pPr>
            <a:r>
              <a:rPr lang="en-GB" altLang="it-IT" dirty="0">
                <a:ea typeface="ＭＳ Ｐゴシック" charset="-128"/>
              </a:rPr>
              <a:t>Vector Clock allows nodes to order events in happens-before just looking at their timestamps</a:t>
            </a:r>
          </a:p>
          <a:p>
            <a:pPr lvl="1" algn="just" eaLnBrk="1" hangingPunct="1">
              <a:lnSpc>
                <a:spcPct val="125000"/>
              </a:lnSpc>
            </a:pPr>
            <a:r>
              <a:rPr lang="en-GB" altLang="it-IT" sz="1700" dirty="0">
                <a:ea typeface="ＭＳ Ｐゴシック" charset="-128"/>
              </a:rPr>
              <a:t>Scalar clocks: e </a:t>
            </a:r>
            <a:r>
              <a:rPr lang="en-GB" altLang="it-IT" sz="1700" dirty="0">
                <a:ea typeface="ＭＳ Ｐゴシック" charset="-128"/>
                <a:sym typeface="Symbol" charset="2"/>
              </a:rPr>
              <a:t> e’ implies L(e) &lt; L(e’)</a:t>
            </a:r>
            <a:endParaRPr lang="en-GB" altLang="it-IT" sz="1700" dirty="0">
              <a:ea typeface="ＭＳ Ｐゴシック" charset="-128"/>
            </a:endParaRPr>
          </a:p>
          <a:p>
            <a:pPr lvl="1" algn="just" eaLnBrk="1" hangingPunct="1">
              <a:lnSpc>
                <a:spcPct val="125000"/>
              </a:lnSpc>
            </a:pPr>
            <a:r>
              <a:rPr lang="en-GB" altLang="it-IT" sz="1700" dirty="0">
                <a:ea typeface="ＭＳ Ｐゴシック" charset="-128"/>
              </a:rPr>
              <a:t>Vector clocks: e </a:t>
            </a:r>
            <a:r>
              <a:rPr lang="en-GB" altLang="it-IT" sz="1700" dirty="0">
                <a:ea typeface="ＭＳ Ｐゴシック" charset="-128"/>
                <a:sym typeface="Symbol" charset="2"/>
              </a:rPr>
              <a:t> e’ </a:t>
            </a:r>
            <a:r>
              <a:rPr lang="en-GB" altLang="it-IT" sz="1700" b="1" dirty="0" err="1">
                <a:ea typeface="ＭＳ Ｐゴシック" charset="-128"/>
                <a:sym typeface="Symbol" charset="2"/>
              </a:rPr>
              <a:t>iff</a:t>
            </a:r>
            <a:r>
              <a:rPr lang="en-GB" altLang="it-IT" sz="1700" dirty="0">
                <a:ea typeface="ＭＳ Ｐゴシック" charset="-128"/>
                <a:sym typeface="Symbol" charset="2"/>
              </a:rPr>
              <a:t> L(e) &lt; L(e’)</a:t>
            </a:r>
            <a:endParaRPr lang="en-GB" altLang="it-IT" sz="1700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0320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>
                <a:ea typeface="ＭＳ Ｐゴシック" charset="-128"/>
              </a:rPr>
              <a:t>Vector Clock : an implementation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25000"/>
              </a:lnSpc>
            </a:pPr>
            <a:r>
              <a:rPr lang="en-US" altLang="it-IT" sz="1519" dirty="0">
                <a:ea typeface="ＭＳ Ｐゴシック" charset="-128"/>
              </a:rPr>
              <a:t>Each process p</a:t>
            </a:r>
            <a:r>
              <a:rPr lang="en-US" altLang="it-IT" sz="1519" baseline="-25000" dirty="0">
                <a:ea typeface="ＭＳ Ｐゴシック" charset="-128"/>
              </a:rPr>
              <a:t>i</a:t>
            </a:r>
            <a:r>
              <a:rPr lang="en-US" altLang="it-IT" sz="1519" dirty="0">
                <a:ea typeface="ＭＳ Ｐゴシック" charset="-128"/>
              </a:rPr>
              <a:t> initializes its Vector Clock V</a:t>
            </a:r>
            <a:r>
              <a:rPr lang="en-US" altLang="it-IT" sz="1519" baseline="-25000" dirty="0">
                <a:ea typeface="ＭＳ Ｐゴシック" charset="-128"/>
              </a:rPr>
              <a:t>i</a:t>
            </a:r>
          </a:p>
          <a:p>
            <a:pPr lvl="1" algn="just" eaLnBrk="1" hangingPunct="1">
              <a:lnSpc>
                <a:spcPct val="125000"/>
              </a:lnSpc>
            </a:pPr>
            <a:r>
              <a:rPr lang="en-US" altLang="it-IT" sz="1350" dirty="0">
                <a:ea typeface="ＭＳ Ｐゴシック" charset="-128"/>
              </a:rPr>
              <a:t>V</a:t>
            </a:r>
            <a:r>
              <a:rPr lang="en-US" altLang="it-IT" sz="1350" baseline="-25000" dirty="0">
                <a:ea typeface="ＭＳ Ｐゴシック" charset="-128"/>
              </a:rPr>
              <a:t>i</a:t>
            </a:r>
            <a:r>
              <a:rPr lang="en-US" altLang="it-IT" sz="1350" dirty="0">
                <a:ea typeface="ＭＳ Ｐゴシック" charset="-128"/>
              </a:rPr>
              <a:t>[ j ]=0  </a:t>
            </a:r>
            <a:r>
              <a:rPr lang="en-US" altLang="it-IT" sz="1350" dirty="0">
                <a:ea typeface="ＭＳ Ｐゴシック" charset="-128"/>
                <a:sym typeface="Symbol" charset="2"/>
              </a:rPr>
              <a:t> j = 1 … N</a:t>
            </a:r>
          </a:p>
          <a:p>
            <a:pPr algn="just" eaLnBrk="1" hangingPunct="1">
              <a:lnSpc>
                <a:spcPct val="125000"/>
              </a:lnSpc>
            </a:pPr>
            <a:r>
              <a:rPr lang="en-US" altLang="it-IT" sz="1519" dirty="0">
                <a:ea typeface="ＭＳ Ｐゴシック" charset="-128"/>
              </a:rPr>
              <a:t>p</a:t>
            </a:r>
            <a:r>
              <a:rPr lang="en-US" altLang="it-IT" sz="1519" baseline="-25000" dirty="0">
                <a:ea typeface="ＭＳ Ｐゴシック" charset="-128"/>
              </a:rPr>
              <a:t>i</a:t>
            </a:r>
            <a:r>
              <a:rPr lang="en-US" altLang="it-IT" sz="1519" dirty="0">
                <a:ea typeface="ＭＳ Ｐゴシック" charset="-128"/>
              </a:rPr>
              <a:t> increases V</a:t>
            </a:r>
            <a:r>
              <a:rPr lang="en-US" altLang="it-IT" sz="1519" baseline="-25000" dirty="0">
                <a:ea typeface="ＭＳ Ｐゴシック" charset="-128"/>
              </a:rPr>
              <a:t>i</a:t>
            </a:r>
            <a:r>
              <a:rPr lang="en-US" altLang="it-IT" sz="1519" dirty="0">
                <a:ea typeface="ＭＳ Ｐゴシック" charset="-128"/>
              </a:rPr>
              <a:t>[</a:t>
            </a:r>
            <a:r>
              <a:rPr lang="en-US" altLang="it-IT" sz="1519" dirty="0" err="1">
                <a:ea typeface="ＭＳ Ｐゴシック" charset="-128"/>
              </a:rPr>
              <a:t>i</a:t>
            </a:r>
            <a:r>
              <a:rPr lang="en-US" altLang="it-IT" sz="1519" dirty="0">
                <a:ea typeface="ＭＳ Ｐゴシック" charset="-128"/>
              </a:rPr>
              <a:t>] of 1 when it generates an event</a:t>
            </a:r>
            <a:endParaRPr lang="en-US" altLang="it-IT" sz="1519" dirty="0">
              <a:ea typeface="ＭＳ Ｐゴシック" charset="-128"/>
              <a:sym typeface="Symbol" charset="2"/>
            </a:endParaRPr>
          </a:p>
          <a:p>
            <a:pPr lvl="1" algn="just" eaLnBrk="1" hangingPunct="1">
              <a:lnSpc>
                <a:spcPct val="125000"/>
              </a:lnSpc>
            </a:pPr>
            <a:r>
              <a:rPr lang="en-US" altLang="it-IT" sz="1350" dirty="0">
                <a:ea typeface="ＭＳ Ｐゴシック" charset="-128"/>
              </a:rPr>
              <a:t>V</a:t>
            </a:r>
            <a:r>
              <a:rPr lang="en-US" altLang="it-IT" sz="1350" baseline="-25000" dirty="0">
                <a:ea typeface="ＭＳ Ｐゴシック" charset="-128"/>
              </a:rPr>
              <a:t>i</a:t>
            </a:r>
            <a:r>
              <a:rPr lang="en-US" altLang="it-IT" sz="1350" dirty="0">
                <a:ea typeface="ＭＳ Ｐゴシック" charset="-128"/>
              </a:rPr>
              <a:t>[ </a:t>
            </a:r>
            <a:r>
              <a:rPr lang="en-US" altLang="it-IT" sz="1350" dirty="0" err="1">
                <a:ea typeface="ＭＳ Ｐゴシック" charset="-128"/>
              </a:rPr>
              <a:t>i</a:t>
            </a:r>
            <a:r>
              <a:rPr lang="en-US" altLang="it-IT" sz="1350" dirty="0">
                <a:ea typeface="ＭＳ Ｐゴシック" charset="-128"/>
              </a:rPr>
              <a:t> ]= V</a:t>
            </a:r>
            <a:r>
              <a:rPr lang="en-US" altLang="it-IT" sz="1350" baseline="-25000" dirty="0">
                <a:ea typeface="ＭＳ Ｐゴシック" charset="-128"/>
              </a:rPr>
              <a:t>i</a:t>
            </a:r>
            <a:r>
              <a:rPr lang="en-US" altLang="it-IT" sz="1350" dirty="0">
                <a:ea typeface="ＭＳ Ｐゴシック" charset="-128"/>
              </a:rPr>
              <a:t>[ </a:t>
            </a:r>
            <a:r>
              <a:rPr lang="en-US" altLang="it-IT" sz="1350" dirty="0" err="1">
                <a:ea typeface="ＭＳ Ｐゴシック" charset="-128"/>
              </a:rPr>
              <a:t>i</a:t>
            </a:r>
            <a:r>
              <a:rPr lang="en-US" altLang="it-IT" sz="1350" dirty="0">
                <a:ea typeface="ＭＳ Ｐゴシック" charset="-128"/>
              </a:rPr>
              <a:t> ] +1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 sz="1519" dirty="0">
                <a:ea typeface="ＭＳ Ｐゴシック" charset="-128"/>
              </a:rPr>
              <a:t>When p</a:t>
            </a:r>
            <a:r>
              <a:rPr lang="en-US" altLang="it-IT" sz="1519" baseline="-25000" dirty="0">
                <a:ea typeface="ＭＳ Ｐゴシック" charset="-128"/>
              </a:rPr>
              <a:t>i</a:t>
            </a:r>
            <a:r>
              <a:rPr lang="en-US" altLang="it-IT" sz="1519" dirty="0">
                <a:ea typeface="ＭＳ Ｐゴシック" charset="-128"/>
              </a:rPr>
              <a:t> sends a message </a:t>
            </a:r>
            <a:r>
              <a:rPr lang="en-US" altLang="it-IT" sz="1519" i="1" dirty="0">
                <a:ea typeface="ＭＳ Ｐゴシック" charset="-128"/>
              </a:rPr>
              <a:t>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1350" dirty="0">
                <a:ea typeface="ＭＳ Ｐゴシック" charset="-128"/>
              </a:rPr>
              <a:t>Creates an event </a:t>
            </a:r>
            <a:r>
              <a:rPr lang="en-US" altLang="it-IT" sz="1350" i="1" dirty="0">
                <a:ea typeface="ＭＳ Ｐゴシック" charset="-128"/>
              </a:rPr>
              <a:t>send(m)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1350" dirty="0">
                <a:ea typeface="ＭＳ Ｐゴシック" charset="-128"/>
              </a:rPr>
              <a:t>Increases V</a:t>
            </a:r>
            <a:r>
              <a:rPr lang="en-US" altLang="it-IT" sz="1350" baseline="-25000" dirty="0">
                <a:ea typeface="ＭＳ Ｐゴシック" charset="-128"/>
              </a:rPr>
              <a:t>i</a:t>
            </a:r>
            <a:endParaRPr lang="en-US" altLang="it-IT" sz="1350" dirty="0">
              <a:ea typeface="ＭＳ Ｐゴシック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it-IT" sz="1350" dirty="0">
                <a:ea typeface="ＭＳ Ｐゴシック" charset="-128"/>
              </a:rPr>
              <a:t>timestamps </a:t>
            </a:r>
            <a:r>
              <a:rPr lang="en-US" altLang="it-IT" sz="1350" i="1" dirty="0">
                <a:ea typeface="ＭＳ Ｐゴシック" charset="-128"/>
              </a:rPr>
              <a:t>m </a:t>
            </a:r>
            <a:r>
              <a:rPr lang="en-US" altLang="it-IT" sz="1350" dirty="0">
                <a:ea typeface="ＭＳ Ｐゴシック" charset="-128"/>
              </a:rPr>
              <a:t>with </a:t>
            </a:r>
            <a:r>
              <a:rPr lang="en-US" altLang="it-IT" sz="1350" dirty="0" err="1">
                <a:ea typeface="ＭＳ Ｐゴシック" charset="-128"/>
              </a:rPr>
              <a:t>ts</a:t>
            </a:r>
            <a:r>
              <a:rPr lang="en-US" altLang="it-IT" sz="1350" dirty="0">
                <a:ea typeface="ＭＳ Ｐゴシック" charset="-128"/>
              </a:rPr>
              <a:t>=V</a:t>
            </a:r>
            <a:r>
              <a:rPr lang="en-US" altLang="it-IT" sz="1350" baseline="-25000" dirty="0">
                <a:ea typeface="ＭＳ Ｐゴシック" charset="-128"/>
              </a:rPr>
              <a:t>i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 sz="1519" dirty="0">
                <a:ea typeface="ＭＳ Ｐゴシック" charset="-128"/>
              </a:rPr>
              <a:t>When p</a:t>
            </a:r>
            <a:r>
              <a:rPr lang="en-US" altLang="it-IT" sz="1519" baseline="-25000" dirty="0">
                <a:ea typeface="ＭＳ Ｐゴシック" charset="-128"/>
              </a:rPr>
              <a:t>i</a:t>
            </a:r>
            <a:r>
              <a:rPr lang="en-US" altLang="it-IT" sz="1519" dirty="0">
                <a:ea typeface="ＭＳ Ｐゴシック" charset="-128"/>
              </a:rPr>
              <a:t> receives a message </a:t>
            </a:r>
            <a:r>
              <a:rPr lang="en-US" altLang="it-IT" sz="1519" i="1" dirty="0">
                <a:ea typeface="ＭＳ Ｐゴシック" charset="-128"/>
              </a:rPr>
              <a:t>m</a:t>
            </a:r>
            <a:r>
              <a:rPr lang="en-US" altLang="it-IT" sz="1519" dirty="0">
                <a:ea typeface="ＭＳ Ｐゴシック" charset="-128"/>
              </a:rPr>
              <a:t> containing timestamp </a:t>
            </a:r>
            <a:r>
              <a:rPr lang="en-US" altLang="it-IT" sz="1519" i="1" dirty="0" err="1">
                <a:ea typeface="ＭＳ Ｐゴシック" charset="-128"/>
              </a:rPr>
              <a:t>ts</a:t>
            </a:r>
            <a:endParaRPr lang="en-US" altLang="it-IT" sz="1519" i="1" dirty="0">
              <a:ea typeface="ＭＳ Ｐゴシック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it-IT" sz="1350" dirty="0">
                <a:ea typeface="ＭＳ Ｐゴシック" charset="-128"/>
              </a:rPr>
              <a:t>Updates it logical clock V</a:t>
            </a:r>
            <a:r>
              <a:rPr lang="en-US" altLang="it-IT" sz="1350" baseline="-25000" dirty="0">
                <a:ea typeface="ＭＳ Ｐゴシック" charset="-128"/>
              </a:rPr>
              <a:t>i </a:t>
            </a:r>
            <a:r>
              <a:rPr lang="en-US" altLang="it-IT" sz="1350" dirty="0">
                <a:ea typeface="ＭＳ Ｐゴシック" charset="-128"/>
              </a:rPr>
              <a:t>[ j ]</a:t>
            </a:r>
            <a:r>
              <a:rPr lang="en-US" altLang="it-IT" sz="1350" baseline="-25000" dirty="0">
                <a:ea typeface="ＭＳ Ｐゴシック" charset="-128"/>
              </a:rPr>
              <a:t> </a:t>
            </a:r>
            <a:r>
              <a:rPr lang="en-US" altLang="it-IT" sz="1350" dirty="0">
                <a:ea typeface="ＭＳ Ｐゴシック" charset="-128"/>
              </a:rPr>
              <a:t>= max(</a:t>
            </a:r>
            <a:r>
              <a:rPr lang="en-US" altLang="it-IT" sz="1350" dirty="0" err="1">
                <a:ea typeface="ＭＳ Ｐゴシック" charset="-128"/>
              </a:rPr>
              <a:t>ts</a:t>
            </a:r>
            <a:r>
              <a:rPr lang="en-US" altLang="it-IT" sz="1350" dirty="0">
                <a:ea typeface="ＭＳ Ｐゴシック" charset="-128"/>
              </a:rPr>
              <a:t>[ j ], V</a:t>
            </a:r>
            <a:r>
              <a:rPr lang="en-US" altLang="it-IT" sz="1350" baseline="-25000" dirty="0">
                <a:ea typeface="ＭＳ Ｐゴシック" charset="-128"/>
              </a:rPr>
              <a:t>i </a:t>
            </a:r>
            <a:r>
              <a:rPr lang="en-US" altLang="it-IT" sz="1350" dirty="0">
                <a:ea typeface="ＭＳ Ｐゴシック" charset="-128"/>
              </a:rPr>
              <a:t>[ j ]</a:t>
            </a:r>
            <a:r>
              <a:rPr lang="en-US" altLang="it-IT" sz="1350" baseline="-25000" dirty="0">
                <a:ea typeface="ＭＳ Ｐゴシック" charset="-128"/>
              </a:rPr>
              <a:t> </a:t>
            </a:r>
            <a:r>
              <a:rPr lang="en-US" altLang="it-IT" sz="1350" dirty="0">
                <a:ea typeface="ＭＳ Ｐゴシック" charset="-128"/>
              </a:rPr>
              <a:t>) </a:t>
            </a:r>
            <a:r>
              <a:rPr lang="en-US" altLang="it-IT" sz="1350" dirty="0">
                <a:ea typeface="ＭＳ Ｐゴシック" charset="-128"/>
                <a:sym typeface="Symbol" charset="2"/>
              </a:rPr>
              <a:t> j = 1… 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1350" dirty="0">
                <a:ea typeface="ＭＳ Ｐゴシック" charset="-128"/>
              </a:rPr>
              <a:t>Generates an event </a:t>
            </a:r>
            <a:r>
              <a:rPr lang="en-US" altLang="it-IT" sz="1350" i="1" dirty="0">
                <a:ea typeface="ＭＳ Ｐゴシック" charset="-128"/>
              </a:rPr>
              <a:t>receive(m)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1350" dirty="0">
                <a:ea typeface="ＭＳ Ｐゴシック" charset="-128"/>
              </a:rPr>
              <a:t>Increases V</a:t>
            </a:r>
            <a:r>
              <a:rPr lang="en-US" altLang="it-IT" sz="1350" baseline="-25000" dirty="0">
                <a:ea typeface="ＭＳ Ｐゴシック" charset="-128"/>
              </a:rPr>
              <a:t>i</a:t>
            </a:r>
            <a:endParaRPr lang="en-US" altLang="it-IT" sz="1350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304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>
                <a:ea typeface="ＭＳ Ｐゴシック" charset="-128"/>
              </a:rPr>
              <a:t>Vector Clock: an example</a:t>
            </a:r>
          </a:p>
        </p:txBody>
      </p:sp>
      <p:grpSp>
        <p:nvGrpSpPr>
          <p:cNvPr id="18435" name="Group 49"/>
          <p:cNvGrpSpPr>
            <a:grpSpLocks/>
          </p:cNvGrpSpPr>
          <p:nvPr/>
        </p:nvGrpSpPr>
        <p:grpSpPr bwMode="auto">
          <a:xfrm>
            <a:off x="1863180" y="2524871"/>
            <a:ext cx="6075759" cy="2605236"/>
            <a:chOff x="340" y="1071"/>
            <a:chExt cx="3402" cy="1089"/>
          </a:xfrm>
        </p:grpSpPr>
        <p:sp>
          <p:nvSpPr>
            <p:cNvPr id="18564" name="Line 5"/>
            <p:cNvSpPr>
              <a:spLocks noChangeShapeType="1"/>
            </p:cNvSpPr>
            <p:nvPr/>
          </p:nvSpPr>
          <p:spPr bwMode="auto">
            <a:xfrm>
              <a:off x="521" y="1298"/>
              <a:ext cx="31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65" name="Line 6"/>
            <p:cNvSpPr>
              <a:spLocks noChangeShapeType="1"/>
            </p:cNvSpPr>
            <p:nvPr/>
          </p:nvSpPr>
          <p:spPr bwMode="auto">
            <a:xfrm>
              <a:off x="521" y="1706"/>
              <a:ext cx="31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66" name="Line 7"/>
            <p:cNvSpPr>
              <a:spLocks noChangeShapeType="1"/>
            </p:cNvSpPr>
            <p:nvPr/>
          </p:nvSpPr>
          <p:spPr bwMode="auto">
            <a:xfrm>
              <a:off x="521" y="2115"/>
              <a:ext cx="31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67" name="Line 8"/>
            <p:cNvSpPr>
              <a:spLocks noChangeShapeType="1"/>
            </p:cNvSpPr>
            <p:nvPr/>
          </p:nvSpPr>
          <p:spPr bwMode="auto">
            <a:xfrm>
              <a:off x="839" y="1253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68" name="Line 9"/>
            <p:cNvSpPr>
              <a:spLocks noChangeShapeType="1"/>
            </p:cNvSpPr>
            <p:nvPr/>
          </p:nvSpPr>
          <p:spPr bwMode="auto">
            <a:xfrm>
              <a:off x="3062" y="1253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69" name="Line 10"/>
            <p:cNvSpPr>
              <a:spLocks noChangeShapeType="1"/>
            </p:cNvSpPr>
            <p:nvPr/>
          </p:nvSpPr>
          <p:spPr bwMode="auto">
            <a:xfrm>
              <a:off x="2200" y="1253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70" name="Line 11"/>
            <p:cNvSpPr>
              <a:spLocks noChangeShapeType="1"/>
            </p:cNvSpPr>
            <p:nvPr/>
          </p:nvSpPr>
          <p:spPr bwMode="auto">
            <a:xfrm>
              <a:off x="1111" y="1661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71" name="Line 12"/>
            <p:cNvSpPr>
              <a:spLocks noChangeShapeType="1"/>
            </p:cNvSpPr>
            <p:nvPr/>
          </p:nvSpPr>
          <p:spPr bwMode="auto">
            <a:xfrm>
              <a:off x="3515" y="1661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72" name="Line 13"/>
            <p:cNvSpPr>
              <a:spLocks noChangeShapeType="1"/>
            </p:cNvSpPr>
            <p:nvPr/>
          </p:nvSpPr>
          <p:spPr bwMode="auto">
            <a:xfrm>
              <a:off x="1655" y="2069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73" name="Line 14"/>
            <p:cNvSpPr>
              <a:spLocks noChangeShapeType="1"/>
            </p:cNvSpPr>
            <p:nvPr/>
          </p:nvSpPr>
          <p:spPr bwMode="auto">
            <a:xfrm>
              <a:off x="1973" y="2069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74" name="Line 15"/>
            <p:cNvSpPr>
              <a:spLocks noChangeShapeType="1"/>
            </p:cNvSpPr>
            <p:nvPr/>
          </p:nvSpPr>
          <p:spPr bwMode="auto">
            <a:xfrm>
              <a:off x="2290" y="2069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75" name="Line 16"/>
            <p:cNvSpPr>
              <a:spLocks noChangeShapeType="1"/>
            </p:cNvSpPr>
            <p:nvPr/>
          </p:nvSpPr>
          <p:spPr bwMode="auto">
            <a:xfrm>
              <a:off x="1247" y="1706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76" name="Line 17"/>
            <p:cNvSpPr>
              <a:spLocks noChangeShapeType="1"/>
            </p:cNvSpPr>
            <p:nvPr/>
          </p:nvSpPr>
          <p:spPr bwMode="auto">
            <a:xfrm>
              <a:off x="839" y="1298"/>
              <a:ext cx="272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77" name="Line 18"/>
            <p:cNvSpPr>
              <a:spLocks noChangeShapeType="1"/>
            </p:cNvSpPr>
            <p:nvPr/>
          </p:nvSpPr>
          <p:spPr bwMode="auto">
            <a:xfrm>
              <a:off x="1429" y="1706"/>
              <a:ext cx="226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78" name="Line 19"/>
            <p:cNvSpPr>
              <a:spLocks noChangeShapeType="1"/>
            </p:cNvSpPr>
            <p:nvPr/>
          </p:nvSpPr>
          <p:spPr bwMode="auto">
            <a:xfrm>
              <a:off x="1429" y="1661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79" name="Line 20"/>
            <p:cNvSpPr>
              <a:spLocks noChangeShapeType="1"/>
            </p:cNvSpPr>
            <p:nvPr/>
          </p:nvSpPr>
          <p:spPr bwMode="auto">
            <a:xfrm flipV="1">
              <a:off x="1973" y="1298"/>
              <a:ext cx="227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80" name="Line 21"/>
            <p:cNvSpPr>
              <a:spLocks noChangeShapeType="1"/>
            </p:cNvSpPr>
            <p:nvPr/>
          </p:nvSpPr>
          <p:spPr bwMode="auto">
            <a:xfrm>
              <a:off x="3062" y="1298"/>
              <a:ext cx="453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81" name="Line 22"/>
            <p:cNvSpPr>
              <a:spLocks noChangeShapeType="1"/>
            </p:cNvSpPr>
            <p:nvPr/>
          </p:nvSpPr>
          <p:spPr bwMode="auto">
            <a:xfrm>
              <a:off x="2517" y="1661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82" name="Line 23"/>
            <p:cNvSpPr>
              <a:spLocks noChangeShapeType="1"/>
            </p:cNvSpPr>
            <p:nvPr/>
          </p:nvSpPr>
          <p:spPr bwMode="auto">
            <a:xfrm flipV="1">
              <a:off x="2290" y="1706"/>
              <a:ext cx="227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83" name="Text Box 24"/>
            <p:cNvSpPr txBox="1">
              <a:spLocks noChangeArrowheads="1"/>
            </p:cNvSpPr>
            <p:nvPr/>
          </p:nvSpPr>
          <p:spPr bwMode="auto">
            <a:xfrm>
              <a:off x="340" y="1933"/>
              <a:ext cx="27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519"/>
                <a:t>p</a:t>
              </a:r>
              <a:r>
                <a:rPr lang="it-IT" altLang="it-IT" sz="1519" baseline="-25000"/>
                <a:t>3</a:t>
              </a:r>
            </a:p>
          </p:txBody>
        </p:sp>
        <p:sp>
          <p:nvSpPr>
            <p:cNvPr id="18584" name="Text Box 25"/>
            <p:cNvSpPr txBox="1">
              <a:spLocks noChangeArrowheads="1"/>
            </p:cNvSpPr>
            <p:nvPr/>
          </p:nvSpPr>
          <p:spPr bwMode="auto">
            <a:xfrm>
              <a:off x="340" y="1525"/>
              <a:ext cx="27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519"/>
                <a:t>p</a:t>
              </a:r>
              <a:r>
                <a:rPr lang="it-IT" altLang="it-IT" sz="1519" baseline="-25000"/>
                <a:t>2</a:t>
              </a:r>
            </a:p>
          </p:txBody>
        </p:sp>
        <p:sp>
          <p:nvSpPr>
            <p:cNvPr id="18585" name="Text Box 26"/>
            <p:cNvSpPr txBox="1">
              <a:spLocks noChangeArrowheads="1"/>
            </p:cNvSpPr>
            <p:nvPr/>
          </p:nvSpPr>
          <p:spPr bwMode="auto">
            <a:xfrm>
              <a:off x="340" y="1117"/>
              <a:ext cx="27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519"/>
                <a:t>p</a:t>
              </a:r>
              <a:r>
                <a:rPr lang="it-IT" altLang="it-IT" sz="1519" baseline="-25000"/>
                <a:t>1</a:t>
              </a:r>
            </a:p>
          </p:txBody>
        </p:sp>
        <p:sp>
          <p:nvSpPr>
            <p:cNvPr id="18586" name="Text Box 27"/>
            <p:cNvSpPr txBox="1">
              <a:spLocks noChangeArrowheads="1"/>
            </p:cNvSpPr>
            <p:nvPr/>
          </p:nvSpPr>
          <p:spPr bwMode="auto">
            <a:xfrm>
              <a:off x="748" y="1071"/>
              <a:ext cx="31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e</a:t>
              </a:r>
              <a:r>
                <a:rPr lang="it-IT" altLang="it-IT" sz="1181" baseline="30000"/>
                <a:t>1</a:t>
              </a:r>
              <a:r>
                <a:rPr lang="it-IT" altLang="it-IT" sz="1181" baseline="-25000"/>
                <a:t>1</a:t>
              </a:r>
            </a:p>
          </p:txBody>
        </p:sp>
        <p:sp>
          <p:nvSpPr>
            <p:cNvPr id="18587" name="Text Box 28"/>
            <p:cNvSpPr txBox="1">
              <a:spLocks noChangeArrowheads="1"/>
            </p:cNvSpPr>
            <p:nvPr/>
          </p:nvSpPr>
          <p:spPr bwMode="auto">
            <a:xfrm>
              <a:off x="1247" y="1071"/>
              <a:ext cx="31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e</a:t>
              </a:r>
              <a:r>
                <a:rPr lang="it-IT" altLang="it-IT" sz="1181" baseline="30000"/>
                <a:t>2</a:t>
              </a:r>
              <a:r>
                <a:rPr lang="it-IT" altLang="it-IT" sz="1181" baseline="-25000"/>
                <a:t>1</a:t>
              </a:r>
            </a:p>
          </p:txBody>
        </p:sp>
        <p:sp>
          <p:nvSpPr>
            <p:cNvPr id="18588" name="Text Box 29"/>
            <p:cNvSpPr txBox="1">
              <a:spLocks noChangeArrowheads="1"/>
            </p:cNvSpPr>
            <p:nvPr/>
          </p:nvSpPr>
          <p:spPr bwMode="auto">
            <a:xfrm>
              <a:off x="2064" y="1071"/>
              <a:ext cx="31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e</a:t>
              </a:r>
              <a:r>
                <a:rPr lang="it-IT" altLang="it-IT" sz="1181" baseline="30000"/>
                <a:t>3</a:t>
              </a:r>
              <a:r>
                <a:rPr lang="it-IT" altLang="it-IT" sz="1181" baseline="-25000"/>
                <a:t>1</a:t>
              </a:r>
            </a:p>
          </p:txBody>
        </p:sp>
        <p:sp>
          <p:nvSpPr>
            <p:cNvPr id="18589" name="Text Box 30"/>
            <p:cNvSpPr txBox="1">
              <a:spLocks noChangeArrowheads="1"/>
            </p:cNvSpPr>
            <p:nvPr/>
          </p:nvSpPr>
          <p:spPr bwMode="auto">
            <a:xfrm>
              <a:off x="1020" y="1514"/>
              <a:ext cx="31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e</a:t>
              </a:r>
              <a:r>
                <a:rPr lang="it-IT" altLang="it-IT" sz="1181" baseline="30000"/>
                <a:t>1</a:t>
              </a:r>
              <a:r>
                <a:rPr lang="it-IT" altLang="it-IT" sz="1181" baseline="-25000"/>
                <a:t>2</a:t>
              </a:r>
            </a:p>
          </p:txBody>
        </p:sp>
        <p:sp>
          <p:nvSpPr>
            <p:cNvPr id="18590" name="Text Box 31"/>
            <p:cNvSpPr txBox="1">
              <a:spLocks noChangeArrowheads="1"/>
            </p:cNvSpPr>
            <p:nvPr/>
          </p:nvSpPr>
          <p:spPr bwMode="auto">
            <a:xfrm>
              <a:off x="1338" y="1514"/>
              <a:ext cx="31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e</a:t>
              </a:r>
              <a:r>
                <a:rPr lang="it-IT" altLang="it-IT" sz="1181" baseline="30000"/>
                <a:t>2</a:t>
              </a:r>
              <a:r>
                <a:rPr lang="it-IT" altLang="it-IT" sz="1181" baseline="-25000"/>
                <a:t>2</a:t>
              </a:r>
            </a:p>
          </p:txBody>
        </p:sp>
        <p:sp>
          <p:nvSpPr>
            <p:cNvPr id="18591" name="Text Box 32"/>
            <p:cNvSpPr txBox="1">
              <a:spLocks noChangeArrowheads="1"/>
            </p:cNvSpPr>
            <p:nvPr/>
          </p:nvSpPr>
          <p:spPr bwMode="auto">
            <a:xfrm>
              <a:off x="2426" y="1514"/>
              <a:ext cx="31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e</a:t>
              </a:r>
              <a:r>
                <a:rPr lang="it-IT" altLang="it-IT" sz="1181" baseline="30000"/>
                <a:t>3</a:t>
              </a:r>
              <a:r>
                <a:rPr lang="it-IT" altLang="it-IT" sz="1181" baseline="-25000"/>
                <a:t>2</a:t>
              </a:r>
            </a:p>
          </p:txBody>
        </p:sp>
        <p:sp>
          <p:nvSpPr>
            <p:cNvPr id="18592" name="Text Box 33"/>
            <p:cNvSpPr txBox="1">
              <a:spLocks noChangeArrowheads="1"/>
            </p:cNvSpPr>
            <p:nvPr/>
          </p:nvSpPr>
          <p:spPr bwMode="auto">
            <a:xfrm>
              <a:off x="975" y="1923"/>
              <a:ext cx="31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e</a:t>
              </a:r>
              <a:r>
                <a:rPr lang="it-IT" altLang="it-IT" sz="1181" baseline="30000"/>
                <a:t>1</a:t>
              </a:r>
              <a:r>
                <a:rPr lang="it-IT" altLang="it-IT" sz="1181" baseline="-25000"/>
                <a:t>3</a:t>
              </a:r>
            </a:p>
          </p:txBody>
        </p:sp>
        <p:sp>
          <p:nvSpPr>
            <p:cNvPr id="18593" name="Text Box 34"/>
            <p:cNvSpPr txBox="1">
              <a:spLocks noChangeArrowheads="1"/>
            </p:cNvSpPr>
            <p:nvPr/>
          </p:nvSpPr>
          <p:spPr bwMode="auto">
            <a:xfrm>
              <a:off x="1565" y="1933"/>
              <a:ext cx="31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e</a:t>
              </a:r>
              <a:r>
                <a:rPr lang="it-IT" altLang="it-IT" sz="1181" baseline="30000"/>
                <a:t>2</a:t>
              </a:r>
              <a:r>
                <a:rPr lang="it-IT" altLang="it-IT" sz="1181" baseline="-25000"/>
                <a:t>3</a:t>
              </a:r>
            </a:p>
          </p:txBody>
        </p:sp>
        <p:sp>
          <p:nvSpPr>
            <p:cNvPr id="18594" name="Text Box 35"/>
            <p:cNvSpPr txBox="1">
              <a:spLocks noChangeArrowheads="1"/>
            </p:cNvSpPr>
            <p:nvPr/>
          </p:nvSpPr>
          <p:spPr bwMode="auto">
            <a:xfrm>
              <a:off x="1882" y="1933"/>
              <a:ext cx="31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e</a:t>
              </a:r>
              <a:r>
                <a:rPr lang="it-IT" altLang="it-IT" sz="1181" baseline="30000"/>
                <a:t>3</a:t>
              </a:r>
              <a:r>
                <a:rPr lang="it-IT" altLang="it-IT" sz="1181" baseline="-25000"/>
                <a:t>3</a:t>
              </a:r>
            </a:p>
          </p:txBody>
        </p:sp>
        <p:sp>
          <p:nvSpPr>
            <p:cNvPr id="18595" name="Line 36"/>
            <p:cNvSpPr>
              <a:spLocks noChangeShapeType="1"/>
            </p:cNvSpPr>
            <p:nvPr/>
          </p:nvSpPr>
          <p:spPr bwMode="auto">
            <a:xfrm>
              <a:off x="1111" y="2069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96" name="Line 37"/>
            <p:cNvSpPr>
              <a:spLocks noChangeShapeType="1"/>
            </p:cNvSpPr>
            <p:nvPr/>
          </p:nvSpPr>
          <p:spPr bwMode="auto">
            <a:xfrm>
              <a:off x="1383" y="1253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97" name="Line 38"/>
            <p:cNvSpPr>
              <a:spLocks noChangeShapeType="1"/>
            </p:cNvSpPr>
            <p:nvPr/>
          </p:nvSpPr>
          <p:spPr bwMode="auto">
            <a:xfrm flipV="1">
              <a:off x="1111" y="1298"/>
              <a:ext cx="272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598" name="Text Box 39"/>
            <p:cNvSpPr txBox="1">
              <a:spLocks noChangeArrowheads="1"/>
            </p:cNvSpPr>
            <p:nvPr/>
          </p:nvSpPr>
          <p:spPr bwMode="auto">
            <a:xfrm>
              <a:off x="2608" y="1071"/>
              <a:ext cx="31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e</a:t>
              </a:r>
              <a:r>
                <a:rPr lang="it-IT" altLang="it-IT" sz="1181" baseline="30000"/>
                <a:t>4</a:t>
              </a:r>
              <a:r>
                <a:rPr lang="it-IT" altLang="it-IT" sz="1181" baseline="-25000"/>
                <a:t>1</a:t>
              </a:r>
            </a:p>
          </p:txBody>
        </p:sp>
        <p:sp>
          <p:nvSpPr>
            <p:cNvPr id="18599" name="Text Box 40"/>
            <p:cNvSpPr txBox="1">
              <a:spLocks noChangeArrowheads="1"/>
            </p:cNvSpPr>
            <p:nvPr/>
          </p:nvSpPr>
          <p:spPr bwMode="auto">
            <a:xfrm>
              <a:off x="2154" y="1933"/>
              <a:ext cx="31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e</a:t>
              </a:r>
              <a:r>
                <a:rPr lang="it-IT" altLang="it-IT" sz="1181" baseline="30000"/>
                <a:t>4</a:t>
              </a:r>
              <a:r>
                <a:rPr lang="it-IT" altLang="it-IT" sz="1181" baseline="-25000"/>
                <a:t>3</a:t>
              </a:r>
            </a:p>
          </p:txBody>
        </p:sp>
        <p:sp>
          <p:nvSpPr>
            <p:cNvPr id="18600" name="Line 41"/>
            <p:cNvSpPr>
              <a:spLocks noChangeShapeType="1"/>
            </p:cNvSpPr>
            <p:nvPr/>
          </p:nvSpPr>
          <p:spPr bwMode="auto">
            <a:xfrm>
              <a:off x="2744" y="1253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601" name="Line 42"/>
            <p:cNvSpPr>
              <a:spLocks noChangeShapeType="1"/>
            </p:cNvSpPr>
            <p:nvPr/>
          </p:nvSpPr>
          <p:spPr bwMode="auto">
            <a:xfrm>
              <a:off x="3016" y="2069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602" name="Line 43"/>
            <p:cNvSpPr>
              <a:spLocks noChangeShapeType="1"/>
            </p:cNvSpPr>
            <p:nvPr/>
          </p:nvSpPr>
          <p:spPr bwMode="auto">
            <a:xfrm>
              <a:off x="2744" y="1298"/>
              <a:ext cx="272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519"/>
            </a:p>
          </p:txBody>
        </p:sp>
        <p:sp>
          <p:nvSpPr>
            <p:cNvPr id="18603" name="Text Box 44"/>
            <p:cNvSpPr txBox="1">
              <a:spLocks noChangeArrowheads="1"/>
            </p:cNvSpPr>
            <p:nvPr/>
          </p:nvSpPr>
          <p:spPr bwMode="auto">
            <a:xfrm>
              <a:off x="2970" y="1071"/>
              <a:ext cx="31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e</a:t>
              </a:r>
              <a:r>
                <a:rPr lang="it-IT" altLang="it-IT" sz="1181" baseline="30000"/>
                <a:t>5</a:t>
              </a:r>
              <a:r>
                <a:rPr lang="it-IT" altLang="it-IT" sz="1181" baseline="-25000"/>
                <a:t>1</a:t>
              </a:r>
            </a:p>
          </p:txBody>
        </p:sp>
        <p:sp>
          <p:nvSpPr>
            <p:cNvPr id="18604" name="Text Box 45"/>
            <p:cNvSpPr txBox="1">
              <a:spLocks noChangeArrowheads="1"/>
            </p:cNvSpPr>
            <p:nvPr/>
          </p:nvSpPr>
          <p:spPr bwMode="auto">
            <a:xfrm>
              <a:off x="2970" y="1933"/>
              <a:ext cx="31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e</a:t>
              </a:r>
              <a:r>
                <a:rPr lang="it-IT" altLang="it-IT" sz="1181" baseline="30000"/>
                <a:t>5</a:t>
              </a:r>
              <a:r>
                <a:rPr lang="it-IT" altLang="it-IT" sz="1181" baseline="-25000"/>
                <a:t>3</a:t>
              </a:r>
            </a:p>
          </p:txBody>
        </p:sp>
        <p:sp>
          <p:nvSpPr>
            <p:cNvPr id="18605" name="Text Box 48"/>
            <p:cNvSpPr txBox="1">
              <a:spLocks noChangeArrowheads="1"/>
            </p:cNvSpPr>
            <p:nvPr/>
          </p:nvSpPr>
          <p:spPr bwMode="auto">
            <a:xfrm>
              <a:off x="3424" y="1514"/>
              <a:ext cx="31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e</a:t>
              </a:r>
              <a:r>
                <a:rPr lang="it-IT" altLang="it-IT" sz="1181" baseline="30000"/>
                <a:t>4</a:t>
              </a:r>
              <a:r>
                <a:rPr lang="it-IT" altLang="it-IT" sz="1181" baseline="-25000"/>
                <a:t>2</a:t>
              </a:r>
            </a:p>
          </p:txBody>
        </p:sp>
      </p:grpSp>
      <p:grpSp>
        <p:nvGrpSpPr>
          <p:cNvPr id="18436" name="Group 72"/>
          <p:cNvGrpSpPr>
            <a:grpSpLocks/>
          </p:cNvGrpSpPr>
          <p:nvPr/>
        </p:nvGrpSpPr>
        <p:grpSpPr bwMode="auto">
          <a:xfrm>
            <a:off x="2227512" y="4219275"/>
            <a:ext cx="243780" cy="855921"/>
            <a:chOff x="839" y="3339"/>
            <a:chExt cx="272" cy="786"/>
          </a:xfrm>
        </p:grpSpPr>
        <p:grpSp>
          <p:nvGrpSpPr>
            <p:cNvPr id="18557" name="Group 53"/>
            <p:cNvGrpSpPr>
              <a:grpSpLocks/>
            </p:cNvGrpSpPr>
            <p:nvPr/>
          </p:nvGrpSpPr>
          <p:grpSpPr bwMode="auto">
            <a:xfrm>
              <a:off x="839" y="3339"/>
              <a:ext cx="272" cy="726"/>
              <a:chOff x="839" y="3339"/>
              <a:chExt cx="272" cy="726"/>
            </a:xfrm>
          </p:grpSpPr>
          <p:sp>
            <p:nvSpPr>
              <p:cNvPr id="18561" name="Rectangle 50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562" name="Line 51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563" name="Line 52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8558" name="Text Box 54"/>
            <p:cNvSpPr txBox="1">
              <a:spLocks noChangeArrowheads="1"/>
            </p:cNvSpPr>
            <p:nvPr/>
          </p:nvSpPr>
          <p:spPr bwMode="auto">
            <a:xfrm>
              <a:off x="885" y="3385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8559" name="Text Box 55"/>
            <p:cNvSpPr txBox="1">
              <a:spLocks noChangeArrowheads="1"/>
            </p:cNvSpPr>
            <p:nvPr/>
          </p:nvSpPr>
          <p:spPr bwMode="auto">
            <a:xfrm>
              <a:off x="885" y="3601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8560" name="Text Box 56"/>
            <p:cNvSpPr txBox="1">
              <a:spLocks noChangeArrowheads="1"/>
            </p:cNvSpPr>
            <p:nvPr/>
          </p:nvSpPr>
          <p:spPr bwMode="auto">
            <a:xfrm>
              <a:off x="885" y="3873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</p:grpSp>
      <p:grpSp>
        <p:nvGrpSpPr>
          <p:cNvPr id="18437" name="Group 71"/>
          <p:cNvGrpSpPr>
            <a:grpSpLocks/>
          </p:cNvGrpSpPr>
          <p:nvPr/>
        </p:nvGrpSpPr>
        <p:grpSpPr bwMode="auto">
          <a:xfrm>
            <a:off x="2227512" y="3186560"/>
            <a:ext cx="243780" cy="900283"/>
            <a:chOff x="748" y="2387"/>
            <a:chExt cx="272" cy="768"/>
          </a:xfrm>
        </p:grpSpPr>
        <p:grpSp>
          <p:nvGrpSpPr>
            <p:cNvPr id="18550" name="Group 57"/>
            <p:cNvGrpSpPr>
              <a:grpSpLocks/>
            </p:cNvGrpSpPr>
            <p:nvPr/>
          </p:nvGrpSpPr>
          <p:grpSpPr bwMode="auto">
            <a:xfrm>
              <a:off x="748" y="2387"/>
              <a:ext cx="272" cy="726"/>
              <a:chOff x="839" y="3339"/>
              <a:chExt cx="272" cy="726"/>
            </a:xfrm>
          </p:grpSpPr>
          <p:sp>
            <p:nvSpPr>
              <p:cNvPr id="18554" name="Rectangle 58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555" name="Line 59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556" name="Line 60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8551" name="Text Box 61"/>
            <p:cNvSpPr txBox="1">
              <a:spLocks noChangeArrowheads="1"/>
            </p:cNvSpPr>
            <p:nvPr/>
          </p:nvSpPr>
          <p:spPr bwMode="auto">
            <a:xfrm>
              <a:off x="794" y="2433"/>
              <a:ext cx="180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8552" name="Text Box 62"/>
            <p:cNvSpPr txBox="1">
              <a:spLocks noChangeArrowheads="1"/>
            </p:cNvSpPr>
            <p:nvPr/>
          </p:nvSpPr>
          <p:spPr bwMode="auto">
            <a:xfrm>
              <a:off x="794" y="2649"/>
              <a:ext cx="180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8553" name="Text Box 63"/>
            <p:cNvSpPr txBox="1">
              <a:spLocks noChangeArrowheads="1"/>
            </p:cNvSpPr>
            <p:nvPr/>
          </p:nvSpPr>
          <p:spPr bwMode="auto">
            <a:xfrm>
              <a:off x="794" y="2921"/>
              <a:ext cx="180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</p:grpSp>
      <p:grpSp>
        <p:nvGrpSpPr>
          <p:cNvPr id="18438" name="Group 80"/>
          <p:cNvGrpSpPr>
            <a:grpSpLocks/>
          </p:cNvGrpSpPr>
          <p:nvPr/>
        </p:nvGrpSpPr>
        <p:grpSpPr bwMode="auto">
          <a:xfrm>
            <a:off x="2227511" y="2214117"/>
            <a:ext cx="304055" cy="900283"/>
            <a:chOff x="703" y="799"/>
            <a:chExt cx="272" cy="768"/>
          </a:xfrm>
        </p:grpSpPr>
        <p:grpSp>
          <p:nvGrpSpPr>
            <p:cNvPr id="18543" name="Group 64"/>
            <p:cNvGrpSpPr>
              <a:grpSpLocks/>
            </p:cNvGrpSpPr>
            <p:nvPr/>
          </p:nvGrpSpPr>
          <p:grpSpPr bwMode="auto">
            <a:xfrm>
              <a:off x="703" y="799"/>
              <a:ext cx="272" cy="726"/>
              <a:chOff x="839" y="3339"/>
              <a:chExt cx="272" cy="726"/>
            </a:xfrm>
          </p:grpSpPr>
          <p:sp>
            <p:nvSpPr>
              <p:cNvPr id="18547" name="Rectangle 65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548" name="Line 66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549" name="Line 67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8544" name="Text Box 68"/>
            <p:cNvSpPr txBox="1">
              <a:spLocks noChangeArrowheads="1"/>
            </p:cNvSpPr>
            <p:nvPr/>
          </p:nvSpPr>
          <p:spPr bwMode="auto">
            <a:xfrm>
              <a:off x="749" y="845"/>
              <a:ext cx="180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8545" name="Text Box 69"/>
            <p:cNvSpPr txBox="1">
              <a:spLocks noChangeArrowheads="1"/>
            </p:cNvSpPr>
            <p:nvPr/>
          </p:nvSpPr>
          <p:spPr bwMode="auto">
            <a:xfrm>
              <a:off x="749" y="1061"/>
              <a:ext cx="180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8546" name="Text Box 70"/>
            <p:cNvSpPr txBox="1">
              <a:spLocks noChangeArrowheads="1"/>
            </p:cNvSpPr>
            <p:nvPr/>
          </p:nvSpPr>
          <p:spPr bwMode="auto">
            <a:xfrm>
              <a:off x="749" y="1333"/>
              <a:ext cx="180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</p:grpSp>
      <p:grpSp>
        <p:nvGrpSpPr>
          <p:cNvPr id="18439" name="Group 81"/>
          <p:cNvGrpSpPr>
            <a:grpSpLocks/>
          </p:cNvGrpSpPr>
          <p:nvPr/>
        </p:nvGrpSpPr>
        <p:grpSpPr bwMode="auto">
          <a:xfrm>
            <a:off x="2895899" y="2214118"/>
            <a:ext cx="304056" cy="900283"/>
            <a:chOff x="839" y="3158"/>
            <a:chExt cx="272" cy="768"/>
          </a:xfrm>
        </p:grpSpPr>
        <p:grpSp>
          <p:nvGrpSpPr>
            <p:cNvPr id="18536" name="Group 73"/>
            <p:cNvGrpSpPr>
              <a:grpSpLocks/>
            </p:cNvGrpSpPr>
            <p:nvPr/>
          </p:nvGrpSpPr>
          <p:grpSpPr bwMode="auto">
            <a:xfrm>
              <a:off x="839" y="3158"/>
              <a:ext cx="272" cy="726"/>
              <a:chOff x="839" y="3339"/>
              <a:chExt cx="272" cy="726"/>
            </a:xfrm>
          </p:grpSpPr>
          <p:sp>
            <p:nvSpPr>
              <p:cNvPr id="18540" name="Rectangle 74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541" name="Line 75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542" name="Line 76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8537" name="Text Box 77"/>
            <p:cNvSpPr txBox="1">
              <a:spLocks noChangeArrowheads="1"/>
            </p:cNvSpPr>
            <p:nvPr/>
          </p:nvSpPr>
          <p:spPr bwMode="auto">
            <a:xfrm>
              <a:off x="884" y="3204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8538" name="Text Box 78"/>
            <p:cNvSpPr txBox="1">
              <a:spLocks noChangeArrowheads="1"/>
            </p:cNvSpPr>
            <p:nvPr/>
          </p:nvSpPr>
          <p:spPr bwMode="auto">
            <a:xfrm>
              <a:off x="884" y="3420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8539" name="Text Box 79"/>
            <p:cNvSpPr txBox="1">
              <a:spLocks noChangeArrowheads="1"/>
            </p:cNvSpPr>
            <p:nvPr/>
          </p:nvSpPr>
          <p:spPr bwMode="auto">
            <a:xfrm>
              <a:off x="884" y="3692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</p:grpSp>
      <p:grpSp>
        <p:nvGrpSpPr>
          <p:cNvPr id="18440" name="Group 82"/>
          <p:cNvGrpSpPr>
            <a:grpSpLocks/>
          </p:cNvGrpSpPr>
          <p:nvPr/>
        </p:nvGrpSpPr>
        <p:grpSpPr bwMode="auto">
          <a:xfrm>
            <a:off x="3199954" y="3186561"/>
            <a:ext cx="304055" cy="900283"/>
            <a:chOff x="839" y="3158"/>
            <a:chExt cx="272" cy="768"/>
          </a:xfrm>
        </p:grpSpPr>
        <p:grpSp>
          <p:nvGrpSpPr>
            <p:cNvPr id="18529" name="Group 83"/>
            <p:cNvGrpSpPr>
              <a:grpSpLocks/>
            </p:cNvGrpSpPr>
            <p:nvPr/>
          </p:nvGrpSpPr>
          <p:grpSpPr bwMode="auto">
            <a:xfrm>
              <a:off x="839" y="3158"/>
              <a:ext cx="272" cy="726"/>
              <a:chOff x="839" y="3339"/>
              <a:chExt cx="272" cy="726"/>
            </a:xfrm>
          </p:grpSpPr>
          <p:sp>
            <p:nvSpPr>
              <p:cNvPr id="18533" name="Rectangle 84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534" name="Line 85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535" name="Line 86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8530" name="Text Box 87"/>
            <p:cNvSpPr txBox="1">
              <a:spLocks noChangeArrowheads="1"/>
            </p:cNvSpPr>
            <p:nvPr/>
          </p:nvSpPr>
          <p:spPr bwMode="auto">
            <a:xfrm>
              <a:off x="884" y="3204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8531" name="Text Box 88"/>
            <p:cNvSpPr txBox="1">
              <a:spLocks noChangeArrowheads="1"/>
            </p:cNvSpPr>
            <p:nvPr/>
          </p:nvSpPr>
          <p:spPr bwMode="auto">
            <a:xfrm>
              <a:off x="884" y="3420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8532" name="Text Box 89"/>
            <p:cNvSpPr txBox="1">
              <a:spLocks noChangeArrowheads="1"/>
            </p:cNvSpPr>
            <p:nvPr/>
          </p:nvSpPr>
          <p:spPr bwMode="auto">
            <a:xfrm>
              <a:off x="884" y="3692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</p:grpSp>
      <p:grpSp>
        <p:nvGrpSpPr>
          <p:cNvPr id="18441" name="Group 98"/>
          <p:cNvGrpSpPr>
            <a:grpSpLocks/>
          </p:cNvGrpSpPr>
          <p:nvPr/>
        </p:nvGrpSpPr>
        <p:grpSpPr bwMode="auto">
          <a:xfrm>
            <a:off x="3380781" y="4219275"/>
            <a:ext cx="243780" cy="855921"/>
            <a:chOff x="839" y="3339"/>
            <a:chExt cx="272" cy="786"/>
          </a:xfrm>
        </p:grpSpPr>
        <p:grpSp>
          <p:nvGrpSpPr>
            <p:cNvPr id="18522" name="Group 99"/>
            <p:cNvGrpSpPr>
              <a:grpSpLocks/>
            </p:cNvGrpSpPr>
            <p:nvPr/>
          </p:nvGrpSpPr>
          <p:grpSpPr bwMode="auto">
            <a:xfrm>
              <a:off x="839" y="3339"/>
              <a:ext cx="272" cy="726"/>
              <a:chOff x="839" y="3339"/>
              <a:chExt cx="272" cy="726"/>
            </a:xfrm>
          </p:grpSpPr>
          <p:sp>
            <p:nvSpPr>
              <p:cNvPr id="18526" name="Rectangle 100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527" name="Line 101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528" name="Line 102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8523" name="Text Box 103"/>
            <p:cNvSpPr txBox="1">
              <a:spLocks noChangeArrowheads="1"/>
            </p:cNvSpPr>
            <p:nvPr/>
          </p:nvSpPr>
          <p:spPr bwMode="auto">
            <a:xfrm>
              <a:off x="885" y="3385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8524" name="Text Box 104"/>
            <p:cNvSpPr txBox="1">
              <a:spLocks noChangeArrowheads="1"/>
            </p:cNvSpPr>
            <p:nvPr/>
          </p:nvSpPr>
          <p:spPr bwMode="auto">
            <a:xfrm>
              <a:off x="885" y="3601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8525" name="Text Box 105"/>
            <p:cNvSpPr txBox="1">
              <a:spLocks noChangeArrowheads="1"/>
            </p:cNvSpPr>
            <p:nvPr/>
          </p:nvSpPr>
          <p:spPr bwMode="auto">
            <a:xfrm>
              <a:off x="885" y="3873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1</a:t>
              </a:r>
            </a:p>
          </p:txBody>
        </p:sp>
      </p:grpSp>
      <p:grpSp>
        <p:nvGrpSpPr>
          <p:cNvPr id="18442" name="Group 106"/>
          <p:cNvGrpSpPr>
            <a:grpSpLocks/>
          </p:cNvGrpSpPr>
          <p:nvPr/>
        </p:nvGrpSpPr>
        <p:grpSpPr bwMode="auto">
          <a:xfrm>
            <a:off x="3806727" y="2214118"/>
            <a:ext cx="304056" cy="900283"/>
            <a:chOff x="839" y="3158"/>
            <a:chExt cx="272" cy="768"/>
          </a:xfrm>
        </p:grpSpPr>
        <p:grpSp>
          <p:nvGrpSpPr>
            <p:cNvPr id="18515" name="Group 107"/>
            <p:cNvGrpSpPr>
              <a:grpSpLocks/>
            </p:cNvGrpSpPr>
            <p:nvPr/>
          </p:nvGrpSpPr>
          <p:grpSpPr bwMode="auto">
            <a:xfrm>
              <a:off x="839" y="3158"/>
              <a:ext cx="272" cy="726"/>
              <a:chOff x="839" y="3339"/>
              <a:chExt cx="272" cy="726"/>
            </a:xfrm>
          </p:grpSpPr>
          <p:sp>
            <p:nvSpPr>
              <p:cNvPr id="18519" name="Rectangle 108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520" name="Line 109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521" name="Line 110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8516" name="Text Box 111"/>
            <p:cNvSpPr txBox="1">
              <a:spLocks noChangeArrowheads="1"/>
            </p:cNvSpPr>
            <p:nvPr/>
          </p:nvSpPr>
          <p:spPr bwMode="auto">
            <a:xfrm>
              <a:off x="884" y="3204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8517" name="Text Box 112"/>
            <p:cNvSpPr txBox="1">
              <a:spLocks noChangeArrowheads="1"/>
            </p:cNvSpPr>
            <p:nvPr/>
          </p:nvSpPr>
          <p:spPr bwMode="auto">
            <a:xfrm>
              <a:off x="884" y="3420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8518" name="Text Box 113"/>
            <p:cNvSpPr txBox="1">
              <a:spLocks noChangeArrowheads="1"/>
            </p:cNvSpPr>
            <p:nvPr/>
          </p:nvSpPr>
          <p:spPr bwMode="auto">
            <a:xfrm>
              <a:off x="884" y="3692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1</a:t>
              </a:r>
            </a:p>
          </p:txBody>
        </p:sp>
      </p:grpSp>
      <p:grpSp>
        <p:nvGrpSpPr>
          <p:cNvPr id="18443" name="Group 114"/>
          <p:cNvGrpSpPr>
            <a:grpSpLocks/>
          </p:cNvGrpSpPr>
          <p:nvPr/>
        </p:nvGrpSpPr>
        <p:grpSpPr bwMode="auto">
          <a:xfrm>
            <a:off x="3928617" y="3185221"/>
            <a:ext cx="304055" cy="900284"/>
            <a:chOff x="839" y="3158"/>
            <a:chExt cx="272" cy="768"/>
          </a:xfrm>
        </p:grpSpPr>
        <p:grpSp>
          <p:nvGrpSpPr>
            <p:cNvPr id="18508" name="Group 115"/>
            <p:cNvGrpSpPr>
              <a:grpSpLocks/>
            </p:cNvGrpSpPr>
            <p:nvPr/>
          </p:nvGrpSpPr>
          <p:grpSpPr bwMode="auto">
            <a:xfrm>
              <a:off x="839" y="3158"/>
              <a:ext cx="272" cy="726"/>
              <a:chOff x="839" y="3339"/>
              <a:chExt cx="272" cy="726"/>
            </a:xfrm>
          </p:grpSpPr>
          <p:sp>
            <p:nvSpPr>
              <p:cNvPr id="18512" name="Rectangle 116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513" name="Line 117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514" name="Line 118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8509" name="Text Box 119"/>
            <p:cNvSpPr txBox="1">
              <a:spLocks noChangeArrowheads="1"/>
            </p:cNvSpPr>
            <p:nvPr/>
          </p:nvSpPr>
          <p:spPr bwMode="auto">
            <a:xfrm>
              <a:off x="884" y="3204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8510" name="Text Box 120"/>
            <p:cNvSpPr txBox="1">
              <a:spLocks noChangeArrowheads="1"/>
            </p:cNvSpPr>
            <p:nvPr/>
          </p:nvSpPr>
          <p:spPr bwMode="auto">
            <a:xfrm>
              <a:off x="884" y="3420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8511" name="Text Box 121"/>
            <p:cNvSpPr txBox="1">
              <a:spLocks noChangeArrowheads="1"/>
            </p:cNvSpPr>
            <p:nvPr/>
          </p:nvSpPr>
          <p:spPr bwMode="auto">
            <a:xfrm>
              <a:off x="884" y="3692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</p:grpSp>
      <p:grpSp>
        <p:nvGrpSpPr>
          <p:cNvPr id="18444" name="Group 122"/>
          <p:cNvGrpSpPr>
            <a:grpSpLocks/>
          </p:cNvGrpSpPr>
          <p:nvPr/>
        </p:nvGrpSpPr>
        <p:grpSpPr bwMode="auto">
          <a:xfrm>
            <a:off x="4232673" y="4231331"/>
            <a:ext cx="243780" cy="855921"/>
            <a:chOff x="839" y="3339"/>
            <a:chExt cx="272" cy="786"/>
          </a:xfrm>
        </p:grpSpPr>
        <p:grpSp>
          <p:nvGrpSpPr>
            <p:cNvPr id="18501" name="Group 123"/>
            <p:cNvGrpSpPr>
              <a:grpSpLocks/>
            </p:cNvGrpSpPr>
            <p:nvPr/>
          </p:nvGrpSpPr>
          <p:grpSpPr bwMode="auto">
            <a:xfrm>
              <a:off x="839" y="3339"/>
              <a:ext cx="272" cy="726"/>
              <a:chOff x="839" y="3339"/>
              <a:chExt cx="272" cy="726"/>
            </a:xfrm>
          </p:grpSpPr>
          <p:sp>
            <p:nvSpPr>
              <p:cNvPr id="18505" name="Rectangle 124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506" name="Line 125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507" name="Line 126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8502" name="Text Box 127"/>
            <p:cNvSpPr txBox="1">
              <a:spLocks noChangeArrowheads="1"/>
            </p:cNvSpPr>
            <p:nvPr/>
          </p:nvSpPr>
          <p:spPr bwMode="auto">
            <a:xfrm>
              <a:off x="885" y="3385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8503" name="Text Box 128"/>
            <p:cNvSpPr txBox="1">
              <a:spLocks noChangeArrowheads="1"/>
            </p:cNvSpPr>
            <p:nvPr/>
          </p:nvSpPr>
          <p:spPr bwMode="auto">
            <a:xfrm>
              <a:off x="885" y="3601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8504" name="Text Box 129"/>
            <p:cNvSpPr txBox="1">
              <a:spLocks noChangeArrowheads="1"/>
            </p:cNvSpPr>
            <p:nvPr/>
          </p:nvSpPr>
          <p:spPr bwMode="auto">
            <a:xfrm>
              <a:off x="885" y="3873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2</a:t>
              </a:r>
            </a:p>
          </p:txBody>
        </p:sp>
      </p:grpSp>
      <p:grpSp>
        <p:nvGrpSpPr>
          <p:cNvPr id="18445" name="Group 130"/>
          <p:cNvGrpSpPr>
            <a:grpSpLocks/>
          </p:cNvGrpSpPr>
          <p:nvPr/>
        </p:nvGrpSpPr>
        <p:grpSpPr bwMode="auto">
          <a:xfrm>
            <a:off x="4901061" y="4219275"/>
            <a:ext cx="243780" cy="855921"/>
            <a:chOff x="839" y="3339"/>
            <a:chExt cx="272" cy="786"/>
          </a:xfrm>
        </p:grpSpPr>
        <p:grpSp>
          <p:nvGrpSpPr>
            <p:cNvPr id="18494" name="Group 131"/>
            <p:cNvGrpSpPr>
              <a:grpSpLocks/>
            </p:cNvGrpSpPr>
            <p:nvPr/>
          </p:nvGrpSpPr>
          <p:grpSpPr bwMode="auto">
            <a:xfrm>
              <a:off x="839" y="3339"/>
              <a:ext cx="272" cy="726"/>
              <a:chOff x="839" y="3339"/>
              <a:chExt cx="272" cy="726"/>
            </a:xfrm>
          </p:grpSpPr>
          <p:sp>
            <p:nvSpPr>
              <p:cNvPr id="18498" name="Rectangle 132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499" name="Line 133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500" name="Line 134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8495" name="Text Box 135"/>
            <p:cNvSpPr txBox="1">
              <a:spLocks noChangeArrowheads="1"/>
            </p:cNvSpPr>
            <p:nvPr/>
          </p:nvSpPr>
          <p:spPr bwMode="auto">
            <a:xfrm>
              <a:off x="885" y="3385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8496" name="Text Box 136"/>
            <p:cNvSpPr txBox="1">
              <a:spLocks noChangeArrowheads="1"/>
            </p:cNvSpPr>
            <p:nvPr/>
          </p:nvSpPr>
          <p:spPr bwMode="auto">
            <a:xfrm>
              <a:off x="885" y="3601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8497" name="Text Box 137"/>
            <p:cNvSpPr txBox="1">
              <a:spLocks noChangeArrowheads="1"/>
            </p:cNvSpPr>
            <p:nvPr/>
          </p:nvSpPr>
          <p:spPr bwMode="auto">
            <a:xfrm>
              <a:off x="885" y="3873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3</a:t>
              </a:r>
            </a:p>
          </p:txBody>
        </p:sp>
      </p:grpSp>
      <p:grpSp>
        <p:nvGrpSpPr>
          <p:cNvPr id="18446" name="Group 138"/>
          <p:cNvGrpSpPr>
            <a:grpSpLocks/>
          </p:cNvGrpSpPr>
          <p:nvPr/>
        </p:nvGrpSpPr>
        <p:grpSpPr bwMode="auto">
          <a:xfrm>
            <a:off x="5265391" y="2214118"/>
            <a:ext cx="304055" cy="900283"/>
            <a:chOff x="839" y="3158"/>
            <a:chExt cx="272" cy="768"/>
          </a:xfrm>
        </p:grpSpPr>
        <p:grpSp>
          <p:nvGrpSpPr>
            <p:cNvPr id="18487" name="Group 139"/>
            <p:cNvGrpSpPr>
              <a:grpSpLocks/>
            </p:cNvGrpSpPr>
            <p:nvPr/>
          </p:nvGrpSpPr>
          <p:grpSpPr bwMode="auto">
            <a:xfrm>
              <a:off x="839" y="3158"/>
              <a:ext cx="272" cy="726"/>
              <a:chOff x="839" y="3339"/>
              <a:chExt cx="272" cy="726"/>
            </a:xfrm>
          </p:grpSpPr>
          <p:sp>
            <p:nvSpPr>
              <p:cNvPr id="18491" name="Rectangle 140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492" name="Line 141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493" name="Line 142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8488" name="Text Box 143"/>
            <p:cNvSpPr txBox="1">
              <a:spLocks noChangeArrowheads="1"/>
            </p:cNvSpPr>
            <p:nvPr/>
          </p:nvSpPr>
          <p:spPr bwMode="auto">
            <a:xfrm>
              <a:off x="884" y="3204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3</a:t>
              </a:r>
            </a:p>
          </p:txBody>
        </p:sp>
        <p:sp>
          <p:nvSpPr>
            <p:cNvPr id="18489" name="Text Box 144"/>
            <p:cNvSpPr txBox="1">
              <a:spLocks noChangeArrowheads="1"/>
            </p:cNvSpPr>
            <p:nvPr/>
          </p:nvSpPr>
          <p:spPr bwMode="auto">
            <a:xfrm>
              <a:off x="884" y="3420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8490" name="Text Box 145"/>
            <p:cNvSpPr txBox="1">
              <a:spLocks noChangeArrowheads="1"/>
            </p:cNvSpPr>
            <p:nvPr/>
          </p:nvSpPr>
          <p:spPr bwMode="auto">
            <a:xfrm>
              <a:off x="884" y="3692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3</a:t>
              </a:r>
            </a:p>
          </p:txBody>
        </p:sp>
      </p:grpSp>
      <p:grpSp>
        <p:nvGrpSpPr>
          <p:cNvPr id="18447" name="Group 146"/>
          <p:cNvGrpSpPr>
            <a:grpSpLocks/>
          </p:cNvGrpSpPr>
          <p:nvPr/>
        </p:nvGrpSpPr>
        <p:grpSpPr bwMode="auto">
          <a:xfrm>
            <a:off x="5568109" y="4219275"/>
            <a:ext cx="243780" cy="855921"/>
            <a:chOff x="839" y="3339"/>
            <a:chExt cx="272" cy="786"/>
          </a:xfrm>
        </p:grpSpPr>
        <p:grpSp>
          <p:nvGrpSpPr>
            <p:cNvPr id="18480" name="Group 147"/>
            <p:cNvGrpSpPr>
              <a:grpSpLocks/>
            </p:cNvGrpSpPr>
            <p:nvPr/>
          </p:nvGrpSpPr>
          <p:grpSpPr bwMode="auto">
            <a:xfrm>
              <a:off x="839" y="3339"/>
              <a:ext cx="272" cy="726"/>
              <a:chOff x="839" y="3339"/>
              <a:chExt cx="272" cy="726"/>
            </a:xfrm>
          </p:grpSpPr>
          <p:sp>
            <p:nvSpPr>
              <p:cNvPr id="18484" name="Rectangle 148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485" name="Line 149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486" name="Line 150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8481" name="Text Box 151"/>
            <p:cNvSpPr txBox="1">
              <a:spLocks noChangeArrowheads="1"/>
            </p:cNvSpPr>
            <p:nvPr/>
          </p:nvSpPr>
          <p:spPr bwMode="auto">
            <a:xfrm>
              <a:off x="885" y="3385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8482" name="Text Box 152"/>
            <p:cNvSpPr txBox="1">
              <a:spLocks noChangeArrowheads="1"/>
            </p:cNvSpPr>
            <p:nvPr/>
          </p:nvSpPr>
          <p:spPr bwMode="auto">
            <a:xfrm>
              <a:off x="885" y="3601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8483" name="Text Box 153"/>
            <p:cNvSpPr txBox="1">
              <a:spLocks noChangeArrowheads="1"/>
            </p:cNvSpPr>
            <p:nvPr/>
          </p:nvSpPr>
          <p:spPr bwMode="auto">
            <a:xfrm>
              <a:off x="885" y="3873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4</a:t>
              </a:r>
            </a:p>
          </p:txBody>
        </p:sp>
      </p:grpSp>
      <p:grpSp>
        <p:nvGrpSpPr>
          <p:cNvPr id="18448" name="Group 154"/>
          <p:cNvGrpSpPr>
            <a:grpSpLocks/>
          </p:cNvGrpSpPr>
          <p:nvPr/>
        </p:nvGrpSpPr>
        <p:grpSpPr bwMode="auto">
          <a:xfrm>
            <a:off x="5811888" y="3185221"/>
            <a:ext cx="304055" cy="900284"/>
            <a:chOff x="839" y="3158"/>
            <a:chExt cx="272" cy="768"/>
          </a:xfrm>
        </p:grpSpPr>
        <p:grpSp>
          <p:nvGrpSpPr>
            <p:cNvPr id="18473" name="Group 155"/>
            <p:cNvGrpSpPr>
              <a:grpSpLocks/>
            </p:cNvGrpSpPr>
            <p:nvPr/>
          </p:nvGrpSpPr>
          <p:grpSpPr bwMode="auto">
            <a:xfrm>
              <a:off x="839" y="3158"/>
              <a:ext cx="272" cy="726"/>
              <a:chOff x="839" y="3339"/>
              <a:chExt cx="272" cy="726"/>
            </a:xfrm>
          </p:grpSpPr>
          <p:sp>
            <p:nvSpPr>
              <p:cNvPr id="18477" name="Rectangle 156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478" name="Line 157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479" name="Line 158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8474" name="Text Box 159"/>
            <p:cNvSpPr txBox="1">
              <a:spLocks noChangeArrowheads="1"/>
            </p:cNvSpPr>
            <p:nvPr/>
          </p:nvSpPr>
          <p:spPr bwMode="auto">
            <a:xfrm>
              <a:off x="884" y="3204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8475" name="Text Box 160"/>
            <p:cNvSpPr txBox="1">
              <a:spLocks noChangeArrowheads="1"/>
            </p:cNvSpPr>
            <p:nvPr/>
          </p:nvSpPr>
          <p:spPr bwMode="auto">
            <a:xfrm>
              <a:off x="884" y="3420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3</a:t>
              </a:r>
            </a:p>
          </p:txBody>
        </p:sp>
        <p:sp>
          <p:nvSpPr>
            <p:cNvPr id="18476" name="Text Box 161"/>
            <p:cNvSpPr txBox="1">
              <a:spLocks noChangeArrowheads="1"/>
            </p:cNvSpPr>
            <p:nvPr/>
          </p:nvSpPr>
          <p:spPr bwMode="auto">
            <a:xfrm>
              <a:off x="884" y="3692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4</a:t>
              </a:r>
            </a:p>
          </p:txBody>
        </p:sp>
      </p:grpSp>
      <p:grpSp>
        <p:nvGrpSpPr>
          <p:cNvPr id="18449" name="Group 162"/>
          <p:cNvGrpSpPr>
            <a:grpSpLocks/>
          </p:cNvGrpSpPr>
          <p:nvPr/>
        </p:nvGrpSpPr>
        <p:grpSpPr bwMode="auto">
          <a:xfrm>
            <a:off x="6237834" y="2214118"/>
            <a:ext cx="304055" cy="900283"/>
            <a:chOff x="839" y="3158"/>
            <a:chExt cx="272" cy="768"/>
          </a:xfrm>
        </p:grpSpPr>
        <p:grpSp>
          <p:nvGrpSpPr>
            <p:cNvPr id="18466" name="Group 163"/>
            <p:cNvGrpSpPr>
              <a:grpSpLocks/>
            </p:cNvGrpSpPr>
            <p:nvPr/>
          </p:nvGrpSpPr>
          <p:grpSpPr bwMode="auto">
            <a:xfrm>
              <a:off x="839" y="3158"/>
              <a:ext cx="272" cy="726"/>
              <a:chOff x="839" y="3339"/>
              <a:chExt cx="272" cy="726"/>
            </a:xfrm>
          </p:grpSpPr>
          <p:sp>
            <p:nvSpPr>
              <p:cNvPr id="18470" name="Rectangle 164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471" name="Line 165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472" name="Line 166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8467" name="Text Box 167"/>
            <p:cNvSpPr txBox="1">
              <a:spLocks noChangeArrowheads="1"/>
            </p:cNvSpPr>
            <p:nvPr/>
          </p:nvSpPr>
          <p:spPr bwMode="auto">
            <a:xfrm>
              <a:off x="884" y="3204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4</a:t>
              </a:r>
            </a:p>
          </p:txBody>
        </p:sp>
        <p:sp>
          <p:nvSpPr>
            <p:cNvPr id="18468" name="Text Box 168"/>
            <p:cNvSpPr txBox="1">
              <a:spLocks noChangeArrowheads="1"/>
            </p:cNvSpPr>
            <p:nvPr/>
          </p:nvSpPr>
          <p:spPr bwMode="auto">
            <a:xfrm>
              <a:off x="884" y="3420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8469" name="Text Box 169"/>
            <p:cNvSpPr txBox="1">
              <a:spLocks noChangeArrowheads="1"/>
            </p:cNvSpPr>
            <p:nvPr/>
          </p:nvSpPr>
          <p:spPr bwMode="auto">
            <a:xfrm>
              <a:off x="884" y="3692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3</a:t>
              </a:r>
            </a:p>
          </p:txBody>
        </p:sp>
      </p:grpSp>
      <p:grpSp>
        <p:nvGrpSpPr>
          <p:cNvPr id="18450" name="Group 170"/>
          <p:cNvGrpSpPr>
            <a:grpSpLocks/>
          </p:cNvGrpSpPr>
          <p:nvPr/>
        </p:nvGrpSpPr>
        <p:grpSpPr bwMode="auto">
          <a:xfrm>
            <a:off x="6782992" y="4219275"/>
            <a:ext cx="243780" cy="855921"/>
            <a:chOff x="839" y="3339"/>
            <a:chExt cx="272" cy="786"/>
          </a:xfrm>
        </p:grpSpPr>
        <p:grpSp>
          <p:nvGrpSpPr>
            <p:cNvPr id="18459" name="Group 171"/>
            <p:cNvGrpSpPr>
              <a:grpSpLocks/>
            </p:cNvGrpSpPr>
            <p:nvPr/>
          </p:nvGrpSpPr>
          <p:grpSpPr bwMode="auto">
            <a:xfrm>
              <a:off x="839" y="3339"/>
              <a:ext cx="272" cy="726"/>
              <a:chOff x="839" y="3339"/>
              <a:chExt cx="272" cy="726"/>
            </a:xfrm>
          </p:grpSpPr>
          <p:sp>
            <p:nvSpPr>
              <p:cNvPr id="18463" name="Rectangle 172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464" name="Line 173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465" name="Line 174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8460" name="Text Box 175"/>
            <p:cNvSpPr txBox="1">
              <a:spLocks noChangeArrowheads="1"/>
            </p:cNvSpPr>
            <p:nvPr/>
          </p:nvSpPr>
          <p:spPr bwMode="auto">
            <a:xfrm>
              <a:off x="885" y="3385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4</a:t>
              </a:r>
            </a:p>
          </p:txBody>
        </p:sp>
        <p:sp>
          <p:nvSpPr>
            <p:cNvPr id="18461" name="Text Box 176"/>
            <p:cNvSpPr txBox="1">
              <a:spLocks noChangeArrowheads="1"/>
            </p:cNvSpPr>
            <p:nvPr/>
          </p:nvSpPr>
          <p:spPr bwMode="auto">
            <a:xfrm>
              <a:off x="885" y="3601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8462" name="Text Box 177"/>
            <p:cNvSpPr txBox="1">
              <a:spLocks noChangeArrowheads="1"/>
            </p:cNvSpPr>
            <p:nvPr/>
          </p:nvSpPr>
          <p:spPr bwMode="auto">
            <a:xfrm>
              <a:off x="885" y="3873"/>
              <a:ext cx="1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5</a:t>
              </a:r>
            </a:p>
          </p:txBody>
        </p:sp>
      </p:grpSp>
      <p:grpSp>
        <p:nvGrpSpPr>
          <p:cNvPr id="18451" name="Group 178"/>
          <p:cNvGrpSpPr>
            <a:grpSpLocks/>
          </p:cNvGrpSpPr>
          <p:nvPr/>
        </p:nvGrpSpPr>
        <p:grpSpPr bwMode="auto">
          <a:xfrm>
            <a:off x="7634884" y="3186561"/>
            <a:ext cx="304056" cy="900283"/>
            <a:chOff x="839" y="3158"/>
            <a:chExt cx="272" cy="768"/>
          </a:xfrm>
        </p:grpSpPr>
        <p:grpSp>
          <p:nvGrpSpPr>
            <p:cNvPr id="18452" name="Group 179"/>
            <p:cNvGrpSpPr>
              <a:grpSpLocks/>
            </p:cNvGrpSpPr>
            <p:nvPr/>
          </p:nvGrpSpPr>
          <p:grpSpPr bwMode="auto">
            <a:xfrm>
              <a:off x="839" y="3158"/>
              <a:ext cx="272" cy="726"/>
              <a:chOff x="839" y="3339"/>
              <a:chExt cx="272" cy="726"/>
            </a:xfrm>
          </p:grpSpPr>
          <p:sp>
            <p:nvSpPr>
              <p:cNvPr id="18456" name="Rectangle 180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457" name="Line 181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458" name="Line 182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8453" name="Text Box 183"/>
            <p:cNvSpPr txBox="1">
              <a:spLocks noChangeArrowheads="1"/>
            </p:cNvSpPr>
            <p:nvPr/>
          </p:nvSpPr>
          <p:spPr bwMode="auto">
            <a:xfrm>
              <a:off x="884" y="3204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 dirty="0">
                  <a:solidFill>
                    <a:srgbClr val="FF3300"/>
                  </a:solidFill>
                </a:rPr>
                <a:t>5</a:t>
              </a:r>
            </a:p>
          </p:txBody>
        </p:sp>
        <p:sp>
          <p:nvSpPr>
            <p:cNvPr id="18454" name="Text Box 184"/>
            <p:cNvSpPr txBox="1">
              <a:spLocks noChangeArrowheads="1"/>
            </p:cNvSpPr>
            <p:nvPr/>
          </p:nvSpPr>
          <p:spPr bwMode="auto">
            <a:xfrm>
              <a:off x="884" y="3420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4</a:t>
              </a:r>
            </a:p>
          </p:txBody>
        </p:sp>
        <p:sp>
          <p:nvSpPr>
            <p:cNvPr id="18455" name="Text Box 185"/>
            <p:cNvSpPr txBox="1">
              <a:spLocks noChangeArrowheads="1"/>
            </p:cNvSpPr>
            <p:nvPr/>
          </p:nvSpPr>
          <p:spPr bwMode="auto">
            <a:xfrm>
              <a:off x="884" y="3692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4</a:t>
              </a:r>
            </a:p>
          </p:txBody>
        </p:sp>
      </p:grpSp>
      <p:grpSp>
        <p:nvGrpSpPr>
          <p:cNvPr id="174" name="Group 162">
            <a:extLst>
              <a:ext uri="{FF2B5EF4-FFF2-40B4-BE49-F238E27FC236}">
                <a16:creationId xmlns:a16="http://schemas.microsoft.com/office/drawing/2014/main" id="{588CDC24-C0F0-1E48-B4E2-137BE76E7227}"/>
              </a:ext>
            </a:extLst>
          </p:cNvPr>
          <p:cNvGrpSpPr>
            <a:grpSpLocks/>
          </p:cNvGrpSpPr>
          <p:nvPr/>
        </p:nvGrpSpPr>
        <p:grpSpPr bwMode="auto">
          <a:xfrm>
            <a:off x="6902649" y="2209988"/>
            <a:ext cx="304055" cy="900283"/>
            <a:chOff x="839" y="3158"/>
            <a:chExt cx="272" cy="768"/>
          </a:xfrm>
        </p:grpSpPr>
        <p:grpSp>
          <p:nvGrpSpPr>
            <p:cNvPr id="175" name="Group 163">
              <a:extLst>
                <a:ext uri="{FF2B5EF4-FFF2-40B4-BE49-F238E27FC236}">
                  <a16:creationId xmlns:a16="http://schemas.microsoft.com/office/drawing/2014/main" id="{25411FFD-D762-054D-B883-04FEEB8A61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9" y="3158"/>
              <a:ext cx="272" cy="726"/>
              <a:chOff x="839" y="3339"/>
              <a:chExt cx="272" cy="726"/>
            </a:xfrm>
          </p:grpSpPr>
          <p:sp>
            <p:nvSpPr>
              <p:cNvPr id="179" name="Rectangle 164">
                <a:extLst>
                  <a:ext uri="{FF2B5EF4-FFF2-40B4-BE49-F238E27FC236}">
                    <a16:creationId xmlns:a16="http://schemas.microsoft.com/office/drawing/2014/main" id="{AA99864D-DBEC-F249-9D4A-26542A6891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80" name="Line 165">
                <a:extLst>
                  <a:ext uri="{FF2B5EF4-FFF2-40B4-BE49-F238E27FC236}">
                    <a16:creationId xmlns:a16="http://schemas.microsoft.com/office/drawing/2014/main" id="{70B89852-68CE-C842-8400-722B1E26A3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81" name="Line 166">
                <a:extLst>
                  <a:ext uri="{FF2B5EF4-FFF2-40B4-BE49-F238E27FC236}">
                    <a16:creationId xmlns:a16="http://schemas.microsoft.com/office/drawing/2014/main" id="{6B0294B3-146D-2F4E-8B0A-E848BB3A57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76" name="Text Box 167">
              <a:extLst>
                <a:ext uri="{FF2B5EF4-FFF2-40B4-BE49-F238E27FC236}">
                  <a16:creationId xmlns:a16="http://schemas.microsoft.com/office/drawing/2014/main" id="{8E8266E5-1222-0C42-9B87-5A3F04667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3204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 dirty="0">
                  <a:solidFill>
                    <a:srgbClr val="FF3300"/>
                  </a:solidFill>
                </a:rPr>
                <a:t>5</a:t>
              </a:r>
            </a:p>
          </p:txBody>
        </p:sp>
        <p:sp>
          <p:nvSpPr>
            <p:cNvPr id="177" name="Text Box 168">
              <a:extLst>
                <a:ext uri="{FF2B5EF4-FFF2-40B4-BE49-F238E27FC236}">
                  <a16:creationId xmlns:a16="http://schemas.microsoft.com/office/drawing/2014/main" id="{71397136-8FB7-EB43-ADEE-8555CFE51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3420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78" name="Text Box 169">
              <a:extLst>
                <a:ext uri="{FF2B5EF4-FFF2-40B4-BE49-F238E27FC236}">
                  <a16:creationId xmlns:a16="http://schemas.microsoft.com/office/drawing/2014/main" id="{9BBC4D1C-E3E6-3245-95AC-9CA3C9D7D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3692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2870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>
                <a:ea typeface="ＭＳ Ｐゴシック" charset="-128"/>
              </a:rPr>
              <a:t>Vector Clock: properties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GB" altLang="it-IT">
                <a:ea typeface="ＭＳ Ｐゴシック" charset="-128"/>
              </a:rPr>
              <a:t>A Vector Clock V</a:t>
            </a:r>
            <a:r>
              <a:rPr lang="en-GB" altLang="it-IT" baseline="-25000">
                <a:ea typeface="ＭＳ Ｐゴシック" charset="-128"/>
              </a:rPr>
              <a:t>i</a:t>
            </a:r>
            <a:endParaRPr lang="en-GB" altLang="it-IT">
              <a:ea typeface="ＭＳ Ｐゴシック" charset="-128"/>
            </a:endParaRPr>
          </a:p>
          <a:p>
            <a:pPr lvl="1" eaLnBrk="1" hangingPunct="1"/>
            <a:r>
              <a:rPr lang="en-GB" altLang="it-IT">
                <a:ea typeface="ＭＳ Ｐゴシック" charset="-128"/>
              </a:rPr>
              <a:t>V</a:t>
            </a:r>
            <a:r>
              <a:rPr lang="en-GB" altLang="it-IT" baseline="-25000">
                <a:ea typeface="ＭＳ Ｐゴシック" charset="-128"/>
              </a:rPr>
              <a:t>i</a:t>
            </a:r>
            <a:r>
              <a:rPr lang="en-GB" altLang="it-IT">
                <a:ea typeface="ＭＳ Ｐゴシック" charset="-128"/>
              </a:rPr>
              <a:t>[ i ] represents the number of events produced by p</a:t>
            </a:r>
            <a:r>
              <a:rPr lang="en-GB" altLang="it-IT" baseline="-25000">
                <a:ea typeface="ＭＳ Ｐゴシック" charset="-128"/>
              </a:rPr>
              <a:t>i</a:t>
            </a:r>
            <a:endParaRPr lang="en-GB" altLang="it-IT">
              <a:ea typeface="ＭＳ Ｐゴシック" charset="-128"/>
            </a:endParaRPr>
          </a:p>
          <a:p>
            <a:pPr lvl="1" eaLnBrk="1" hangingPunct="1"/>
            <a:r>
              <a:rPr lang="en-GB" altLang="it-IT">
                <a:ea typeface="ＭＳ Ｐゴシック" charset="-128"/>
              </a:rPr>
              <a:t>V</a:t>
            </a:r>
            <a:r>
              <a:rPr lang="en-GB" altLang="it-IT" baseline="-25000">
                <a:ea typeface="ＭＳ Ｐゴシック" charset="-128"/>
              </a:rPr>
              <a:t>i</a:t>
            </a:r>
            <a:r>
              <a:rPr lang="en-GB" altLang="it-IT">
                <a:ea typeface="ＭＳ Ｐゴシック" charset="-128"/>
              </a:rPr>
              <a:t>[ j ] with i </a:t>
            </a:r>
            <a:r>
              <a:rPr lang="en-GB" altLang="it-IT">
                <a:ea typeface="ＭＳ Ｐゴシック" charset="-128"/>
                <a:sym typeface="Symbol" charset="2"/>
              </a:rPr>
              <a:t>≠ j represents the number of events generated by p</a:t>
            </a:r>
            <a:r>
              <a:rPr lang="en-GB" altLang="it-IT" baseline="-25000">
                <a:ea typeface="ＭＳ Ｐゴシック" charset="-128"/>
                <a:sym typeface="Symbol" charset="2"/>
              </a:rPr>
              <a:t>j</a:t>
            </a:r>
            <a:r>
              <a:rPr lang="en-GB" altLang="it-IT">
                <a:ea typeface="ＭＳ Ｐゴシック" charset="-128"/>
                <a:sym typeface="Symbol" charset="2"/>
              </a:rPr>
              <a:t> that p</a:t>
            </a:r>
            <a:r>
              <a:rPr lang="en-GB" altLang="it-IT" baseline="-25000">
                <a:ea typeface="ＭＳ Ｐゴシック" charset="-128"/>
                <a:sym typeface="Symbol" charset="2"/>
              </a:rPr>
              <a:t>i</a:t>
            </a:r>
            <a:r>
              <a:rPr lang="en-GB" altLang="it-IT">
                <a:ea typeface="ＭＳ Ｐゴシック" charset="-128"/>
                <a:sym typeface="Symbol" charset="2"/>
              </a:rPr>
              <a:t> can known</a:t>
            </a:r>
          </a:p>
          <a:p>
            <a:pPr eaLnBrk="1" hangingPunct="1"/>
            <a:r>
              <a:rPr lang="en-GB" altLang="it-IT">
                <a:ea typeface="ＭＳ Ｐゴシック" charset="-128"/>
                <a:sym typeface="Symbol" charset="2"/>
              </a:rPr>
              <a:t>V = V’ if and only if</a:t>
            </a:r>
          </a:p>
          <a:p>
            <a:pPr lvl="1" eaLnBrk="1" hangingPunct="1"/>
            <a:r>
              <a:rPr lang="en-GB" altLang="it-IT">
                <a:ea typeface="ＭＳ Ｐゴシック" charset="-128"/>
                <a:sym typeface="Symbol" charset="2"/>
              </a:rPr>
              <a:t>V[ j ] = V’ [ j ]   j = 1 … N</a:t>
            </a:r>
          </a:p>
          <a:p>
            <a:pPr eaLnBrk="1" hangingPunct="1"/>
            <a:r>
              <a:rPr lang="en-GB" altLang="it-IT">
                <a:ea typeface="ＭＳ Ｐゴシック" charset="-128"/>
                <a:sym typeface="Symbol" charset="2"/>
              </a:rPr>
              <a:t>V ≤ V’ if and only if</a:t>
            </a:r>
          </a:p>
          <a:p>
            <a:pPr lvl="1" eaLnBrk="1" hangingPunct="1"/>
            <a:r>
              <a:rPr lang="en-GB" altLang="it-IT">
                <a:ea typeface="ＭＳ Ｐゴシック" charset="-128"/>
                <a:sym typeface="Symbol" charset="2"/>
              </a:rPr>
              <a:t>V[ j ] ≤ V’ [ j ]   j = 1 … N</a:t>
            </a:r>
          </a:p>
          <a:p>
            <a:pPr eaLnBrk="1" hangingPunct="1"/>
            <a:r>
              <a:rPr lang="en-GB" altLang="it-IT">
                <a:ea typeface="ＭＳ Ｐゴシック" charset="-128"/>
                <a:sym typeface="Symbol" charset="2"/>
              </a:rPr>
              <a:t>V &lt; V’ therefore the event associated to V happened before the event associated to V’ if and only if</a:t>
            </a:r>
          </a:p>
          <a:p>
            <a:pPr lvl="1" eaLnBrk="1" hangingPunct="1"/>
            <a:r>
              <a:rPr lang="en-GB" altLang="it-IT">
                <a:ea typeface="ＭＳ Ｐゴシック" charset="-128"/>
                <a:sym typeface="Symbol" charset="2"/>
              </a:rPr>
              <a:t>V ≤ V’  V ≠ V’</a:t>
            </a:r>
          </a:p>
          <a:p>
            <a:pPr lvl="2" eaLnBrk="1" hangingPunct="1"/>
            <a:r>
              <a:rPr lang="en-GB" altLang="it-IT" sz="1350">
                <a:ea typeface="ＭＳ Ｐゴシック" charset="-128"/>
                <a:sym typeface="Symbol" charset="2"/>
              </a:rPr>
              <a:t> i = 1…N V’ [ i ] ≥ V [ i ]</a:t>
            </a:r>
          </a:p>
          <a:p>
            <a:pPr lvl="2" eaLnBrk="1" hangingPunct="1"/>
            <a:r>
              <a:rPr lang="en-GB" altLang="it-IT" sz="1350">
                <a:ea typeface="ＭＳ Ｐゴシック" charset="-128"/>
                <a:sym typeface="Symbol" charset="2"/>
              </a:rPr>
              <a:t> i  {1 … N} | V’ [ i ] &gt; V [ i ]</a:t>
            </a:r>
          </a:p>
          <a:p>
            <a:pPr lvl="1" eaLnBrk="1" hangingPunct="1"/>
            <a:endParaRPr lang="en-GB" altLang="it-IT" sz="1350">
              <a:ea typeface="ＭＳ Ｐゴシック" charset="-128"/>
              <a:sym typeface="Symbol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762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it-IT" sz="3038">
                <a:ea typeface="ＭＳ Ｐゴシック" charset="-128"/>
              </a:rPr>
              <a:t>A comparison of Vector Clocks</a:t>
            </a:r>
          </a:p>
        </p:txBody>
      </p:sp>
      <p:grpSp>
        <p:nvGrpSpPr>
          <p:cNvPr id="19459" name="Group 5"/>
          <p:cNvGrpSpPr>
            <a:grpSpLocks/>
          </p:cNvGrpSpPr>
          <p:nvPr/>
        </p:nvGrpSpPr>
        <p:grpSpPr bwMode="auto">
          <a:xfrm>
            <a:off x="1983731" y="2092227"/>
            <a:ext cx="304055" cy="900284"/>
            <a:chOff x="839" y="3158"/>
            <a:chExt cx="272" cy="768"/>
          </a:xfrm>
        </p:grpSpPr>
        <p:grpSp>
          <p:nvGrpSpPr>
            <p:cNvPr id="19491" name="Group 6"/>
            <p:cNvGrpSpPr>
              <a:grpSpLocks/>
            </p:cNvGrpSpPr>
            <p:nvPr/>
          </p:nvGrpSpPr>
          <p:grpSpPr bwMode="auto">
            <a:xfrm>
              <a:off x="839" y="3158"/>
              <a:ext cx="272" cy="726"/>
              <a:chOff x="839" y="3339"/>
              <a:chExt cx="272" cy="726"/>
            </a:xfrm>
          </p:grpSpPr>
          <p:sp>
            <p:nvSpPr>
              <p:cNvPr id="19495" name="Rectangle 7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9496" name="Line 8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9497" name="Line 9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9492" name="Text Box 10"/>
            <p:cNvSpPr txBox="1">
              <a:spLocks noChangeArrowheads="1"/>
            </p:cNvSpPr>
            <p:nvPr/>
          </p:nvSpPr>
          <p:spPr bwMode="auto">
            <a:xfrm>
              <a:off x="884" y="3204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9493" name="Text Box 11"/>
            <p:cNvSpPr txBox="1">
              <a:spLocks noChangeArrowheads="1"/>
            </p:cNvSpPr>
            <p:nvPr/>
          </p:nvSpPr>
          <p:spPr bwMode="auto">
            <a:xfrm>
              <a:off x="884" y="3420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9494" name="Text Box 12"/>
            <p:cNvSpPr txBox="1">
              <a:spLocks noChangeArrowheads="1"/>
            </p:cNvSpPr>
            <p:nvPr/>
          </p:nvSpPr>
          <p:spPr bwMode="auto">
            <a:xfrm>
              <a:off x="884" y="3692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</p:grpSp>
      <p:grpSp>
        <p:nvGrpSpPr>
          <p:cNvPr id="19460" name="Group 13"/>
          <p:cNvGrpSpPr>
            <a:grpSpLocks/>
          </p:cNvGrpSpPr>
          <p:nvPr/>
        </p:nvGrpSpPr>
        <p:grpSpPr bwMode="auto">
          <a:xfrm>
            <a:off x="2834284" y="2092227"/>
            <a:ext cx="304056" cy="900284"/>
            <a:chOff x="839" y="3158"/>
            <a:chExt cx="272" cy="768"/>
          </a:xfrm>
        </p:grpSpPr>
        <p:grpSp>
          <p:nvGrpSpPr>
            <p:cNvPr id="19484" name="Group 14"/>
            <p:cNvGrpSpPr>
              <a:grpSpLocks/>
            </p:cNvGrpSpPr>
            <p:nvPr/>
          </p:nvGrpSpPr>
          <p:grpSpPr bwMode="auto">
            <a:xfrm>
              <a:off x="839" y="3158"/>
              <a:ext cx="272" cy="726"/>
              <a:chOff x="839" y="3339"/>
              <a:chExt cx="272" cy="726"/>
            </a:xfrm>
          </p:grpSpPr>
          <p:sp>
            <p:nvSpPr>
              <p:cNvPr id="19488" name="Rectangle 15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9489" name="Line 16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9490" name="Line 17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9485" name="Text Box 18"/>
            <p:cNvSpPr txBox="1">
              <a:spLocks noChangeArrowheads="1"/>
            </p:cNvSpPr>
            <p:nvPr/>
          </p:nvSpPr>
          <p:spPr bwMode="auto">
            <a:xfrm>
              <a:off x="884" y="3204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9486" name="Text Box 19"/>
            <p:cNvSpPr txBox="1">
              <a:spLocks noChangeArrowheads="1"/>
            </p:cNvSpPr>
            <p:nvPr/>
          </p:nvSpPr>
          <p:spPr bwMode="auto">
            <a:xfrm>
              <a:off x="884" y="3420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9487" name="Text Box 20"/>
            <p:cNvSpPr txBox="1">
              <a:spLocks noChangeArrowheads="1"/>
            </p:cNvSpPr>
            <p:nvPr/>
          </p:nvSpPr>
          <p:spPr bwMode="auto">
            <a:xfrm>
              <a:off x="884" y="3692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</p:grpSp>
      <p:sp>
        <p:nvSpPr>
          <p:cNvPr id="19461" name="Text Box 21"/>
          <p:cNvSpPr txBox="1">
            <a:spLocks noChangeArrowheads="1"/>
          </p:cNvSpPr>
          <p:nvPr/>
        </p:nvSpPr>
        <p:spPr bwMode="auto">
          <a:xfrm>
            <a:off x="3746451" y="2341364"/>
            <a:ext cx="4859536" cy="32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519"/>
              <a:t>V (e) &lt; V’ (e’) then e </a:t>
            </a:r>
            <a:r>
              <a:rPr lang="it-IT" altLang="it-IT" sz="1519">
                <a:sym typeface="Symbol" charset="2"/>
              </a:rPr>
              <a:t> e’</a:t>
            </a:r>
          </a:p>
        </p:txBody>
      </p:sp>
      <p:sp>
        <p:nvSpPr>
          <p:cNvPr id="19462" name="Text Box 22"/>
          <p:cNvSpPr txBox="1">
            <a:spLocks noChangeArrowheads="1"/>
          </p:cNvSpPr>
          <p:nvPr/>
        </p:nvSpPr>
        <p:spPr bwMode="auto">
          <a:xfrm>
            <a:off x="1983731" y="2942779"/>
            <a:ext cx="364331" cy="32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it-IT" altLang="it-IT" sz="1519"/>
              <a:t>V</a:t>
            </a:r>
          </a:p>
        </p:txBody>
      </p:sp>
      <p:sp>
        <p:nvSpPr>
          <p:cNvPr id="19463" name="Text Box 23"/>
          <p:cNvSpPr txBox="1">
            <a:spLocks noChangeArrowheads="1"/>
          </p:cNvSpPr>
          <p:nvPr/>
        </p:nvSpPr>
        <p:spPr bwMode="auto">
          <a:xfrm>
            <a:off x="2835623" y="2942779"/>
            <a:ext cx="364331" cy="32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it-IT" altLang="it-IT" sz="1519"/>
              <a:t>V’</a:t>
            </a:r>
          </a:p>
        </p:txBody>
      </p:sp>
      <p:grpSp>
        <p:nvGrpSpPr>
          <p:cNvPr id="19464" name="Group 32"/>
          <p:cNvGrpSpPr>
            <a:grpSpLocks/>
          </p:cNvGrpSpPr>
          <p:nvPr/>
        </p:nvGrpSpPr>
        <p:grpSpPr bwMode="auto">
          <a:xfrm>
            <a:off x="1983731" y="3733058"/>
            <a:ext cx="304055" cy="900283"/>
            <a:chOff x="839" y="3158"/>
            <a:chExt cx="272" cy="768"/>
          </a:xfrm>
        </p:grpSpPr>
        <p:grpSp>
          <p:nvGrpSpPr>
            <p:cNvPr id="19477" name="Group 33"/>
            <p:cNvGrpSpPr>
              <a:grpSpLocks/>
            </p:cNvGrpSpPr>
            <p:nvPr/>
          </p:nvGrpSpPr>
          <p:grpSpPr bwMode="auto">
            <a:xfrm>
              <a:off x="839" y="3158"/>
              <a:ext cx="272" cy="726"/>
              <a:chOff x="839" y="3339"/>
              <a:chExt cx="272" cy="726"/>
            </a:xfrm>
          </p:grpSpPr>
          <p:sp>
            <p:nvSpPr>
              <p:cNvPr id="19481" name="Rectangle 34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9482" name="Line 35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9483" name="Line 36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9478" name="Text Box 37"/>
            <p:cNvSpPr txBox="1">
              <a:spLocks noChangeArrowheads="1"/>
            </p:cNvSpPr>
            <p:nvPr/>
          </p:nvSpPr>
          <p:spPr bwMode="auto">
            <a:xfrm>
              <a:off x="884" y="3204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9479" name="Text Box 38"/>
            <p:cNvSpPr txBox="1">
              <a:spLocks noChangeArrowheads="1"/>
            </p:cNvSpPr>
            <p:nvPr/>
          </p:nvSpPr>
          <p:spPr bwMode="auto">
            <a:xfrm>
              <a:off x="884" y="3420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9480" name="Text Box 39"/>
            <p:cNvSpPr txBox="1">
              <a:spLocks noChangeArrowheads="1"/>
            </p:cNvSpPr>
            <p:nvPr/>
          </p:nvSpPr>
          <p:spPr bwMode="auto">
            <a:xfrm>
              <a:off x="884" y="3692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</p:grpSp>
      <p:grpSp>
        <p:nvGrpSpPr>
          <p:cNvPr id="19465" name="Group 40"/>
          <p:cNvGrpSpPr>
            <a:grpSpLocks/>
          </p:cNvGrpSpPr>
          <p:nvPr/>
        </p:nvGrpSpPr>
        <p:grpSpPr bwMode="auto">
          <a:xfrm>
            <a:off x="2834284" y="3733058"/>
            <a:ext cx="304056" cy="900283"/>
            <a:chOff x="839" y="3158"/>
            <a:chExt cx="272" cy="768"/>
          </a:xfrm>
        </p:grpSpPr>
        <p:grpSp>
          <p:nvGrpSpPr>
            <p:cNvPr id="19470" name="Group 41"/>
            <p:cNvGrpSpPr>
              <a:grpSpLocks/>
            </p:cNvGrpSpPr>
            <p:nvPr/>
          </p:nvGrpSpPr>
          <p:grpSpPr bwMode="auto">
            <a:xfrm>
              <a:off x="839" y="3158"/>
              <a:ext cx="272" cy="726"/>
              <a:chOff x="839" y="3339"/>
              <a:chExt cx="272" cy="726"/>
            </a:xfrm>
          </p:grpSpPr>
          <p:sp>
            <p:nvSpPr>
              <p:cNvPr id="19474" name="Rectangle 42"/>
              <p:cNvSpPr>
                <a:spLocks noChangeArrowheads="1"/>
              </p:cNvSpPr>
              <p:nvPr/>
            </p:nvSpPr>
            <p:spPr bwMode="auto">
              <a:xfrm>
                <a:off x="839" y="3339"/>
                <a:ext cx="272" cy="7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GB" altLang="it-IT" sz="1519"/>
              </a:p>
            </p:txBody>
          </p:sp>
          <p:sp>
            <p:nvSpPr>
              <p:cNvPr id="19475" name="Line 43"/>
              <p:cNvSpPr>
                <a:spLocks noChangeShapeType="1"/>
              </p:cNvSpPr>
              <p:nvPr/>
            </p:nvSpPr>
            <p:spPr bwMode="auto">
              <a:xfrm>
                <a:off x="839" y="356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  <p:sp>
            <p:nvSpPr>
              <p:cNvPr id="19476" name="Line 44"/>
              <p:cNvSpPr>
                <a:spLocks noChangeShapeType="1"/>
              </p:cNvSpPr>
              <p:nvPr/>
            </p:nvSpPr>
            <p:spPr bwMode="auto">
              <a:xfrm>
                <a:off x="839" y="3838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519"/>
              </a:p>
            </p:txBody>
          </p:sp>
        </p:grpSp>
        <p:sp>
          <p:nvSpPr>
            <p:cNvPr id="19471" name="Text Box 45"/>
            <p:cNvSpPr txBox="1">
              <a:spLocks noChangeArrowheads="1"/>
            </p:cNvSpPr>
            <p:nvPr/>
          </p:nvSpPr>
          <p:spPr bwMode="auto">
            <a:xfrm>
              <a:off x="884" y="3204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9472" name="Text Box 46"/>
            <p:cNvSpPr txBox="1">
              <a:spLocks noChangeArrowheads="1"/>
            </p:cNvSpPr>
            <p:nvPr/>
          </p:nvSpPr>
          <p:spPr bwMode="auto">
            <a:xfrm>
              <a:off x="884" y="3420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19473" name="Text Box 47"/>
            <p:cNvSpPr txBox="1">
              <a:spLocks noChangeArrowheads="1"/>
            </p:cNvSpPr>
            <p:nvPr/>
          </p:nvSpPr>
          <p:spPr bwMode="auto">
            <a:xfrm>
              <a:off x="884" y="3692"/>
              <a:ext cx="182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>
                  <a:solidFill>
                    <a:srgbClr val="FF3300"/>
                  </a:solidFill>
                </a:rPr>
                <a:t>1</a:t>
              </a:r>
            </a:p>
          </p:txBody>
        </p:sp>
      </p:grpSp>
      <p:sp>
        <p:nvSpPr>
          <p:cNvPr id="19466" name="Text Box 48"/>
          <p:cNvSpPr txBox="1">
            <a:spLocks noChangeArrowheads="1"/>
          </p:cNvSpPr>
          <p:nvPr/>
        </p:nvSpPr>
        <p:spPr bwMode="auto">
          <a:xfrm>
            <a:off x="1983731" y="4643885"/>
            <a:ext cx="364331" cy="32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it-IT" altLang="it-IT" sz="1519"/>
              <a:t>V</a:t>
            </a:r>
          </a:p>
        </p:txBody>
      </p:sp>
      <p:sp>
        <p:nvSpPr>
          <p:cNvPr id="19467" name="Text Box 49"/>
          <p:cNvSpPr txBox="1">
            <a:spLocks noChangeArrowheads="1"/>
          </p:cNvSpPr>
          <p:nvPr/>
        </p:nvSpPr>
        <p:spPr bwMode="auto">
          <a:xfrm>
            <a:off x="2834283" y="4638527"/>
            <a:ext cx="364331" cy="32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it-IT" altLang="it-IT" sz="1519"/>
              <a:t>V’</a:t>
            </a:r>
          </a:p>
        </p:txBody>
      </p:sp>
      <p:sp>
        <p:nvSpPr>
          <p:cNvPr id="19468" name="Text Box 50"/>
          <p:cNvSpPr txBox="1">
            <a:spLocks noChangeArrowheads="1"/>
          </p:cNvSpPr>
          <p:nvPr/>
        </p:nvSpPr>
        <p:spPr bwMode="auto">
          <a:xfrm>
            <a:off x="3808066" y="3920581"/>
            <a:ext cx="4859536" cy="326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519"/>
              <a:t>V (e) </a:t>
            </a:r>
            <a:r>
              <a:rPr lang="it-IT" altLang="it-IT" sz="1519">
                <a:sym typeface="Symbol" charset="2"/>
              </a:rPr>
              <a:t></a:t>
            </a:r>
            <a:r>
              <a:rPr lang="it-IT" altLang="it-IT" sz="1519"/>
              <a:t> V’ (e’)  then e ||</a:t>
            </a:r>
            <a:r>
              <a:rPr lang="it-IT" altLang="it-IT" sz="1519">
                <a:sym typeface="Symbol" charset="2"/>
              </a:rPr>
              <a:t> e’</a:t>
            </a:r>
          </a:p>
        </p:txBody>
      </p:sp>
      <p:sp>
        <p:nvSpPr>
          <p:cNvPr id="19469" name="Text Box 51"/>
          <p:cNvSpPr txBox="1">
            <a:spLocks noChangeArrowheads="1"/>
          </p:cNvSpPr>
          <p:nvPr/>
        </p:nvSpPr>
        <p:spPr bwMode="auto">
          <a:xfrm>
            <a:off x="1983731" y="5373886"/>
            <a:ext cx="6622256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it-IT" sz="1519" dirty="0"/>
              <a:t>Differently from Scalar Clock, Vector Clock allows to determine if two events are concurrent or related by a happened-before relation</a:t>
            </a:r>
          </a:p>
        </p:txBody>
      </p:sp>
    </p:spTree>
    <p:extLst>
      <p:ext uri="{BB962C8B-B14F-4D97-AF65-F5344CB8AC3E}">
        <p14:creationId xmlns:p14="http://schemas.microsoft.com/office/powerpoint/2010/main" val="978785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>
                <a:ea typeface="ＭＳ Ｐゴシック" charset="-128"/>
              </a:rPr>
              <a:t>Logical clock in distributed algorithms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GB" altLang="it-IT">
                <a:ea typeface="ＭＳ Ｐゴシック" charset="-128"/>
              </a:rPr>
              <a:t>We have seen two mechanisms to represent logical time</a:t>
            </a:r>
          </a:p>
          <a:p>
            <a:pPr lvl="1" eaLnBrk="1" hangingPunct="1">
              <a:lnSpc>
                <a:spcPct val="125000"/>
              </a:lnSpc>
            </a:pPr>
            <a:r>
              <a:rPr lang="en-GB" altLang="it-IT">
                <a:ea typeface="ＭＳ Ｐゴシック" charset="-128"/>
              </a:rPr>
              <a:t>Scalar Clock </a:t>
            </a:r>
          </a:p>
          <a:p>
            <a:pPr lvl="1" eaLnBrk="1" hangingPunct="1">
              <a:lnSpc>
                <a:spcPct val="125000"/>
              </a:lnSpc>
            </a:pPr>
            <a:r>
              <a:rPr lang="en-GB" altLang="it-IT">
                <a:ea typeface="ＭＳ Ｐゴシック" charset="-128"/>
              </a:rPr>
              <a:t>Vector Clock</a:t>
            </a:r>
          </a:p>
          <a:p>
            <a:pPr lvl="1" eaLnBrk="1" hangingPunct="1">
              <a:lnSpc>
                <a:spcPct val="125000"/>
              </a:lnSpc>
            </a:pPr>
            <a:endParaRPr lang="en-GB" altLang="it-IT">
              <a:ea typeface="ＭＳ Ｐゴシック" charset="-128"/>
            </a:endParaRPr>
          </a:p>
          <a:p>
            <a:pPr eaLnBrk="1" hangingPunct="1">
              <a:lnSpc>
                <a:spcPct val="125000"/>
              </a:lnSpc>
            </a:pPr>
            <a:r>
              <a:rPr lang="en-GB" altLang="it-IT">
                <a:ea typeface="ＭＳ Ｐゴシック" charset="-128"/>
              </a:rPr>
              <a:t>Each mechanism can be used to solve different problems, depending on the problem specification</a:t>
            </a:r>
          </a:p>
          <a:p>
            <a:pPr lvl="1" eaLnBrk="1" hangingPunct="1">
              <a:lnSpc>
                <a:spcPct val="125000"/>
              </a:lnSpc>
            </a:pPr>
            <a:r>
              <a:rPr lang="en-GB" altLang="it-IT">
                <a:ea typeface="ＭＳ Ｐゴシック" charset="-128"/>
              </a:rPr>
              <a:t>Scalar Timestamp </a:t>
            </a:r>
            <a:r>
              <a:rPr lang="en-GB" altLang="it-IT">
                <a:ea typeface="ＭＳ Ｐゴシック" charset="-128"/>
                <a:sym typeface="Symbol" charset="2"/>
              </a:rPr>
              <a:t> Lamport’s Mutual Exclusion</a:t>
            </a:r>
          </a:p>
          <a:p>
            <a:pPr lvl="1" eaLnBrk="1" hangingPunct="1">
              <a:lnSpc>
                <a:spcPct val="125000"/>
              </a:lnSpc>
            </a:pPr>
            <a:r>
              <a:rPr lang="en-GB" altLang="it-IT">
                <a:ea typeface="ＭＳ Ｐゴシック" charset="-128"/>
                <a:sym typeface="Symbol" charset="2"/>
              </a:rPr>
              <a:t>Vector Timestamp  Causal Broadcast</a:t>
            </a:r>
          </a:p>
        </p:txBody>
      </p:sp>
    </p:spTree>
    <p:extLst>
      <p:ext uri="{BB962C8B-B14F-4D97-AF65-F5344CB8AC3E}">
        <p14:creationId xmlns:p14="http://schemas.microsoft.com/office/powerpoint/2010/main" val="1370641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it-IT" dirty="0"/>
              <a:t>Distributed Mutual Exclusion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D5B0BD-EA44-664E-AD00-CD9C8C605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338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EABC8BE-6E18-E049-ADA5-754A815E4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Mutual Exclusion Problem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0DD326C1-2A17-E84D-9F9F-7AA6E3FC3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829" y="1845734"/>
            <a:ext cx="8486776" cy="428193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dirty="0"/>
              <a:t>Let us consider </a:t>
            </a:r>
          </a:p>
          <a:p>
            <a:pPr lvl="1" algn="just"/>
            <a:r>
              <a:rPr lang="en-GB" dirty="0"/>
              <a:t>a set of processes 𝛱 = {p</a:t>
            </a:r>
            <a:r>
              <a:rPr lang="en-GB" baseline="-25000" dirty="0"/>
              <a:t>1</a:t>
            </a:r>
            <a:r>
              <a:rPr lang="en-GB" dirty="0"/>
              <a:t>, p</a:t>
            </a:r>
            <a:r>
              <a:rPr lang="en-GB" baseline="-25000" dirty="0"/>
              <a:t>2</a:t>
            </a:r>
            <a:r>
              <a:rPr lang="en-GB" dirty="0"/>
              <a:t>, … </a:t>
            </a:r>
            <a:r>
              <a:rPr lang="en-GB" dirty="0" err="1"/>
              <a:t>p</a:t>
            </a:r>
            <a:r>
              <a:rPr lang="en-GB" baseline="-25000" dirty="0" err="1"/>
              <a:t>n</a:t>
            </a:r>
            <a:r>
              <a:rPr lang="en-GB" dirty="0"/>
              <a:t>}</a:t>
            </a:r>
          </a:p>
          <a:p>
            <a:pPr lvl="1" algn="just"/>
            <a:r>
              <a:rPr lang="en-GB" dirty="0"/>
              <a:t>a set of resources R= {r</a:t>
            </a:r>
            <a:r>
              <a:rPr lang="en-GB" baseline="-25000" dirty="0"/>
              <a:t>1</a:t>
            </a:r>
            <a:r>
              <a:rPr lang="en-GB" dirty="0"/>
              <a:t>, r</a:t>
            </a:r>
            <a:r>
              <a:rPr lang="en-GB" baseline="-25000" dirty="0"/>
              <a:t>2</a:t>
            </a:r>
            <a:r>
              <a:rPr lang="en-GB" dirty="0"/>
              <a:t>, … r</a:t>
            </a:r>
            <a:r>
              <a:rPr lang="en-GB" baseline="-25000" dirty="0"/>
              <a:t>m</a:t>
            </a:r>
            <a:r>
              <a:rPr lang="en-GB" dirty="0"/>
              <a:t>}</a:t>
            </a:r>
          </a:p>
          <a:p>
            <a:pPr lvl="1" algn="just"/>
            <a:endParaRPr lang="en-GB" dirty="0"/>
          </a:p>
          <a:p>
            <a:pPr lvl="1" algn="just"/>
            <a:endParaRPr lang="en-GB" dirty="0"/>
          </a:p>
          <a:p>
            <a:pPr lvl="1" algn="just"/>
            <a:endParaRPr lang="en-GB" dirty="0"/>
          </a:p>
          <a:p>
            <a:pPr lvl="1" algn="just"/>
            <a:endParaRPr lang="en-GB" dirty="0"/>
          </a:p>
          <a:p>
            <a:pPr lvl="1" algn="just"/>
            <a:endParaRPr lang="en-GB" dirty="0"/>
          </a:p>
          <a:p>
            <a:pPr lvl="1" algn="just"/>
            <a:endParaRPr lang="en-GB" dirty="0"/>
          </a:p>
          <a:p>
            <a:pPr lvl="1" algn="just"/>
            <a:endParaRPr lang="en-GB" dirty="0"/>
          </a:p>
          <a:p>
            <a:pPr marL="201168" lvl="1" indent="0" algn="just">
              <a:buNone/>
            </a:pPr>
            <a:endParaRPr lang="en-GB" dirty="0"/>
          </a:p>
          <a:p>
            <a:pPr algn="just"/>
            <a:r>
              <a:rPr lang="en-GB" dirty="0">
                <a:solidFill>
                  <a:schemeClr val="accent1"/>
                </a:solidFill>
              </a:rPr>
              <a:t>PROBLEM</a:t>
            </a:r>
          </a:p>
          <a:p>
            <a:pPr lvl="1" algn="just"/>
            <a:r>
              <a:rPr lang="en-GB" dirty="0"/>
              <a:t>Processes need to access resources exclusively and we need to design a distributed abstraction that allows them to coordinate to get access to resources 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9758470-7C97-AB48-8EBB-150E1CE07A71}"/>
              </a:ext>
            </a:extLst>
          </p:cNvPr>
          <p:cNvSpPr/>
          <p:nvPr/>
        </p:nvSpPr>
        <p:spPr>
          <a:xfrm>
            <a:off x="3601156" y="3206044"/>
            <a:ext cx="349955" cy="3386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r</a:t>
            </a:r>
            <a:r>
              <a:rPr lang="en-GB" sz="1400" baseline="-25000" dirty="0"/>
              <a:t>1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D341B4F-0510-DA46-9AC3-F300310B6CCF}"/>
              </a:ext>
            </a:extLst>
          </p:cNvPr>
          <p:cNvSpPr/>
          <p:nvPr/>
        </p:nvSpPr>
        <p:spPr>
          <a:xfrm>
            <a:off x="4408311" y="3206044"/>
            <a:ext cx="349955" cy="3386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r</a:t>
            </a:r>
            <a:r>
              <a:rPr lang="en-GB" sz="1400" baseline="-25000" dirty="0"/>
              <a:t>2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160A335-B66C-5847-84B2-87D2F1A4504E}"/>
              </a:ext>
            </a:extLst>
          </p:cNvPr>
          <p:cNvSpPr/>
          <p:nvPr/>
        </p:nvSpPr>
        <p:spPr>
          <a:xfrm>
            <a:off x="5739237" y="3203222"/>
            <a:ext cx="349955" cy="3386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r</a:t>
            </a:r>
            <a:r>
              <a:rPr lang="en-GB" sz="1400" baseline="-25000" dirty="0"/>
              <a:t>m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7EB76064-7450-7845-9B0F-FC048B582B7C}"/>
              </a:ext>
            </a:extLst>
          </p:cNvPr>
          <p:cNvCxnSpPr/>
          <p:nvPr/>
        </p:nvCxnSpPr>
        <p:spPr>
          <a:xfrm>
            <a:off x="4967111" y="3372555"/>
            <a:ext cx="564445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Ovale 10">
            <a:extLst>
              <a:ext uri="{FF2B5EF4-FFF2-40B4-BE49-F238E27FC236}">
                <a16:creationId xmlns:a16="http://schemas.microsoft.com/office/drawing/2014/main" id="{60C7FFCC-6B56-E145-A9DD-4B482142971A}"/>
              </a:ext>
            </a:extLst>
          </p:cNvPr>
          <p:cNvSpPr/>
          <p:nvPr/>
        </p:nvSpPr>
        <p:spPr>
          <a:xfrm>
            <a:off x="2586566" y="4116777"/>
            <a:ext cx="496711" cy="474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p</a:t>
            </a:r>
            <a:r>
              <a:rPr lang="en-GB" sz="1400" baseline="-25000" dirty="0"/>
              <a:t>1</a:t>
            </a: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15763BB7-A933-344A-9BFC-4DBBB3D7DBC2}"/>
              </a:ext>
            </a:extLst>
          </p:cNvPr>
          <p:cNvSpPr/>
          <p:nvPr/>
        </p:nvSpPr>
        <p:spPr>
          <a:xfrm>
            <a:off x="3495322" y="4116777"/>
            <a:ext cx="496711" cy="474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p</a:t>
            </a:r>
            <a:r>
              <a:rPr lang="en-GB" sz="1400" baseline="-25000" dirty="0"/>
              <a:t>2</a:t>
            </a:r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73122D90-12F5-8E46-A7AE-DEFDAFCA68E2}"/>
              </a:ext>
            </a:extLst>
          </p:cNvPr>
          <p:cNvSpPr/>
          <p:nvPr/>
        </p:nvSpPr>
        <p:spPr>
          <a:xfrm>
            <a:off x="4826492" y="4116777"/>
            <a:ext cx="496711" cy="474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p</a:t>
            </a:r>
            <a:r>
              <a:rPr lang="en-GB" sz="1400" baseline="-25000" dirty="0"/>
              <a:t>i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6D43AEB0-A697-FD44-928B-872DF5A085A1}"/>
              </a:ext>
            </a:extLst>
          </p:cNvPr>
          <p:cNvSpPr/>
          <p:nvPr/>
        </p:nvSpPr>
        <p:spPr>
          <a:xfrm>
            <a:off x="6290736" y="4116777"/>
            <a:ext cx="496711" cy="4741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p</a:t>
            </a:r>
            <a:r>
              <a:rPr lang="en-GB" sz="1400" baseline="-25000" dirty="0" err="1"/>
              <a:t>n</a:t>
            </a:r>
            <a:endParaRPr lang="en-GB" sz="1400" baseline="-25000" dirty="0"/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412A36BF-481F-4948-A5B7-6E5E2EE88EB1}"/>
              </a:ext>
            </a:extLst>
          </p:cNvPr>
          <p:cNvCxnSpPr/>
          <p:nvPr/>
        </p:nvCxnSpPr>
        <p:spPr>
          <a:xfrm>
            <a:off x="5524747" y="4353842"/>
            <a:ext cx="56444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nettore 1 15">
            <a:extLst>
              <a:ext uri="{FF2B5EF4-FFF2-40B4-BE49-F238E27FC236}">
                <a16:creationId xmlns:a16="http://schemas.microsoft.com/office/drawing/2014/main" id="{A5B43FA6-C0AF-5145-A8B9-BD145DB309A8}"/>
              </a:ext>
            </a:extLst>
          </p:cNvPr>
          <p:cNvCxnSpPr/>
          <p:nvPr/>
        </p:nvCxnSpPr>
        <p:spPr>
          <a:xfrm>
            <a:off x="4126088" y="4353842"/>
            <a:ext cx="56444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60C583E0-DB0C-EE4E-9132-6C1F98933834}"/>
              </a:ext>
            </a:extLst>
          </p:cNvPr>
          <p:cNvGrpSpPr/>
          <p:nvPr/>
        </p:nvGrpSpPr>
        <p:grpSpPr>
          <a:xfrm>
            <a:off x="3347742" y="3417077"/>
            <a:ext cx="496711" cy="659236"/>
            <a:chOff x="8174182" y="4085074"/>
            <a:chExt cx="496711" cy="659236"/>
          </a:xfrm>
        </p:grpSpPr>
        <p:pic>
          <p:nvPicPr>
            <p:cNvPr id="18" name="Elemento grafico 17" descr="Blocca contorno">
              <a:extLst>
                <a:ext uri="{FF2B5EF4-FFF2-40B4-BE49-F238E27FC236}">
                  <a16:creationId xmlns:a16="http://schemas.microsoft.com/office/drawing/2014/main" id="{D25BBB40-F67E-5345-B771-B19D446C5B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74182" y="4085074"/>
              <a:ext cx="496711" cy="496711"/>
            </a:xfrm>
            <a:prstGeom prst="rect">
              <a:avLst/>
            </a:prstGeom>
          </p:spPr>
        </p:pic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6E0F42EA-55E7-684C-87B7-1C4C5AB03B54}"/>
                </a:ext>
              </a:extLst>
            </p:cNvPr>
            <p:cNvSpPr txBox="1"/>
            <p:nvPr/>
          </p:nvSpPr>
          <p:spPr>
            <a:xfrm>
              <a:off x="8174182" y="4436533"/>
              <a:ext cx="4750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solidFill>
                    <a:srgbClr val="FF0000"/>
                  </a:solidFill>
                </a:rPr>
                <a:t>p</a:t>
              </a:r>
              <a:r>
                <a:rPr lang="en-GB" sz="1400" baseline="-2500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34867483-8396-3C48-9392-E65BA5D59803}"/>
              </a:ext>
            </a:extLst>
          </p:cNvPr>
          <p:cNvGrpSpPr/>
          <p:nvPr/>
        </p:nvGrpSpPr>
        <p:grpSpPr>
          <a:xfrm>
            <a:off x="4509910" y="3415048"/>
            <a:ext cx="496711" cy="659236"/>
            <a:chOff x="8174182" y="4085074"/>
            <a:chExt cx="496711" cy="659236"/>
          </a:xfrm>
        </p:grpSpPr>
        <p:pic>
          <p:nvPicPr>
            <p:cNvPr id="22" name="Elemento grafico 21" descr="Blocca contorno">
              <a:extLst>
                <a:ext uri="{FF2B5EF4-FFF2-40B4-BE49-F238E27FC236}">
                  <a16:creationId xmlns:a16="http://schemas.microsoft.com/office/drawing/2014/main" id="{46D10D24-B9EF-8845-BFE2-9D60651E1D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74182" y="4085074"/>
              <a:ext cx="496711" cy="496711"/>
            </a:xfrm>
            <a:prstGeom prst="rect">
              <a:avLst/>
            </a:prstGeom>
          </p:spPr>
        </p:pic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470F0884-C099-2A4D-9B96-41C02B01E1EF}"/>
                </a:ext>
              </a:extLst>
            </p:cNvPr>
            <p:cNvSpPr txBox="1"/>
            <p:nvPr/>
          </p:nvSpPr>
          <p:spPr>
            <a:xfrm>
              <a:off x="8174182" y="4436533"/>
              <a:ext cx="4750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solidFill>
                    <a:srgbClr val="FF0000"/>
                  </a:solidFill>
                </a:rPr>
                <a:t>p</a:t>
              </a:r>
              <a:r>
                <a:rPr lang="en-GB" sz="1400" baseline="-25000" dirty="0">
                  <a:solidFill>
                    <a:srgbClr val="FF0000"/>
                  </a:solidFill>
                </a:rPr>
                <a:t>i</a:t>
              </a:r>
            </a:p>
          </p:txBody>
        </p:sp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288FC976-E07F-8142-AFFF-3D1C7A458F93}"/>
              </a:ext>
            </a:extLst>
          </p:cNvPr>
          <p:cNvGrpSpPr/>
          <p:nvPr/>
        </p:nvGrpSpPr>
        <p:grpSpPr>
          <a:xfrm>
            <a:off x="3691319" y="3399632"/>
            <a:ext cx="496711" cy="659236"/>
            <a:chOff x="8174182" y="4085074"/>
            <a:chExt cx="496711" cy="659236"/>
          </a:xfrm>
        </p:grpSpPr>
        <p:pic>
          <p:nvPicPr>
            <p:cNvPr id="25" name="Elemento grafico 24" descr="Blocca contorno">
              <a:extLst>
                <a:ext uri="{FF2B5EF4-FFF2-40B4-BE49-F238E27FC236}">
                  <a16:creationId xmlns:a16="http://schemas.microsoft.com/office/drawing/2014/main" id="{347FB63F-1267-A546-A420-E28021D60F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74182" y="4085074"/>
              <a:ext cx="496711" cy="496711"/>
            </a:xfrm>
            <a:prstGeom prst="rect">
              <a:avLst/>
            </a:prstGeom>
          </p:spPr>
        </p:pic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5B5BF5FE-C5FB-C347-9A63-0A4C19608CCD}"/>
                </a:ext>
              </a:extLst>
            </p:cNvPr>
            <p:cNvSpPr txBox="1"/>
            <p:nvPr/>
          </p:nvSpPr>
          <p:spPr>
            <a:xfrm>
              <a:off x="8174182" y="4436533"/>
              <a:ext cx="4750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solidFill>
                    <a:srgbClr val="FF0000"/>
                  </a:solidFill>
                </a:rPr>
                <a:t>p</a:t>
              </a:r>
              <a:r>
                <a:rPr lang="en-GB" sz="1400" baseline="-25000" dirty="0">
                  <a:solidFill>
                    <a:srgbClr val="FF0000"/>
                  </a:solidFill>
                </a:rPr>
                <a:t>i</a:t>
              </a:r>
            </a:p>
          </p:txBody>
        </p:sp>
      </p:grp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DF4A9D03-078C-2548-BB49-13FBD1E69AF8}"/>
              </a:ext>
            </a:extLst>
          </p:cNvPr>
          <p:cNvGrpSpPr/>
          <p:nvPr/>
        </p:nvGrpSpPr>
        <p:grpSpPr>
          <a:xfrm>
            <a:off x="5872612" y="3386564"/>
            <a:ext cx="496711" cy="659236"/>
            <a:chOff x="8174182" y="4085074"/>
            <a:chExt cx="496711" cy="659236"/>
          </a:xfrm>
        </p:grpSpPr>
        <p:pic>
          <p:nvPicPr>
            <p:cNvPr id="28" name="Elemento grafico 27" descr="Blocca contorno">
              <a:extLst>
                <a:ext uri="{FF2B5EF4-FFF2-40B4-BE49-F238E27FC236}">
                  <a16:creationId xmlns:a16="http://schemas.microsoft.com/office/drawing/2014/main" id="{DCA21BCC-5000-C747-9ECC-EFEE0053F1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74182" y="4085074"/>
              <a:ext cx="496711" cy="496711"/>
            </a:xfrm>
            <a:prstGeom prst="rect">
              <a:avLst/>
            </a:prstGeom>
          </p:spPr>
        </p:pic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96505FD5-2A99-E34F-BFB9-446B1732211D}"/>
                </a:ext>
              </a:extLst>
            </p:cNvPr>
            <p:cNvSpPr txBox="1"/>
            <p:nvPr/>
          </p:nvSpPr>
          <p:spPr>
            <a:xfrm>
              <a:off x="8174182" y="4436533"/>
              <a:ext cx="4750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solidFill>
                    <a:srgbClr val="FF0000"/>
                  </a:solidFill>
                </a:rPr>
                <a:t>p</a:t>
              </a:r>
              <a:r>
                <a:rPr lang="en-GB" sz="1400" baseline="-25000" dirty="0">
                  <a:solidFill>
                    <a:srgbClr val="FF0000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551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5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87FCDE-8F3B-2946-B2FE-21803CFAF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Model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4B7B17-B8E1-4047-A2B0-6D0B12316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GB" dirty="0"/>
              <a:t>Let us consider </a:t>
            </a:r>
          </a:p>
          <a:p>
            <a:pPr lvl="1" algn="just"/>
            <a:r>
              <a:rPr lang="en-GB" dirty="0"/>
              <a:t>a set of processes 𝛱 = {p</a:t>
            </a:r>
            <a:r>
              <a:rPr lang="en-GB" baseline="-25000" dirty="0"/>
              <a:t>1</a:t>
            </a:r>
            <a:r>
              <a:rPr lang="en-GB" dirty="0"/>
              <a:t>, p</a:t>
            </a:r>
            <a:r>
              <a:rPr lang="en-GB" baseline="-25000" dirty="0"/>
              <a:t>2</a:t>
            </a:r>
            <a:r>
              <a:rPr lang="en-GB" dirty="0"/>
              <a:t>, … </a:t>
            </a:r>
            <a:r>
              <a:rPr lang="en-GB" dirty="0" err="1"/>
              <a:t>p</a:t>
            </a:r>
            <a:r>
              <a:rPr lang="en-GB" baseline="-25000" dirty="0" err="1"/>
              <a:t>n</a:t>
            </a:r>
            <a:r>
              <a:rPr lang="en-GB" dirty="0"/>
              <a:t>}</a:t>
            </a:r>
          </a:p>
          <a:p>
            <a:pPr lvl="1" algn="just"/>
            <a:r>
              <a:rPr lang="en-GB" dirty="0"/>
              <a:t>a set of resources R= {r</a:t>
            </a:r>
            <a:r>
              <a:rPr lang="en-GB" baseline="-25000" dirty="0"/>
              <a:t>1</a:t>
            </a:r>
            <a:r>
              <a:rPr lang="en-GB" dirty="0"/>
              <a:t>, r</a:t>
            </a:r>
            <a:r>
              <a:rPr lang="en-GB" baseline="-25000" dirty="0"/>
              <a:t>2</a:t>
            </a:r>
            <a:r>
              <a:rPr lang="en-GB" dirty="0"/>
              <a:t>, … r</a:t>
            </a:r>
            <a:r>
              <a:rPr lang="en-GB" baseline="-25000" dirty="0"/>
              <a:t>m</a:t>
            </a:r>
            <a:r>
              <a:rPr lang="en-GB" dirty="0"/>
              <a:t>}</a:t>
            </a:r>
          </a:p>
          <a:p>
            <a:pPr lvl="2"/>
            <a:r>
              <a:rPr lang="en-GB" dirty="0"/>
              <a:t>For the sake of simplicity let us assume |R| = 1</a:t>
            </a:r>
          </a:p>
          <a:p>
            <a:pPr lvl="2"/>
            <a:endParaRPr lang="en-GB" dirty="0"/>
          </a:p>
          <a:p>
            <a:r>
              <a:rPr lang="en-GB" dirty="0"/>
              <a:t>The system is asynchronous</a:t>
            </a:r>
          </a:p>
          <a:p>
            <a:endParaRPr lang="en-GB" dirty="0"/>
          </a:p>
          <a:p>
            <a:r>
              <a:rPr lang="en-GB" dirty="0"/>
              <a:t>Processes are not going to fail (they will be always correct)</a:t>
            </a:r>
          </a:p>
          <a:p>
            <a:endParaRPr lang="en-GB" dirty="0"/>
          </a:p>
          <a:p>
            <a:r>
              <a:rPr lang="en-GB" dirty="0"/>
              <a:t>Processes communicate by exchanging messages on top of perfect point-to-point links</a:t>
            </a:r>
          </a:p>
        </p:txBody>
      </p:sp>
    </p:spTree>
    <p:extLst>
      <p:ext uri="{BB962C8B-B14F-4D97-AF65-F5344CB8AC3E}">
        <p14:creationId xmlns:p14="http://schemas.microsoft.com/office/powerpoint/2010/main" val="2447075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EC64DC-60D4-5844-9922-E96EB9DD9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Mutual Exclusion abstraction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C71C81-26DD-514F-B033-5F258E7F6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/>
                </a:solidFill>
              </a:rPr>
              <a:t>EVENTS</a:t>
            </a:r>
          </a:p>
          <a:p>
            <a:pPr lvl="1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request()</a:t>
            </a:r>
            <a:r>
              <a:rPr lang="en-GB" dirty="0"/>
              <a:t>: it issues a request to enter into the critical section</a:t>
            </a:r>
          </a:p>
          <a:p>
            <a:pPr lvl="1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ok()</a:t>
            </a:r>
            <a:r>
              <a:rPr lang="en-GB" dirty="0"/>
              <a:t>: it notifies the process that it can now access the critical section</a:t>
            </a:r>
          </a:p>
          <a:p>
            <a:pPr lvl="1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release()</a:t>
            </a:r>
            <a:r>
              <a:rPr lang="en-GB" dirty="0"/>
              <a:t>: it is invoked to leave the critical section and to allow someone else to enter</a:t>
            </a:r>
          </a:p>
          <a:p>
            <a:r>
              <a:rPr lang="en-GB" dirty="0">
                <a:solidFill>
                  <a:schemeClr val="accent2"/>
                </a:solidFill>
              </a:rPr>
              <a:t>PROPERTIES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Mutual Exclusion</a:t>
            </a:r>
            <a:r>
              <a:rPr lang="en-GB" dirty="0"/>
              <a:t>: at any time t, at most one process </a:t>
            </a:r>
            <a:r>
              <a:rPr lang="en-GB" i="1" dirty="0"/>
              <a:t>p</a:t>
            </a:r>
            <a:r>
              <a:rPr lang="en-GB" dirty="0"/>
              <a:t> is running the critical section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No-Deadlock</a:t>
            </a:r>
            <a:r>
              <a:rPr lang="en-GB" dirty="0"/>
              <a:t>: there always exists a process </a:t>
            </a:r>
            <a:r>
              <a:rPr lang="en-GB" i="1" dirty="0"/>
              <a:t>p</a:t>
            </a:r>
            <a:r>
              <a:rPr lang="en-GB" dirty="0"/>
              <a:t> able to enter the critical section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No-Starvation</a:t>
            </a:r>
            <a:r>
              <a:rPr lang="en-GB" dirty="0"/>
              <a:t>: every 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request()</a:t>
            </a:r>
            <a:r>
              <a:rPr lang="en-GB" dirty="0"/>
              <a:t> and 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release()</a:t>
            </a:r>
            <a:r>
              <a:rPr lang="en-GB" dirty="0"/>
              <a:t> operation eventually terminate</a:t>
            </a:r>
          </a:p>
        </p:txBody>
      </p:sp>
      <p:sp>
        <p:nvSpPr>
          <p:cNvPr id="4" name="Rettangolo arrotondato 3">
            <a:extLst>
              <a:ext uri="{FF2B5EF4-FFF2-40B4-BE49-F238E27FC236}">
                <a16:creationId xmlns:a16="http://schemas.microsoft.com/office/drawing/2014/main" id="{F4CC80B0-547D-C14F-ABBD-909D9DDE601F}"/>
              </a:ext>
            </a:extLst>
          </p:cNvPr>
          <p:cNvSpPr/>
          <p:nvPr/>
        </p:nvSpPr>
        <p:spPr>
          <a:xfrm>
            <a:off x="3055450" y="5458456"/>
            <a:ext cx="3250327" cy="7327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ME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6BCFCFDB-593A-AF4E-86C6-4518979ACD62}"/>
              </a:ext>
            </a:extLst>
          </p:cNvPr>
          <p:cNvCxnSpPr/>
          <p:nvPr/>
        </p:nvCxnSpPr>
        <p:spPr>
          <a:xfrm>
            <a:off x="3620227" y="4893679"/>
            <a:ext cx="0" cy="564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FDE850D-58E3-0442-B766-1B8883405E21}"/>
              </a:ext>
            </a:extLst>
          </p:cNvPr>
          <p:cNvSpPr txBox="1"/>
          <p:nvPr/>
        </p:nvSpPr>
        <p:spPr>
          <a:xfrm>
            <a:off x="2357800" y="4934020"/>
            <a:ext cx="1559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request()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ADF6D76C-4A2A-7F43-BC89-E258E541237B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4680614" y="4893680"/>
            <a:ext cx="1930" cy="564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0F82A07-BB48-304A-BC20-220FD16A200D}"/>
              </a:ext>
            </a:extLst>
          </p:cNvPr>
          <p:cNvSpPr txBox="1"/>
          <p:nvPr/>
        </p:nvSpPr>
        <p:spPr>
          <a:xfrm>
            <a:off x="4682544" y="4934020"/>
            <a:ext cx="87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ok()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BB77BBCF-5016-6840-95EA-FBCCA2E0FE4D}"/>
              </a:ext>
            </a:extLst>
          </p:cNvPr>
          <p:cNvCxnSpPr/>
          <p:nvPr/>
        </p:nvCxnSpPr>
        <p:spPr>
          <a:xfrm>
            <a:off x="5882694" y="4887418"/>
            <a:ext cx="0" cy="564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1662B0C-C8D5-EF42-B45F-75AF8AD2F894}"/>
              </a:ext>
            </a:extLst>
          </p:cNvPr>
          <p:cNvSpPr txBox="1"/>
          <p:nvPr/>
        </p:nvSpPr>
        <p:spPr>
          <a:xfrm>
            <a:off x="5573243" y="4881157"/>
            <a:ext cx="1559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release()</a:t>
            </a:r>
          </a:p>
        </p:txBody>
      </p:sp>
    </p:spTree>
    <p:extLst>
      <p:ext uri="{BB962C8B-B14F-4D97-AF65-F5344CB8AC3E}">
        <p14:creationId xmlns:p14="http://schemas.microsoft.com/office/powerpoint/2010/main" val="977827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9213D0-E196-664E-AEE4-9C316EAC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 Approaches to Distributed Mutual Exclusion</a:t>
            </a:r>
          </a:p>
        </p:txBody>
      </p:sp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24889C16-8F5D-CC43-8C28-EFA789C191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9755320"/>
              </p:ext>
            </p:extLst>
          </p:nvPr>
        </p:nvGraphicFramePr>
        <p:xfrm>
          <a:off x="1049482" y="1737362"/>
          <a:ext cx="6230092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Freccia sinistra 6">
            <a:extLst>
              <a:ext uri="{FF2B5EF4-FFF2-40B4-BE49-F238E27FC236}">
                <a16:creationId xmlns:a16="http://schemas.microsoft.com/office/drawing/2014/main" id="{C4FF60B1-D7DF-9C41-A13D-CB597B5B33C2}"/>
              </a:ext>
            </a:extLst>
          </p:cNvPr>
          <p:cNvSpPr/>
          <p:nvPr/>
        </p:nvSpPr>
        <p:spPr>
          <a:xfrm>
            <a:off x="8003969" y="5364677"/>
            <a:ext cx="973776" cy="3562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D1B9DF5-AB9C-EC4A-9A6D-C889F337F643}"/>
              </a:ext>
            </a:extLst>
          </p:cNvPr>
          <p:cNvSpPr/>
          <p:nvPr/>
        </p:nvSpPr>
        <p:spPr>
          <a:xfrm>
            <a:off x="7526978" y="2696573"/>
            <a:ext cx="261199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3600" b="1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Next </a:t>
            </a:r>
            <a:r>
              <a:rPr lang="it-IT" sz="3600" b="1" cap="none" spc="0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Lecture</a:t>
            </a:r>
            <a:endParaRPr lang="it-IT" sz="3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0" name="Parentesi graffa chiusa 9">
            <a:extLst>
              <a:ext uri="{FF2B5EF4-FFF2-40B4-BE49-F238E27FC236}">
                <a16:creationId xmlns:a16="http://schemas.microsoft.com/office/drawing/2014/main" id="{D8882F9E-8323-484A-8DEC-501D1716D686}"/>
              </a:ext>
            </a:extLst>
          </p:cNvPr>
          <p:cNvSpPr/>
          <p:nvPr/>
        </p:nvSpPr>
        <p:spPr>
          <a:xfrm>
            <a:off x="7403226" y="2078182"/>
            <a:ext cx="288742" cy="28857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ccia sinistra 10">
            <a:extLst>
              <a:ext uri="{FF2B5EF4-FFF2-40B4-BE49-F238E27FC236}">
                <a16:creationId xmlns:a16="http://schemas.microsoft.com/office/drawing/2014/main" id="{49020A31-1283-A441-A979-92656F5D60E7}"/>
              </a:ext>
            </a:extLst>
          </p:cNvPr>
          <p:cNvSpPr/>
          <p:nvPr/>
        </p:nvSpPr>
        <p:spPr>
          <a:xfrm>
            <a:off x="7859201" y="3342904"/>
            <a:ext cx="973776" cy="35626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BB2A92D-FAE2-6148-839A-AA7F08C7812F}"/>
              </a:ext>
            </a:extLst>
          </p:cNvPr>
          <p:cNvSpPr/>
          <p:nvPr/>
        </p:nvSpPr>
        <p:spPr>
          <a:xfrm>
            <a:off x="8104362" y="4822255"/>
            <a:ext cx="130824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3600" b="1" cap="none" spc="0" dirty="0" err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Today</a:t>
            </a:r>
            <a:endParaRPr lang="it-IT" sz="3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3637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 animBg="1"/>
      <p:bldP spid="11" grpId="0" animBg="1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it-IT" sz="3038"/>
              <a:t>Timestamp-based algorithm: Lamport’s Distributed Mutual Exclusion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eaLnBrk="1" hangingPunct="1">
              <a:lnSpc>
                <a:spcPct val="125000"/>
              </a:lnSpc>
            </a:pPr>
            <a:r>
              <a:rPr lang="en-GB" altLang="it-IT" dirty="0"/>
              <a:t>Difference from concurrent system</a:t>
            </a:r>
          </a:p>
          <a:p>
            <a:pPr lvl="1" algn="just" eaLnBrk="1" hangingPunct="1">
              <a:lnSpc>
                <a:spcPct val="125000"/>
              </a:lnSpc>
            </a:pPr>
            <a:r>
              <a:rPr lang="en-GB" altLang="it-IT" dirty="0"/>
              <a:t>When a process wants to enter the CS sends a request message to all the other</a:t>
            </a:r>
          </a:p>
          <a:p>
            <a:pPr lvl="1" algn="just" eaLnBrk="1" hangingPunct="1">
              <a:lnSpc>
                <a:spcPct val="125000"/>
              </a:lnSpc>
            </a:pPr>
            <a:endParaRPr lang="en-GB" altLang="it-IT" dirty="0"/>
          </a:p>
          <a:p>
            <a:pPr algn="just" eaLnBrk="1" hangingPunct="1">
              <a:lnSpc>
                <a:spcPct val="125000"/>
              </a:lnSpc>
            </a:pPr>
            <a:r>
              <a:rPr lang="en-GB" altLang="it-IT" dirty="0"/>
              <a:t>An history of the operations is maintained by using a counter (timestamp) </a:t>
            </a:r>
          </a:p>
          <a:p>
            <a:pPr algn="just" eaLnBrk="1" hangingPunct="1">
              <a:lnSpc>
                <a:spcPct val="125000"/>
              </a:lnSpc>
            </a:pPr>
            <a:endParaRPr lang="en-GB" altLang="it-IT" dirty="0"/>
          </a:p>
          <a:p>
            <a:pPr algn="just" eaLnBrk="1" hangingPunct="1">
              <a:lnSpc>
                <a:spcPct val="125000"/>
              </a:lnSpc>
            </a:pPr>
            <a:r>
              <a:rPr lang="en-GB" altLang="it-IT" dirty="0"/>
              <a:t>Each transmission and reception event is relevant to the computation</a:t>
            </a:r>
          </a:p>
          <a:p>
            <a:pPr lvl="1" algn="just" eaLnBrk="1" hangingPunct="1">
              <a:lnSpc>
                <a:spcPct val="125000"/>
              </a:lnSpc>
            </a:pPr>
            <a:r>
              <a:rPr lang="en-GB" altLang="it-IT" dirty="0"/>
              <a:t>The counter is incremented for each send and receive event</a:t>
            </a:r>
          </a:p>
          <a:p>
            <a:pPr lvl="1" algn="just" eaLnBrk="1" hangingPunct="1">
              <a:lnSpc>
                <a:spcPct val="125000"/>
              </a:lnSpc>
            </a:pPr>
            <a:r>
              <a:rPr lang="en-GB" altLang="it-IT" dirty="0"/>
              <a:t>The counter is incremented also when a message, not directly related to the mutual exclusion computation, is sent or received.</a:t>
            </a:r>
          </a:p>
        </p:txBody>
      </p:sp>
    </p:spTree>
    <p:extLst>
      <p:ext uri="{BB962C8B-B14F-4D97-AF65-F5344CB8AC3E}">
        <p14:creationId xmlns:p14="http://schemas.microsoft.com/office/powerpoint/2010/main" val="1388427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/>
              <a:t>Lamport’s algorithm: implementation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925829" y="1845733"/>
            <a:ext cx="8486776" cy="4365061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5000"/>
              </a:lnSpc>
            </a:pPr>
            <a:r>
              <a:rPr lang="en-GB" altLang="it-IT" sz="1800" dirty="0"/>
              <a:t>Local data structures to each process p</a:t>
            </a:r>
            <a:r>
              <a:rPr lang="en-GB" altLang="it-IT" sz="1800" baseline="-25000" dirty="0"/>
              <a:t>i</a:t>
            </a:r>
          </a:p>
          <a:p>
            <a:pPr lvl="1" eaLnBrk="1" hangingPunct="1">
              <a:lnSpc>
                <a:spcPct val="125000"/>
              </a:lnSpc>
            </a:pPr>
            <a:r>
              <a:rPr lang="en-GB" altLang="it-IT" sz="1600" dirty="0"/>
              <a:t>ck</a:t>
            </a:r>
          </a:p>
          <a:p>
            <a:pPr lvl="2" eaLnBrk="1" hangingPunct="1">
              <a:lnSpc>
                <a:spcPct val="125000"/>
              </a:lnSpc>
            </a:pPr>
            <a:r>
              <a:rPr lang="en-GB" altLang="it-IT" sz="1600" dirty="0"/>
              <a:t>Is the counter for  process p</a:t>
            </a:r>
            <a:r>
              <a:rPr lang="en-GB" altLang="it-IT" sz="1600" baseline="-25000" dirty="0"/>
              <a:t>i</a:t>
            </a:r>
          </a:p>
          <a:p>
            <a:pPr lvl="1" eaLnBrk="1" hangingPunct="1">
              <a:lnSpc>
                <a:spcPct val="125000"/>
              </a:lnSpc>
            </a:pPr>
            <a:r>
              <a:rPr lang="en-GB" altLang="it-IT" sz="1600" dirty="0"/>
              <a:t>Q</a:t>
            </a:r>
          </a:p>
          <a:p>
            <a:pPr lvl="2" eaLnBrk="1" hangingPunct="1">
              <a:lnSpc>
                <a:spcPct val="125000"/>
              </a:lnSpc>
            </a:pPr>
            <a:r>
              <a:rPr lang="en-GB" altLang="it-IT" sz="1600" dirty="0"/>
              <a:t>Is a queue maintained by pi where CS access requests are stored</a:t>
            </a:r>
          </a:p>
          <a:p>
            <a:pPr lvl="2" eaLnBrk="1" hangingPunct="1">
              <a:lnSpc>
                <a:spcPct val="125000"/>
              </a:lnSpc>
            </a:pPr>
            <a:endParaRPr lang="en-GB" altLang="it-IT" sz="1600" dirty="0"/>
          </a:p>
          <a:p>
            <a:pPr eaLnBrk="1" hangingPunct="1">
              <a:lnSpc>
                <a:spcPct val="125000"/>
              </a:lnSpc>
            </a:pPr>
            <a:r>
              <a:rPr lang="en-GB" altLang="it-IT" sz="1800" dirty="0"/>
              <a:t>Algorithm rules for a process p</a:t>
            </a:r>
            <a:r>
              <a:rPr lang="en-GB" altLang="it-IT" sz="1800" baseline="-25000" dirty="0"/>
              <a:t>i</a:t>
            </a:r>
          </a:p>
          <a:p>
            <a:pPr lvl="1" eaLnBrk="1" hangingPunct="1">
              <a:lnSpc>
                <a:spcPct val="125000"/>
              </a:lnSpc>
            </a:pPr>
            <a:r>
              <a:rPr lang="en-GB" altLang="it-IT" sz="1600" b="1" dirty="0"/>
              <a:t>Request to access the CS</a:t>
            </a:r>
          </a:p>
          <a:p>
            <a:pPr lvl="2" eaLnBrk="1" hangingPunct="1">
              <a:lnSpc>
                <a:spcPct val="125000"/>
              </a:lnSpc>
            </a:pPr>
            <a:r>
              <a:rPr lang="en-GB" altLang="it-IT" sz="1600" dirty="0"/>
              <a:t>p</a:t>
            </a:r>
            <a:r>
              <a:rPr lang="en-GB" altLang="it-IT" sz="1600" baseline="-25000" dirty="0"/>
              <a:t>i</a:t>
            </a:r>
            <a:r>
              <a:rPr lang="en-GB" altLang="it-IT" sz="1600" dirty="0"/>
              <a:t> sends a request message, attaching ck, to all the other processes</a:t>
            </a:r>
          </a:p>
          <a:p>
            <a:pPr lvl="2" eaLnBrk="1" hangingPunct="1">
              <a:lnSpc>
                <a:spcPct val="125000"/>
              </a:lnSpc>
            </a:pPr>
            <a:r>
              <a:rPr lang="en-GB" altLang="it-IT" sz="1600" dirty="0"/>
              <a:t>p</a:t>
            </a:r>
            <a:r>
              <a:rPr lang="en-GB" altLang="it-IT" sz="1600" baseline="-25000" dirty="0"/>
              <a:t>i</a:t>
            </a:r>
            <a:r>
              <a:rPr lang="en-GB" altLang="it-IT" sz="1600" dirty="0"/>
              <a:t> adds its request to Q</a:t>
            </a:r>
          </a:p>
          <a:p>
            <a:pPr lvl="1" eaLnBrk="1" hangingPunct="1">
              <a:lnSpc>
                <a:spcPct val="125000"/>
              </a:lnSpc>
            </a:pPr>
            <a:r>
              <a:rPr lang="en-GB" altLang="it-IT" sz="1600" b="1" dirty="0"/>
              <a:t>Request reception from a process </a:t>
            </a:r>
            <a:r>
              <a:rPr lang="en-GB" altLang="it-IT" sz="1600" b="1" dirty="0" err="1"/>
              <a:t>p</a:t>
            </a:r>
            <a:r>
              <a:rPr lang="en-GB" altLang="it-IT" sz="1600" b="1" baseline="-25000" dirty="0" err="1"/>
              <a:t>j</a:t>
            </a:r>
            <a:endParaRPr lang="en-GB" altLang="it-IT" sz="1600" b="1" baseline="-25000" dirty="0"/>
          </a:p>
          <a:p>
            <a:pPr lvl="2" eaLnBrk="1" hangingPunct="1">
              <a:lnSpc>
                <a:spcPct val="125000"/>
              </a:lnSpc>
            </a:pPr>
            <a:r>
              <a:rPr lang="en-GB" altLang="it-IT" sz="1600" dirty="0"/>
              <a:t>p</a:t>
            </a:r>
            <a:r>
              <a:rPr lang="en-GB" altLang="it-IT" sz="1600" baseline="-25000" dirty="0"/>
              <a:t>i</a:t>
            </a:r>
            <a:r>
              <a:rPr lang="en-GB" altLang="it-IT" sz="1600" dirty="0"/>
              <a:t> puts </a:t>
            </a:r>
            <a:r>
              <a:rPr lang="en-GB" altLang="it-IT" sz="1600" dirty="0" err="1"/>
              <a:t>p</a:t>
            </a:r>
            <a:r>
              <a:rPr lang="en-GB" altLang="it-IT" sz="1600" baseline="-25000" dirty="0" err="1"/>
              <a:t>j</a:t>
            </a:r>
            <a:r>
              <a:rPr lang="en-GB" altLang="it-IT" sz="1600" dirty="0"/>
              <a:t> request (including the timestamp) in its queue</a:t>
            </a:r>
          </a:p>
          <a:p>
            <a:pPr lvl="2" eaLnBrk="1" hangingPunct="1">
              <a:lnSpc>
                <a:spcPct val="125000"/>
              </a:lnSpc>
            </a:pPr>
            <a:r>
              <a:rPr lang="en-GB" altLang="it-IT" sz="1600" dirty="0"/>
              <a:t>p</a:t>
            </a:r>
            <a:r>
              <a:rPr lang="en-GB" altLang="it-IT" sz="1600" baseline="-25000" dirty="0"/>
              <a:t>i</a:t>
            </a:r>
            <a:r>
              <a:rPr lang="en-GB" altLang="it-IT" sz="1600" dirty="0"/>
              <a:t> sends back an ack to </a:t>
            </a:r>
            <a:r>
              <a:rPr lang="en-GB" altLang="it-IT" sz="1600" dirty="0" err="1"/>
              <a:t>p</a:t>
            </a:r>
            <a:r>
              <a:rPr lang="en-GB" altLang="it-IT" sz="1600" baseline="-25000" dirty="0" err="1"/>
              <a:t>j</a:t>
            </a:r>
            <a:endParaRPr lang="en-GB" altLang="it-IT" sz="1600" baseline="-25000" dirty="0"/>
          </a:p>
        </p:txBody>
      </p:sp>
    </p:spTree>
    <p:extLst>
      <p:ext uri="{BB962C8B-B14F-4D97-AF65-F5344CB8AC3E}">
        <p14:creationId xmlns:p14="http://schemas.microsoft.com/office/powerpoint/2010/main" val="1899642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/>
              <a:t>Lamport’s algorithm: implementation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925829" y="1845733"/>
            <a:ext cx="8486776" cy="4460063"/>
          </a:xfrm>
        </p:spPr>
        <p:txBody>
          <a:bodyPr>
            <a:norm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GB" altLang="it-IT" sz="1600" dirty="0"/>
              <a:t>Algorithm rules for a process pi</a:t>
            </a:r>
          </a:p>
          <a:p>
            <a:pPr lvl="1" eaLnBrk="1" hangingPunct="1">
              <a:lnSpc>
                <a:spcPct val="125000"/>
              </a:lnSpc>
            </a:pPr>
            <a:r>
              <a:rPr lang="en-GB" altLang="it-IT" sz="1600" b="1" dirty="0"/>
              <a:t>p</a:t>
            </a:r>
            <a:r>
              <a:rPr lang="en-GB" altLang="it-IT" sz="1600" b="1" baseline="-25000" dirty="0"/>
              <a:t>i</a:t>
            </a:r>
            <a:r>
              <a:rPr lang="en-GB" altLang="it-IT" sz="1600" b="1" dirty="0"/>
              <a:t> enters the CS </a:t>
            </a:r>
            <a:r>
              <a:rPr lang="en-GB" altLang="it-IT" sz="1600" b="1" dirty="0" err="1"/>
              <a:t>iff</a:t>
            </a:r>
            <a:endParaRPr lang="en-GB" altLang="it-IT" sz="1600" b="1" dirty="0"/>
          </a:p>
          <a:p>
            <a:pPr marL="726948" lvl="2" indent="-342900" eaLnBrk="1" hangingPunct="1">
              <a:lnSpc>
                <a:spcPct val="125000"/>
              </a:lnSpc>
              <a:buFont typeface="+mj-lt"/>
              <a:buAutoNum type="arabicPeriod"/>
            </a:pPr>
            <a:r>
              <a:rPr lang="en-GB" altLang="it-IT" dirty="0"/>
              <a:t>p</a:t>
            </a:r>
            <a:r>
              <a:rPr lang="en-GB" altLang="it-IT" baseline="-25000" dirty="0"/>
              <a:t>i</a:t>
            </a:r>
            <a:r>
              <a:rPr lang="en-GB" altLang="it-IT" dirty="0"/>
              <a:t> has, in its queue, a request with timestamp t</a:t>
            </a:r>
          </a:p>
          <a:p>
            <a:pPr marL="726948" lvl="2" indent="-342900" eaLnBrk="1" hangingPunct="1">
              <a:lnSpc>
                <a:spcPct val="125000"/>
              </a:lnSpc>
              <a:buFont typeface="+mj-lt"/>
              <a:buAutoNum type="arabicPeriod"/>
            </a:pPr>
            <a:r>
              <a:rPr lang="en-GB" altLang="it-IT" dirty="0"/>
              <a:t>t is the small timestamp in the queue</a:t>
            </a:r>
          </a:p>
          <a:p>
            <a:pPr marL="726948" lvl="2" indent="-342900" eaLnBrk="1" hangingPunct="1">
              <a:lnSpc>
                <a:spcPct val="125000"/>
              </a:lnSpc>
              <a:buFont typeface="+mj-lt"/>
              <a:buAutoNum type="arabicPeriod"/>
            </a:pPr>
            <a:r>
              <a:rPr lang="en-GB" altLang="it-IT" dirty="0"/>
              <a:t>p</a:t>
            </a:r>
            <a:r>
              <a:rPr lang="en-GB" altLang="it-IT" baseline="-25000" dirty="0"/>
              <a:t>i</a:t>
            </a:r>
            <a:r>
              <a:rPr lang="en-GB" altLang="it-IT" dirty="0"/>
              <a:t> has already received an ack with timestamp t’ from any other process and t’&gt;t</a:t>
            </a:r>
          </a:p>
          <a:p>
            <a:pPr marL="726948" lvl="2" indent="-342900" eaLnBrk="1" hangingPunct="1">
              <a:lnSpc>
                <a:spcPct val="125000"/>
              </a:lnSpc>
              <a:buFont typeface="+mj-lt"/>
              <a:buAutoNum type="arabicPeriod"/>
            </a:pPr>
            <a:endParaRPr lang="en-GB" altLang="it-IT" dirty="0"/>
          </a:p>
          <a:p>
            <a:pPr lvl="1" eaLnBrk="1" hangingPunct="1">
              <a:lnSpc>
                <a:spcPct val="125000"/>
              </a:lnSpc>
            </a:pPr>
            <a:r>
              <a:rPr lang="en-GB" altLang="it-IT" sz="1600" b="1" dirty="0"/>
              <a:t>Release of the CS</a:t>
            </a:r>
          </a:p>
          <a:p>
            <a:pPr lvl="2" eaLnBrk="1" hangingPunct="1">
              <a:lnSpc>
                <a:spcPct val="125000"/>
              </a:lnSpc>
            </a:pPr>
            <a:r>
              <a:rPr lang="en-GB" altLang="it-IT" dirty="0"/>
              <a:t>p</a:t>
            </a:r>
            <a:r>
              <a:rPr lang="en-GB" altLang="it-IT" baseline="-25000" dirty="0"/>
              <a:t>i</a:t>
            </a:r>
            <a:r>
              <a:rPr lang="en-GB" altLang="it-IT" dirty="0"/>
              <a:t> sends a RELEASE message to all the other processes</a:t>
            </a:r>
          </a:p>
          <a:p>
            <a:pPr lvl="2" eaLnBrk="1" hangingPunct="1">
              <a:lnSpc>
                <a:spcPct val="125000"/>
              </a:lnSpc>
            </a:pPr>
            <a:r>
              <a:rPr lang="en-GB" altLang="it-IT" dirty="0"/>
              <a:t>p</a:t>
            </a:r>
            <a:r>
              <a:rPr lang="en-GB" altLang="it-IT" baseline="-25000" dirty="0"/>
              <a:t>i</a:t>
            </a:r>
            <a:r>
              <a:rPr lang="en-GB" altLang="it-IT" dirty="0"/>
              <a:t> deletes its request from the queue</a:t>
            </a:r>
          </a:p>
          <a:p>
            <a:pPr lvl="2" eaLnBrk="1" hangingPunct="1">
              <a:lnSpc>
                <a:spcPct val="125000"/>
              </a:lnSpc>
            </a:pPr>
            <a:endParaRPr lang="en-GB" altLang="it-IT" dirty="0"/>
          </a:p>
          <a:p>
            <a:pPr lvl="1" eaLnBrk="1" hangingPunct="1">
              <a:lnSpc>
                <a:spcPct val="125000"/>
              </a:lnSpc>
            </a:pPr>
            <a:r>
              <a:rPr lang="en-GB" altLang="it-IT" sz="1600" b="1" dirty="0"/>
              <a:t>Reception of a release message from a process </a:t>
            </a:r>
            <a:r>
              <a:rPr lang="en-GB" altLang="it-IT" sz="1600" b="1" dirty="0" err="1"/>
              <a:t>pj</a:t>
            </a:r>
            <a:endParaRPr lang="en-GB" altLang="it-IT" sz="1600" b="1" dirty="0"/>
          </a:p>
          <a:p>
            <a:pPr lvl="2" eaLnBrk="1" hangingPunct="1">
              <a:lnSpc>
                <a:spcPct val="125000"/>
              </a:lnSpc>
            </a:pPr>
            <a:r>
              <a:rPr lang="en-GB" altLang="it-IT" dirty="0"/>
              <a:t>p</a:t>
            </a:r>
            <a:r>
              <a:rPr lang="en-GB" altLang="it-IT" baseline="-25000" dirty="0"/>
              <a:t>i</a:t>
            </a:r>
            <a:r>
              <a:rPr lang="en-GB" altLang="it-IT" dirty="0"/>
              <a:t> deletes p</a:t>
            </a:r>
            <a:r>
              <a:rPr lang="en-GB" altLang="it-IT" baseline="-25000" dirty="0"/>
              <a:t>j</a:t>
            </a:r>
            <a:r>
              <a:rPr lang="en-GB" altLang="it-IT" dirty="0"/>
              <a:t>’s request from the queue</a:t>
            </a:r>
          </a:p>
        </p:txBody>
      </p:sp>
    </p:spTree>
    <p:extLst>
      <p:ext uri="{BB962C8B-B14F-4D97-AF65-F5344CB8AC3E}">
        <p14:creationId xmlns:p14="http://schemas.microsoft.com/office/powerpoint/2010/main" val="607831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/>
              <a:t>Lamport’s algorithm: example</a:t>
            </a:r>
          </a:p>
        </p:txBody>
      </p:sp>
      <p:sp>
        <p:nvSpPr>
          <p:cNvPr id="25603" name="Line 3"/>
          <p:cNvSpPr>
            <a:spLocks noChangeShapeType="1"/>
          </p:cNvSpPr>
          <p:nvPr/>
        </p:nvSpPr>
        <p:spPr bwMode="auto">
          <a:xfrm>
            <a:off x="1983732" y="2396282"/>
            <a:ext cx="61360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1983732" y="3550891"/>
            <a:ext cx="61360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>
            <a:off x="1983732" y="4705499"/>
            <a:ext cx="61360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1983730" y="4463058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1983730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1983730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6480274" y="5190383"/>
            <a:ext cx="2309217" cy="9724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en-GB" altLang="it-IT" sz="1519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6540550" y="5554713"/>
            <a:ext cx="30405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6540550" y="5797153"/>
            <a:ext cx="304055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5612" name="Text Box 12"/>
          <p:cNvSpPr txBox="1">
            <a:spLocks noChangeArrowheads="1"/>
          </p:cNvSpPr>
          <p:nvPr/>
        </p:nvSpPr>
        <p:spPr bwMode="auto">
          <a:xfrm>
            <a:off x="6844607" y="5372547"/>
            <a:ext cx="1883271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181"/>
              <a:t>Program Message</a:t>
            </a:r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6844607" y="5663208"/>
            <a:ext cx="1943547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CS access Message</a:t>
            </a:r>
          </a:p>
        </p:txBody>
      </p:sp>
      <p:sp>
        <p:nvSpPr>
          <p:cNvPr id="25614" name="Line 14"/>
          <p:cNvSpPr>
            <a:spLocks noChangeShapeType="1"/>
          </p:cNvSpPr>
          <p:nvPr/>
        </p:nvSpPr>
        <p:spPr bwMode="auto">
          <a:xfrm>
            <a:off x="2409678" y="2396282"/>
            <a:ext cx="606772" cy="230921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5615" name="Rectangle 15"/>
          <p:cNvSpPr>
            <a:spLocks noChangeArrowheads="1"/>
          </p:cNvSpPr>
          <p:nvPr/>
        </p:nvSpPr>
        <p:spPr bwMode="auto">
          <a:xfrm>
            <a:off x="2349401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1</a:t>
            </a:r>
          </a:p>
        </p:txBody>
      </p:sp>
      <p:sp>
        <p:nvSpPr>
          <p:cNvPr id="25616" name="Rectangle 16"/>
          <p:cNvSpPr>
            <a:spLocks noChangeArrowheads="1"/>
          </p:cNvSpPr>
          <p:nvPr/>
        </p:nvSpPr>
        <p:spPr bwMode="auto">
          <a:xfrm>
            <a:off x="2652117" y="2942780"/>
            <a:ext cx="182166" cy="242441"/>
          </a:xfrm>
          <a:prstGeom prst="rect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3333CC"/>
                </a:solidFill>
              </a:rPr>
              <a:t>1</a:t>
            </a:r>
          </a:p>
        </p:txBody>
      </p:sp>
      <p:sp>
        <p:nvSpPr>
          <p:cNvPr id="25617" name="Rectangle 17"/>
          <p:cNvSpPr>
            <a:spLocks noChangeArrowheads="1"/>
          </p:cNvSpPr>
          <p:nvPr/>
        </p:nvSpPr>
        <p:spPr bwMode="auto">
          <a:xfrm>
            <a:off x="3016448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2</a:t>
            </a:r>
          </a:p>
        </p:txBody>
      </p:sp>
      <p:sp>
        <p:nvSpPr>
          <p:cNvPr id="25618" name="Line 18"/>
          <p:cNvSpPr>
            <a:spLocks noChangeShapeType="1"/>
          </p:cNvSpPr>
          <p:nvPr/>
        </p:nvSpPr>
        <p:spPr bwMode="auto">
          <a:xfrm flipV="1">
            <a:off x="3564285" y="2396282"/>
            <a:ext cx="2125712" cy="2309217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5619" name="Line 19"/>
          <p:cNvSpPr>
            <a:spLocks noChangeShapeType="1"/>
          </p:cNvSpPr>
          <p:nvPr/>
        </p:nvSpPr>
        <p:spPr bwMode="auto">
          <a:xfrm flipV="1">
            <a:off x="3564285" y="3550892"/>
            <a:ext cx="486221" cy="1154609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5620" name="Rectangle 20"/>
          <p:cNvSpPr>
            <a:spLocks noChangeArrowheads="1"/>
          </p:cNvSpPr>
          <p:nvPr/>
        </p:nvSpPr>
        <p:spPr bwMode="auto">
          <a:xfrm>
            <a:off x="3382119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3</a:t>
            </a:r>
          </a:p>
        </p:txBody>
      </p:sp>
      <p:sp>
        <p:nvSpPr>
          <p:cNvPr id="25621" name="Rectangle 21"/>
          <p:cNvSpPr>
            <a:spLocks noChangeArrowheads="1"/>
          </p:cNvSpPr>
          <p:nvPr/>
        </p:nvSpPr>
        <p:spPr bwMode="auto">
          <a:xfrm>
            <a:off x="4839444" y="2822229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25622" name="Rectangle 22"/>
          <p:cNvSpPr>
            <a:spLocks noChangeArrowheads="1"/>
          </p:cNvSpPr>
          <p:nvPr/>
        </p:nvSpPr>
        <p:spPr bwMode="auto">
          <a:xfrm>
            <a:off x="3624560" y="3915223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3</a:t>
            </a:r>
          </a:p>
        </p:txBody>
      </p:sp>
      <p:grpSp>
        <p:nvGrpSpPr>
          <p:cNvPr id="25623" name="Group 23"/>
          <p:cNvGrpSpPr>
            <a:grpSpLocks/>
          </p:cNvGrpSpPr>
          <p:nvPr/>
        </p:nvGrpSpPr>
        <p:grpSpPr bwMode="auto">
          <a:xfrm>
            <a:off x="3806726" y="4887667"/>
            <a:ext cx="728663" cy="301339"/>
            <a:chOff x="1927" y="3158"/>
            <a:chExt cx="590" cy="451"/>
          </a:xfrm>
        </p:grpSpPr>
        <p:sp>
          <p:nvSpPr>
            <p:cNvPr id="25630" name="Rectangle 24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5631" name="Text Box 25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sp>
        <p:nvSpPr>
          <p:cNvPr id="25624" name="Freeform 26"/>
          <p:cNvSpPr>
            <a:spLocks/>
          </p:cNvSpPr>
          <p:nvPr/>
        </p:nvSpPr>
        <p:spPr bwMode="auto">
          <a:xfrm>
            <a:off x="3533479" y="4705501"/>
            <a:ext cx="212973" cy="302716"/>
          </a:xfrm>
          <a:custGeom>
            <a:avLst/>
            <a:gdLst>
              <a:gd name="T0" fmla="*/ 23 w 159"/>
              <a:gd name="T1" fmla="*/ 0 h 226"/>
              <a:gd name="T2" fmla="*/ 23 w 159"/>
              <a:gd name="T3" fmla="*/ 181 h 226"/>
              <a:gd name="T4" fmla="*/ 159 w 159"/>
              <a:gd name="T5" fmla="*/ 226 h 226"/>
              <a:gd name="T6" fmla="*/ 0 60000 65536"/>
              <a:gd name="T7" fmla="*/ 0 60000 65536"/>
              <a:gd name="T8" fmla="*/ 0 60000 65536"/>
              <a:gd name="T9" fmla="*/ 0 w 159"/>
              <a:gd name="T10" fmla="*/ 0 h 226"/>
              <a:gd name="T11" fmla="*/ 159 w 159"/>
              <a:gd name="T12" fmla="*/ 226 h 2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9" h="226">
                <a:moveTo>
                  <a:pt x="23" y="0"/>
                </a:moveTo>
                <a:cubicBezTo>
                  <a:pt x="11" y="72"/>
                  <a:pt x="0" y="144"/>
                  <a:pt x="23" y="181"/>
                </a:cubicBezTo>
                <a:cubicBezTo>
                  <a:pt x="46" y="218"/>
                  <a:pt x="136" y="219"/>
                  <a:pt x="159" y="226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5625" name="Line 27"/>
          <p:cNvSpPr>
            <a:spLocks noChangeShapeType="1"/>
          </p:cNvSpPr>
          <p:nvPr/>
        </p:nvSpPr>
        <p:spPr bwMode="auto">
          <a:xfrm>
            <a:off x="3564285" y="2092226"/>
            <a:ext cx="0" cy="303788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5626" name="Group 28"/>
          <p:cNvGrpSpPr>
            <a:grpSpLocks/>
          </p:cNvGrpSpPr>
          <p:nvPr/>
        </p:nvGrpSpPr>
        <p:grpSpPr bwMode="auto">
          <a:xfrm>
            <a:off x="1376959" y="5312272"/>
            <a:ext cx="2611934" cy="850553"/>
            <a:chOff x="204" y="3566"/>
            <a:chExt cx="1950" cy="635"/>
          </a:xfrm>
        </p:grpSpPr>
        <p:sp>
          <p:nvSpPr>
            <p:cNvPr id="25628" name="Rectangle 29"/>
            <p:cNvSpPr>
              <a:spLocks noChangeArrowheads="1"/>
            </p:cNvSpPr>
            <p:nvPr/>
          </p:nvSpPr>
          <p:spPr bwMode="auto">
            <a:xfrm>
              <a:off x="204" y="3566"/>
              <a:ext cx="1905" cy="63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5629" name="Text Box 30"/>
            <p:cNvSpPr txBox="1">
              <a:spLocks noChangeArrowheads="1"/>
            </p:cNvSpPr>
            <p:nvPr/>
          </p:nvSpPr>
          <p:spPr bwMode="auto">
            <a:xfrm>
              <a:off x="249" y="3657"/>
              <a:ext cx="1905" cy="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519"/>
                <a:t>p</a:t>
              </a:r>
              <a:r>
                <a:rPr lang="it-IT" altLang="it-IT" sz="1519" baseline="-25000"/>
                <a:t>3</a:t>
              </a:r>
              <a:r>
                <a:rPr lang="it-IT" altLang="it-IT" sz="1519"/>
                <a:t> sends its CS access request</a:t>
              </a:r>
            </a:p>
          </p:txBody>
        </p:sp>
      </p:grpSp>
      <p:sp>
        <p:nvSpPr>
          <p:cNvPr id="25627" name="Line 31"/>
          <p:cNvSpPr>
            <a:spLocks noChangeShapeType="1"/>
          </p:cNvSpPr>
          <p:nvPr/>
        </p:nvSpPr>
        <p:spPr bwMode="auto">
          <a:xfrm flipV="1">
            <a:off x="3016448" y="5008216"/>
            <a:ext cx="547837" cy="3040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</p:spTree>
    <p:extLst>
      <p:ext uri="{BB962C8B-B14F-4D97-AF65-F5344CB8AC3E}">
        <p14:creationId xmlns:p14="http://schemas.microsoft.com/office/powerpoint/2010/main" val="1012505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/>
              <a:t>Lamport’s algorithm: example</a:t>
            </a:r>
          </a:p>
        </p:txBody>
      </p:sp>
      <p:sp>
        <p:nvSpPr>
          <p:cNvPr id="26627" name="Line 3"/>
          <p:cNvSpPr>
            <a:spLocks noChangeShapeType="1"/>
          </p:cNvSpPr>
          <p:nvPr/>
        </p:nvSpPr>
        <p:spPr bwMode="auto">
          <a:xfrm>
            <a:off x="1983732" y="2396282"/>
            <a:ext cx="61360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6628" name="Line 4"/>
          <p:cNvSpPr>
            <a:spLocks noChangeShapeType="1"/>
          </p:cNvSpPr>
          <p:nvPr/>
        </p:nvSpPr>
        <p:spPr bwMode="auto">
          <a:xfrm>
            <a:off x="1983732" y="3550891"/>
            <a:ext cx="61360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6629" name="Line 5"/>
          <p:cNvSpPr>
            <a:spLocks noChangeShapeType="1"/>
          </p:cNvSpPr>
          <p:nvPr/>
        </p:nvSpPr>
        <p:spPr bwMode="auto">
          <a:xfrm>
            <a:off x="1983732" y="4705499"/>
            <a:ext cx="61360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1983730" y="4463058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1983730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1983730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26633" name="Line 9"/>
          <p:cNvSpPr>
            <a:spLocks noChangeShapeType="1"/>
          </p:cNvSpPr>
          <p:nvPr/>
        </p:nvSpPr>
        <p:spPr bwMode="auto">
          <a:xfrm>
            <a:off x="2409678" y="2396282"/>
            <a:ext cx="424606" cy="230921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2349401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1</a:t>
            </a: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2591842" y="2942780"/>
            <a:ext cx="182166" cy="242441"/>
          </a:xfrm>
          <a:prstGeom prst="rect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3333CC"/>
                </a:solidFill>
              </a:rPr>
              <a:t>1</a:t>
            </a:r>
          </a:p>
        </p:txBody>
      </p:sp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2895897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2</a:t>
            </a:r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 flipV="1">
            <a:off x="3564285" y="2396282"/>
            <a:ext cx="486221" cy="2309217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6638" name="Line 14"/>
          <p:cNvSpPr>
            <a:spLocks noChangeShapeType="1"/>
          </p:cNvSpPr>
          <p:nvPr/>
        </p:nvSpPr>
        <p:spPr bwMode="auto">
          <a:xfrm flipV="1">
            <a:off x="3564285" y="3550892"/>
            <a:ext cx="1092994" cy="1154609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6639" name="Rectangle 15"/>
          <p:cNvSpPr>
            <a:spLocks noChangeArrowheads="1"/>
          </p:cNvSpPr>
          <p:nvPr/>
        </p:nvSpPr>
        <p:spPr bwMode="auto">
          <a:xfrm>
            <a:off x="3382119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3</a:t>
            </a:r>
          </a:p>
        </p:txBody>
      </p:sp>
      <p:sp>
        <p:nvSpPr>
          <p:cNvPr id="26640" name="Rectangle 16"/>
          <p:cNvSpPr>
            <a:spLocks noChangeArrowheads="1"/>
          </p:cNvSpPr>
          <p:nvPr/>
        </p:nvSpPr>
        <p:spPr bwMode="auto">
          <a:xfrm>
            <a:off x="3928616" y="4279554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26641" name="Rectangle 17"/>
          <p:cNvSpPr>
            <a:spLocks noChangeArrowheads="1"/>
          </p:cNvSpPr>
          <p:nvPr/>
        </p:nvSpPr>
        <p:spPr bwMode="auto">
          <a:xfrm>
            <a:off x="3502670" y="3793331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26642" name="Freeform 18"/>
          <p:cNvSpPr>
            <a:spLocks/>
          </p:cNvSpPr>
          <p:nvPr/>
        </p:nvSpPr>
        <p:spPr bwMode="auto">
          <a:xfrm>
            <a:off x="3533479" y="4705501"/>
            <a:ext cx="212973" cy="302716"/>
          </a:xfrm>
          <a:custGeom>
            <a:avLst/>
            <a:gdLst>
              <a:gd name="T0" fmla="*/ 23 w 159"/>
              <a:gd name="T1" fmla="*/ 0 h 226"/>
              <a:gd name="T2" fmla="*/ 23 w 159"/>
              <a:gd name="T3" fmla="*/ 181 h 226"/>
              <a:gd name="T4" fmla="*/ 159 w 159"/>
              <a:gd name="T5" fmla="*/ 226 h 226"/>
              <a:gd name="T6" fmla="*/ 0 60000 65536"/>
              <a:gd name="T7" fmla="*/ 0 60000 65536"/>
              <a:gd name="T8" fmla="*/ 0 60000 65536"/>
              <a:gd name="T9" fmla="*/ 0 w 159"/>
              <a:gd name="T10" fmla="*/ 0 h 226"/>
              <a:gd name="T11" fmla="*/ 159 w 159"/>
              <a:gd name="T12" fmla="*/ 226 h 2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9" h="226">
                <a:moveTo>
                  <a:pt x="23" y="0"/>
                </a:moveTo>
                <a:cubicBezTo>
                  <a:pt x="11" y="72"/>
                  <a:pt x="0" y="144"/>
                  <a:pt x="23" y="181"/>
                </a:cubicBezTo>
                <a:cubicBezTo>
                  <a:pt x="46" y="218"/>
                  <a:pt x="136" y="219"/>
                  <a:pt x="159" y="226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6643" name="Rectangle 19"/>
          <p:cNvSpPr>
            <a:spLocks noChangeArrowheads="1"/>
          </p:cNvSpPr>
          <p:nvPr/>
        </p:nvSpPr>
        <p:spPr bwMode="auto">
          <a:xfrm>
            <a:off x="3928616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4</a:t>
            </a:r>
          </a:p>
        </p:txBody>
      </p:sp>
      <p:grpSp>
        <p:nvGrpSpPr>
          <p:cNvPr id="26644" name="Group 20"/>
          <p:cNvGrpSpPr>
            <a:grpSpLocks/>
          </p:cNvGrpSpPr>
          <p:nvPr/>
        </p:nvGrpSpPr>
        <p:grpSpPr bwMode="auto">
          <a:xfrm>
            <a:off x="3746451" y="4784527"/>
            <a:ext cx="728663" cy="301340"/>
            <a:chOff x="1927" y="3158"/>
            <a:chExt cx="590" cy="451"/>
          </a:xfrm>
        </p:grpSpPr>
        <p:sp>
          <p:nvSpPr>
            <p:cNvPr id="26673" name="Rectangle 21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6674" name="Text Box 22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sp>
        <p:nvSpPr>
          <p:cNvPr id="26645" name="Line 23"/>
          <p:cNvSpPr>
            <a:spLocks noChangeShapeType="1"/>
          </p:cNvSpPr>
          <p:nvPr/>
        </p:nvSpPr>
        <p:spPr bwMode="auto">
          <a:xfrm>
            <a:off x="4232672" y="2396282"/>
            <a:ext cx="606773" cy="2309217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6646" name="Line 24"/>
          <p:cNvSpPr>
            <a:spLocks noChangeShapeType="1"/>
          </p:cNvSpPr>
          <p:nvPr/>
        </p:nvSpPr>
        <p:spPr bwMode="auto">
          <a:xfrm>
            <a:off x="4779170" y="3549552"/>
            <a:ext cx="2247602" cy="1155948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6647" name="Rectangle 25"/>
          <p:cNvSpPr>
            <a:spLocks noChangeArrowheads="1"/>
          </p:cNvSpPr>
          <p:nvPr/>
        </p:nvSpPr>
        <p:spPr bwMode="auto">
          <a:xfrm>
            <a:off x="4171057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5</a:t>
            </a:r>
          </a:p>
        </p:txBody>
      </p:sp>
      <p:sp>
        <p:nvSpPr>
          <p:cNvPr id="26648" name="Rectangle 26"/>
          <p:cNvSpPr>
            <a:spLocks noChangeArrowheads="1"/>
          </p:cNvSpPr>
          <p:nvPr/>
        </p:nvSpPr>
        <p:spPr bwMode="auto">
          <a:xfrm>
            <a:off x="4839444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6</a:t>
            </a:r>
          </a:p>
        </p:txBody>
      </p:sp>
      <p:sp>
        <p:nvSpPr>
          <p:cNvPr id="26649" name="Rectangle 27"/>
          <p:cNvSpPr>
            <a:spLocks noChangeArrowheads="1"/>
          </p:cNvSpPr>
          <p:nvPr/>
        </p:nvSpPr>
        <p:spPr bwMode="auto">
          <a:xfrm>
            <a:off x="4414837" y="2700338"/>
            <a:ext cx="182166" cy="242441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00CC00"/>
                </a:solidFill>
              </a:rPr>
              <a:t>5</a:t>
            </a:r>
          </a:p>
        </p:txBody>
      </p:sp>
      <p:sp>
        <p:nvSpPr>
          <p:cNvPr id="26650" name="Rectangle 28"/>
          <p:cNvSpPr>
            <a:spLocks noChangeArrowheads="1"/>
          </p:cNvSpPr>
          <p:nvPr/>
        </p:nvSpPr>
        <p:spPr bwMode="auto">
          <a:xfrm>
            <a:off x="4535388" y="3308449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4</a:t>
            </a:r>
          </a:p>
        </p:txBody>
      </p:sp>
      <p:sp>
        <p:nvSpPr>
          <p:cNvPr id="26651" name="Rectangle 29"/>
          <p:cNvSpPr>
            <a:spLocks noChangeArrowheads="1"/>
          </p:cNvSpPr>
          <p:nvPr/>
        </p:nvSpPr>
        <p:spPr bwMode="auto">
          <a:xfrm>
            <a:off x="4717554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5</a:t>
            </a:r>
          </a:p>
        </p:txBody>
      </p:sp>
      <p:sp>
        <p:nvSpPr>
          <p:cNvPr id="26652" name="Rectangle 30"/>
          <p:cNvSpPr>
            <a:spLocks noChangeArrowheads="1"/>
          </p:cNvSpPr>
          <p:nvPr/>
        </p:nvSpPr>
        <p:spPr bwMode="auto">
          <a:xfrm>
            <a:off x="5021610" y="3854946"/>
            <a:ext cx="182166" cy="242441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00CC00"/>
                </a:solidFill>
              </a:rPr>
              <a:t>5</a:t>
            </a:r>
          </a:p>
        </p:txBody>
      </p:sp>
      <p:sp>
        <p:nvSpPr>
          <p:cNvPr id="26653" name="Freeform 31"/>
          <p:cNvSpPr>
            <a:spLocks/>
          </p:cNvSpPr>
          <p:nvPr/>
        </p:nvSpPr>
        <p:spPr bwMode="auto">
          <a:xfrm>
            <a:off x="3624561" y="1910061"/>
            <a:ext cx="405855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6654" name="Group 32"/>
          <p:cNvGrpSpPr>
            <a:grpSpLocks/>
          </p:cNvGrpSpPr>
          <p:nvPr/>
        </p:nvGrpSpPr>
        <p:grpSpPr bwMode="auto">
          <a:xfrm>
            <a:off x="3806726" y="1727895"/>
            <a:ext cx="728663" cy="301340"/>
            <a:chOff x="1927" y="3158"/>
            <a:chExt cx="590" cy="451"/>
          </a:xfrm>
        </p:grpSpPr>
        <p:sp>
          <p:nvSpPr>
            <p:cNvPr id="26671" name="Rectangle 33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6672" name="Text Box 34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sp>
        <p:nvSpPr>
          <p:cNvPr id="26655" name="Freeform 35"/>
          <p:cNvSpPr>
            <a:spLocks/>
          </p:cNvSpPr>
          <p:nvPr/>
        </p:nvSpPr>
        <p:spPr bwMode="auto">
          <a:xfrm>
            <a:off x="4232673" y="3064670"/>
            <a:ext cx="405855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6656" name="Group 36"/>
          <p:cNvGrpSpPr>
            <a:grpSpLocks/>
          </p:cNvGrpSpPr>
          <p:nvPr/>
        </p:nvGrpSpPr>
        <p:grpSpPr bwMode="auto">
          <a:xfrm>
            <a:off x="4414837" y="3003054"/>
            <a:ext cx="728663" cy="301340"/>
            <a:chOff x="1927" y="3158"/>
            <a:chExt cx="590" cy="451"/>
          </a:xfrm>
        </p:grpSpPr>
        <p:sp>
          <p:nvSpPr>
            <p:cNvPr id="26669" name="Rectangle 37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6670" name="Text Box 38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sp>
        <p:nvSpPr>
          <p:cNvPr id="26657" name="Rectangle 39"/>
          <p:cNvSpPr>
            <a:spLocks noChangeArrowheads="1"/>
          </p:cNvSpPr>
          <p:nvPr/>
        </p:nvSpPr>
        <p:spPr bwMode="auto">
          <a:xfrm>
            <a:off x="6540550" y="5312272"/>
            <a:ext cx="2309217" cy="9724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en-GB" altLang="it-IT" sz="1519"/>
          </a:p>
        </p:txBody>
      </p:sp>
      <p:sp>
        <p:nvSpPr>
          <p:cNvPr id="26658" name="Line 40"/>
          <p:cNvSpPr>
            <a:spLocks noChangeShapeType="1"/>
          </p:cNvSpPr>
          <p:nvPr/>
        </p:nvSpPr>
        <p:spPr bwMode="auto">
          <a:xfrm>
            <a:off x="6600826" y="5495777"/>
            <a:ext cx="304056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6659" name="Line 41"/>
          <p:cNvSpPr>
            <a:spLocks noChangeShapeType="1"/>
          </p:cNvSpPr>
          <p:nvPr/>
        </p:nvSpPr>
        <p:spPr bwMode="auto">
          <a:xfrm>
            <a:off x="6600826" y="5738217"/>
            <a:ext cx="304056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6660" name="Text Box 42"/>
          <p:cNvSpPr txBox="1">
            <a:spLocks noChangeArrowheads="1"/>
          </p:cNvSpPr>
          <p:nvPr/>
        </p:nvSpPr>
        <p:spPr bwMode="auto">
          <a:xfrm>
            <a:off x="6904883" y="5312271"/>
            <a:ext cx="1883271" cy="5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181"/>
              <a:t>Program Message</a:t>
            </a:r>
          </a:p>
          <a:p>
            <a:pPr eaLnBrk="1" hangingPunct="1">
              <a:spcBef>
                <a:spcPct val="50000"/>
              </a:spcBef>
            </a:pPr>
            <a:endParaRPr lang="it-IT" altLang="it-IT" sz="1181"/>
          </a:p>
        </p:txBody>
      </p:sp>
      <p:sp>
        <p:nvSpPr>
          <p:cNvPr id="26661" name="Text Box 43"/>
          <p:cNvSpPr txBox="1">
            <a:spLocks noChangeArrowheads="1"/>
          </p:cNvSpPr>
          <p:nvPr/>
        </p:nvSpPr>
        <p:spPr bwMode="auto">
          <a:xfrm>
            <a:off x="6904881" y="5601593"/>
            <a:ext cx="19435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CS access Message</a:t>
            </a:r>
          </a:p>
        </p:txBody>
      </p:sp>
      <p:sp>
        <p:nvSpPr>
          <p:cNvPr id="26662" name="Line 44"/>
          <p:cNvSpPr>
            <a:spLocks noChangeShapeType="1"/>
          </p:cNvSpPr>
          <p:nvPr/>
        </p:nvSpPr>
        <p:spPr bwMode="auto">
          <a:xfrm>
            <a:off x="6600826" y="6042273"/>
            <a:ext cx="304056" cy="0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6663" name="Text Box 45"/>
          <p:cNvSpPr txBox="1">
            <a:spLocks noChangeArrowheads="1"/>
          </p:cNvSpPr>
          <p:nvPr/>
        </p:nvSpPr>
        <p:spPr bwMode="auto">
          <a:xfrm>
            <a:off x="6904881" y="5905650"/>
            <a:ext cx="19435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Ack Message</a:t>
            </a:r>
          </a:p>
        </p:txBody>
      </p:sp>
      <p:sp>
        <p:nvSpPr>
          <p:cNvPr id="26664" name="Line 46"/>
          <p:cNvSpPr>
            <a:spLocks noChangeShapeType="1"/>
          </p:cNvSpPr>
          <p:nvPr/>
        </p:nvSpPr>
        <p:spPr bwMode="auto">
          <a:xfrm>
            <a:off x="4717554" y="2092226"/>
            <a:ext cx="0" cy="303788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6665" name="Group 47"/>
          <p:cNvGrpSpPr>
            <a:grpSpLocks/>
          </p:cNvGrpSpPr>
          <p:nvPr/>
        </p:nvGrpSpPr>
        <p:grpSpPr bwMode="auto">
          <a:xfrm>
            <a:off x="3321845" y="5312272"/>
            <a:ext cx="2611934" cy="850553"/>
            <a:chOff x="204" y="3566"/>
            <a:chExt cx="1950" cy="635"/>
          </a:xfrm>
        </p:grpSpPr>
        <p:sp>
          <p:nvSpPr>
            <p:cNvPr id="26667" name="Rectangle 48"/>
            <p:cNvSpPr>
              <a:spLocks noChangeArrowheads="1"/>
            </p:cNvSpPr>
            <p:nvPr/>
          </p:nvSpPr>
          <p:spPr bwMode="auto">
            <a:xfrm>
              <a:off x="204" y="3566"/>
              <a:ext cx="1905" cy="63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6668" name="Text Box 49"/>
            <p:cNvSpPr txBox="1">
              <a:spLocks noChangeArrowheads="1"/>
            </p:cNvSpPr>
            <p:nvPr/>
          </p:nvSpPr>
          <p:spPr bwMode="auto">
            <a:xfrm>
              <a:off x="249" y="3657"/>
              <a:ext cx="1905" cy="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it-IT" sz="1350"/>
                <a:t>p</a:t>
              </a:r>
              <a:r>
                <a:rPr lang="en-US" altLang="it-IT" sz="1350" baseline="-25000"/>
                <a:t>1 </a:t>
              </a:r>
              <a:r>
                <a:rPr lang="en-US" altLang="it-IT" sz="1350"/>
                <a:t>e</a:t>
              </a:r>
              <a:r>
                <a:rPr lang="en-US" altLang="it-IT" sz="1350" baseline="-25000"/>
                <a:t> </a:t>
              </a:r>
              <a:r>
                <a:rPr lang="en-US" altLang="it-IT" sz="1350"/>
                <a:t>p</a:t>
              </a:r>
              <a:r>
                <a:rPr lang="en-US" altLang="it-IT" sz="1350" baseline="-25000"/>
                <a:t>2</a:t>
              </a:r>
              <a:r>
                <a:rPr lang="en-US" altLang="it-IT" sz="1350"/>
                <a:t> receive p</a:t>
              </a:r>
              <a:r>
                <a:rPr lang="en-US" altLang="it-IT" sz="1350" baseline="-25000"/>
                <a:t>3 </a:t>
              </a:r>
              <a:r>
                <a:rPr lang="en-US" altLang="it-IT" sz="1350"/>
                <a:t>request, they put it in the queue and send back an ack</a:t>
              </a:r>
            </a:p>
          </p:txBody>
        </p:sp>
      </p:grpSp>
      <p:sp>
        <p:nvSpPr>
          <p:cNvPr id="26666" name="Line 50"/>
          <p:cNvSpPr>
            <a:spLocks noChangeShapeType="1"/>
          </p:cNvSpPr>
          <p:nvPr/>
        </p:nvSpPr>
        <p:spPr bwMode="auto">
          <a:xfrm flipV="1">
            <a:off x="4353224" y="4887666"/>
            <a:ext cx="425946" cy="4246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</p:spTree>
    <p:extLst>
      <p:ext uri="{BB962C8B-B14F-4D97-AF65-F5344CB8AC3E}">
        <p14:creationId xmlns:p14="http://schemas.microsoft.com/office/powerpoint/2010/main" val="3881972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/>
              <a:t>Lamport’s algorithm: example</a:t>
            </a:r>
          </a:p>
        </p:txBody>
      </p:sp>
      <p:sp>
        <p:nvSpPr>
          <p:cNvPr id="27651" name="Line 3"/>
          <p:cNvSpPr>
            <a:spLocks noChangeShapeType="1"/>
          </p:cNvSpPr>
          <p:nvPr/>
        </p:nvSpPr>
        <p:spPr bwMode="auto">
          <a:xfrm>
            <a:off x="1983732" y="2396282"/>
            <a:ext cx="61360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7652" name="Line 4"/>
          <p:cNvSpPr>
            <a:spLocks noChangeShapeType="1"/>
          </p:cNvSpPr>
          <p:nvPr/>
        </p:nvSpPr>
        <p:spPr bwMode="auto">
          <a:xfrm>
            <a:off x="1983732" y="3550891"/>
            <a:ext cx="61360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>
            <a:off x="1983732" y="4705499"/>
            <a:ext cx="61360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1983730" y="4463058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1983730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1983730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>
            <a:off x="2409678" y="2396282"/>
            <a:ext cx="424606" cy="230921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2349401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1</a:t>
            </a:r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2591842" y="2942780"/>
            <a:ext cx="182166" cy="242441"/>
          </a:xfrm>
          <a:prstGeom prst="rect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3333CC"/>
                </a:solidFill>
              </a:rPr>
              <a:t>1</a:t>
            </a:r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2895897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2</a:t>
            </a:r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 flipV="1">
            <a:off x="3564285" y="2396282"/>
            <a:ext cx="486221" cy="2309217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 flipV="1">
            <a:off x="3564285" y="3550892"/>
            <a:ext cx="1092994" cy="1154609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7663" name="Rectangle 15"/>
          <p:cNvSpPr>
            <a:spLocks noChangeArrowheads="1"/>
          </p:cNvSpPr>
          <p:nvPr/>
        </p:nvSpPr>
        <p:spPr bwMode="auto">
          <a:xfrm>
            <a:off x="3382119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3</a:t>
            </a:r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3928616" y="4279554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27665" name="Rectangle 17"/>
          <p:cNvSpPr>
            <a:spLocks noChangeArrowheads="1"/>
          </p:cNvSpPr>
          <p:nvPr/>
        </p:nvSpPr>
        <p:spPr bwMode="auto">
          <a:xfrm>
            <a:off x="3502670" y="3793331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27666" name="Freeform 18"/>
          <p:cNvSpPr>
            <a:spLocks/>
          </p:cNvSpPr>
          <p:nvPr/>
        </p:nvSpPr>
        <p:spPr bwMode="auto">
          <a:xfrm>
            <a:off x="3533479" y="4705501"/>
            <a:ext cx="212973" cy="302716"/>
          </a:xfrm>
          <a:custGeom>
            <a:avLst/>
            <a:gdLst>
              <a:gd name="T0" fmla="*/ 23 w 159"/>
              <a:gd name="T1" fmla="*/ 0 h 226"/>
              <a:gd name="T2" fmla="*/ 23 w 159"/>
              <a:gd name="T3" fmla="*/ 181 h 226"/>
              <a:gd name="T4" fmla="*/ 159 w 159"/>
              <a:gd name="T5" fmla="*/ 226 h 226"/>
              <a:gd name="T6" fmla="*/ 0 60000 65536"/>
              <a:gd name="T7" fmla="*/ 0 60000 65536"/>
              <a:gd name="T8" fmla="*/ 0 60000 65536"/>
              <a:gd name="T9" fmla="*/ 0 w 159"/>
              <a:gd name="T10" fmla="*/ 0 h 226"/>
              <a:gd name="T11" fmla="*/ 159 w 159"/>
              <a:gd name="T12" fmla="*/ 226 h 2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9" h="226">
                <a:moveTo>
                  <a:pt x="23" y="0"/>
                </a:moveTo>
                <a:cubicBezTo>
                  <a:pt x="11" y="72"/>
                  <a:pt x="0" y="144"/>
                  <a:pt x="23" y="181"/>
                </a:cubicBezTo>
                <a:cubicBezTo>
                  <a:pt x="46" y="218"/>
                  <a:pt x="136" y="219"/>
                  <a:pt x="159" y="226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7667" name="Line 19"/>
          <p:cNvSpPr>
            <a:spLocks noChangeShapeType="1"/>
          </p:cNvSpPr>
          <p:nvPr/>
        </p:nvSpPr>
        <p:spPr bwMode="auto">
          <a:xfrm>
            <a:off x="4718895" y="2396282"/>
            <a:ext cx="1153269" cy="2309217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7668" name="Line 20"/>
          <p:cNvSpPr>
            <a:spLocks noChangeShapeType="1"/>
          </p:cNvSpPr>
          <p:nvPr/>
        </p:nvSpPr>
        <p:spPr bwMode="auto">
          <a:xfrm>
            <a:off x="4718894" y="2396283"/>
            <a:ext cx="1032718" cy="1154609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7669" name="Rectangle 21"/>
          <p:cNvSpPr>
            <a:spLocks noChangeArrowheads="1"/>
          </p:cNvSpPr>
          <p:nvPr/>
        </p:nvSpPr>
        <p:spPr bwMode="auto">
          <a:xfrm>
            <a:off x="3928616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4</a:t>
            </a:r>
          </a:p>
        </p:txBody>
      </p:sp>
      <p:sp>
        <p:nvSpPr>
          <p:cNvPr id="27670" name="Rectangle 22"/>
          <p:cNvSpPr>
            <a:spLocks noChangeArrowheads="1"/>
          </p:cNvSpPr>
          <p:nvPr/>
        </p:nvSpPr>
        <p:spPr bwMode="auto">
          <a:xfrm>
            <a:off x="5083225" y="2518172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6</a:t>
            </a:r>
          </a:p>
        </p:txBody>
      </p:sp>
      <p:sp>
        <p:nvSpPr>
          <p:cNvPr id="27671" name="Rectangle 23"/>
          <p:cNvSpPr>
            <a:spLocks noChangeArrowheads="1"/>
          </p:cNvSpPr>
          <p:nvPr/>
        </p:nvSpPr>
        <p:spPr bwMode="auto">
          <a:xfrm>
            <a:off x="4718894" y="2638723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6</a:t>
            </a:r>
          </a:p>
        </p:txBody>
      </p:sp>
      <p:grpSp>
        <p:nvGrpSpPr>
          <p:cNvPr id="27672" name="Group 24"/>
          <p:cNvGrpSpPr>
            <a:grpSpLocks/>
          </p:cNvGrpSpPr>
          <p:nvPr/>
        </p:nvGrpSpPr>
        <p:grpSpPr bwMode="auto">
          <a:xfrm>
            <a:off x="4536728" y="1606007"/>
            <a:ext cx="728663" cy="301339"/>
            <a:chOff x="1927" y="3158"/>
            <a:chExt cx="590" cy="451"/>
          </a:xfrm>
        </p:grpSpPr>
        <p:sp>
          <p:nvSpPr>
            <p:cNvPr id="27727" name="Rectangle 25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7728" name="Text Box 26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6, id=1</a:t>
              </a:r>
            </a:p>
          </p:txBody>
        </p:sp>
      </p:grpSp>
      <p:sp>
        <p:nvSpPr>
          <p:cNvPr id="27673" name="Freeform 27"/>
          <p:cNvSpPr>
            <a:spLocks/>
          </p:cNvSpPr>
          <p:nvPr/>
        </p:nvSpPr>
        <p:spPr bwMode="auto">
          <a:xfrm>
            <a:off x="4353224" y="1910061"/>
            <a:ext cx="405855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7674" name="Group 28"/>
          <p:cNvGrpSpPr>
            <a:grpSpLocks/>
          </p:cNvGrpSpPr>
          <p:nvPr/>
        </p:nvGrpSpPr>
        <p:grpSpPr bwMode="auto">
          <a:xfrm>
            <a:off x="3746451" y="4905078"/>
            <a:ext cx="728663" cy="301340"/>
            <a:chOff x="1927" y="3158"/>
            <a:chExt cx="590" cy="451"/>
          </a:xfrm>
        </p:grpSpPr>
        <p:sp>
          <p:nvSpPr>
            <p:cNvPr id="27725" name="Rectangle 29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7726" name="Text Box 30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sp>
        <p:nvSpPr>
          <p:cNvPr id="27675" name="Line 31"/>
          <p:cNvSpPr>
            <a:spLocks noChangeShapeType="1"/>
          </p:cNvSpPr>
          <p:nvPr/>
        </p:nvSpPr>
        <p:spPr bwMode="auto">
          <a:xfrm>
            <a:off x="4232672" y="2396282"/>
            <a:ext cx="606773" cy="2309217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7676" name="Line 32"/>
          <p:cNvSpPr>
            <a:spLocks noChangeShapeType="1"/>
          </p:cNvSpPr>
          <p:nvPr/>
        </p:nvSpPr>
        <p:spPr bwMode="auto">
          <a:xfrm>
            <a:off x="4717554" y="3550892"/>
            <a:ext cx="2309217" cy="1154609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7677" name="Rectangle 33"/>
          <p:cNvSpPr>
            <a:spLocks noChangeArrowheads="1"/>
          </p:cNvSpPr>
          <p:nvPr/>
        </p:nvSpPr>
        <p:spPr bwMode="auto">
          <a:xfrm>
            <a:off x="4171057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5</a:t>
            </a:r>
          </a:p>
        </p:txBody>
      </p:sp>
      <p:sp>
        <p:nvSpPr>
          <p:cNvPr id="27678" name="Rectangle 34"/>
          <p:cNvSpPr>
            <a:spLocks noChangeArrowheads="1"/>
          </p:cNvSpPr>
          <p:nvPr/>
        </p:nvSpPr>
        <p:spPr bwMode="auto">
          <a:xfrm>
            <a:off x="4839444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6</a:t>
            </a:r>
          </a:p>
        </p:txBody>
      </p:sp>
      <p:sp>
        <p:nvSpPr>
          <p:cNvPr id="27679" name="Rectangle 35"/>
          <p:cNvSpPr>
            <a:spLocks noChangeArrowheads="1"/>
          </p:cNvSpPr>
          <p:nvPr/>
        </p:nvSpPr>
        <p:spPr bwMode="auto">
          <a:xfrm>
            <a:off x="4414837" y="2700338"/>
            <a:ext cx="182166" cy="242441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00CC00"/>
                </a:solidFill>
              </a:rPr>
              <a:t>5</a:t>
            </a:r>
          </a:p>
        </p:txBody>
      </p:sp>
      <p:sp>
        <p:nvSpPr>
          <p:cNvPr id="27680" name="Rectangle 36"/>
          <p:cNvSpPr>
            <a:spLocks noChangeArrowheads="1"/>
          </p:cNvSpPr>
          <p:nvPr/>
        </p:nvSpPr>
        <p:spPr bwMode="auto">
          <a:xfrm>
            <a:off x="4535388" y="3308449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4</a:t>
            </a:r>
          </a:p>
        </p:txBody>
      </p:sp>
      <p:sp>
        <p:nvSpPr>
          <p:cNvPr id="27681" name="Rectangle 37"/>
          <p:cNvSpPr>
            <a:spLocks noChangeArrowheads="1"/>
          </p:cNvSpPr>
          <p:nvPr/>
        </p:nvSpPr>
        <p:spPr bwMode="auto">
          <a:xfrm>
            <a:off x="4717554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5</a:t>
            </a:r>
          </a:p>
        </p:txBody>
      </p:sp>
      <p:sp>
        <p:nvSpPr>
          <p:cNvPr id="27682" name="Rectangle 38"/>
          <p:cNvSpPr>
            <a:spLocks noChangeArrowheads="1"/>
          </p:cNvSpPr>
          <p:nvPr/>
        </p:nvSpPr>
        <p:spPr bwMode="auto">
          <a:xfrm>
            <a:off x="4718894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6</a:t>
            </a:r>
          </a:p>
        </p:txBody>
      </p:sp>
      <p:sp>
        <p:nvSpPr>
          <p:cNvPr id="27683" name="Rectangle 39"/>
          <p:cNvSpPr>
            <a:spLocks noChangeArrowheads="1"/>
          </p:cNvSpPr>
          <p:nvPr/>
        </p:nvSpPr>
        <p:spPr bwMode="auto">
          <a:xfrm>
            <a:off x="5021610" y="3854946"/>
            <a:ext cx="182166" cy="242441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00CC00"/>
                </a:solidFill>
              </a:rPr>
              <a:t>5</a:t>
            </a:r>
          </a:p>
        </p:txBody>
      </p:sp>
      <p:sp>
        <p:nvSpPr>
          <p:cNvPr id="27684" name="Rectangle 40"/>
          <p:cNvSpPr>
            <a:spLocks noChangeArrowheads="1"/>
          </p:cNvSpPr>
          <p:nvPr/>
        </p:nvSpPr>
        <p:spPr bwMode="auto">
          <a:xfrm>
            <a:off x="5811887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7</a:t>
            </a:r>
          </a:p>
        </p:txBody>
      </p:sp>
      <p:sp>
        <p:nvSpPr>
          <p:cNvPr id="27685" name="Rectangle 41"/>
          <p:cNvSpPr>
            <a:spLocks noChangeArrowheads="1"/>
          </p:cNvSpPr>
          <p:nvPr/>
        </p:nvSpPr>
        <p:spPr bwMode="auto">
          <a:xfrm>
            <a:off x="6054328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8</a:t>
            </a:r>
          </a:p>
        </p:txBody>
      </p:sp>
      <p:sp>
        <p:nvSpPr>
          <p:cNvPr id="27686" name="Freeform 42"/>
          <p:cNvSpPr>
            <a:spLocks/>
          </p:cNvSpPr>
          <p:nvPr/>
        </p:nvSpPr>
        <p:spPr bwMode="auto">
          <a:xfrm>
            <a:off x="3624561" y="1910061"/>
            <a:ext cx="405855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7687" name="Group 43"/>
          <p:cNvGrpSpPr>
            <a:grpSpLocks/>
          </p:cNvGrpSpPr>
          <p:nvPr/>
        </p:nvGrpSpPr>
        <p:grpSpPr bwMode="auto">
          <a:xfrm>
            <a:off x="3806726" y="1727895"/>
            <a:ext cx="728663" cy="301340"/>
            <a:chOff x="1927" y="3158"/>
            <a:chExt cx="590" cy="451"/>
          </a:xfrm>
        </p:grpSpPr>
        <p:sp>
          <p:nvSpPr>
            <p:cNvPr id="27723" name="Rectangle 44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7724" name="Text Box 45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grpSp>
        <p:nvGrpSpPr>
          <p:cNvPr id="27688" name="Group 46"/>
          <p:cNvGrpSpPr>
            <a:grpSpLocks/>
          </p:cNvGrpSpPr>
          <p:nvPr/>
        </p:nvGrpSpPr>
        <p:grpSpPr bwMode="auto">
          <a:xfrm>
            <a:off x="4536728" y="1849787"/>
            <a:ext cx="728663" cy="301339"/>
            <a:chOff x="1927" y="3158"/>
            <a:chExt cx="590" cy="451"/>
          </a:xfrm>
        </p:grpSpPr>
        <p:sp>
          <p:nvSpPr>
            <p:cNvPr id="27721" name="Rectangle 47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7722" name="Text Box 48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sp>
        <p:nvSpPr>
          <p:cNvPr id="27689" name="Freeform 49"/>
          <p:cNvSpPr>
            <a:spLocks/>
          </p:cNvSpPr>
          <p:nvPr/>
        </p:nvSpPr>
        <p:spPr bwMode="auto">
          <a:xfrm>
            <a:off x="4232673" y="3064670"/>
            <a:ext cx="405855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7690" name="Group 50"/>
          <p:cNvGrpSpPr>
            <a:grpSpLocks/>
          </p:cNvGrpSpPr>
          <p:nvPr/>
        </p:nvGrpSpPr>
        <p:grpSpPr bwMode="auto">
          <a:xfrm>
            <a:off x="4414837" y="3003054"/>
            <a:ext cx="728663" cy="301340"/>
            <a:chOff x="1927" y="3158"/>
            <a:chExt cx="590" cy="451"/>
          </a:xfrm>
        </p:grpSpPr>
        <p:sp>
          <p:nvSpPr>
            <p:cNvPr id="27719" name="Rectangle 51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7720" name="Text Box 52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sp>
        <p:nvSpPr>
          <p:cNvPr id="27691" name="Freeform 53"/>
          <p:cNvSpPr>
            <a:spLocks/>
          </p:cNvSpPr>
          <p:nvPr/>
        </p:nvSpPr>
        <p:spPr bwMode="auto">
          <a:xfrm>
            <a:off x="5811887" y="4705501"/>
            <a:ext cx="212973" cy="302716"/>
          </a:xfrm>
          <a:custGeom>
            <a:avLst/>
            <a:gdLst>
              <a:gd name="T0" fmla="*/ 23 w 159"/>
              <a:gd name="T1" fmla="*/ 0 h 226"/>
              <a:gd name="T2" fmla="*/ 23 w 159"/>
              <a:gd name="T3" fmla="*/ 181 h 226"/>
              <a:gd name="T4" fmla="*/ 159 w 159"/>
              <a:gd name="T5" fmla="*/ 226 h 226"/>
              <a:gd name="T6" fmla="*/ 0 60000 65536"/>
              <a:gd name="T7" fmla="*/ 0 60000 65536"/>
              <a:gd name="T8" fmla="*/ 0 60000 65536"/>
              <a:gd name="T9" fmla="*/ 0 w 159"/>
              <a:gd name="T10" fmla="*/ 0 h 226"/>
              <a:gd name="T11" fmla="*/ 159 w 159"/>
              <a:gd name="T12" fmla="*/ 226 h 2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9" h="226">
                <a:moveTo>
                  <a:pt x="23" y="0"/>
                </a:moveTo>
                <a:cubicBezTo>
                  <a:pt x="11" y="72"/>
                  <a:pt x="0" y="144"/>
                  <a:pt x="23" y="181"/>
                </a:cubicBezTo>
                <a:cubicBezTo>
                  <a:pt x="46" y="218"/>
                  <a:pt x="136" y="219"/>
                  <a:pt x="159" y="226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7692" name="Group 54"/>
          <p:cNvGrpSpPr>
            <a:grpSpLocks/>
          </p:cNvGrpSpPr>
          <p:nvPr/>
        </p:nvGrpSpPr>
        <p:grpSpPr bwMode="auto">
          <a:xfrm>
            <a:off x="6055668" y="4765775"/>
            <a:ext cx="728663" cy="301340"/>
            <a:chOff x="1927" y="3158"/>
            <a:chExt cx="590" cy="451"/>
          </a:xfrm>
        </p:grpSpPr>
        <p:sp>
          <p:nvSpPr>
            <p:cNvPr id="27717" name="Rectangle 55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7718" name="Text Box 56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grpSp>
        <p:nvGrpSpPr>
          <p:cNvPr id="27693" name="Group 57"/>
          <p:cNvGrpSpPr>
            <a:grpSpLocks/>
          </p:cNvGrpSpPr>
          <p:nvPr/>
        </p:nvGrpSpPr>
        <p:grpSpPr bwMode="auto">
          <a:xfrm>
            <a:off x="6055668" y="5008218"/>
            <a:ext cx="728663" cy="301339"/>
            <a:chOff x="1927" y="3158"/>
            <a:chExt cx="590" cy="451"/>
          </a:xfrm>
        </p:grpSpPr>
        <p:sp>
          <p:nvSpPr>
            <p:cNvPr id="27715" name="Rectangle 58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7716" name="Text Box 59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6, id=1</a:t>
              </a:r>
            </a:p>
          </p:txBody>
        </p:sp>
      </p:grpSp>
      <p:sp>
        <p:nvSpPr>
          <p:cNvPr id="27694" name="Freeform 60"/>
          <p:cNvSpPr>
            <a:spLocks/>
          </p:cNvSpPr>
          <p:nvPr/>
        </p:nvSpPr>
        <p:spPr bwMode="auto">
          <a:xfrm flipH="1">
            <a:off x="5731520" y="3064670"/>
            <a:ext cx="262533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7695" name="Group 61"/>
          <p:cNvGrpSpPr>
            <a:grpSpLocks/>
          </p:cNvGrpSpPr>
          <p:nvPr/>
        </p:nvGrpSpPr>
        <p:grpSpPr bwMode="auto">
          <a:xfrm>
            <a:off x="5507831" y="2760615"/>
            <a:ext cx="728663" cy="301339"/>
            <a:chOff x="1927" y="3158"/>
            <a:chExt cx="590" cy="451"/>
          </a:xfrm>
        </p:grpSpPr>
        <p:sp>
          <p:nvSpPr>
            <p:cNvPr id="27713" name="Rectangle 62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7714" name="Text Box 63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grpSp>
        <p:nvGrpSpPr>
          <p:cNvPr id="27696" name="Group 64"/>
          <p:cNvGrpSpPr>
            <a:grpSpLocks/>
          </p:cNvGrpSpPr>
          <p:nvPr/>
        </p:nvGrpSpPr>
        <p:grpSpPr bwMode="auto">
          <a:xfrm>
            <a:off x="5507831" y="2535587"/>
            <a:ext cx="728663" cy="301339"/>
            <a:chOff x="1927" y="3158"/>
            <a:chExt cx="590" cy="451"/>
          </a:xfrm>
        </p:grpSpPr>
        <p:sp>
          <p:nvSpPr>
            <p:cNvPr id="27711" name="Rectangle 65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7712" name="Text Box 66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6, id=1</a:t>
              </a:r>
            </a:p>
          </p:txBody>
        </p:sp>
      </p:grpSp>
      <p:sp>
        <p:nvSpPr>
          <p:cNvPr id="27697" name="Rectangle 67"/>
          <p:cNvSpPr>
            <a:spLocks noChangeArrowheads="1"/>
          </p:cNvSpPr>
          <p:nvPr/>
        </p:nvSpPr>
        <p:spPr bwMode="auto">
          <a:xfrm>
            <a:off x="5629722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6</a:t>
            </a:r>
          </a:p>
        </p:txBody>
      </p:sp>
      <p:sp>
        <p:nvSpPr>
          <p:cNvPr id="27698" name="Rectangle 68"/>
          <p:cNvSpPr>
            <a:spLocks noChangeArrowheads="1"/>
          </p:cNvSpPr>
          <p:nvPr/>
        </p:nvSpPr>
        <p:spPr bwMode="auto">
          <a:xfrm>
            <a:off x="6054328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7</a:t>
            </a:r>
          </a:p>
        </p:txBody>
      </p:sp>
      <p:sp>
        <p:nvSpPr>
          <p:cNvPr id="27699" name="Rectangle 69"/>
          <p:cNvSpPr>
            <a:spLocks noChangeArrowheads="1"/>
          </p:cNvSpPr>
          <p:nvPr/>
        </p:nvSpPr>
        <p:spPr bwMode="auto">
          <a:xfrm>
            <a:off x="1376958" y="5190383"/>
            <a:ext cx="2309217" cy="9724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en-GB" altLang="it-IT" sz="1519"/>
          </a:p>
        </p:txBody>
      </p:sp>
      <p:sp>
        <p:nvSpPr>
          <p:cNvPr id="27700" name="Line 70"/>
          <p:cNvSpPr>
            <a:spLocks noChangeShapeType="1"/>
          </p:cNvSpPr>
          <p:nvPr/>
        </p:nvSpPr>
        <p:spPr bwMode="auto">
          <a:xfrm>
            <a:off x="1437234" y="5373886"/>
            <a:ext cx="30405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7701" name="Line 71"/>
          <p:cNvSpPr>
            <a:spLocks noChangeShapeType="1"/>
          </p:cNvSpPr>
          <p:nvPr/>
        </p:nvSpPr>
        <p:spPr bwMode="auto">
          <a:xfrm>
            <a:off x="1437234" y="5616327"/>
            <a:ext cx="304055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7702" name="Text Box 72"/>
          <p:cNvSpPr txBox="1">
            <a:spLocks noChangeArrowheads="1"/>
          </p:cNvSpPr>
          <p:nvPr/>
        </p:nvSpPr>
        <p:spPr bwMode="auto">
          <a:xfrm>
            <a:off x="1741290" y="5190382"/>
            <a:ext cx="1883271" cy="5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181"/>
              <a:t>Program Message</a:t>
            </a:r>
          </a:p>
          <a:p>
            <a:pPr eaLnBrk="1" hangingPunct="1">
              <a:spcBef>
                <a:spcPct val="50000"/>
              </a:spcBef>
            </a:pPr>
            <a:endParaRPr lang="it-IT" altLang="it-IT" sz="1181"/>
          </a:p>
        </p:txBody>
      </p:sp>
      <p:sp>
        <p:nvSpPr>
          <p:cNvPr id="27703" name="Text Box 73"/>
          <p:cNvSpPr txBox="1">
            <a:spLocks noChangeArrowheads="1"/>
          </p:cNvSpPr>
          <p:nvPr/>
        </p:nvSpPr>
        <p:spPr bwMode="auto">
          <a:xfrm>
            <a:off x="1741290" y="5481043"/>
            <a:ext cx="1943547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CS access Message</a:t>
            </a:r>
          </a:p>
        </p:txBody>
      </p:sp>
      <p:sp>
        <p:nvSpPr>
          <p:cNvPr id="27704" name="Line 74"/>
          <p:cNvSpPr>
            <a:spLocks noChangeShapeType="1"/>
          </p:cNvSpPr>
          <p:nvPr/>
        </p:nvSpPr>
        <p:spPr bwMode="auto">
          <a:xfrm>
            <a:off x="1437234" y="5920383"/>
            <a:ext cx="304055" cy="0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7705" name="Text Box 75"/>
          <p:cNvSpPr txBox="1">
            <a:spLocks noChangeArrowheads="1"/>
          </p:cNvSpPr>
          <p:nvPr/>
        </p:nvSpPr>
        <p:spPr bwMode="auto">
          <a:xfrm>
            <a:off x="1741290" y="5783759"/>
            <a:ext cx="1943547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Ack Message</a:t>
            </a:r>
          </a:p>
        </p:txBody>
      </p:sp>
      <p:sp>
        <p:nvSpPr>
          <p:cNvPr id="27706" name="Line 76"/>
          <p:cNvSpPr>
            <a:spLocks noChangeShapeType="1"/>
          </p:cNvSpPr>
          <p:nvPr/>
        </p:nvSpPr>
        <p:spPr bwMode="auto">
          <a:xfrm>
            <a:off x="4717554" y="2092226"/>
            <a:ext cx="0" cy="303788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7707" name="Group 77"/>
          <p:cNvGrpSpPr>
            <a:grpSpLocks/>
          </p:cNvGrpSpPr>
          <p:nvPr/>
        </p:nvGrpSpPr>
        <p:grpSpPr bwMode="auto">
          <a:xfrm>
            <a:off x="4354564" y="5373887"/>
            <a:ext cx="2611934" cy="850553"/>
            <a:chOff x="204" y="3566"/>
            <a:chExt cx="1950" cy="635"/>
          </a:xfrm>
        </p:grpSpPr>
        <p:sp>
          <p:nvSpPr>
            <p:cNvPr id="27709" name="Rectangle 78"/>
            <p:cNvSpPr>
              <a:spLocks noChangeArrowheads="1"/>
            </p:cNvSpPr>
            <p:nvPr/>
          </p:nvSpPr>
          <p:spPr bwMode="auto">
            <a:xfrm>
              <a:off x="204" y="3566"/>
              <a:ext cx="1905" cy="63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7710" name="Text Box 79"/>
            <p:cNvSpPr txBox="1">
              <a:spLocks noChangeArrowheads="1"/>
            </p:cNvSpPr>
            <p:nvPr/>
          </p:nvSpPr>
          <p:spPr bwMode="auto">
            <a:xfrm>
              <a:off x="249" y="3657"/>
              <a:ext cx="1905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350"/>
                <a:t>Also  p</a:t>
              </a:r>
              <a:r>
                <a:rPr lang="it-IT" altLang="it-IT" sz="1350" baseline="-25000"/>
                <a:t>1 </a:t>
              </a:r>
              <a:r>
                <a:rPr lang="it-IT" altLang="it-IT" sz="1350"/>
                <a:t>sends a request for the CS</a:t>
              </a:r>
            </a:p>
          </p:txBody>
        </p:sp>
      </p:grpSp>
      <p:sp>
        <p:nvSpPr>
          <p:cNvPr id="27708" name="Line 80"/>
          <p:cNvSpPr>
            <a:spLocks noChangeShapeType="1"/>
          </p:cNvSpPr>
          <p:nvPr/>
        </p:nvSpPr>
        <p:spPr bwMode="auto">
          <a:xfrm>
            <a:off x="4717555" y="4947941"/>
            <a:ext cx="790277" cy="4259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</p:spTree>
    <p:extLst>
      <p:ext uri="{BB962C8B-B14F-4D97-AF65-F5344CB8AC3E}">
        <p14:creationId xmlns:p14="http://schemas.microsoft.com/office/powerpoint/2010/main" val="1461495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/>
              <a:t>Lamport’s algorithm: example</a:t>
            </a:r>
          </a:p>
        </p:txBody>
      </p:sp>
      <p:sp>
        <p:nvSpPr>
          <p:cNvPr id="28675" name="Line 3"/>
          <p:cNvSpPr>
            <a:spLocks noChangeShapeType="1"/>
          </p:cNvSpPr>
          <p:nvPr/>
        </p:nvSpPr>
        <p:spPr bwMode="auto">
          <a:xfrm>
            <a:off x="1983732" y="2396282"/>
            <a:ext cx="61360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8676" name="Line 4"/>
          <p:cNvSpPr>
            <a:spLocks noChangeShapeType="1"/>
          </p:cNvSpPr>
          <p:nvPr/>
        </p:nvSpPr>
        <p:spPr bwMode="auto">
          <a:xfrm>
            <a:off x="1983732" y="3550891"/>
            <a:ext cx="61360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8677" name="Line 5"/>
          <p:cNvSpPr>
            <a:spLocks noChangeShapeType="1"/>
          </p:cNvSpPr>
          <p:nvPr/>
        </p:nvSpPr>
        <p:spPr bwMode="auto">
          <a:xfrm>
            <a:off x="1983732" y="4705499"/>
            <a:ext cx="61360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1983730" y="4463058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1983730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1983730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>
            <a:off x="2409678" y="2396282"/>
            <a:ext cx="424606" cy="230921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2349401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1</a:t>
            </a:r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2591842" y="2942780"/>
            <a:ext cx="182166" cy="242441"/>
          </a:xfrm>
          <a:prstGeom prst="rect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3333CC"/>
                </a:solidFill>
              </a:rPr>
              <a:t>1</a:t>
            </a:r>
          </a:p>
        </p:txBody>
      </p:sp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2895897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2</a:t>
            </a:r>
          </a:p>
        </p:txBody>
      </p:sp>
      <p:sp>
        <p:nvSpPr>
          <p:cNvPr id="28685" name="Line 13"/>
          <p:cNvSpPr>
            <a:spLocks noChangeShapeType="1"/>
          </p:cNvSpPr>
          <p:nvPr/>
        </p:nvSpPr>
        <p:spPr bwMode="auto">
          <a:xfrm flipV="1">
            <a:off x="3564285" y="2396282"/>
            <a:ext cx="486221" cy="2309217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8686" name="Line 14"/>
          <p:cNvSpPr>
            <a:spLocks noChangeShapeType="1"/>
          </p:cNvSpPr>
          <p:nvPr/>
        </p:nvSpPr>
        <p:spPr bwMode="auto">
          <a:xfrm flipV="1">
            <a:off x="3564285" y="3550892"/>
            <a:ext cx="1092994" cy="1154609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8687" name="Rectangle 15"/>
          <p:cNvSpPr>
            <a:spLocks noChangeArrowheads="1"/>
          </p:cNvSpPr>
          <p:nvPr/>
        </p:nvSpPr>
        <p:spPr bwMode="auto">
          <a:xfrm>
            <a:off x="3382119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3</a:t>
            </a:r>
          </a:p>
        </p:txBody>
      </p:sp>
      <p:sp>
        <p:nvSpPr>
          <p:cNvPr id="28688" name="Rectangle 16"/>
          <p:cNvSpPr>
            <a:spLocks noChangeArrowheads="1"/>
          </p:cNvSpPr>
          <p:nvPr/>
        </p:nvSpPr>
        <p:spPr bwMode="auto">
          <a:xfrm>
            <a:off x="3928616" y="4279554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28689" name="Rectangle 17"/>
          <p:cNvSpPr>
            <a:spLocks noChangeArrowheads="1"/>
          </p:cNvSpPr>
          <p:nvPr/>
        </p:nvSpPr>
        <p:spPr bwMode="auto">
          <a:xfrm>
            <a:off x="3502670" y="3793331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28690" name="Freeform 18"/>
          <p:cNvSpPr>
            <a:spLocks/>
          </p:cNvSpPr>
          <p:nvPr/>
        </p:nvSpPr>
        <p:spPr bwMode="auto">
          <a:xfrm>
            <a:off x="3533479" y="4705501"/>
            <a:ext cx="212973" cy="302716"/>
          </a:xfrm>
          <a:custGeom>
            <a:avLst/>
            <a:gdLst>
              <a:gd name="T0" fmla="*/ 23 w 159"/>
              <a:gd name="T1" fmla="*/ 0 h 226"/>
              <a:gd name="T2" fmla="*/ 23 w 159"/>
              <a:gd name="T3" fmla="*/ 181 h 226"/>
              <a:gd name="T4" fmla="*/ 159 w 159"/>
              <a:gd name="T5" fmla="*/ 226 h 226"/>
              <a:gd name="T6" fmla="*/ 0 60000 65536"/>
              <a:gd name="T7" fmla="*/ 0 60000 65536"/>
              <a:gd name="T8" fmla="*/ 0 60000 65536"/>
              <a:gd name="T9" fmla="*/ 0 w 159"/>
              <a:gd name="T10" fmla="*/ 0 h 226"/>
              <a:gd name="T11" fmla="*/ 159 w 159"/>
              <a:gd name="T12" fmla="*/ 226 h 2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9" h="226">
                <a:moveTo>
                  <a:pt x="23" y="0"/>
                </a:moveTo>
                <a:cubicBezTo>
                  <a:pt x="11" y="72"/>
                  <a:pt x="0" y="144"/>
                  <a:pt x="23" y="181"/>
                </a:cubicBezTo>
                <a:cubicBezTo>
                  <a:pt x="46" y="218"/>
                  <a:pt x="136" y="219"/>
                  <a:pt x="159" y="226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8691" name="Line 19"/>
          <p:cNvSpPr>
            <a:spLocks noChangeShapeType="1"/>
          </p:cNvSpPr>
          <p:nvPr/>
        </p:nvSpPr>
        <p:spPr bwMode="auto">
          <a:xfrm>
            <a:off x="4718895" y="2396282"/>
            <a:ext cx="1153269" cy="2309217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8692" name="Line 20"/>
          <p:cNvSpPr>
            <a:spLocks noChangeShapeType="1"/>
          </p:cNvSpPr>
          <p:nvPr/>
        </p:nvSpPr>
        <p:spPr bwMode="auto">
          <a:xfrm>
            <a:off x="4718894" y="2396283"/>
            <a:ext cx="1032718" cy="1154609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3928616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4</a:t>
            </a:r>
          </a:p>
        </p:txBody>
      </p:sp>
      <p:sp>
        <p:nvSpPr>
          <p:cNvPr id="28694" name="Rectangle 22"/>
          <p:cNvSpPr>
            <a:spLocks noChangeArrowheads="1"/>
          </p:cNvSpPr>
          <p:nvPr/>
        </p:nvSpPr>
        <p:spPr bwMode="auto">
          <a:xfrm>
            <a:off x="5083225" y="2518172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6</a:t>
            </a:r>
          </a:p>
        </p:txBody>
      </p:sp>
      <p:sp>
        <p:nvSpPr>
          <p:cNvPr id="28695" name="Rectangle 23"/>
          <p:cNvSpPr>
            <a:spLocks noChangeArrowheads="1"/>
          </p:cNvSpPr>
          <p:nvPr/>
        </p:nvSpPr>
        <p:spPr bwMode="auto">
          <a:xfrm>
            <a:off x="4718894" y="2638723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6</a:t>
            </a:r>
          </a:p>
        </p:txBody>
      </p:sp>
      <p:grpSp>
        <p:nvGrpSpPr>
          <p:cNvPr id="28696" name="Group 24"/>
          <p:cNvGrpSpPr>
            <a:grpSpLocks/>
          </p:cNvGrpSpPr>
          <p:nvPr/>
        </p:nvGrpSpPr>
        <p:grpSpPr bwMode="auto">
          <a:xfrm>
            <a:off x="4536728" y="1606007"/>
            <a:ext cx="728663" cy="301339"/>
            <a:chOff x="1927" y="3158"/>
            <a:chExt cx="590" cy="451"/>
          </a:xfrm>
        </p:grpSpPr>
        <p:sp>
          <p:nvSpPr>
            <p:cNvPr id="28757" name="Rectangle 25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8758" name="Text Box 26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6, id=1</a:t>
              </a:r>
            </a:p>
          </p:txBody>
        </p:sp>
      </p:grpSp>
      <p:sp>
        <p:nvSpPr>
          <p:cNvPr id="28697" name="Freeform 27"/>
          <p:cNvSpPr>
            <a:spLocks/>
          </p:cNvSpPr>
          <p:nvPr/>
        </p:nvSpPr>
        <p:spPr bwMode="auto">
          <a:xfrm>
            <a:off x="4353224" y="1910061"/>
            <a:ext cx="405855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8698" name="Group 28"/>
          <p:cNvGrpSpPr>
            <a:grpSpLocks/>
          </p:cNvGrpSpPr>
          <p:nvPr/>
        </p:nvGrpSpPr>
        <p:grpSpPr bwMode="auto">
          <a:xfrm>
            <a:off x="3746451" y="4905078"/>
            <a:ext cx="728663" cy="301340"/>
            <a:chOff x="1927" y="3158"/>
            <a:chExt cx="590" cy="451"/>
          </a:xfrm>
        </p:grpSpPr>
        <p:sp>
          <p:nvSpPr>
            <p:cNvPr id="28755" name="Rectangle 29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8756" name="Text Box 30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sp>
        <p:nvSpPr>
          <p:cNvPr id="28699" name="Line 31"/>
          <p:cNvSpPr>
            <a:spLocks noChangeShapeType="1"/>
          </p:cNvSpPr>
          <p:nvPr/>
        </p:nvSpPr>
        <p:spPr bwMode="auto">
          <a:xfrm>
            <a:off x="4232672" y="2396282"/>
            <a:ext cx="606773" cy="2309217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8700" name="Line 32"/>
          <p:cNvSpPr>
            <a:spLocks noChangeShapeType="1"/>
          </p:cNvSpPr>
          <p:nvPr/>
        </p:nvSpPr>
        <p:spPr bwMode="auto">
          <a:xfrm>
            <a:off x="4779170" y="3549552"/>
            <a:ext cx="2247602" cy="1155948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8701" name="Rectangle 33"/>
          <p:cNvSpPr>
            <a:spLocks noChangeArrowheads="1"/>
          </p:cNvSpPr>
          <p:nvPr/>
        </p:nvSpPr>
        <p:spPr bwMode="auto">
          <a:xfrm>
            <a:off x="4171057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5</a:t>
            </a:r>
          </a:p>
        </p:txBody>
      </p:sp>
      <p:sp>
        <p:nvSpPr>
          <p:cNvPr id="28702" name="Rectangle 34"/>
          <p:cNvSpPr>
            <a:spLocks noChangeArrowheads="1"/>
          </p:cNvSpPr>
          <p:nvPr/>
        </p:nvSpPr>
        <p:spPr bwMode="auto">
          <a:xfrm>
            <a:off x="4839444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6</a:t>
            </a:r>
          </a:p>
        </p:txBody>
      </p:sp>
      <p:sp>
        <p:nvSpPr>
          <p:cNvPr id="28703" name="Rectangle 35"/>
          <p:cNvSpPr>
            <a:spLocks noChangeArrowheads="1"/>
          </p:cNvSpPr>
          <p:nvPr/>
        </p:nvSpPr>
        <p:spPr bwMode="auto">
          <a:xfrm>
            <a:off x="4414837" y="2700338"/>
            <a:ext cx="182166" cy="242441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00CC00"/>
                </a:solidFill>
              </a:rPr>
              <a:t>5</a:t>
            </a:r>
          </a:p>
        </p:txBody>
      </p:sp>
      <p:sp>
        <p:nvSpPr>
          <p:cNvPr id="28704" name="Rectangle 36"/>
          <p:cNvSpPr>
            <a:spLocks noChangeArrowheads="1"/>
          </p:cNvSpPr>
          <p:nvPr/>
        </p:nvSpPr>
        <p:spPr bwMode="auto">
          <a:xfrm>
            <a:off x="4535388" y="3308449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4</a:t>
            </a:r>
          </a:p>
        </p:txBody>
      </p:sp>
      <p:sp>
        <p:nvSpPr>
          <p:cNvPr id="28705" name="Rectangle 37"/>
          <p:cNvSpPr>
            <a:spLocks noChangeArrowheads="1"/>
          </p:cNvSpPr>
          <p:nvPr/>
        </p:nvSpPr>
        <p:spPr bwMode="auto">
          <a:xfrm>
            <a:off x="4717554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5</a:t>
            </a:r>
          </a:p>
        </p:txBody>
      </p:sp>
      <p:sp>
        <p:nvSpPr>
          <p:cNvPr id="28706" name="Rectangle 38"/>
          <p:cNvSpPr>
            <a:spLocks noChangeArrowheads="1"/>
          </p:cNvSpPr>
          <p:nvPr/>
        </p:nvSpPr>
        <p:spPr bwMode="auto">
          <a:xfrm>
            <a:off x="4657279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6</a:t>
            </a:r>
          </a:p>
        </p:txBody>
      </p:sp>
      <p:sp>
        <p:nvSpPr>
          <p:cNvPr id="28707" name="Rectangle 39"/>
          <p:cNvSpPr>
            <a:spLocks noChangeArrowheads="1"/>
          </p:cNvSpPr>
          <p:nvPr/>
        </p:nvSpPr>
        <p:spPr bwMode="auto">
          <a:xfrm>
            <a:off x="5021610" y="3854946"/>
            <a:ext cx="182166" cy="242441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00CC00"/>
                </a:solidFill>
              </a:rPr>
              <a:t>5</a:t>
            </a:r>
          </a:p>
        </p:txBody>
      </p:sp>
      <p:sp>
        <p:nvSpPr>
          <p:cNvPr id="28708" name="Rectangle 40"/>
          <p:cNvSpPr>
            <a:spLocks noChangeArrowheads="1"/>
          </p:cNvSpPr>
          <p:nvPr/>
        </p:nvSpPr>
        <p:spPr bwMode="auto">
          <a:xfrm>
            <a:off x="5811887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7</a:t>
            </a:r>
          </a:p>
        </p:txBody>
      </p:sp>
      <p:sp>
        <p:nvSpPr>
          <p:cNvPr id="28709" name="Rectangle 41"/>
          <p:cNvSpPr>
            <a:spLocks noChangeArrowheads="1"/>
          </p:cNvSpPr>
          <p:nvPr/>
        </p:nvSpPr>
        <p:spPr bwMode="auto">
          <a:xfrm>
            <a:off x="6054328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8</a:t>
            </a:r>
          </a:p>
        </p:txBody>
      </p:sp>
      <p:sp>
        <p:nvSpPr>
          <p:cNvPr id="28710" name="Freeform 42"/>
          <p:cNvSpPr>
            <a:spLocks/>
          </p:cNvSpPr>
          <p:nvPr/>
        </p:nvSpPr>
        <p:spPr bwMode="auto">
          <a:xfrm>
            <a:off x="3624561" y="1910061"/>
            <a:ext cx="405855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8711" name="Group 43"/>
          <p:cNvGrpSpPr>
            <a:grpSpLocks/>
          </p:cNvGrpSpPr>
          <p:nvPr/>
        </p:nvGrpSpPr>
        <p:grpSpPr bwMode="auto">
          <a:xfrm>
            <a:off x="3806726" y="1727895"/>
            <a:ext cx="728663" cy="301340"/>
            <a:chOff x="1927" y="3158"/>
            <a:chExt cx="590" cy="451"/>
          </a:xfrm>
        </p:grpSpPr>
        <p:sp>
          <p:nvSpPr>
            <p:cNvPr id="28753" name="Rectangle 44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8754" name="Text Box 45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grpSp>
        <p:nvGrpSpPr>
          <p:cNvPr id="28712" name="Group 46"/>
          <p:cNvGrpSpPr>
            <a:grpSpLocks/>
          </p:cNvGrpSpPr>
          <p:nvPr/>
        </p:nvGrpSpPr>
        <p:grpSpPr bwMode="auto">
          <a:xfrm>
            <a:off x="4536728" y="1849787"/>
            <a:ext cx="728663" cy="301339"/>
            <a:chOff x="1927" y="3158"/>
            <a:chExt cx="590" cy="451"/>
          </a:xfrm>
        </p:grpSpPr>
        <p:sp>
          <p:nvSpPr>
            <p:cNvPr id="28751" name="Rectangle 47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8752" name="Text Box 48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sp>
        <p:nvSpPr>
          <p:cNvPr id="28713" name="Freeform 49"/>
          <p:cNvSpPr>
            <a:spLocks/>
          </p:cNvSpPr>
          <p:nvPr/>
        </p:nvSpPr>
        <p:spPr bwMode="auto">
          <a:xfrm>
            <a:off x="4232673" y="3064670"/>
            <a:ext cx="405855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8714" name="Group 50"/>
          <p:cNvGrpSpPr>
            <a:grpSpLocks/>
          </p:cNvGrpSpPr>
          <p:nvPr/>
        </p:nvGrpSpPr>
        <p:grpSpPr bwMode="auto">
          <a:xfrm>
            <a:off x="4414837" y="3003054"/>
            <a:ext cx="728663" cy="301340"/>
            <a:chOff x="1927" y="3158"/>
            <a:chExt cx="590" cy="451"/>
          </a:xfrm>
        </p:grpSpPr>
        <p:sp>
          <p:nvSpPr>
            <p:cNvPr id="28749" name="Rectangle 51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8750" name="Text Box 52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sp>
        <p:nvSpPr>
          <p:cNvPr id="28715" name="Freeform 53"/>
          <p:cNvSpPr>
            <a:spLocks/>
          </p:cNvSpPr>
          <p:nvPr/>
        </p:nvSpPr>
        <p:spPr bwMode="auto">
          <a:xfrm>
            <a:off x="5811887" y="4705501"/>
            <a:ext cx="212973" cy="302716"/>
          </a:xfrm>
          <a:custGeom>
            <a:avLst/>
            <a:gdLst>
              <a:gd name="T0" fmla="*/ 23 w 159"/>
              <a:gd name="T1" fmla="*/ 0 h 226"/>
              <a:gd name="T2" fmla="*/ 23 w 159"/>
              <a:gd name="T3" fmla="*/ 181 h 226"/>
              <a:gd name="T4" fmla="*/ 159 w 159"/>
              <a:gd name="T5" fmla="*/ 226 h 226"/>
              <a:gd name="T6" fmla="*/ 0 60000 65536"/>
              <a:gd name="T7" fmla="*/ 0 60000 65536"/>
              <a:gd name="T8" fmla="*/ 0 60000 65536"/>
              <a:gd name="T9" fmla="*/ 0 w 159"/>
              <a:gd name="T10" fmla="*/ 0 h 226"/>
              <a:gd name="T11" fmla="*/ 159 w 159"/>
              <a:gd name="T12" fmla="*/ 226 h 2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9" h="226">
                <a:moveTo>
                  <a:pt x="23" y="0"/>
                </a:moveTo>
                <a:cubicBezTo>
                  <a:pt x="11" y="72"/>
                  <a:pt x="0" y="144"/>
                  <a:pt x="23" y="181"/>
                </a:cubicBezTo>
                <a:cubicBezTo>
                  <a:pt x="46" y="218"/>
                  <a:pt x="136" y="219"/>
                  <a:pt x="159" y="226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8716" name="Group 54"/>
          <p:cNvGrpSpPr>
            <a:grpSpLocks/>
          </p:cNvGrpSpPr>
          <p:nvPr/>
        </p:nvGrpSpPr>
        <p:grpSpPr bwMode="auto">
          <a:xfrm>
            <a:off x="6055668" y="4765775"/>
            <a:ext cx="728663" cy="301340"/>
            <a:chOff x="1927" y="3158"/>
            <a:chExt cx="590" cy="451"/>
          </a:xfrm>
        </p:grpSpPr>
        <p:sp>
          <p:nvSpPr>
            <p:cNvPr id="28747" name="Rectangle 55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8748" name="Text Box 56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grpSp>
        <p:nvGrpSpPr>
          <p:cNvPr id="28717" name="Group 57"/>
          <p:cNvGrpSpPr>
            <a:grpSpLocks/>
          </p:cNvGrpSpPr>
          <p:nvPr/>
        </p:nvGrpSpPr>
        <p:grpSpPr bwMode="auto">
          <a:xfrm>
            <a:off x="6055668" y="5008218"/>
            <a:ext cx="728663" cy="301339"/>
            <a:chOff x="1927" y="3158"/>
            <a:chExt cx="590" cy="451"/>
          </a:xfrm>
        </p:grpSpPr>
        <p:sp>
          <p:nvSpPr>
            <p:cNvPr id="28745" name="Rectangle 58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8746" name="Text Box 59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6, id=1</a:t>
              </a:r>
            </a:p>
          </p:txBody>
        </p:sp>
      </p:grpSp>
      <p:sp>
        <p:nvSpPr>
          <p:cNvPr id="28718" name="Freeform 60"/>
          <p:cNvSpPr>
            <a:spLocks/>
          </p:cNvSpPr>
          <p:nvPr/>
        </p:nvSpPr>
        <p:spPr bwMode="auto">
          <a:xfrm flipH="1">
            <a:off x="5731520" y="3064670"/>
            <a:ext cx="262533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8719" name="Group 61"/>
          <p:cNvGrpSpPr>
            <a:grpSpLocks/>
          </p:cNvGrpSpPr>
          <p:nvPr/>
        </p:nvGrpSpPr>
        <p:grpSpPr bwMode="auto">
          <a:xfrm>
            <a:off x="5507831" y="2760615"/>
            <a:ext cx="728663" cy="301339"/>
            <a:chOff x="1927" y="3158"/>
            <a:chExt cx="590" cy="451"/>
          </a:xfrm>
        </p:grpSpPr>
        <p:sp>
          <p:nvSpPr>
            <p:cNvPr id="28743" name="Rectangle 62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8744" name="Text Box 63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grpSp>
        <p:nvGrpSpPr>
          <p:cNvPr id="28720" name="Group 64"/>
          <p:cNvGrpSpPr>
            <a:grpSpLocks/>
          </p:cNvGrpSpPr>
          <p:nvPr/>
        </p:nvGrpSpPr>
        <p:grpSpPr bwMode="auto">
          <a:xfrm>
            <a:off x="5507831" y="2535587"/>
            <a:ext cx="728663" cy="301339"/>
            <a:chOff x="1927" y="3158"/>
            <a:chExt cx="590" cy="451"/>
          </a:xfrm>
        </p:grpSpPr>
        <p:sp>
          <p:nvSpPr>
            <p:cNvPr id="28741" name="Rectangle 65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8742" name="Text Box 66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6, id=1</a:t>
              </a:r>
            </a:p>
          </p:txBody>
        </p:sp>
      </p:grpSp>
      <p:sp>
        <p:nvSpPr>
          <p:cNvPr id="28721" name="Rectangle 67"/>
          <p:cNvSpPr>
            <a:spLocks noChangeArrowheads="1"/>
          </p:cNvSpPr>
          <p:nvPr/>
        </p:nvSpPr>
        <p:spPr bwMode="auto">
          <a:xfrm>
            <a:off x="5629722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7</a:t>
            </a:r>
          </a:p>
        </p:txBody>
      </p:sp>
      <p:sp>
        <p:nvSpPr>
          <p:cNvPr id="28722" name="Line 68"/>
          <p:cNvSpPr>
            <a:spLocks noChangeShapeType="1"/>
          </p:cNvSpPr>
          <p:nvPr/>
        </p:nvSpPr>
        <p:spPr bwMode="auto">
          <a:xfrm flipV="1">
            <a:off x="6176220" y="2396283"/>
            <a:ext cx="425946" cy="1154609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8723" name="Line 69"/>
          <p:cNvSpPr>
            <a:spLocks noChangeShapeType="1"/>
          </p:cNvSpPr>
          <p:nvPr/>
        </p:nvSpPr>
        <p:spPr bwMode="auto">
          <a:xfrm flipV="1">
            <a:off x="6115943" y="2396282"/>
            <a:ext cx="788938" cy="2309217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8724" name="Rectangle 70"/>
          <p:cNvSpPr>
            <a:spLocks noChangeArrowheads="1"/>
          </p:cNvSpPr>
          <p:nvPr/>
        </p:nvSpPr>
        <p:spPr bwMode="auto">
          <a:xfrm>
            <a:off x="6054328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8</a:t>
            </a:r>
          </a:p>
        </p:txBody>
      </p:sp>
      <p:sp>
        <p:nvSpPr>
          <p:cNvPr id="28725" name="Rectangle 71"/>
          <p:cNvSpPr>
            <a:spLocks noChangeArrowheads="1"/>
          </p:cNvSpPr>
          <p:nvPr/>
        </p:nvSpPr>
        <p:spPr bwMode="auto">
          <a:xfrm>
            <a:off x="7026771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9</a:t>
            </a:r>
          </a:p>
        </p:txBody>
      </p:sp>
      <p:sp>
        <p:nvSpPr>
          <p:cNvPr id="28726" name="Rectangle 72"/>
          <p:cNvSpPr>
            <a:spLocks noChangeArrowheads="1"/>
          </p:cNvSpPr>
          <p:nvPr/>
        </p:nvSpPr>
        <p:spPr bwMode="auto">
          <a:xfrm>
            <a:off x="6419999" y="2882503"/>
            <a:ext cx="182166" cy="242441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00CC00"/>
                </a:solidFill>
              </a:rPr>
              <a:t>8</a:t>
            </a:r>
          </a:p>
        </p:txBody>
      </p:sp>
      <p:sp>
        <p:nvSpPr>
          <p:cNvPr id="28727" name="Rectangle 73"/>
          <p:cNvSpPr>
            <a:spLocks noChangeArrowheads="1"/>
          </p:cNvSpPr>
          <p:nvPr/>
        </p:nvSpPr>
        <p:spPr bwMode="auto">
          <a:xfrm>
            <a:off x="6722715" y="3064669"/>
            <a:ext cx="182166" cy="242441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00CC00"/>
                </a:solidFill>
              </a:rPr>
              <a:t>8</a:t>
            </a:r>
          </a:p>
        </p:txBody>
      </p:sp>
      <p:sp>
        <p:nvSpPr>
          <p:cNvPr id="28728" name="Rectangle 74"/>
          <p:cNvSpPr>
            <a:spLocks noChangeArrowheads="1"/>
          </p:cNvSpPr>
          <p:nvPr/>
        </p:nvSpPr>
        <p:spPr bwMode="auto">
          <a:xfrm>
            <a:off x="6602165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9</a:t>
            </a:r>
          </a:p>
        </p:txBody>
      </p:sp>
      <p:sp>
        <p:nvSpPr>
          <p:cNvPr id="28729" name="Rectangle 75"/>
          <p:cNvSpPr>
            <a:spLocks noChangeArrowheads="1"/>
          </p:cNvSpPr>
          <p:nvPr/>
        </p:nvSpPr>
        <p:spPr bwMode="auto">
          <a:xfrm>
            <a:off x="6906220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10</a:t>
            </a:r>
          </a:p>
        </p:txBody>
      </p:sp>
      <p:sp>
        <p:nvSpPr>
          <p:cNvPr id="28730" name="Rectangle 76"/>
          <p:cNvSpPr>
            <a:spLocks noChangeArrowheads="1"/>
          </p:cNvSpPr>
          <p:nvPr/>
        </p:nvSpPr>
        <p:spPr bwMode="auto">
          <a:xfrm>
            <a:off x="1376958" y="5130107"/>
            <a:ext cx="2309217" cy="9724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en-GB" altLang="it-IT" sz="1519"/>
          </a:p>
        </p:txBody>
      </p:sp>
      <p:sp>
        <p:nvSpPr>
          <p:cNvPr id="28731" name="Line 77"/>
          <p:cNvSpPr>
            <a:spLocks noChangeShapeType="1"/>
          </p:cNvSpPr>
          <p:nvPr/>
        </p:nvSpPr>
        <p:spPr bwMode="auto">
          <a:xfrm>
            <a:off x="1437234" y="5313611"/>
            <a:ext cx="30405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8732" name="Line 78"/>
          <p:cNvSpPr>
            <a:spLocks noChangeShapeType="1"/>
          </p:cNvSpPr>
          <p:nvPr/>
        </p:nvSpPr>
        <p:spPr bwMode="auto">
          <a:xfrm>
            <a:off x="1437234" y="5556052"/>
            <a:ext cx="304055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8733" name="Text Box 79"/>
          <p:cNvSpPr txBox="1">
            <a:spLocks noChangeArrowheads="1"/>
          </p:cNvSpPr>
          <p:nvPr/>
        </p:nvSpPr>
        <p:spPr bwMode="auto">
          <a:xfrm>
            <a:off x="1741290" y="5130106"/>
            <a:ext cx="1883271" cy="5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181"/>
              <a:t>Program Message</a:t>
            </a:r>
          </a:p>
          <a:p>
            <a:pPr eaLnBrk="1" hangingPunct="1">
              <a:spcBef>
                <a:spcPct val="50000"/>
              </a:spcBef>
            </a:pPr>
            <a:endParaRPr lang="it-IT" altLang="it-IT" sz="1181"/>
          </a:p>
        </p:txBody>
      </p:sp>
      <p:sp>
        <p:nvSpPr>
          <p:cNvPr id="28734" name="Text Box 80"/>
          <p:cNvSpPr txBox="1">
            <a:spLocks noChangeArrowheads="1"/>
          </p:cNvSpPr>
          <p:nvPr/>
        </p:nvSpPr>
        <p:spPr bwMode="auto">
          <a:xfrm>
            <a:off x="1741290" y="5419428"/>
            <a:ext cx="1943547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CS access Message</a:t>
            </a:r>
          </a:p>
        </p:txBody>
      </p:sp>
      <p:sp>
        <p:nvSpPr>
          <p:cNvPr id="28735" name="Line 81"/>
          <p:cNvSpPr>
            <a:spLocks noChangeShapeType="1"/>
          </p:cNvSpPr>
          <p:nvPr/>
        </p:nvSpPr>
        <p:spPr bwMode="auto">
          <a:xfrm>
            <a:off x="1437234" y="5860108"/>
            <a:ext cx="304055" cy="0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8736" name="Text Box 82"/>
          <p:cNvSpPr txBox="1">
            <a:spLocks noChangeArrowheads="1"/>
          </p:cNvSpPr>
          <p:nvPr/>
        </p:nvSpPr>
        <p:spPr bwMode="auto">
          <a:xfrm>
            <a:off x="1741290" y="5723484"/>
            <a:ext cx="1943547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Ack Message</a:t>
            </a:r>
          </a:p>
        </p:txBody>
      </p:sp>
      <p:grpSp>
        <p:nvGrpSpPr>
          <p:cNvPr id="28737" name="Group 83"/>
          <p:cNvGrpSpPr>
            <a:grpSpLocks/>
          </p:cNvGrpSpPr>
          <p:nvPr/>
        </p:nvGrpSpPr>
        <p:grpSpPr bwMode="auto">
          <a:xfrm>
            <a:off x="6115944" y="5373886"/>
            <a:ext cx="2611934" cy="880021"/>
            <a:chOff x="3606" y="3612"/>
            <a:chExt cx="1950" cy="657"/>
          </a:xfrm>
        </p:grpSpPr>
        <p:sp>
          <p:nvSpPr>
            <p:cNvPr id="28739" name="Rectangle 84"/>
            <p:cNvSpPr>
              <a:spLocks noChangeArrowheads="1"/>
            </p:cNvSpPr>
            <p:nvPr/>
          </p:nvSpPr>
          <p:spPr bwMode="auto">
            <a:xfrm>
              <a:off x="3606" y="3612"/>
              <a:ext cx="1905" cy="63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8740" name="Text Box 85"/>
            <p:cNvSpPr txBox="1">
              <a:spLocks noChangeArrowheads="1"/>
            </p:cNvSpPr>
            <p:nvPr/>
          </p:nvSpPr>
          <p:spPr bwMode="auto">
            <a:xfrm>
              <a:off x="3651" y="3657"/>
              <a:ext cx="1905" cy="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p</a:t>
              </a:r>
              <a:r>
                <a:rPr lang="it-IT" altLang="it-IT" sz="1181" baseline="-25000"/>
                <a:t>1 </a:t>
              </a:r>
              <a:r>
                <a:rPr lang="it-IT" altLang="it-IT" sz="1181"/>
                <a:t>has received both the ack, has its request in the queue but it is not the one with the smallest timestamp then it has to wait</a:t>
              </a:r>
            </a:p>
          </p:txBody>
        </p:sp>
      </p:grpSp>
      <p:sp>
        <p:nvSpPr>
          <p:cNvPr id="28738" name="Line 86"/>
          <p:cNvSpPr>
            <a:spLocks noChangeShapeType="1"/>
          </p:cNvSpPr>
          <p:nvPr/>
        </p:nvSpPr>
        <p:spPr bwMode="auto">
          <a:xfrm>
            <a:off x="6904881" y="2092226"/>
            <a:ext cx="0" cy="303788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</p:spTree>
    <p:extLst>
      <p:ext uri="{BB962C8B-B14F-4D97-AF65-F5344CB8AC3E}">
        <p14:creationId xmlns:p14="http://schemas.microsoft.com/office/powerpoint/2010/main" val="1275650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/>
              <a:t>Lamport’s algorithm: example</a:t>
            </a:r>
          </a:p>
        </p:txBody>
      </p:sp>
      <p:sp>
        <p:nvSpPr>
          <p:cNvPr id="29699" name="Line 3"/>
          <p:cNvSpPr>
            <a:spLocks noChangeShapeType="1"/>
          </p:cNvSpPr>
          <p:nvPr/>
        </p:nvSpPr>
        <p:spPr bwMode="auto">
          <a:xfrm>
            <a:off x="1983731" y="2396282"/>
            <a:ext cx="674414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>
            <a:off x="1983731" y="3550891"/>
            <a:ext cx="662225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auto">
          <a:xfrm>
            <a:off x="1983732" y="4705499"/>
            <a:ext cx="668387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1983730" y="4463058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1983730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1983730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29705" name="Line 9"/>
          <p:cNvSpPr>
            <a:spLocks noChangeShapeType="1"/>
          </p:cNvSpPr>
          <p:nvPr/>
        </p:nvSpPr>
        <p:spPr bwMode="auto">
          <a:xfrm>
            <a:off x="2409678" y="2396282"/>
            <a:ext cx="424606" cy="230921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2349401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1</a:t>
            </a: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2591842" y="2942780"/>
            <a:ext cx="182166" cy="242441"/>
          </a:xfrm>
          <a:prstGeom prst="rect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3333CC"/>
                </a:solidFill>
              </a:rPr>
              <a:t>1</a:t>
            </a:r>
          </a:p>
        </p:txBody>
      </p:sp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2895897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2</a:t>
            </a:r>
          </a:p>
        </p:txBody>
      </p:sp>
      <p:sp>
        <p:nvSpPr>
          <p:cNvPr id="29709" name="Line 13"/>
          <p:cNvSpPr>
            <a:spLocks noChangeShapeType="1"/>
          </p:cNvSpPr>
          <p:nvPr/>
        </p:nvSpPr>
        <p:spPr bwMode="auto">
          <a:xfrm flipV="1">
            <a:off x="3564285" y="2396282"/>
            <a:ext cx="486221" cy="2309217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10" name="Line 14"/>
          <p:cNvSpPr>
            <a:spLocks noChangeShapeType="1"/>
          </p:cNvSpPr>
          <p:nvPr/>
        </p:nvSpPr>
        <p:spPr bwMode="auto">
          <a:xfrm flipV="1">
            <a:off x="3564285" y="3550892"/>
            <a:ext cx="1092994" cy="1154609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11" name="Rectangle 15"/>
          <p:cNvSpPr>
            <a:spLocks noChangeArrowheads="1"/>
          </p:cNvSpPr>
          <p:nvPr/>
        </p:nvSpPr>
        <p:spPr bwMode="auto">
          <a:xfrm>
            <a:off x="3382119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3</a:t>
            </a:r>
          </a:p>
        </p:txBody>
      </p:sp>
      <p:sp>
        <p:nvSpPr>
          <p:cNvPr id="29712" name="Rectangle 16"/>
          <p:cNvSpPr>
            <a:spLocks noChangeArrowheads="1"/>
          </p:cNvSpPr>
          <p:nvPr/>
        </p:nvSpPr>
        <p:spPr bwMode="auto">
          <a:xfrm>
            <a:off x="3928616" y="4279554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29713" name="Rectangle 17"/>
          <p:cNvSpPr>
            <a:spLocks noChangeArrowheads="1"/>
          </p:cNvSpPr>
          <p:nvPr/>
        </p:nvSpPr>
        <p:spPr bwMode="auto">
          <a:xfrm>
            <a:off x="3502670" y="3793331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29714" name="Freeform 18"/>
          <p:cNvSpPr>
            <a:spLocks/>
          </p:cNvSpPr>
          <p:nvPr/>
        </p:nvSpPr>
        <p:spPr bwMode="auto">
          <a:xfrm>
            <a:off x="3533479" y="4705501"/>
            <a:ext cx="212973" cy="302716"/>
          </a:xfrm>
          <a:custGeom>
            <a:avLst/>
            <a:gdLst>
              <a:gd name="T0" fmla="*/ 23 w 159"/>
              <a:gd name="T1" fmla="*/ 0 h 226"/>
              <a:gd name="T2" fmla="*/ 23 w 159"/>
              <a:gd name="T3" fmla="*/ 181 h 226"/>
              <a:gd name="T4" fmla="*/ 159 w 159"/>
              <a:gd name="T5" fmla="*/ 226 h 226"/>
              <a:gd name="T6" fmla="*/ 0 60000 65536"/>
              <a:gd name="T7" fmla="*/ 0 60000 65536"/>
              <a:gd name="T8" fmla="*/ 0 60000 65536"/>
              <a:gd name="T9" fmla="*/ 0 w 159"/>
              <a:gd name="T10" fmla="*/ 0 h 226"/>
              <a:gd name="T11" fmla="*/ 159 w 159"/>
              <a:gd name="T12" fmla="*/ 226 h 2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9" h="226">
                <a:moveTo>
                  <a:pt x="23" y="0"/>
                </a:moveTo>
                <a:cubicBezTo>
                  <a:pt x="11" y="72"/>
                  <a:pt x="0" y="144"/>
                  <a:pt x="23" y="181"/>
                </a:cubicBezTo>
                <a:cubicBezTo>
                  <a:pt x="46" y="218"/>
                  <a:pt x="136" y="219"/>
                  <a:pt x="159" y="226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15" name="Line 19"/>
          <p:cNvSpPr>
            <a:spLocks noChangeShapeType="1"/>
          </p:cNvSpPr>
          <p:nvPr/>
        </p:nvSpPr>
        <p:spPr bwMode="auto">
          <a:xfrm>
            <a:off x="4718895" y="2396282"/>
            <a:ext cx="1153269" cy="2309217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16" name="Line 20"/>
          <p:cNvSpPr>
            <a:spLocks noChangeShapeType="1"/>
          </p:cNvSpPr>
          <p:nvPr/>
        </p:nvSpPr>
        <p:spPr bwMode="auto">
          <a:xfrm>
            <a:off x="4718894" y="2396283"/>
            <a:ext cx="1032718" cy="1154609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17" name="Rectangle 21"/>
          <p:cNvSpPr>
            <a:spLocks noChangeArrowheads="1"/>
          </p:cNvSpPr>
          <p:nvPr/>
        </p:nvSpPr>
        <p:spPr bwMode="auto">
          <a:xfrm>
            <a:off x="3928616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4</a:t>
            </a:r>
          </a:p>
        </p:txBody>
      </p:sp>
      <p:sp>
        <p:nvSpPr>
          <p:cNvPr id="29718" name="Rectangle 22"/>
          <p:cNvSpPr>
            <a:spLocks noChangeArrowheads="1"/>
          </p:cNvSpPr>
          <p:nvPr/>
        </p:nvSpPr>
        <p:spPr bwMode="auto">
          <a:xfrm>
            <a:off x="5083225" y="2518172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6</a:t>
            </a:r>
          </a:p>
        </p:txBody>
      </p:sp>
      <p:sp>
        <p:nvSpPr>
          <p:cNvPr id="29719" name="Rectangle 23"/>
          <p:cNvSpPr>
            <a:spLocks noChangeArrowheads="1"/>
          </p:cNvSpPr>
          <p:nvPr/>
        </p:nvSpPr>
        <p:spPr bwMode="auto">
          <a:xfrm>
            <a:off x="4718894" y="2638723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6</a:t>
            </a:r>
          </a:p>
        </p:txBody>
      </p:sp>
      <p:grpSp>
        <p:nvGrpSpPr>
          <p:cNvPr id="29720" name="Group 24"/>
          <p:cNvGrpSpPr>
            <a:grpSpLocks/>
          </p:cNvGrpSpPr>
          <p:nvPr/>
        </p:nvGrpSpPr>
        <p:grpSpPr bwMode="auto">
          <a:xfrm>
            <a:off x="4536728" y="1606007"/>
            <a:ext cx="728663" cy="301339"/>
            <a:chOff x="1927" y="3158"/>
            <a:chExt cx="590" cy="451"/>
          </a:xfrm>
        </p:grpSpPr>
        <p:sp>
          <p:nvSpPr>
            <p:cNvPr id="29785" name="Rectangle 25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9786" name="Text Box 26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6, id=1</a:t>
              </a:r>
            </a:p>
          </p:txBody>
        </p:sp>
      </p:grpSp>
      <p:sp>
        <p:nvSpPr>
          <p:cNvPr id="29721" name="Freeform 27"/>
          <p:cNvSpPr>
            <a:spLocks/>
          </p:cNvSpPr>
          <p:nvPr/>
        </p:nvSpPr>
        <p:spPr bwMode="auto">
          <a:xfrm>
            <a:off x="4353224" y="1910061"/>
            <a:ext cx="405855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9722" name="Group 28"/>
          <p:cNvGrpSpPr>
            <a:grpSpLocks/>
          </p:cNvGrpSpPr>
          <p:nvPr/>
        </p:nvGrpSpPr>
        <p:grpSpPr bwMode="auto">
          <a:xfrm>
            <a:off x="3746451" y="4905078"/>
            <a:ext cx="728663" cy="301340"/>
            <a:chOff x="1927" y="3158"/>
            <a:chExt cx="590" cy="451"/>
          </a:xfrm>
        </p:grpSpPr>
        <p:sp>
          <p:nvSpPr>
            <p:cNvPr id="29783" name="Rectangle 29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9784" name="Text Box 30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sp>
        <p:nvSpPr>
          <p:cNvPr id="29723" name="Line 31"/>
          <p:cNvSpPr>
            <a:spLocks noChangeShapeType="1"/>
          </p:cNvSpPr>
          <p:nvPr/>
        </p:nvSpPr>
        <p:spPr bwMode="auto">
          <a:xfrm>
            <a:off x="4232672" y="2396282"/>
            <a:ext cx="606773" cy="2309217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24" name="Line 32"/>
          <p:cNvSpPr>
            <a:spLocks noChangeShapeType="1"/>
          </p:cNvSpPr>
          <p:nvPr/>
        </p:nvSpPr>
        <p:spPr bwMode="auto">
          <a:xfrm>
            <a:off x="4779170" y="3549552"/>
            <a:ext cx="2247602" cy="1155948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25" name="Rectangle 33"/>
          <p:cNvSpPr>
            <a:spLocks noChangeArrowheads="1"/>
          </p:cNvSpPr>
          <p:nvPr/>
        </p:nvSpPr>
        <p:spPr bwMode="auto">
          <a:xfrm>
            <a:off x="4171057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5</a:t>
            </a:r>
          </a:p>
        </p:txBody>
      </p:sp>
      <p:sp>
        <p:nvSpPr>
          <p:cNvPr id="29726" name="Rectangle 34"/>
          <p:cNvSpPr>
            <a:spLocks noChangeArrowheads="1"/>
          </p:cNvSpPr>
          <p:nvPr/>
        </p:nvSpPr>
        <p:spPr bwMode="auto">
          <a:xfrm>
            <a:off x="4839444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6</a:t>
            </a:r>
          </a:p>
        </p:txBody>
      </p:sp>
      <p:sp>
        <p:nvSpPr>
          <p:cNvPr id="29727" name="Rectangle 35"/>
          <p:cNvSpPr>
            <a:spLocks noChangeArrowheads="1"/>
          </p:cNvSpPr>
          <p:nvPr/>
        </p:nvSpPr>
        <p:spPr bwMode="auto">
          <a:xfrm>
            <a:off x="4414837" y="2700338"/>
            <a:ext cx="182166" cy="242441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00CC00"/>
                </a:solidFill>
              </a:rPr>
              <a:t>5</a:t>
            </a:r>
          </a:p>
        </p:txBody>
      </p:sp>
      <p:sp>
        <p:nvSpPr>
          <p:cNvPr id="29728" name="Rectangle 36"/>
          <p:cNvSpPr>
            <a:spLocks noChangeArrowheads="1"/>
          </p:cNvSpPr>
          <p:nvPr/>
        </p:nvSpPr>
        <p:spPr bwMode="auto">
          <a:xfrm>
            <a:off x="4535388" y="3308449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4</a:t>
            </a:r>
          </a:p>
        </p:txBody>
      </p:sp>
      <p:sp>
        <p:nvSpPr>
          <p:cNvPr id="29729" name="Rectangle 37"/>
          <p:cNvSpPr>
            <a:spLocks noChangeArrowheads="1"/>
          </p:cNvSpPr>
          <p:nvPr/>
        </p:nvSpPr>
        <p:spPr bwMode="auto">
          <a:xfrm>
            <a:off x="4717554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5</a:t>
            </a:r>
          </a:p>
        </p:txBody>
      </p:sp>
      <p:sp>
        <p:nvSpPr>
          <p:cNvPr id="29730" name="Rectangle 38"/>
          <p:cNvSpPr>
            <a:spLocks noChangeArrowheads="1"/>
          </p:cNvSpPr>
          <p:nvPr/>
        </p:nvSpPr>
        <p:spPr bwMode="auto">
          <a:xfrm>
            <a:off x="4657279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6</a:t>
            </a:r>
          </a:p>
        </p:txBody>
      </p:sp>
      <p:sp>
        <p:nvSpPr>
          <p:cNvPr id="29731" name="Rectangle 39"/>
          <p:cNvSpPr>
            <a:spLocks noChangeArrowheads="1"/>
          </p:cNvSpPr>
          <p:nvPr/>
        </p:nvSpPr>
        <p:spPr bwMode="auto">
          <a:xfrm>
            <a:off x="5021610" y="3854946"/>
            <a:ext cx="182166" cy="242441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00CC00"/>
                </a:solidFill>
              </a:rPr>
              <a:t>5</a:t>
            </a:r>
          </a:p>
        </p:txBody>
      </p:sp>
      <p:sp>
        <p:nvSpPr>
          <p:cNvPr id="29732" name="Rectangle 40"/>
          <p:cNvSpPr>
            <a:spLocks noChangeArrowheads="1"/>
          </p:cNvSpPr>
          <p:nvPr/>
        </p:nvSpPr>
        <p:spPr bwMode="auto">
          <a:xfrm>
            <a:off x="5811887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7</a:t>
            </a:r>
          </a:p>
        </p:txBody>
      </p:sp>
      <p:sp>
        <p:nvSpPr>
          <p:cNvPr id="29733" name="Rectangle 41"/>
          <p:cNvSpPr>
            <a:spLocks noChangeArrowheads="1"/>
          </p:cNvSpPr>
          <p:nvPr/>
        </p:nvSpPr>
        <p:spPr bwMode="auto">
          <a:xfrm>
            <a:off x="6054328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8</a:t>
            </a:r>
          </a:p>
        </p:txBody>
      </p:sp>
      <p:sp>
        <p:nvSpPr>
          <p:cNvPr id="29734" name="Freeform 42"/>
          <p:cNvSpPr>
            <a:spLocks/>
          </p:cNvSpPr>
          <p:nvPr/>
        </p:nvSpPr>
        <p:spPr bwMode="auto">
          <a:xfrm>
            <a:off x="3624561" y="1910061"/>
            <a:ext cx="405855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9735" name="Group 43"/>
          <p:cNvGrpSpPr>
            <a:grpSpLocks/>
          </p:cNvGrpSpPr>
          <p:nvPr/>
        </p:nvGrpSpPr>
        <p:grpSpPr bwMode="auto">
          <a:xfrm>
            <a:off x="3806726" y="1727895"/>
            <a:ext cx="728663" cy="301340"/>
            <a:chOff x="1927" y="3158"/>
            <a:chExt cx="590" cy="451"/>
          </a:xfrm>
        </p:grpSpPr>
        <p:sp>
          <p:nvSpPr>
            <p:cNvPr id="29781" name="Rectangle 44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9782" name="Text Box 45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grpSp>
        <p:nvGrpSpPr>
          <p:cNvPr id="29736" name="Group 46"/>
          <p:cNvGrpSpPr>
            <a:grpSpLocks/>
          </p:cNvGrpSpPr>
          <p:nvPr/>
        </p:nvGrpSpPr>
        <p:grpSpPr bwMode="auto">
          <a:xfrm>
            <a:off x="4536728" y="1849787"/>
            <a:ext cx="728663" cy="301339"/>
            <a:chOff x="1927" y="3158"/>
            <a:chExt cx="590" cy="451"/>
          </a:xfrm>
        </p:grpSpPr>
        <p:sp>
          <p:nvSpPr>
            <p:cNvPr id="29779" name="Rectangle 47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9780" name="Text Box 48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sp>
        <p:nvSpPr>
          <p:cNvPr id="29737" name="Freeform 49"/>
          <p:cNvSpPr>
            <a:spLocks/>
          </p:cNvSpPr>
          <p:nvPr/>
        </p:nvSpPr>
        <p:spPr bwMode="auto">
          <a:xfrm>
            <a:off x="4232673" y="3064670"/>
            <a:ext cx="405855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9738" name="Group 50"/>
          <p:cNvGrpSpPr>
            <a:grpSpLocks/>
          </p:cNvGrpSpPr>
          <p:nvPr/>
        </p:nvGrpSpPr>
        <p:grpSpPr bwMode="auto">
          <a:xfrm>
            <a:off x="4414837" y="3003054"/>
            <a:ext cx="728663" cy="301340"/>
            <a:chOff x="1927" y="3158"/>
            <a:chExt cx="590" cy="451"/>
          </a:xfrm>
        </p:grpSpPr>
        <p:sp>
          <p:nvSpPr>
            <p:cNvPr id="29777" name="Rectangle 51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9778" name="Text Box 52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sp>
        <p:nvSpPr>
          <p:cNvPr id="29739" name="Freeform 53"/>
          <p:cNvSpPr>
            <a:spLocks/>
          </p:cNvSpPr>
          <p:nvPr/>
        </p:nvSpPr>
        <p:spPr bwMode="auto">
          <a:xfrm>
            <a:off x="5811887" y="4705501"/>
            <a:ext cx="212973" cy="302716"/>
          </a:xfrm>
          <a:custGeom>
            <a:avLst/>
            <a:gdLst>
              <a:gd name="T0" fmla="*/ 23 w 159"/>
              <a:gd name="T1" fmla="*/ 0 h 226"/>
              <a:gd name="T2" fmla="*/ 23 w 159"/>
              <a:gd name="T3" fmla="*/ 181 h 226"/>
              <a:gd name="T4" fmla="*/ 159 w 159"/>
              <a:gd name="T5" fmla="*/ 226 h 226"/>
              <a:gd name="T6" fmla="*/ 0 60000 65536"/>
              <a:gd name="T7" fmla="*/ 0 60000 65536"/>
              <a:gd name="T8" fmla="*/ 0 60000 65536"/>
              <a:gd name="T9" fmla="*/ 0 w 159"/>
              <a:gd name="T10" fmla="*/ 0 h 226"/>
              <a:gd name="T11" fmla="*/ 159 w 159"/>
              <a:gd name="T12" fmla="*/ 226 h 2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9" h="226">
                <a:moveTo>
                  <a:pt x="23" y="0"/>
                </a:moveTo>
                <a:cubicBezTo>
                  <a:pt x="11" y="72"/>
                  <a:pt x="0" y="144"/>
                  <a:pt x="23" y="181"/>
                </a:cubicBezTo>
                <a:cubicBezTo>
                  <a:pt x="46" y="218"/>
                  <a:pt x="136" y="219"/>
                  <a:pt x="159" y="226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9740" name="Group 54"/>
          <p:cNvGrpSpPr>
            <a:grpSpLocks/>
          </p:cNvGrpSpPr>
          <p:nvPr/>
        </p:nvGrpSpPr>
        <p:grpSpPr bwMode="auto">
          <a:xfrm>
            <a:off x="6055668" y="4765775"/>
            <a:ext cx="728663" cy="301340"/>
            <a:chOff x="1927" y="3158"/>
            <a:chExt cx="590" cy="451"/>
          </a:xfrm>
        </p:grpSpPr>
        <p:sp>
          <p:nvSpPr>
            <p:cNvPr id="29775" name="Rectangle 55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9776" name="Text Box 56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grpSp>
        <p:nvGrpSpPr>
          <p:cNvPr id="29741" name="Group 57"/>
          <p:cNvGrpSpPr>
            <a:grpSpLocks/>
          </p:cNvGrpSpPr>
          <p:nvPr/>
        </p:nvGrpSpPr>
        <p:grpSpPr bwMode="auto">
          <a:xfrm>
            <a:off x="6055668" y="5008218"/>
            <a:ext cx="728663" cy="301339"/>
            <a:chOff x="1927" y="3158"/>
            <a:chExt cx="590" cy="451"/>
          </a:xfrm>
        </p:grpSpPr>
        <p:sp>
          <p:nvSpPr>
            <p:cNvPr id="29773" name="Rectangle 58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9774" name="Text Box 59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6, id=1</a:t>
              </a:r>
            </a:p>
          </p:txBody>
        </p:sp>
      </p:grpSp>
      <p:sp>
        <p:nvSpPr>
          <p:cNvPr id="29742" name="Freeform 60"/>
          <p:cNvSpPr>
            <a:spLocks/>
          </p:cNvSpPr>
          <p:nvPr/>
        </p:nvSpPr>
        <p:spPr bwMode="auto">
          <a:xfrm flipH="1">
            <a:off x="5731520" y="3064670"/>
            <a:ext cx="262533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9743" name="Group 61"/>
          <p:cNvGrpSpPr>
            <a:grpSpLocks/>
          </p:cNvGrpSpPr>
          <p:nvPr/>
        </p:nvGrpSpPr>
        <p:grpSpPr bwMode="auto">
          <a:xfrm>
            <a:off x="5507831" y="2760615"/>
            <a:ext cx="728663" cy="301339"/>
            <a:chOff x="1927" y="3158"/>
            <a:chExt cx="590" cy="451"/>
          </a:xfrm>
        </p:grpSpPr>
        <p:sp>
          <p:nvSpPr>
            <p:cNvPr id="29771" name="Rectangle 62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9772" name="Text Box 63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grpSp>
        <p:nvGrpSpPr>
          <p:cNvPr id="29744" name="Group 64"/>
          <p:cNvGrpSpPr>
            <a:grpSpLocks/>
          </p:cNvGrpSpPr>
          <p:nvPr/>
        </p:nvGrpSpPr>
        <p:grpSpPr bwMode="auto">
          <a:xfrm>
            <a:off x="5507831" y="2535587"/>
            <a:ext cx="728663" cy="301339"/>
            <a:chOff x="1927" y="3158"/>
            <a:chExt cx="590" cy="451"/>
          </a:xfrm>
        </p:grpSpPr>
        <p:sp>
          <p:nvSpPr>
            <p:cNvPr id="29769" name="Rectangle 65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9770" name="Text Box 66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6, id=1</a:t>
              </a:r>
            </a:p>
          </p:txBody>
        </p:sp>
      </p:grpSp>
      <p:sp>
        <p:nvSpPr>
          <p:cNvPr id="29745" name="Rectangle 67"/>
          <p:cNvSpPr>
            <a:spLocks noChangeArrowheads="1"/>
          </p:cNvSpPr>
          <p:nvPr/>
        </p:nvSpPr>
        <p:spPr bwMode="auto">
          <a:xfrm>
            <a:off x="5629722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7</a:t>
            </a:r>
          </a:p>
        </p:txBody>
      </p:sp>
      <p:sp>
        <p:nvSpPr>
          <p:cNvPr id="29746" name="Line 68"/>
          <p:cNvSpPr>
            <a:spLocks noChangeShapeType="1"/>
          </p:cNvSpPr>
          <p:nvPr/>
        </p:nvSpPr>
        <p:spPr bwMode="auto">
          <a:xfrm flipV="1">
            <a:off x="6176220" y="2396283"/>
            <a:ext cx="425946" cy="1154609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47" name="Line 69"/>
          <p:cNvSpPr>
            <a:spLocks noChangeShapeType="1"/>
          </p:cNvSpPr>
          <p:nvPr/>
        </p:nvSpPr>
        <p:spPr bwMode="auto">
          <a:xfrm flipV="1">
            <a:off x="6236495" y="2396282"/>
            <a:ext cx="668388" cy="2309217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48" name="Rectangle 70"/>
          <p:cNvSpPr>
            <a:spLocks noChangeArrowheads="1"/>
          </p:cNvSpPr>
          <p:nvPr/>
        </p:nvSpPr>
        <p:spPr bwMode="auto">
          <a:xfrm>
            <a:off x="6054328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8</a:t>
            </a:r>
          </a:p>
        </p:txBody>
      </p:sp>
      <p:sp>
        <p:nvSpPr>
          <p:cNvPr id="29749" name="Rectangle 71"/>
          <p:cNvSpPr>
            <a:spLocks noChangeArrowheads="1"/>
          </p:cNvSpPr>
          <p:nvPr/>
        </p:nvSpPr>
        <p:spPr bwMode="auto">
          <a:xfrm>
            <a:off x="7026771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9</a:t>
            </a:r>
          </a:p>
        </p:txBody>
      </p:sp>
      <p:sp>
        <p:nvSpPr>
          <p:cNvPr id="29750" name="Rectangle 72"/>
          <p:cNvSpPr>
            <a:spLocks noChangeArrowheads="1"/>
          </p:cNvSpPr>
          <p:nvPr/>
        </p:nvSpPr>
        <p:spPr bwMode="auto">
          <a:xfrm>
            <a:off x="6419999" y="2882503"/>
            <a:ext cx="182166" cy="242441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00CC00"/>
                </a:solidFill>
              </a:rPr>
              <a:t>8</a:t>
            </a:r>
          </a:p>
        </p:txBody>
      </p:sp>
      <p:sp>
        <p:nvSpPr>
          <p:cNvPr id="29751" name="Rectangle 73"/>
          <p:cNvSpPr>
            <a:spLocks noChangeArrowheads="1"/>
          </p:cNvSpPr>
          <p:nvPr/>
        </p:nvSpPr>
        <p:spPr bwMode="auto">
          <a:xfrm>
            <a:off x="6722715" y="3064669"/>
            <a:ext cx="182166" cy="242441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00CC00"/>
                </a:solidFill>
              </a:rPr>
              <a:t>8</a:t>
            </a:r>
          </a:p>
        </p:txBody>
      </p:sp>
      <p:sp>
        <p:nvSpPr>
          <p:cNvPr id="29752" name="Rectangle 74"/>
          <p:cNvSpPr>
            <a:spLocks noChangeArrowheads="1"/>
          </p:cNvSpPr>
          <p:nvPr/>
        </p:nvSpPr>
        <p:spPr bwMode="auto">
          <a:xfrm>
            <a:off x="6602165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9</a:t>
            </a:r>
          </a:p>
        </p:txBody>
      </p:sp>
      <p:sp>
        <p:nvSpPr>
          <p:cNvPr id="29753" name="Rectangle 75"/>
          <p:cNvSpPr>
            <a:spLocks noChangeArrowheads="1"/>
          </p:cNvSpPr>
          <p:nvPr/>
        </p:nvSpPr>
        <p:spPr bwMode="auto">
          <a:xfrm>
            <a:off x="6844605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10</a:t>
            </a:r>
          </a:p>
        </p:txBody>
      </p:sp>
      <p:sp>
        <p:nvSpPr>
          <p:cNvPr id="29754" name="Rectangle 76"/>
          <p:cNvSpPr>
            <a:spLocks noChangeArrowheads="1"/>
          </p:cNvSpPr>
          <p:nvPr/>
        </p:nvSpPr>
        <p:spPr bwMode="auto">
          <a:xfrm>
            <a:off x="1437234" y="5190383"/>
            <a:ext cx="2309217" cy="9724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en-GB" altLang="it-IT" sz="1519"/>
          </a:p>
        </p:txBody>
      </p:sp>
      <p:sp>
        <p:nvSpPr>
          <p:cNvPr id="29755" name="Line 77"/>
          <p:cNvSpPr>
            <a:spLocks noChangeShapeType="1"/>
          </p:cNvSpPr>
          <p:nvPr/>
        </p:nvSpPr>
        <p:spPr bwMode="auto">
          <a:xfrm>
            <a:off x="1497510" y="5373886"/>
            <a:ext cx="304056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56" name="Line 78"/>
          <p:cNvSpPr>
            <a:spLocks noChangeShapeType="1"/>
          </p:cNvSpPr>
          <p:nvPr/>
        </p:nvSpPr>
        <p:spPr bwMode="auto">
          <a:xfrm>
            <a:off x="1497510" y="5616327"/>
            <a:ext cx="304056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57" name="Text Box 79"/>
          <p:cNvSpPr txBox="1">
            <a:spLocks noChangeArrowheads="1"/>
          </p:cNvSpPr>
          <p:nvPr/>
        </p:nvSpPr>
        <p:spPr bwMode="auto">
          <a:xfrm>
            <a:off x="1801566" y="5190382"/>
            <a:ext cx="1883271" cy="5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181"/>
              <a:t>Program Message</a:t>
            </a:r>
          </a:p>
          <a:p>
            <a:pPr eaLnBrk="1" hangingPunct="1">
              <a:spcBef>
                <a:spcPct val="50000"/>
              </a:spcBef>
            </a:pPr>
            <a:endParaRPr lang="it-IT" altLang="it-IT" sz="1181"/>
          </a:p>
        </p:txBody>
      </p:sp>
      <p:sp>
        <p:nvSpPr>
          <p:cNvPr id="29758" name="Text Box 80"/>
          <p:cNvSpPr txBox="1">
            <a:spLocks noChangeArrowheads="1"/>
          </p:cNvSpPr>
          <p:nvPr/>
        </p:nvSpPr>
        <p:spPr bwMode="auto">
          <a:xfrm>
            <a:off x="1801565" y="5481043"/>
            <a:ext cx="19435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CS access Message</a:t>
            </a:r>
          </a:p>
        </p:txBody>
      </p:sp>
      <p:sp>
        <p:nvSpPr>
          <p:cNvPr id="29759" name="Line 81"/>
          <p:cNvSpPr>
            <a:spLocks noChangeShapeType="1"/>
          </p:cNvSpPr>
          <p:nvPr/>
        </p:nvSpPr>
        <p:spPr bwMode="auto">
          <a:xfrm>
            <a:off x="1497510" y="5798493"/>
            <a:ext cx="304056" cy="0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60" name="Text Box 82"/>
          <p:cNvSpPr txBox="1">
            <a:spLocks noChangeArrowheads="1"/>
          </p:cNvSpPr>
          <p:nvPr/>
        </p:nvSpPr>
        <p:spPr bwMode="auto">
          <a:xfrm>
            <a:off x="1801565" y="5676603"/>
            <a:ext cx="19435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Ack Message</a:t>
            </a:r>
          </a:p>
        </p:txBody>
      </p:sp>
      <p:sp>
        <p:nvSpPr>
          <p:cNvPr id="29761" name="Rectangle 83"/>
          <p:cNvSpPr>
            <a:spLocks noChangeArrowheads="1"/>
          </p:cNvSpPr>
          <p:nvPr/>
        </p:nvSpPr>
        <p:spPr bwMode="auto">
          <a:xfrm>
            <a:off x="7270552" y="4401444"/>
            <a:ext cx="364331" cy="304056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519"/>
              <a:t>CS</a:t>
            </a:r>
          </a:p>
        </p:txBody>
      </p:sp>
      <p:sp>
        <p:nvSpPr>
          <p:cNvPr id="29762" name="Line 84"/>
          <p:cNvSpPr>
            <a:spLocks noChangeShapeType="1"/>
          </p:cNvSpPr>
          <p:nvPr/>
        </p:nvSpPr>
        <p:spPr bwMode="auto">
          <a:xfrm>
            <a:off x="1497510" y="6102548"/>
            <a:ext cx="304056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29763" name="Text Box 85"/>
          <p:cNvSpPr txBox="1">
            <a:spLocks noChangeArrowheads="1"/>
          </p:cNvSpPr>
          <p:nvPr/>
        </p:nvSpPr>
        <p:spPr bwMode="auto">
          <a:xfrm>
            <a:off x="1801565" y="5920383"/>
            <a:ext cx="19435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Reales Message</a:t>
            </a:r>
          </a:p>
        </p:txBody>
      </p:sp>
      <p:sp>
        <p:nvSpPr>
          <p:cNvPr id="29764" name="Line 86"/>
          <p:cNvSpPr>
            <a:spLocks noChangeShapeType="1"/>
          </p:cNvSpPr>
          <p:nvPr/>
        </p:nvSpPr>
        <p:spPr bwMode="auto">
          <a:xfrm>
            <a:off x="7270552" y="2092226"/>
            <a:ext cx="0" cy="303788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29765" name="Group 87"/>
          <p:cNvGrpSpPr>
            <a:grpSpLocks/>
          </p:cNvGrpSpPr>
          <p:nvPr/>
        </p:nvGrpSpPr>
        <p:grpSpPr bwMode="auto">
          <a:xfrm>
            <a:off x="6115944" y="5373886"/>
            <a:ext cx="2611934" cy="880021"/>
            <a:chOff x="3606" y="3612"/>
            <a:chExt cx="1950" cy="657"/>
          </a:xfrm>
        </p:grpSpPr>
        <p:sp>
          <p:nvSpPr>
            <p:cNvPr id="29767" name="Rectangle 88"/>
            <p:cNvSpPr>
              <a:spLocks noChangeArrowheads="1"/>
            </p:cNvSpPr>
            <p:nvPr/>
          </p:nvSpPr>
          <p:spPr bwMode="auto">
            <a:xfrm>
              <a:off x="3606" y="3612"/>
              <a:ext cx="1905" cy="63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29768" name="Text Box 89"/>
            <p:cNvSpPr txBox="1">
              <a:spLocks noChangeArrowheads="1"/>
            </p:cNvSpPr>
            <p:nvPr/>
          </p:nvSpPr>
          <p:spPr bwMode="auto">
            <a:xfrm>
              <a:off x="3651" y="3657"/>
              <a:ext cx="1905" cy="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p</a:t>
              </a:r>
              <a:r>
                <a:rPr lang="it-IT" altLang="it-IT" sz="1181" baseline="-25000"/>
                <a:t>3 </a:t>
              </a:r>
              <a:r>
                <a:rPr lang="it-IT" altLang="it-IT" sz="1181"/>
                <a:t>has received both the ack, has its request in the queue and it is the one with the smallest timestamp then it can enter the CS</a:t>
              </a:r>
            </a:p>
          </p:txBody>
        </p:sp>
      </p:grpSp>
      <p:sp>
        <p:nvSpPr>
          <p:cNvPr id="29766" name="Line 90"/>
          <p:cNvSpPr>
            <a:spLocks noChangeShapeType="1"/>
          </p:cNvSpPr>
          <p:nvPr/>
        </p:nvSpPr>
        <p:spPr bwMode="auto">
          <a:xfrm flipV="1">
            <a:off x="6966496" y="4887665"/>
            <a:ext cx="304055" cy="48622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</p:spTree>
    <p:extLst>
      <p:ext uri="{BB962C8B-B14F-4D97-AF65-F5344CB8AC3E}">
        <p14:creationId xmlns:p14="http://schemas.microsoft.com/office/powerpoint/2010/main" val="1603044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2"/>
          <p:cNvSpPr>
            <a:spLocks noChangeShapeType="1"/>
          </p:cNvSpPr>
          <p:nvPr/>
        </p:nvSpPr>
        <p:spPr bwMode="auto">
          <a:xfrm>
            <a:off x="7938939" y="1970337"/>
            <a:ext cx="0" cy="328166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/>
              <a:t>Lamport’s algorithm: example</a:t>
            </a:r>
          </a:p>
        </p:txBody>
      </p:sp>
      <p:sp>
        <p:nvSpPr>
          <p:cNvPr id="30724" name="Line 4"/>
          <p:cNvSpPr>
            <a:spLocks noChangeShapeType="1"/>
          </p:cNvSpPr>
          <p:nvPr/>
        </p:nvSpPr>
        <p:spPr bwMode="auto">
          <a:xfrm>
            <a:off x="1497509" y="2396282"/>
            <a:ext cx="729198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25" name="Line 5"/>
          <p:cNvSpPr>
            <a:spLocks noChangeShapeType="1"/>
          </p:cNvSpPr>
          <p:nvPr/>
        </p:nvSpPr>
        <p:spPr bwMode="auto">
          <a:xfrm>
            <a:off x="1497508" y="3550891"/>
            <a:ext cx="735225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>
            <a:off x="1497509" y="4705499"/>
            <a:ext cx="729198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1497508" y="4463058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1497508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30729" name="Rectangle 9"/>
          <p:cNvSpPr>
            <a:spLocks noChangeArrowheads="1"/>
          </p:cNvSpPr>
          <p:nvPr/>
        </p:nvSpPr>
        <p:spPr bwMode="auto">
          <a:xfrm>
            <a:off x="1497508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0</a:t>
            </a:r>
          </a:p>
        </p:txBody>
      </p:sp>
      <p:sp>
        <p:nvSpPr>
          <p:cNvPr id="30730" name="Line 10"/>
          <p:cNvSpPr>
            <a:spLocks noChangeShapeType="1"/>
          </p:cNvSpPr>
          <p:nvPr/>
        </p:nvSpPr>
        <p:spPr bwMode="auto">
          <a:xfrm>
            <a:off x="1923455" y="2396282"/>
            <a:ext cx="424607" cy="230921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1863180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1</a:t>
            </a:r>
          </a:p>
        </p:txBody>
      </p:sp>
      <p:sp>
        <p:nvSpPr>
          <p:cNvPr id="30732" name="Rectangle 12"/>
          <p:cNvSpPr>
            <a:spLocks noChangeArrowheads="1"/>
          </p:cNvSpPr>
          <p:nvPr/>
        </p:nvSpPr>
        <p:spPr bwMode="auto">
          <a:xfrm>
            <a:off x="2105620" y="2942780"/>
            <a:ext cx="182166" cy="242441"/>
          </a:xfrm>
          <a:prstGeom prst="rect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3333CC"/>
                </a:solidFill>
              </a:rPr>
              <a:t>1</a:t>
            </a:r>
          </a:p>
        </p:txBody>
      </p:sp>
      <p:sp>
        <p:nvSpPr>
          <p:cNvPr id="30733" name="Rectangle 13"/>
          <p:cNvSpPr>
            <a:spLocks noChangeArrowheads="1"/>
          </p:cNvSpPr>
          <p:nvPr/>
        </p:nvSpPr>
        <p:spPr bwMode="auto">
          <a:xfrm>
            <a:off x="2409676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2</a:t>
            </a:r>
          </a:p>
        </p:txBody>
      </p:sp>
      <p:sp>
        <p:nvSpPr>
          <p:cNvPr id="30734" name="Line 14"/>
          <p:cNvSpPr>
            <a:spLocks noChangeShapeType="1"/>
          </p:cNvSpPr>
          <p:nvPr/>
        </p:nvSpPr>
        <p:spPr bwMode="auto">
          <a:xfrm flipV="1">
            <a:off x="3078065" y="2396282"/>
            <a:ext cx="486222" cy="2309217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35" name="Line 15"/>
          <p:cNvSpPr>
            <a:spLocks noChangeShapeType="1"/>
          </p:cNvSpPr>
          <p:nvPr/>
        </p:nvSpPr>
        <p:spPr bwMode="auto">
          <a:xfrm flipV="1">
            <a:off x="3078063" y="3550892"/>
            <a:ext cx="1092994" cy="1154609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36" name="Rectangle 16"/>
          <p:cNvSpPr>
            <a:spLocks noChangeArrowheads="1"/>
          </p:cNvSpPr>
          <p:nvPr/>
        </p:nvSpPr>
        <p:spPr bwMode="auto">
          <a:xfrm>
            <a:off x="2895897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3</a:t>
            </a:r>
          </a:p>
        </p:txBody>
      </p:sp>
      <p:sp>
        <p:nvSpPr>
          <p:cNvPr id="30737" name="Rectangle 17"/>
          <p:cNvSpPr>
            <a:spLocks noChangeArrowheads="1"/>
          </p:cNvSpPr>
          <p:nvPr/>
        </p:nvSpPr>
        <p:spPr bwMode="auto">
          <a:xfrm>
            <a:off x="3442394" y="4279554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30738" name="Rectangle 18"/>
          <p:cNvSpPr>
            <a:spLocks noChangeArrowheads="1"/>
          </p:cNvSpPr>
          <p:nvPr/>
        </p:nvSpPr>
        <p:spPr bwMode="auto">
          <a:xfrm>
            <a:off x="3016448" y="3793331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30739" name="Freeform 19"/>
          <p:cNvSpPr>
            <a:spLocks/>
          </p:cNvSpPr>
          <p:nvPr/>
        </p:nvSpPr>
        <p:spPr bwMode="auto">
          <a:xfrm>
            <a:off x="3047256" y="4705501"/>
            <a:ext cx="212973" cy="302716"/>
          </a:xfrm>
          <a:custGeom>
            <a:avLst/>
            <a:gdLst>
              <a:gd name="T0" fmla="*/ 23 w 159"/>
              <a:gd name="T1" fmla="*/ 0 h 226"/>
              <a:gd name="T2" fmla="*/ 23 w 159"/>
              <a:gd name="T3" fmla="*/ 181 h 226"/>
              <a:gd name="T4" fmla="*/ 159 w 159"/>
              <a:gd name="T5" fmla="*/ 226 h 226"/>
              <a:gd name="T6" fmla="*/ 0 60000 65536"/>
              <a:gd name="T7" fmla="*/ 0 60000 65536"/>
              <a:gd name="T8" fmla="*/ 0 60000 65536"/>
              <a:gd name="T9" fmla="*/ 0 w 159"/>
              <a:gd name="T10" fmla="*/ 0 h 226"/>
              <a:gd name="T11" fmla="*/ 159 w 159"/>
              <a:gd name="T12" fmla="*/ 226 h 2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9" h="226">
                <a:moveTo>
                  <a:pt x="23" y="0"/>
                </a:moveTo>
                <a:cubicBezTo>
                  <a:pt x="11" y="72"/>
                  <a:pt x="0" y="144"/>
                  <a:pt x="23" y="181"/>
                </a:cubicBezTo>
                <a:cubicBezTo>
                  <a:pt x="46" y="218"/>
                  <a:pt x="136" y="219"/>
                  <a:pt x="159" y="226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40" name="Line 20"/>
          <p:cNvSpPr>
            <a:spLocks noChangeShapeType="1"/>
          </p:cNvSpPr>
          <p:nvPr/>
        </p:nvSpPr>
        <p:spPr bwMode="auto">
          <a:xfrm>
            <a:off x="4232672" y="2396282"/>
            <a:ext cx="1153270" cy="2309217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41" name="Line 21"/>
          <p:cNvSpPr>
            <a:spLocks noChangeShapeType="1"/>
          </p:cNvSpPr>
          <p:nvPr/>
        </p:nvSpPr>
        <p:spPr bwMode="auto">
          <a:xfrm>
            <a:off x="4232673" y="2396283"/>
            <a:ext cx="1032719" cy="1154609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42" name="Rectangle 22"/>
          <p:cNvSpPr>
            <a:spLocks noChangeArrowheads="1"/>
          </p:cNvSpPr>
          <p:nvPr/>
        </p:nvSpPr>
        <p:spPr bwMode="auto">
          <a:xfrm>
            <a:off x="3442394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4</a:t>
            </a:r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4597003" y="2518172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6</a:t>
            </a:r>
          </a:p>
        </p:txBody>
      </p:sp>
      <p:sp>
        <p:nvSpPr>
          <p:cNvPr id="30744" name="Rectangle 24"/>
          <p:cNvSpPr>
            <a:spLocks noChangeArrowheads="1"/>
          </p:cNvSpPr>
          <p:nvPr/>
        </p:nvSpPr>
        <p:spPr bwMode="auto">
          <a:xfrm>
            <a:off x="4232672" y="2638723"/>
            <a:ext cx="182166" cy="24244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FF3300"/>
                </a:solidFill>
              </a:rPr>
              <a:t>6</a:t>
            </a:r>
          </a:p>
        </p:txBody>
      </p:sp>
      <p:grpSp>
        <p:nvGrpSpPr>
          <p:cNvPr id="30745" name="Group 25"/>
          <p:cNvGrpSpPr>
            <a:grpSpLocks/>
          </p:cNvGrpSpPr>
          <p:nvPr/>
        </p:nvGrpSpPr>
        <p:grpSpPr bwMode="auto">
          <a:xfrm>
            <a:off x="4050506" y="1606007"/>
            <a:ext cx="728663" cy="301339"/>
            <a:chOff x="1927" y="3158"/>
            <a:chExt cx="590" cy="451"/>
          </a:xfrm>
        </p:grpSpPr>
        <p:sp>
          <p:nvSpPr>
            <p:cNvPr id="30827" name="Rectangle 26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30828" name="Text Box 27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6, id=1</a:t>
              </a:r>
            </a:p>
          </p:txBody>
        </p:sp>
      </p:grpSp>
      <p:sp>
        <p:nvSpPr>
          <p:cNvPr id="30746" name="Freeform 28"/>
          <p:cNvSpPr>
            <a:spLocks/>
          </p:cNvSpPr>
          <p:nvPr/>
        </p:nvSpPr>
        <p:spPr bwMode="auto">
          <a:xfrm>
            <a:off x="3867002" y="1910061"/>
            <a:ext cx="405854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30747" name="Group 29"/>
          <p:cNvGrpSpPr>
            <a:grpSpLocks/>
          </p:cNvGrpSpPr>
          <p:nvPr/>
        </p:nvGrpSpPr>
        <p:grpSpPr bwMode="auto">
          <a:xfrm>
            <a:off x="3260229" y="4905078"/>
            <a:ext cx="728663" cy="301340"/>
            <a:chOff x="1927" y="3158"/>
            <a:chExt cx="590" cy="451"/>
          </a:xfrm>
        </p:grpSpPr>
        <p:sp>
          <p:nvSpPr>
            <p:cNvPr id="30825" name="Rectangle 30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30826" name="Text Box 31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sp>
        <p:nvSpPr>
          <p:cNvPr id="30748" name="Line 32"/>
          <p:cNvSpPr>
            <a:spLocks noChangeShapeType="1"/>
          </p:cNvSpPr>
          <p:nvPr/>
        </p:nvSpPr>
        <p:spPr bwMode="auto">
          <a:xfrm>
            <a:off x="3746452" y="2396282"/>
            <a:ext cx="606772" cy="2309217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49" name="Line 33"/>
          <p:cNvSpPr>
            <a:spLocks noChangeShapeType="1"/>
          </p:cNvSpPr>
          <p:nvPr/>
        </p:nvSpPr>
        <p:spPr bwMode="auto">
          <a:xfrm>
            <a:off x="4292949" y="3549552"/>
            <a:ext cx="2247602" cy="1155948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50" name="Rectangle 34"/>
          <p:cNvSpPr>
            <a:spLocks noChangeArrowheads="1"/>
          </p:cNvSpPr>
          <p:nvPr/>
        </p:nvSpPr>
        <p:spPr bwMode="auto">
          <a:xfrm>
            <a:off x="3684836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5</a:t>
            </a:r>
          </a:p>
        </p:txBody>
      </p:sp>
      <p:sp>
        <p:nvSpPr>
          <p:cNvPr id="30751" name="Rectangle 35"/>
          <p:cNvSpPr>
            <a:spLocks noChangeArrowheads="1"/>
          </p:cNvSpPr>
          <p:nvPr/>
        </p:nvSpPr>
        <p:spPr bwMode="auto">
          <a:xfrm>
            <a:off x="4353222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6</a:t>
            </a:r>
          </a:p>
        </p:txBody>
      </p:sp>
      <p:sp>
        <p:nvSpPr>
          <p:cNvPr id="30752" name="Rectangle 36"/>
          <p:cNvSpPr>
            <a:spLocks noChangeArrowheads="1"/>
          </p:cNvSpPr>
          <p:nvPr/>
        </p:nvSpPr>
        <p:spPr bwMode="auto">
          <a:xfrm>
            <a:off x="3928616" y="2700338"/>
            <a:ext cx="182166" cy="242441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00CC00"/>
                </a:solidFill>
              </a:rPr>
              <a:t>5</a:t>
            </a:r>
          </a:p>
        </p:txBody>
      </p:sp>
      <p:sp>
        <p:nvSpPr>
          <p:cNvPr id="30753" name="Rectangle 37"/>
          <p:cNvSpPr>
            <a:spLocks noChangeArrowheads="1"/>
          </p:cNvSpPr>
          <p:nvPr/>
        </p:nvSpPr>
        <p:spPr bwMode="auto">
          <a:xfrm>
            <a:off x="4049167" y="3308449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4</a:t>
            </a:r>
          </a:p>
        </p:txBody>
      </p:sp>
      <p:sp>
        <p:nvSpPr>
          <p:cNvPr id="30754" name="Rectangle 38"/>
          <p:cNvSpPr>
            <a:spLocks noChangeArrowheads="1"/>
          </p:cNvSpPr>
          <p:nvPr/>
        </p:nvSpPr>
        <p:spPr bwMode="auto">
          <a:xfrm>
            <a:off x="4231333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5</a:t>
            </a:r>
          </a:p>
        </p:txBody>
      </p:sp>
      <p:sp>
        <p:nvSpPr>
          <p:cNvPr id="30755" name="Rectangle 39"/>
          <p:cNvSpPr>
            <a:spLocks noChangeArrowheads="1"/>
          </p:cNvSpPr>
          <p:nvPr/>
        </p:nvSpPr>
        <p:spPr bwMode="auto">
          <a:xfrm>
            <a:off x="4171057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6</a:t>
            </a:r>
          </a:p>
        </p:txBody>
      </p:sp>
      <p:sp>
        <p:nvSpPr>
          <p:cNvPr id="30756" name="Rectangle 40"/>
          <p:cNvSpPr>
            <a:spLocks noChangeArrowheads="1"/>
          </p:cNvSpPr>
          <p:nvPr/>
        </p:nvSpPr>
        <p:spPr bwMode="auto">
          <a:xfrm>
            <a:off x="4535388" y="3854946"/>
            <a:ext cx="182166" cy="242441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00CC00"/>
                </a:solidFill>
              </a:rPr>
              <a:t>5</a:t>
            </a:r>
          </a:p>
        </p:txBody>
      </p:sp>
      <p:sp>
        <p:nvSpPr>
          <p:cNvPr id="30757" name="Rectangle 41"/>
          <p:cNvSpPr>
            <a:spLocks noChangeArrowheads="1"/>
          </p:cNvSpPr>
          <p:nvPr/>
        </p:nvSpPr>
        <p:spPr bwMode="auto">
          <a:xfrm>
            <a:off x="5325665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7</a:t>
            </a:r>
          </a:p>
        </p:txBody>
      </p:sp>
      <p:sp>
        <p:nvSpPr>
          <p:cNvPr id="30758" name="Rectangle 42"/>
          <p:cNvSpPr>
            <a:spLocks noChangeArrowheads="1"/>
          </p:cNvSpPr>
          <p:nvPr/>
        </p:nvSpPr>
        <p:spPr bwMode="auto">
          <a:xfrm>
            <a:off x="5568107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8</a:t>
            </a:r>
          </a:p>
        </p:txBody>
      </p:sp>
      <p:sp>
        <p:nvSpPr>
          <p:cNvPr id="30759" name="Freeform 43"/>
          <p:cNvSpPr>
            <a:spLocks/>
          </p:cNvSpPr>
          <p:nvPr/>
        </p:nvSpPr>
        <p:spPr bwMode="auto">
          <a:xfrm>
            <a:off x="3138339" y="1910061"/>
            <a:ext cx="405854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30760" name="Group 44"/>
          <p:cNvGrpSpPr>
            <a:grpSpLocks/>
          </p:cNvGrpSpPr>
          <p:nvPr/>
        </p:nvGrpSpPr>
        <p:grpSpPr bwMode="auto">
          <a:xfrm>
            <a:off x="3320504" y="1727895"/>
            <a:ext cx="728663" cy="301340"/>
            <a:chOff x="1927" y="3158"/>
            <a:chExt cx="590" cy="451"/>
          </a:xfrm>
        </p:grpSpPr>
        <p:sp>
          <p:nvSpPr>
            <p:cNvPr id="30823" name="Rectangle 45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30824" name="Text Box 46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grpSp>
        <p:nvGrpSpPr>
          <p:cNvPr id="30761" name="Group 47"/>
          <p:cNvGrpSpPr>
            <a:grpSpLocks/>
          </p:cNvGrpSpPr>
          <p:nvPr/>
        </p:nvGrpSpPr>
        <p:grpSpPr bwMode="auto">
          <a:xfrm>
            <a:off x="4050506" y="1849787"/>
            <a:ext cx="728663" cy="301339"/>
            <a:chOff x="1927" y="3158"/>
            <a:chExt cx="590" cy="451"/>
          </a:xfrm>
        </p:grpSpPr>
        <p:sp>
          <p:nvSpPr>
            <p:cNvPr id="30821" name="Rectangle 48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30822" name="Text Box 49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sp>
        <p:nvSpPr>
          <p:cNvPr id="30762" name="Freeform 50"/>
          <p:cNvSpPr>
            <a:spLocks/>
          </p:cNvSpPr>
          <p:nvPr/>
        </p:nvSpPr>
        <p:spPr bwMode="auto">
          <a:xfrm>
            <a:off x="3746451" y="3064670"/>
            <a:ext cx="405854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30763" name="Group 51"/>
          <p:cNvGrpSpPr>
            <a:grpSpLocks/>
          </p:cNvGrpSpPr>
          <p:nvPr/>
        </p:nvGrpSpPr>
        <p:grpSpPr bwMode="auto">
          <a:xfrm>
            <a:off x="3928616" y="3003054"/>
            <a:ext cx="728663" cy="301340"/>
            <a:chOff x="1927" y="3158"/>
            <a:chExt cx="590" cy="451"/>
          </a:xfrm>
        </p:grpSpPr>
        <p:sp>
          <p:nvSpPr>
            <p:cNvPr id="30819" name="Rectangle 52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30820" name="Text Box 53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sp>
        <p:nvSpPr>
          <p:cNvPr id="30764" name="Freeform 54"/>
          <p:cNvSpPr>
            <a:spLocks/>
          </p:cNvSpPr>
          <p:nvPr/>
        </p:nvSpPr>
        <p:spPr bwMode="auto">
          <a:xfrm>
            <a:off x="5325667" y="4705501"/>
            <a:ext cx="212973" cy="302716"/>
          </a:xfrm>
          <a:custGeom>
            <a:avLst/>
            <a:gdLst>
              <a:gd name="T0" fmla="*/ 23 w 159"/>
              <a:gd name="T1" fmla="*/ 0 h 226"/>
              <a:gd name="T2" fmla="*/ 23 w 159"/>
              <a:gd name="T3" fmla="*/ 181 h 226"/>
              <a:gd name="T4" fmla="*/ 159 w 159"/>
              <a:gd name="T5" fmla="*/ 226 h 226"/>
              <a:gd name="T6" fmla="*/ 0 60000 65536"/>
              <a:gd name="T7" fmla="*/ 0 60000 65536"/>
              <a:gd name="T8" fmla="*/ 0 60000 65536"/>
              <a:gd name="T9" fmla="*/ 0 w 159"/>
              <a:gd name="T10" fmla="*/ 0 h 226"/>
              <a:gd name="T11" fmla="*/ 159 w 159"/>
              <a:gd name="T12" fmla="*/ 226 h 2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9" h="226">
                <a:moveTo>
                  <a:pt x="23" y="0"/>
                </a:moveTo>
                <a:cubicBezTo>
                  <a:pt x="11" y="72"/>
                  <a:pt x="0" y="144"/>
                  <a:pt x="23" y="181"/>
                </a:cubicBezTo>
                <a:cubicBezTo>
                  <a:pt x="46" y="218"/>
                  <a:pt x="136" y="219"/>
                  <a:pt x="159" y="226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30765" name="Group 55"/>
          <p:cNvGrpSpPr>
            <a:grpSpLocks/>
          </p:cNvGrpSpPr>
          <p:nvPr/>
        </p:nvGrpSpPr>
        <p:grpSpPr bwMode="auto">
          <a:xfrm>
            <a:off x="5569446" y="4765775"/>
            <a:ext cx="728663" cy="301340"/>
            <a:chOff x="1927" y="3158"/>
            <a:chExt cx="590" cy="451"/>
          </a:xfrm>
        </p:grpSpPr>
        <p:sp>
          <p:nvSpPr>
            <p:cNvPr id="30817" name="Rectangle 56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30818" name="Text Box 57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grpSp>
        <p:nvGrpSpPr>
          <p:cNvPr id="30766" name="Group 58"/>
          <p:cNvGrpSpPr>
            <a:grpSpLocks/>
          </p:cNvGrpSpPr>
          <p:nvPr/>
        </p:nvGrpSpPr>
        <p:grpSpPr bwMode="auto">
          <a:xfrm>
            <a:off x="5569446" y="5008218"/>
            <a:ext cx="728663" cy="301339"/>
            <a:chOff x="1927" y="3158"/>
            <a:chExt cx="590" cy="451"/>
          </a:xfrm>
        </p:grpSpPr>
        <p:sp>
          <p:nvSpPr>
            <p:cNvPr id="30815" name="Rectangle 59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30816" name="Text Box 60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6, id=1</a:t>
              </a:r>
            </a:p>
          </p:txBody>
        </p:sp>
      </p:grpSp>
      <p:sp>
        <p:nvSpPr>
          <p:cNvPr id="30767" name="Freeform 61"/>
          <p:cNvSpPr>
            <a:spLocks/>
          </p:cNvSpPr>
          <p:nvPr/>
        </p:nvSpPr>
        <p:spPr bwMode="auto">
          <a:xfrm flipH="1">
            <a:off x="5245298" y="3064670"/>
            <a:ext cx="262533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30768" name="Group 62"/>
          <p:cNvGrpSpPr>
            <a:grpSpLocks/>
          </p:cNvGrpSpPr>
          <p:nvPr/>
        </p:nvGrpSpPr>
        <p:grpSpPr bwMode="auto">
          <a:xfrm>
            <a:off x="5021610" y="2760615"/>
            <a:ext cx="728663" cy="301339"/>
            <a:chOff x="1927" y="3158"/>
            <a:chExt cx="590" cy="451"/>
          </a:xfrm>
        </p:grpSpPr>
        <p:sp>
          <p:nvSpPr>
            <p:cNvPr id="30813" name="Rectangle 63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30814" name="Text Box 64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3, id=3</a:t>
              </a:r>
            </a:p>
          </p:txBody>
        </p:sp>
      </p:grpSp>
      <p:grpSp>
        <p:nvGrpSpPr>
          <p:cNvPr id="30769" name="Group 65"/>
          <p:cNvGrpSpPr>
            <a:grpSpLocks/>
          </p:cNvGrpSpPr>
          <p:nvPr/>
        </p:nvGrpSpPr>
        <p:grpSpPr bwMode="auto">
          <a:xfrm>
            <a:off x="5021610" y="2535587"/>
            <a:ext cx="728663" cy="301339"/>
            <a:chOff x="1927" y="3158"/>
            <a:chExt cx="590" cy="451"/>
          </a:xfrm>
        </p:grpSpPr>
        <p:sp>
          <p:nvSpPr>
            <p:cNvPr id="30811" name="Rectangle 66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30812" name="Text Box 67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6, id=1</a:t>
              </a:r>
            </a:p>
          </p:txBody>
        </p:sp>
      </p:grpSp>
      <p:sp>
        <p:nvSpPr>
          <p:cNvPr id="30770" name="Rectangle 68"/>
          <p:cNvSpPr>
            <a:spLocks noChangeArrowheads="1"/>
          </p:cNvSpPr>
          <p:nvPr/>
        </p:nvSpPr>
        <p:spPr bwMode="auto">
          <a:xfrm>
            <a:off x="5143500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7</a:t>
            </a:r>
          </a:p>
        </p:txBody>
      </p:sp>
      <p:sp>
        <p:nvSpPr>
          <p:cNvPr id="30771" name="Line 69"/>
          <p:cNvSpPr>
            <a:spLocks noChangeShapeType="1"/>
          </p:cNvSpPr>
          <p:nvPr/>
        </p:nvSpPr>
        <p:spPr bwMode="auto">
          <a:xfrm flipV="1">
            <a:off x="5689998" y="2396283"/>
            <a:ext cx="425946" cy="1154609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72" name="Line 70"/>
          <p:cNvSpPr>
            <a:spLocks noChangeShapeType="1"/>
          </p:cNvSpPr>
          <p:nvPr/>
        </p:nvSpPr>
        <p:spPr bwMode="auto">
          <a:xfrm flipV="1">
            <a:off x="5751613" y="2396282"/>
            <a:ext cx="667048" cy="2309217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73" name="Rectangle 71"/>
          <p:cNvSpPr>
            <a:spLocks noChangeArrowheads="1"/>
          </p:cNvSpPr>
          <p:nvPr/>
        </p:nvSpPr>
        <p:spPr bwMode="auto">
          <a:xfrm>
            <a:off x="5568107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8</a:t>
            </a:r>
          </a:p>
        </p:txBody>
      </p:sp>
      <p:sp>
        <p:nvSpPr>
          <p:cNvPr id="30774" name="Rectangle 72"/>
          <p:cNvSpPr>
            <a:spLocks noChangeArrowheads="1"/>
          </p:cNvSpPr>
          <p:nvPr/>
        </p:nvSpPr>
        <p:spPr bwMode="auto">
          <a:xfrm>
            <a:off x="6540550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9</a:t>
            </a:r>
          </a:p>
        </p:txBody>
      </p:sp>
      <p:sp>
        <p:nvSpPr>
          <p:cNvPr id="30775" name="Rectangle 73"/>
          <p:cNvSpPr>
            <a:spLocks noChangeArrowheads="1"/>
          </p:cNvSpPr>
          <p:nvPr/>
        </p:nvSpPr>
        <p:spPr bwMode="auto">
          <a:xfrm>
            <a:off x="5933777" y="2882503"/>
            <a:ext cx="182166" cy="242441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00CC00"/>
                </a:solidFill>
              </a:rPr>
              <a:t>8</a:t>
            </a:r>
          </a:p>
        </p:txBody>
      </p:sp>
      <p:sp>
        <p:nvSpPr>
          <p:cNvPr id="30776" name="Rectangle 74"/>
          <p:cNvSpPr>
            <a:spLocks noChangeArrowheads="1"/>
          </p:cNvSpPr>
          <p:nvPr/>
        </p:nvSpPr>
        <p:spPr bwMode="auto">
          <a:xfrm>
            <a:off x="6236494" y="3064669"/>
            <a:ext cx="182166" cy="242441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>
                <a:solidFill>
                  <a:srgbClr val="00CC00"/>
                </a:solidFill>
              </a:rPr>
              <a:t>8</a:t>
            </a:r>
          </a:p>
        </p:txBody>
      </p:sp>
      <p:sp>
        <p:nvSpPr>
          <p:cNvPr id="30777" name="Rectangle 75"/>
          <p:cNvSpPr>
            <a:spLocks noChangeArrowheads="1"/>
          </p:cNvSpPr>
          <p:nvPr/>
        </p:nvSpPr>
        <p:spPr bwMode="auto">
          <a:xfrm>
            <a:off x="6115943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9</a:t>
            </a:r>
          </a:p>
        </p:txBody>
      </p:sp>
      <p:sp>
        <p:nvSpPr>
          <p:cNvPr id="30778" name="Rectangle 76"/>
          <p:cNvSpPr>
            <a:spLocks noChangeArrowheads="1"/>
          </p:cNvSpPr>
          <p:nvPr/>
        </p:nvSpPr>
        <p:spPr bwMode="auto">
          <a:xfrm>
            <a:off x="6358384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10</a:t>
            </a:r>
          </a:p>
        </p:txBody>
      </p:sp>
      <p:sp>
        <p:nvSpPr>
          <p:cNvPr id="30779" name="Rectangle 77"/>
          <p:cNvSpPr>
            <a:spLocks noChangeArrowheads="1"/>
          </p:cNvSpPr>
          <p:nvPr/>
        </p:nvSpPr>
        <p:spPr bwMode="auto">
          <a:xfrm>
            <a:off x="1437234" y="5190383"/>
            <a:ext cx="2309217" cy="9724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en-GB" altLang="it-IT" sz="1519"/>
          </a:p>
        </p:txBody>
      </p:sp>
      <p:sp>
        <p:nvSpPr>
          <p:cNvPr id="30780" name="Line 78"/>
          <p:cNvSpPr>
            <a:spLocks noChangeShapeType="1"/>
          </p:cNvSpPr>
          <p:nvPr/>
        </p:nvSpPr>
        <p:spPr bwMode="auto">
          <a:xfrm>
            <a:off x="1497510" y="5373886"/>
            <a:ext cx="304056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81" name="Line 79"/>
          <p:cNvSpPr>
            <a:spLocks noChangeShapeType="1"/>
          </p:cNvSpPr>
          <p:nvPr/>
        </p:nvSpPr>
        <p:spPr bwMode="auto">
          <a:xfrm>
            <a:off x="1497510" y="5616327"/>
            <a:ext cx="304056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82" name="Text Box 80"/>
          <p:cNvSpPr txBox="1">
            <a:spLocks noChangeArrowheads="1"/>
          </p:cNvSpPr>
          <p:nvPr/>
        </p:nvSpPr>
        <p:spPr bwMode="auto">
          <a:xfrm>
            <a:off x="1801566" y="5190382"/>
            <a:ext cx="1883271" cy="54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181"/>
              <a:t>Program Message</a:t>
            </a:r>
          </a:p>
          <a:p>
            <a:pPr eaLnBrk="1" hangingPunct="1">
              <a:spcBef>
                <a:spcPct val="50000"/>
              </a:spcBef>
            </a:pPr>
            <a:endParaRPr lang="it-IT" altLang="it-IT" sz="1181"/>
          </a:p>
        </p:txBody>
      </p:sp>
      <p:sp>
        <p:nvSpPr>
          <p:cNvPr id="30783" name="Text Box 81"/>
          <p:cNvSpPr txBox="1">
            <a:spLocks noChangeArrowheads="1"/>
          </p:cNvSpPr>
          <p:nvPr/>
        </p:nvSpPr>
        <p:spPr bwMode="auto">
          <a:xfrm>
            <a:off x="1801565" y="5481043"/>
            <a:ext cx="19435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CS access Message</a:t>
            </a:r>
          </a:p>
        </p:txBody>
      </p:sp>
      <p:sp>
        <p:nvSpPr>
          <p:cNvPr id="30784" name="Line 82"/>
          <p:cNvSpPr>
            <a:spLocks noChangeShapeType="1"/>
          </p:cNvSpPr>
          <p:nvPr/>
        </p:nvSpPr>
        <p:spPr bwMode="auto">
          <a:xfrm>
            <a:off x="1497510" y="5798493"/>
            <a:ext cx="304056" cy="0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85" name="Text Box 83"/>
          <p:cNvSpPr txBox="1">
            <a:spLocks noChangeArrowheads="1"/>
          </p:cNvSpPr>
          <p:nvPr/>
        </p:nvSpPr>
        <p:spPr bwMode="auto">
          <a:xfrm>
            <a:off x="1801565" y="5676603"/>
            <a:ext cx="19435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Ack Message</a:t>
            </a:r>
          </a:p>
        </p:txBody>
      </p:sp>
      <p:sp>
        <p:nvSpPr>
          <p:cNvPr id="30786" name="Rectangle 84"/>
          <p:cNvSpPr>
            <a:spLocks noChangeArrowheads="1"/>
          </p:cNvSpPr>
          <p:nvPr/>
        </p:nvSpPr>
        <p:spPr bwMode="auto">
          <a:xfrm>
            <a:off x="6784331" y="4401444"/>
            <a:ext cx="364331" cy="304056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519"/>
              <a:t>CS</a:t>
            </a:r>
          </a:p>
        </p:txBody>
      </p:sp>
      <p:sp>
        <p:nvSpPr>
          <p:cNvPr id="30787" name="Freeform 85"/>
          <p:cNvSpPr>
            <a:spLocks/>
          </p:cNvSpPr>
          <p:nvPr/>
        </p:nvSpPr>
        <p:spPr bwMode="auto">
          <a:xfrm>
            <a:off x="7117855" y="4705501"/>
            <a:ext cx="212973" cy="302716"/>
          </a:xfrm>
          <a:custGeom>
            <a:avLst/>
            <a:gdLst>
              <a:gd name="T0" fmla="*/ 23 w 159"/>
              <a:gd name="T1" fmla="*/ 0 h 226"/>
              <a:gd name="T2" fmla="*/ 23 w 159"/>
              <a:gd name="T3" fmla="*/ 181 h 226"/>
              <a:gd name="T4" fmla="*/ 159 w 159"/>
              <a:gd name="T5" fmla="*/ 226 h 226"/>
              <a:gd name="T6" fmla="*/ 0 60000 65536"/>
              <a:gd name="T7" fmla="*/ 0 60000 65536"/>
              <a:gd name="T8" fmla="*/ 0 60000 65536"/>
              <a:gd name="T9" fmla="*/ 0 w 159"/>
              <a:gd name="T10" fmla="*/ 0 h 226"/>
              <a:gd name="T11" fmla="*/ 159 w 159"/>
              <a:gd name="T12" fmla="*/ 226 h 2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9" h="226">
                <a:moveTo>
                  <a:pt x="23" y="0"/>
                </a:moveTo>
                <a:cubicBezTo>
                  <a:pt x="11" y="72"/>
                  <a:pt x="0" y="144"/>
                  <a:pt x="23" y="181"/>
                </a:cubicBezTo>
                <a:cubicBezTo>
                  <a:pt x="46" y="218"/>
                  <a:pt x="136" y="219"/>
                  <a:pt x="159" y="226"/>
                </a:cubicBezTo>
              </a:path>
            </a:pathLst>
          </a:custGeom>
          <a:noFill/>
          <a:ln w="9525">
            <a:solidFill>
              <a:srgbClr val="FFFF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30788" name="Group 86"/>
          <p:cNvGrpSpPr>
            <a:grpSpLocks/>
          </p:cNvGrpSpPr>
          <p:nvPr/>
        </p:nvGrpSpPr>
        <p:grpSpPr bwMode="auto">
          <a:xfrm>
            <a:off x="7330827" y="4887667"/>
            <a:ext cx="728663" cy="301339"/>
            <a:chOff x="1927" y="3158"/>
            <a:chExt cx="590" cy="451"/>
          </a:xfrm>
        </p:grpSpPr>
        <p:sp>
          <p:nvSpPr>
            <p:cNvPr id="30809" name="Rectangle 87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30810" name="Text Box 88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6, id=1</a:t>
              </a:r>
            </a:p>
          </p:txBody>
        </p:sp>
      </p:grpSp>
      <p:sp>
        <p:nvSpPr>
          <p:cNvPr id="30789" name="Line 89"/>
          <p:cNvSpPr>
            <a:spLocks noChangeShapeType="1"/>
          </p:cNvSpPr>
          <p:nvPr/>
        </p:nvSpPr>
        <p:spPr bwMode="auto">
          <a:xfrm flipV="1">
            <a:off x="7148662" y="2396282"/>
            <a:ext cx="486221" cy="2309217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90" name="Line 90"/>
          <p:cNvSpPr>
            <a:spLocks noChangeShapeType="1"/>
          </p:cNvSpPr>
          <p:nvPr/>
        </p:nvSpPr>
        <p:spPr bwMode="auto">
          <a:xfrm flipV="1">
            <a:off x="7148662" y="3550892"/>
            <a:ext cx="546497" cy="1154609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91" name="Rectangle 91"/>
          <p:cNvSpPr>
            <a:spLocks noChangeArrowheads="1"/>
          </p:cNvSpPr>
          <p:nvPr/>
        </p:nvSpPr>
        <p:spPr bwMode="auto">
          <a:xfrm>
            <a:off x="7148662" y="4461720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10</a:t>
            </a:r>
          </a:p>
        </p:txBody>
      </p:sp>
      <p:sp>
        <p:nvSpPr>
          <p:cNvPr id="30792" name="Rectangle 92"/>
          <p:cNvSpPr>
            <a:spLocks noChangeArrowheads="1"/>
          </p:cNvSpPr>
          <p:nvPr/>
        </p:nvSpPr>
        <p:spPr bwMode="auto">
          <a:xfrm>
            <a:off x="7573268" y="2152503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11</a:t>
            </a:r>
          </a:p>
        </p:txBody>
      </p:sp>
      <p:sp>
        <p:nvSpPr>
          <p:cNvPr id="30793" name="Rectangle 93"/>
          <p:cNvSpPr>
            <a:spLocks noChangeArrowheads="1"/>
          </p:cNvSpPr>
          <p:nvPr/>
        </p:nvSpPr>
        <p:spPr bwMode="auto">
          <a:xfrm>
            <a:off x="7634883" y="3307111"/>
            <a:ext cx="182166" cy="242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350"/>
              <a:t>11</a:t>
            </a:r>
          </a:p>
        </p:txBody>
      </p:sp>
      <p:sp>
        <p:nvSpPr>
          <p:cNvPr id="30794" name="Freeform 94"/>
          <p:cNvSpPr>
            <a:spLocks/>
          </p:cNvSpPr>
          <p:nvPr/>
        </p:nvSpPr>
        <p:spPr bwMode="auto">
          <a:xfrm flipH="1">
            <a:off x="7675066" y="3064670"/>
            <a:ext cx="262533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FF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30795" name="Group 95"/>
          <p:cNvGrpSpPr>
            <a:grpSpLocks/>
          </p:cNvGrpSpPr>
          <p:nvPr/>
        </p:nvGrpSpPr>
        <p:grpSpPr bwMode="auto">
          <a:xfrm>
            <a:off x="7634883" y="2839641"/>
            <a:ext cx="728663" cy="301340"/>
            <a:chOff x="1927" y="3158"/>
            <a:chExt cx="590" cy="451"/>
          </a:xfrm>
        </p:grpSpPr>
        <p:sp>
          <p:nvSpPr>
            <p:cNvPr id="30807" name="Rectangle 96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30808" name="Text Box 97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6, id=1</a:t>
              </a:r>
            </a:p>
          </p:txBody>
        </p:sp>
      </p:grpSp>
      <p:sp>
        <p:nvSpPr>
          <p:cNvPr id="30796" name="Freeform 98"/>
          <p:cNvSpPr>
            <a:spLocks/>
          </p:cNvSpPr>
          <p:nvPr/>
        </p:nvSpPr>
        <p:spPr bwMode="auto">
          <a:xfrm flipH="1">
            <a:off x="7634883" y="1910061"/>
            <a:ext cx="262533" cy="486222"/>
          </a:xfrm>
          <a:custGeom>
            <a:avLst/>
            <a:gdLst>
              <a:gd name="T0" fmla="*/ 303 w 303"/>
              <a:gd name="T1" fmla="*/ 363 h 363"/>
              <a:gd name="T2" fmla="*/ 30 w 303"/>
              <a:gd name="T3" fmla="*/ 227 h 363"/>
              <a:gd name="T4" fmla="*/ 121 w 303"/>
              <a:gd name="T5" fmla="*/ 0 h 363"/>
              <a:gd name="T6" fmla="*/ 0 60000 65536"/>
              <a:gd name="T7" fmla="*/ 0 60000 65536"/>
              <a:gd name="T8" fmla="*/ 0 60000 65536"/>
              <a:gd name="T9" fmla="*/ 0 w 303"/>
              <a:gd name="T10" fmla="*/ 0 h 363"/>
              <a:gd name="T11" fmla="*/ 303 w 303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" h="363">
                <a:moveTo>
                  <a:pt x="303" y="363"/>
                </a:moveTo>
                <a:cubicBezTo>
                  <a:pt x="181" y="325"/>
                  <a:pt x="60" y="287"/>
                  <a:pt x="30" y="227"/>
                </a:cubicBezTo>
                <a:cubicBezTo>
                  <a:pt x="0" y="167"/>
                  <a:pt x="60" y="83"/>
                  <a:pt x="121" y="0"/>
                </a:cubicBezTo>
              </a:path>
            </a:pathLst>
          </a:custGeom>
          <a:noFill/>
          <a:ln w="9525">
            <a:solidFill>
              <a:srgbClr val="FFFF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grpSp>
        <p:nvGrpSpPr>
          <p:cNvPr id="30797" name="Group 99"/>
          <p:cNvGrpSpPr>
            <a:grpSpLocks/>
          </p:cNvGrpSpPr>
          <p:nvPr/>
        </p:nvGrpSpPr>
        <p:grpSpPr bwMode="auto">
          <a:xfrm>
            <a:off x="7512993" y="1667622"/>
            <a:ext cx="728663" cy="301339"/>
            <a:chOff x="1927" y="3158"/>
            <a:chExt cx="590" cy="451"/>
          </a:xfrm>
        </p:grpSpPr>
        <p:sp>
          <p:nvSpPr>
            <p:cNvPr id="30805" name="Rectangle 100"/>
            <p:cNvSpPr>
              <a:spLocks noChangeArrowheads="1"/>
            </p:cNvSpPr>
            <p:nvPr/>
          </p:nvSpPr>
          <p:spPr bwMode="auto">
            <a:xfrm>
              <a:off x="1927" y="3158"/>
              <a:ext cx="544" cy="3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30806" name="Text Box 101"/>
            <p:cNvSpPr txBox="1">
              <a:spLocks noChangeArrowheads="1"/>
            </p:cNvSpPr>
            <p:nvPr/>
          </p:nvSpPr>
          <p:spPr bwMode="auto">
            <a:xfrm>
              <a:off x="1928" y="3238"/>
              <a:ext cx="58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013"/>
                <a:t>t= 6, id=1</a:t>
              </a:r>
            </a:p>
          </p:txBody>
        </p:sp>
      </p:grpSp>
      <p:sp>
        <p:nvSpPr>
          <p:cNvPr id="30798" name="Line 102"/>
          <p:cNvSpPr>
            <a:spLocks noChangeShapeType="1"/>
          </p:cNvSpPr>
          <p:nvPr/>
        </p:nvSpPr>
        <p:spPr bwMode="auto">
          <a:xfrm>
            <a:off x="1497510" y="6102548"/>
            <a:ext cx="304056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0799" name="Text Box 103"/>
          <p:cNvSpPr txBox="1">
            <a:spLocks noChangeArrowheads="1"/>
          </p:cNvSpPr>
          <p:nvPr/>
        </p:nvSpPr>
        <p:spPr bwMode="auto">
          <a:xfrm>
            <a:off x="1801565" y="5920383"/>
            <a:ext cx="1943546" cy="27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181"/>
              <a:t>Reales Message</a:t>
            </a:r>
          </a:p>
        </p:txBody>
      </p:sp>
      <p:sp>
        <p:nvSpPr>
          <p:cNvPr id="30800" name="Rectangle 104"/>
          <p:cNvSpPr>
            <a:spLocks noChangeArrowheads="1"/>
          </p:cNvSpPr>
          <p:nvPr/>
        </p:nvSpPr>
        <p:spPr bwMode="auto">
          <a:xfrm>
            <a:off x="7938939" y="2092227"/>
            <a:ext cx="364331" cy="304056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it-IT" altLang="it-IT" sz="1519"/>
              <a:t>CS</a:t>
            </a:r>
          </a:p>
        </p:txBody>
      </p:sp>
      <p:grpSp>
        <p:nvGrpSpPr>
          <p:cNvPr id="30801" name="Group 105"/>
          <p:cNvGrpSpPr>
            <a:grpSpLocks/>
          </p:cNvGrpSpPr>
          <p:nvPr/>
        </p:nvGrpSpPr>
        <p:grpSpPr bwMode="auto">
          <a:xfrm>
            <a:off x="6115944" y="5373887"/>
            <a:ext cx="2611934" cy="850553"/>
            <a:chOff x="3606" y="3612"/>
            <a:chExt cx="1950" cy="635"/>
          </a:xfrm>
        </p:grpSpPr>
        <p:sp>
          <p:nvSpPr>
            <p:cNvPr id="30803" name="Rectangle 106"/>
            <p:cNvSpPr>
              <a:spLocks noChangeArrowheads="1"/>
            </p:cNvSpPr>
            <p:nvPr/>
          </p:nvSpPr>
          <p:spPr bwMode="auto">
            <a:xfrm>
              <a:off x="3606" y="3612"/>
              <a:ext cx="1905" cy="63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GB" altLang="it-IT" sz="1519"/>
            </a:p>
          </p:txBody>
        </p:sp>
        <p:sp>
          <p:nvSpPr>
            <p:cNvPr id="30804" name="Text Box 107"/>
            <p:cNvSpPr txBox="1">
              <a:spLocks noChangeArrowheads="1"/>
            </p:cNvSpPr>
            <p:nvPr/>
          </p:nvSpPr>
          <p:spPr bwMode="auto">
            <a:xfrm>
              <a:off x="3651" y="3657"/>
              <a:ext cx="1905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it-IT" altLang="it-IT" sz="1181"/>
                <a:t>p</a:t>
              </a:r>
              <a:r>
                <a:rPr lang="it-IT" altLang="it-IT" sz="1181" baseline="-25000"/>
                <a:t>1 </a:t>
              </a:r>
              <a:r>
                <a:rPr lang="it-IT" altLang="it-IT" sz="1181"/>
                <a:t>now can access the CS because it has received both the ack and its timestamp is the smallest one</a:t>
              </a:r>
            </a:p>
          </p:txBody>
        </p:sp>
      </p:grpSp>
      <p:sp>
        <p:nvSpPr>
          <p:cNvPr id="30802" name="Line 108"/>
          <p:cNvSpPr>
            <a:spLocks noChangeShapeType="1"/>
          </p:cNvSpPr>
          <p:nvPr/>
        </p:nvSpPr>
        <p:spPr bwMode="auto">
          <a:xfrm flipV="1">
            <a:off x="7512994" y="5190382"/>
            <a:ext cx="425946" cy="18350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</p:spTree>
    <p:extLst>
      <p:ext uri="{BB962C8B-B14F-4D97-AF65-F5344CB8AC3E}">
        <p14:creationId xmlns:p14="http://schemas.microsoft.com/office/powerpoint/2010/main" val="1377026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/>
              <a:t>Lamport’s algorithm: safety proof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it-IT" sz="2025"/>
              <a:t>Let us suppose by contradiction that both p</a:t>
            </a:r>
            <a:r>
              <a:rPr lang="en-US" altLang="it-IT" sz="2025" baseline="-25000"/>
              <a:t>i</a:t>
            </a:r>
            <a:r>
              <a:rPr lang="en-US" altLang="it-IT" sz="2025"/>
              <a:t> and p</a:t>
            </a:r>
            <a:r>
              <a:rPr lang="en-US" altLang="it-IT" sz="2025" baseline="-25000"/>
              <a:t>j</a:t>
            </a:r>
            <a:r>
              <a:rPr lang="en-US" altLang="it-IT" sz="2025"/>
              <a:t> enter the CS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it-IT" sz="1688">
                <a:sym typeface="Symbol" charset="2"/>
              </a:rPr>
              <a:t> both the processes have received an ack from any other process and, to enter the CS, the timestamp has to be the smallest in the queue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it-IT" sz="1519">
                <a:sym typeface="Symbol" charset="2"/>
              </a:rPr>
              <a:t>t</a:t>
            </a:r>
            <a:r>
              <a:rPr lang="en-US" altLang="it-IT" sz="1519" baseline="-25000">
                <a:sym typeface="Symbol" charset="2"/>
              </a:rPr>
              <a:t>i</a:t>
            </a:r>
            <a:r>
              <a:rPr lang="en-US" altLang="it-IT" sz="1519">
                <a:sym typeface="Symbol" charset="2"/>
              </a:rPr>
              <a:t>  &lt; t</a:t>
            </a:r>
            <a:r>
              <a:rPr lang="en-US" altLang="it-IT" sz="1519" baseline="-25000">
                <a:sym typeface="Symbol" charset="2"/>
              </a:rPr>
              <a:t>j </a:t>
            </a:r>
            <a:r>
              <a:rPr lang="en-US" altLang="it-IT" sz="1519">
                <a:sym typeface="Symbol" charset="2"/>
              </a:rPr>
              <a:t>&lt;</a:t>
            </a:r>
            <a:r>
              <a:rPr lang="en-US" altLang="it-IT" sz="1519" baseline="-25000">
                <a:sym typeface="Symbol" charset="2"/>
              </a:rPr>
              <a:t> </a:t>
            </a:r>
            <a:r>
              <a:rPr lang="en-US" altLang="it-IT" sz="1519">
                <a:sym typeface="Symbol" charset="2"/>
              </a:rPr>
              <a:t>ack</a:t>
            </a:r>
            <a:r>
              <a:rPr lang="en-US" altLang="it-IT" sz="1519" baseline="-25000">
                <a:sym typeface="Symbol" charset="2"/>
              </a:rPr>
              <a:t>i</a:t>
            </a:r>
            <a:r>
              <a:rPr lang="en-US" altLang="it-IT" sz="1519">
                <a:sym typeface="Symbol" charset="2"/>
              </a:rPr>
              <a:t>.ts </a:t>
            </a:r>
            <a:endParaRPr lang="en-US" altLang="it-IT" sz="1519" baseline="-25000">
              <a:sym typeface="Symbol" charset="2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it-IT" sz="1519">
                <a:sym typeface="Symbol" charset="2"/>
              </a:rPr>
              <a:t>t</a:t>
            </a:r>
            <a:r>
              <a:rPr lang="en-US" altLang="it-IT" sz="1519" baseline="-25000">
                <a:sym typeface="Symbol" charset="2"/>
              </a:rPr>
              <a:t>j</a:t>
            </a:r>
            <a:r>
              <a:rPr lang="en-US" altLang="it-IT" sz="1519">
                <a:sym typeface="Symbol" charset="2"/>
              </a:rPr>
              <a:t>  &lt; t</a:t>
            </a:r>
            <a:r>
              <a:rPr lang="en-US" altLang="it-IT" sz="1519" baseline="-25000">
                <a:sym typeface="Symbol" charset="2"/>
              </a:rPr>
              <a:t>i </a:t>
            </a:r>
            <a:r>
              <a:rPr lang="en-US" altLang="it-IT" sz="1519">
                <a:sym typeface="Symbol" charset="2"/>
              </a:rPr>
              <a:t>&lt;</a:t>
            </a:r>
            <a:r>
              <a:rPr lang="en-US" altLang="it-IT" sz="1519" baseline="-25000">
                <a:sym typeface="Symbol" charset="2"/>
              </a:rPr>
              <a:t> </a:t>
            </a:r>
            <a:r>
              <a:rPr lang="en-US" altLang="it-IT" sz="1519">
                <a:sym typeface="Symbol" charset="2"/>
              </a:rPr>
              <a:t>ack</a:t>
            </a:r>
            <a:r>
              <a:rPr lang="en-US" altLang="it-IT" sz="1519" baseline="-25000">
                <a:sym typeface="Symbol" charset="2"/>
              </a:rPr>
              <a:t>j</a:t>
            </a:r>
            <a:r>
              <a:rPr lang="en-US" altLang="it-IT" sz="1519">
                <a:sym typeface="Symbol" charset="2"/>
              </a:rPr>
              <a:t>.ts</a:t>
            </a:r>
          </a:p>
        </p:txBody>
      </p:sp>
      <p:sp>
        <p:nvSpPr>
          <p:cNvPr id="31748" name="Line 4"/>
          <p:cNvSpPr>
            <a:spLocks noChangeShapeType="1"/>
          </p:cNvSpPr>
          <p:nvPr/>
        </p:nvSpPr>
        <p:spPr bwMode="auto">
          <a:xfrm>
            <a:off x="2045345" y="4339828"/>
            <a:ext cx="26722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>
            <a:off x="2045345" y="4887665"/>
            <a:ext cx="26722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>
            <a:off x="2348063" y="4339828"/>
            <a:ext cx="425946" cy="547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 flipV="1">
            <a:off x="3260229" y="4339828"/>
            <a:ext cx="364331" cy="547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>
            <a:off x="3988893" y="4339828"/>
            <a:ext cx="486222" cy="547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 flipV="1">
            <a:off x="3017788" y="4339828"/>
            <a:ext cx="364331" cy="547837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1754" name="Line 10"/>
          <p:cNvSpPr>
            <a:spLocks noChangeShapeType="1"/>
          </p:cNvSpPr>
          <p:nvPr/>
        </p:nvSpPr>
        <p:spPr bwMode="auto">
          <a:xfrm flipV="1">
            <a:off x="3564285" y="4339828"/>
            <a:ext cx="364331" cy="54783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4110782" y="4339829"/>
            <a:ext cx="486221" cy="481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519"/>
              <a:t>ack</a:t>
            </a:r>
            <a:r>
              <a:rPr lang="it-IT" altLang="it-IT" sz="1519" baseline="-25000"/>
              <a:t>i</a:t>
            </a:r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3442395" y="4456361"/>
            <a:ext cx="242441" cy="481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519"/>
              <a:t>t</a:t>
            </a:r>
            <a:r>
              <a:rPr lang="it-IT" altLang="it-IT" sz="1519" baseline="-25000"/>
              <a:t>j</a:t>
            </a:r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2409678" y="4279553"/>
            <a:ext cx="242441" cy="481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519"/>
              <a:t>t</a:t>
            </a:r>
            <a:r>
              <a:rPr lang="it-IT" altLang="it-IT" sz="1519" baseline="-25000"/>
              <a:t>i</a:t>
            </a:r>
          </a:p>
        </p:txBody>
      </p:sp>
      <p:sp>
        <p:nvSpPr>
          <p:cNvPr id="31758" name="Line 14"/>
          <p:cNvSpPr>
            <a:spLocks noChangeShapeType="1"/>
          </p:cNvSpPr>
          <p:nvPr/>
        </p:nvSpPr>
        <p:spPr bwMode="auto">
          <a:xfrm flipV="1">
            <a:off x="3928617" y="4339828"/>
            <a:ext cx="364331" cy="547837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1759" name="Text Box 15"/>
          <p:cNvSpPr txBox="1">
            <a:spLocks noChangeArrowheads="1"/>
          </p:cNvSpPr>
          <p:nvPr/>
        </p:nvSpPr>
        <p:spPr bwMode="auto">
          <a:xfrm>
            <a:off x="1619399" y="5268071"/>
            <a:ext cx="3402211" cy="559897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519">
                <a:solidFill>
                  <a:srgbClr val="00CC00"/>
                </a:solidFill>
              </a:rPr>
              <a:t>p</a:t>
            </a:r>
            <a:r>
              <a:rPr lang="en-US" altLang="it-IT" sz="1519" baseline="-25000">
                <a:solidFill>
                  <a:srgbClr val="00CC00"/>
                </a:solidFill>
              </a:rPr>
              <a:t>j</a:t>
            </a:r>
            <a:r>
              <a:rPr lang="en-US" altLang="it-IT" sz="1519"/>
              <a:t>  </a:t>
            </a:r>
            <a:r>
              <a:rPr lang="en-US" altLang="it-IT" sz="1519">
                <a:solidFill>
                  <a:srgbClr val="00CC00"/>
                </a:solidFill>
              </a:rPr>
              <a:t>ack arrives before p</a:t>
            </a:r>
            <a:r>
              <a:rPr lang="en-US" altLang="it-IT" sz="1519" baseline="-25000">
                <a:solidFill>
                  <a:srgbClr val="00CC00"/>
                </a:solidFill>
              </a:rPr>
              <a:t>j</a:t>
            </a:r>
            <a:r>
              <a:rPr lang="en-US" altLang="it-IT" sz="1519"/>
              <a:t> </a:t>
            </a:r>
            <a:r>
              <a:rPr lang="en-US" altLang="it-IT" sz="1519">
                <a:solidFill>
                  <a:srgbClr val="00CC00"/>
                </a:solidFill>
              </a:rPr>
              <a:t>request then p</a:t>
            </a:r>
            <a:r>
              <a:rPr lang="en-US" altLang="it-IT" sz="1519" baseline="-25000">
                <a:solidFill>
                  <a:srgbClr val="00CC00"/>
                </a:solidFill>
              </a:rPr>
              <a:t>i</a:t>
            </a:r>
            <a:r>
              <a:rPr lang="en-US" altLang="it-IT" sz="1519">
                <a:solidFill>
                  <a:srgbClr val="00CC00"/>
                </a:solidFill>
              </a:rPr>
              <a:t> enters the CS without any problem</a:t>
            </a:r>
          </a:p>
        </p:txBody>
      </p:sp>
      <p:sp>
        <p:nvSpPr>
          <p:cNvPr id="31760" name="Text Box 16"/>
          <p:cNvSpPr txBox="1">
            <a:spLocks noChangeArrowheads="1"/>
          </p:cNvSpPr>
          <p:nvPr/>
        </p:nvSpPr>
        <p:spPr bwMode="auto">
          <a:xfrm>
            <a:off x="5387280" y="4947940"/>
            <a:ext cx="3402211" cy="1027461"/>
          </a:xfrm>
          <a:prstGeom prst="rect">
            <a:avLst/>
          </a:prstGeom>
          <a:noFill/>
          <a:ln w="9525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it-IT" sz="1519">
                <a:solidFill>
                  <a:srgbClr val="3333CC"/>
                </a:solidFill>
              </a:rPr>
              <a:t>p</a:t>
            </a:r>
            <a:r>
              <a:rPr lang="en-US" altLang="it-IT" sz="1519" baseline="-25000">
                <a:solidFill>
                  <a:srgbClr val="3333CC"/>
                </a:solidFill>
              </a:rPr>
              <a:t>j</a:t>
            </a:r>
            <a:r>
              <a:rPr lang="en-US" altLang="it-IT" sz="1519">
                <a:solidFill>
                  <a:srgbClr val="3333CC"/>
                </a:solidFill>
              </a:rPr>
              <a:t>‘s ack arrives after p</a:t>
            </a:r>
            <a:r>
              <a:rPr lang="en-US" altLang="it-IT" sz="1519" baseline="-25000">
                <a:solidFill>
                  <a:srgbClr val="3333CC"/>
                </a:solidFill>
              </a:rPr>
              <a:t>j</a:t>
            </a:r>
            <a:r>
              <a:rPr lang="en-US" altLang="it-IT" sz="1519">
                <a:solidFill>
                  <a:srgbClr val="3333CC"/>
                </a:solidFill>
              </a:rPr>
              <a:t>‘s request but before p</a:t>
            </a:r>
            <a:r>
              <a:rPr lang="en-US" altLang="it-IT" sz="1519" baseline="-25000">
                <a:solidFill>
                  <a:srgbClr val="3333CC"/>
                </a:solidFill>
              </a:rPr>
              <a:t>i</a:t>
            </a:r>
            <a:r>
              <a:rPr lang="en-US" altLang="it-IT" sz="1519">
                <a:solidFill>
                  <a:srgbClr val="3333CC"/>
                </a:solidFill>
              </a:rPr>
              <a:t>‘s ack then p</a:t>
            </a:r>
            <a:r>
              <a:rPr lang="en-US" altLang="it-IT" sz="1519" baseline="-25000">
                <a:solidFill>
                  <a:srgbClr val="3333CC"/>
                </a:solidFill>
              </a:rPr>
              <a:t>i</a:t>
            </a:r>
            <a:r>
              <a:rPr lang="en-US" altLang="it-IT" sz="1519">
                <a:solidFill>
                  <a:srgbClr val="3333CC"/>
                </a:solidFill>
              </a:rPr>
              <a:t> enters the CS without any problem and sends its ack after executing the CS</a:t>
            </a:r>
          </a:p>
        </p:txBody>
      </p:sp>
      <p:sp>
        <p:nvSpPr>
          <p:cNvPr id="31761" name="Text Box 17"/>
          <p:cNvSpPr txBox="1">
            <a:spLocks noChangeArrowheads="1"/>
          </p:cNvSpPr>
          <p:nvPr/>
        </p:nvSpPr>
        <p:spPr bwMode="auto">
          <a:xfrm>
            <a:off x="5385941" y="3671442"/>
            <a:ext cx="3402211" cy="1027461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it-IT" sz="1519">
                <a:solidFill>
                  <a:srgbClr val="FF3300"/>
                </a:solidFill>
              </a:rPr>
              <a:t>Both processes receive the ack when the two requests are in the queue but ME is guaranteed by the total order on the timestamps</a:t>
            </a:r>
          </a:p>
        </p:txBody>
      </p:sp>
      <p:sp>
        <p:nvSpPr>
          <p:cNvPr id="31762" name="Line 18"/>
          <p:cNvSpPr>
            <a:spLocks noChangeShapeType="1"/>
          </p:cNvSpPr>
          <p:nvPr/>
        </p:nvSpPr>
        <p:spPr bwMode="auto">
          <a:xfrm flipV="1">
            <a:off x="2956175" y="4947940"/>
            <a:ext cx="60275" cy="242441"/>
          </a:xfrm>
          <a:prstGeom prst="line">
            <a:avLst/>
          </a:prstGeom>
          <a:noFill/>
          <a:ln w="9525">
            <a:solidFill>
              <a:srgbClr val="00CC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1763" name="Line 19"/>
          <p:cNvSpPr>
            <a:spLocks noChangeShapeType="1"/>
          </p:cNvSpPr>
          <p:nvPr/>
        </p:nvSpPr>
        <p:spPr bwMode="auto">
          <a:xfrm flipH="1">
            <a:off x="4292948" y="3854946"/>
            <a:ext cx="1032718" cy="364331"/>
          </a:xfrm>
          <a:prstGeom prst="line">
            <a:avLst/>
          </a:prstGeom>
          <a:noFill/>
          <a:ln w="9525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  <p:sp>
        <p:nvSpPr>
          <p:cNvPr id="31764" name="Line 20"/>
          <p:cNvSpPr>
            <a:spLocks noChangeShapeType="1"/>
          </p:cNvSpPr>
          <p:nvPr/>
        </p:nvSpPr>
        <p:spPr bwMode="auto">
          <a:xfrm flipH="1" flipV="1">
            <a:off x="3564285" y="4947940"/>
            <a:ext cx="1821656" cy="60276"/>
          </a:xfrm>
          <a:prstGeom prst="line">
            <a:avLst/>
          </a:prstGeom>
          <a:noFill/>
          <a:ln w="9525">
            <a:solidFill>
              <a:srgbClr val="3333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519"/>
          </a:p>
        </p:txBody>
      </p:sp>
    </p:spTree>
    <p:extLst>
      <p:ext uri="{BB962C8B-B14F-4D97-AF65-F5344CB8AC3E}">
        <p14:creationId xmlns:p14="http://schemas.microsoft.com/office/powerpoint/2010/main" val="593368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375"/>
              <a:t>Lamport’s algorithm: properties</a:t>
            </a:r>
            <a:endParaRPr lang="en-US" altLang="it-IT" sz="3375"/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it-IT" sz="2025" u="sng"/>
              <a:t>Fairness is satisfied</a:t>
            </a:r>
            <a:r>
              <a:rPr lang="en-US" altLang="it-IT" sz="2025"/>
              <a:t>: different requests are satisfied in the same order as they are generated</a:t>
            </a:r>
          </a:p>
          <a:p>
            <a:pPr lvl="1" algn="just" eaLnBrk="1" hangingPunct="1"/>
            <a:r>
              <a:rPr lang="en-US" altLang="it-IT" sz="1688"/>
              <a:t>Such order comes from the happened-before relation:</a:t>
            </a:r>
          </a:p>
          <a:p>
            <a:pPr lvl="2" algn="just" eaLnBrk="1" hangingPunct="1">
              <a:buClr>
                <a:schemeClr val="accent2"/>
              </a:buClr>
              <a:buSzPct val="80000"/>
              <a:buFont typeface="Wingdings" charset="2"/>
              <a:buChar char="¨"/>
            </a:pPr>
            <a:r>
              <a:rPr lang="en-US" altLang="it-IT" sz="1688"/>
              <a:t>If two requests are in happened-before relation then they are satisfied in the same order.</a:t>
            </a:r>
          </a:p>
          <a:p>
            <a:pPr lvl="2" algn="just" eaLnBrk="1" hangingPunct="1">
              <a:buClr>
                <a:schemeClr val="accent2"/>
              </a:buClr>
              <a:buSzPct val="80000"/>
              <a:buFont typeface="Wingdings" charset="2"/>
              <a:buChar char="¨"/>
            </a:pPr>
            <a:r>
              <a:rPr lang="en-US" altLang="it-IT" sz="1688"/>
              <a:t>If two request are concurrent with respect to the happended before relation then the access can happen in any order</a:t>
            </a:r>
            <a:endParaRPr lang="en-US" altLang="it-IT" sz="1519"/>
          </a:p>
          <a:p>
            <a:pPr algn="just" eaLnBrk="1" hangingPunct="1"/>
            <a:endParaRPr lang="en-US" altLang="it-IT" sz="2363"/>
          </a:p>
        </p:txBody>
      </p:sp>
    </p:spTree>
    <p:extLst>
      <p:ext uri="{BB962C8B-B14F-4D97-AF65-F5344CB8AC3E}">
        <p14:creationId xmlns:p14="http://schemas.microsoft.com/office/powerpoint/2010/main" val="8527394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038"/>
              <a:t>Lamport’s algorithm: performances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it-IT" altLang="it-IT">
                <a:sym typeface="Symbol" charset="2"/>
              </a:rPr>
              <a:t>Lamport’s algorithm needs 3(N-1) messages for the CS execution</a:t>
            </a:r>
          </a:p>
          <a:p>
            <a:pPr lvl="1" eaLnBrk="1" hangingPunct="1">
              <a:lnSpc>
                <a:spcPct val="125000"/>
              </a:lnSpc>
            </a:pPr>
            <a:r>
              <a:rPr lang="it-IT" altLang="it-IT">
                <a:sym typeface="Symbol" charset="2"/>
              </a:rPr>
              <a:t>N-1 requests</a:t>
            </a:r>
          </a:p>
          <a:p>
            <a:pPr lvl="1" eaLnBrk="1" hangingPunct="1">
              <a:lnSpc>
                <a:spcPct val="125000"/>
              </a:lnSpc>
            </a:pPr>
            <a:r>
              <a:rPr lang="it-IT" altLang="it-IT">
                <a:sym typeface="Symbol" charset="2"/>
              </a:rPr>
              <a:t>N-1 acks</a:t>
            </a:r>
          </a:p>
          <a:p>
            <a:pPr lvl="1" eaLnBrk="1" hangingPunct="1">
              <a:lnSpc>
                <a:spcPct val="125000"/>
              </a:lnSpc>
            </a:pPr>
            <a:r>
              <a:rPr lang="it-IT" altLang="it-IT">
                <a:sym typeface="Symbol" charset="2"/>
              </a:rPr>
              <a:t>N-1 releases</a:t>
            </a:r>
          </a:p>
          <a:p>
            <a:pPr lvl="1" eaLnBrk="1" hangingPunct="1">
              <a:lnSpc>
                <a:spcPct val="125000"/>
              </a:lnSpc>
            </a:pPr>
            <a:endParaRPr lang="it-IT" altLang="it-IT">
              <a:sym typeface="Symbol" charset="2"/>
            </a:endParaRPr>
          </a:p>
          <a:p>
            <a:pPr eaLnBrk="1" hangingPunct="1">
              <a:lnSpc>
                <a:spcPct val="125000"/>
              </a:lnSpc>
            </a:pPr>
            <a:r>
              <a:rPr lang="it-IT" altLang="it-IT">
                <a:sym typeface="Symbol" charset="2"/>
              </a:rPr>
              <a:t>In the best case (none is in the CS and only one process ask for the CS) there is a delay (from the request to the access) of 2 messages</a:t>
            </a:r>
          </a:p>
        </p:txBody>
      </p:sp>
    </p:spTree>
    <p:extLst>
      <p:ext uri="{BB962C8B-B14F-4D97-AF65-F5344CB8AC3E}">
        <p14:creationId xmlns:p14="http://schemas.microsoft.com/office/powerpoint/2010/main" val="10952885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err="1"/>
              <a:t>Ricart-Agrawala’s</a:t>
            </a:r>
            <a:r>
              <a:rPr lang="en-US" sz="3600" dirty="0"/>
              <a:t> algorithm: implementation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/>
            <a:r>
              <a:rPr lang="en-US" sz="1800"/>
              <a:t>Local variables</a:t>
            </a:r>
          </a:p>
          <a:p>
            <a:pPr marL="990600" lvl="1" indent="-533400"/>
            <a:r>
              <a:rPr lang="en-US" sz="1600"/>
              <a:t>#replies (initially 0)</a:t>
            </a:r>
          </a:p>
          <a:p>
            <a:pPr marL="990600" lvl="1" indent="-533400"/>
            <a:r>
              <a:rPr lang="en-US" sz="1600"/>
              <a:t>State </a:t>
            </a:r>
            <a:r>
              <a:rPr lang="en-US" sz="1600">
                <a:sym typeface="Symbol" pitchFamily="18" charset="2"/>
              </a:rPr>
              <a:t> {Requesting, CS, NCS} (initially NCS)</a:t>
            </a:r>
          </a:p>
          <a:p>
            <a:pPr marL="990600" lvl="1" indent="-533400"/>
            <a:r>
              <a:rPr lang="en-US" sz="1600">
                <a:sym typeface="Symbol" pitchFamily="18" charset="2"/>
              </a:rPr>
              <a:t>Q pending requests queue (initially empty)</a:t>
            </a:r>
          </a:p>
          <a:p>
            <a:pPr marL="990600" lvl="1" indent="-533400"/>
            <a:r>
              <a:rPr lang="en-US" sz="1600">
                <a:sym typeface="Symbol" pitchFamily="18" charset="2"/>
              </a:rPr>
              <a:t>Last_Req</a:t>
            </a:r>
          </a:p>
          <a:p>
            <a:pPr marL="990600" lvl="1" indent="-533400"/>
            <a:r>
              <a:rPr lang="en-US" sz="1600">
                <a:sym typeface="Symbol" pitchFamily="18" charset="2"/>
              </a:rPr>
              <a:t>Num</a:t>
            </a:r>
          </a:p>
          <a:p>
            <a:pPr marL="609600" indent="-609600"/>
            <a:r>
              <a:rPr lang="en-US" sz="1800">
                <a:sym typeface="Symbol" pitchFamily="18" charset="2"/>
              </a:rPr>
              <a:t>Algorithm	</a:t>
            </a:r>
            <a:endParaRPr lang="en-US" sz="1600">
              <a:sym typeface="Symbol" pitchFamily="18" charset="2"/>
            </a:endParaRPr>
          </a:p>
        </p:txBody>
      </p:sp>
      <p:sp>
        <p:nvSpPr>
          <p:cNvPr id="113669" name="Text Box 5"/>
          <p:cNvSpPr txBox="1">
            <a:spLocks noChangeArrowheads="1"/>
          </p:cNvSpPr>
          <p:nvPr/>
        </p:nvSpPr>
        <p:spPr bwMode="auto">
          <a:xfrm>
            <a:off x="679005" y="4221089"/>
            <a:ext cx="3419475" cy="20621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defRPr/>
            </a:pPr>
            <a:r>
              <a:rPr lang="en-US" sz="1600" b="1" dirty="0">
                <a:sym typeface="Symbol" pitchFamily="18" charset="2"/>
              </a:rPr>
              <a:t>begin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1400" dirty="0">
                <a:sym typeface="Symbol" pitchFamily="18" charset="2"/>
              </a:rPr>
              <a:t>State=Requesting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1400" dirty="0" err="1">
                <a:sym typeface="Symbol" pitchFamily="18" charset="2"/>
              </a:rPr>
              <a:t>Num</a:t>
            </a:r>
            <a:r>
              <a:rPr lang="en-US" sz="1400" dirty="0">
                <a:sym typeface="Symbol" pitchFamily="18" charset="2"/>
              </a:rPr>
              <a:t>=num+1; </a:t>
            </a:r>
            <a:r>
              <a:rPr lang="en-US" sz="1400" dirty="0" err="1">
                <a:sym typeface="Symbol" pitchFamily="18" charset="2"/>
              </a:rPr>
              <a:t>Last_Req</a:t>
            </a:r>
            <a:r>
              <a:rPr lang="en-US" sz="1400" dirty="0">
                <a:sym typeface="Symbol" pitchFamily="18" charset="2"/>
              </a:rPr>
              <a:t>=</a:t>
            </a:r>
            <a:r>
              <a:rPr lang="en-US" sz="1400" dirty="0" err="1">
                <a:sym typeface="Symbol" pitchFamily="18" charset="2"/>
              </a:rPr>
              <a:t>num</a:t>
            </a:r>
            <a:endParaRPr lang="en-US" sz="1400" dirty="0">
              <a:sym typeface="Symbol" pitchFamily="18" charset="2"/>
            </a:endParaRPr>
          </a:p>
          <a:p>
            <a:pPr marL="342900" indent="-342900">
              <a:buFontTx/>
              <a:buAutoNum type="arabicPeriod"/>
              <a:defRPr/>
            </a:pPr>
            <a:r>
              <a:rPr lang="en-US" sz="1400" dirty="0">
                <a:sym typeface="Symbol" pitchFamily="18" charset="2"/>
              </a:rPr>
              <a:t> </a:t>
            </a:r>
            <a:r>
              <a:rPr lang="en-US" sz="1400" dirty="0" err="1">
                <a:sym typeface="Symbol" pitchFamily="18" charset="2"/>
              </a:rPr>
              <a:t>i</a:t>
            </a:r>
            <a:r>
              <a:rPr lang="en-US" sz="1400" dirty="0">
                <a:sym typeface="Symbol" pitchFamily="18" charset="2"/>
              </a:rPr>
              <a:t>=1…N send REQUEST(</a:t>
            </a:r>
            <a:r>
              <a:rPr lang="en-US" sz="1400" dirty="0" err="1">
                <a:sym typeface="Symbol" pitchFamily="18" charset="2"/>
              </a:rPr>
              <a:t>num</a:t>
            </a:r>
            <a:r>
              <a:rPr lang="en-US" sz="1400" dirty="0">
                <a:sym typeface="Symbol" pitchFamily="18" charset="2"/>
              </a:rPr>
              <a:t>) to pi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1400" dirty="0">
                <a:sym typeface="Symbol" pitchFamily="18" charset="2"/>
              </a:rPr>
              <a:t>Wait until #replies=n-1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1400" dirty="0">
                <a:sym typeface="Symbol" pitchFamily="18" charset="2"/>
              </a:rPr>
              <a:t>State=CS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1400" dirty="0">
                <a:sym typeface="Symbol" pitchFamily="18" charset="2"/>
              </a:rPr>
              <a:t>CS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1400" dirty="0">
                <a:sym typeface="Symbol" pitchFamily="18" charset="2"/>
              </a:rPr>
              <a:t> </a:t>
            </a:r>
            <a:r>
              <a:rPr lang="en-US" sz="1400" dirty="0" err="1">
                <a:sym typeface="Symbol" pitchFamily="18" charset="2"/>
              </a:rPr>
              <a:t>rQ</a:t>
            </a:r>
            <a:r>
              <a:rPr lang="en-US" sz="1400" dirty="0">
                <a:sym typeface="Symbol" pitchFamily="18" charset="2"/>
              </a:rPr>
              <a:t> send REPLY to r</a:t>
            </a:r>
          </a:p>
          <a:p>
            <a:pPr marL="342900" indent="-342900">
              <a:buFontTx/>
              <a:buAutoNum type="arabicPeriod"/>
              <a:defRPr/>
            </a:pPr>
            <a:r>
              <a:rPr lang="en-US" sz="1400" dirty="0">
                <a:sym typeface="Symbol" pitchFamily="18" charset="2"/>
              </a:rPr>
              <a:t>Q= ; State=NCS; #replies=0</a:t>
            </a:r>
            <a:endParaRPr lang="en-US" sz="1400" dirty="0"/>
          </a:p>
        </p:txBody>
      </p:sp>
      <p:sp>
        <p:nvSpPr>
          <p:cNvPr id="37893" name="Text Box 6"/>
          <p:cNvSpPr txBox="1">
            <a:spLocks noChangeArrowheads="1"/>
          </p:cNvSpPr>
          <p:nvPr/>
        </p:nvSpPr>
        <p:spPr bwMode="auto">
          <a:xfrm>
            <a:off x="4206876" y="4221164"/>
            <a:ext cx="5400675" cy="1165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it-IT" sz="1400" b="1" dirty="0" err="1"/>
              <a:t>Upon</a:t>
            </a:r>
            <a:r>
              <a:rPr lang="it-IT" sz="1400" b="1" dirty="0"/>
              <a:t> </a:t>
            </a:r>
            <a:r>
              <a:rPr lang="it-IT" sz="1400" b="1" dirty="0" err="1"/>
              <a:t>receipt</a:t>
            </a:r>
            <a:r>
              <a:rPr lang="it-IT" sz="1400" b="1" dirty="0"/>
              <a:t> REQUEST(t) from </a:t>
            </a:r>
            <a:r>
              <a:rPr lang="it-IT" sz="1400" b="1" dirty="0" err="1"/>
              <a:t>pj</a:t>
            </a:r>
            <a:endParaRPr lang="it-IT" sz="1400" b="1" dirty="0"/>
          </a:p>
          <a:p>
            <a:pPr marL="342900" indent="-342900">
              <a:buFontTx/>
              <a:buAutoNum type="arabicPeriod"/>
            </a:pPr>
            <a:r>
              <a:rPr lang="it-IT" sz="1400" dirty="0" err="1"/>
              <a:t>If</a:t>
            </a:r>
            <a:r>
              <a:rPr lang="it-IT" sz="1400" dirty="0"/>
              <a:t> State=CS or (State=</a:t>
            </a:r>
            <a:r>
              <a:rPr lang="it-IT" sz="1400" dirty="0" err="1"/>
              <a:t>Requesting</a:t>
            </a:r>
            <a:r>
              <a:rPr lang="it-IT" sz="1400" dirty="0"/>
              <a:t> and {</a:t>
            </a:r>
            <a:r>
              <a:rPr lang="it-IT" sz="1400" dirty="0" err="1"/>
              <a:t>Last_Req,i</a:t>
            </a:r>
            <a:r>
              <a:rPr lang="it-IT" sz="1400" dirty="0"/>
              <a:t>}&lt;{</a:t>
            </a:r>
            <a:r>
              <a:rPr lang="it-IT" sz="1400" dirty="0" err="1"/>
              <a:t>t,j</a:t>
            </a:r>
            <a:r>
              <a:rPr lang="it-IT" sz="1400" dirty="0"/>
              <a:t>})</a:t>
            </a:r>
          </a:p>
          <a:p>
            <a:pPr marL="342900" indent="-342900">
              <a:buFontTx/>
              <a:buAutoNum type="arabicPeriod"/>
            </a:pPr>
            <a:r>
              <a:rPr lang="it-IT" sz="1400" dirty="0" err="1"/>
              <a:t>Then</a:t>
            </a:r>
            <a:r>
              <a:rPr lang="it-IT" sz="1400" dirty="0"/>
              <a:t> </a:t>
            </a:r>
            <a:r>
              <a:rPr lang="it-IT" sz="1400" dirty="0" err="1"/>
              <a:t>insert</a:t>
            </a:r>
            <a:r>
              <a:rPr lang="it-IT" sz="1400" dirty="0"/>
              <a:t> in </a:t>
            </a:r>
            <a:r>
              <a:rPr lang="it-IT" sz="1400" dirty="0" err="1"/>
              <a:t>Q</a:t>
            </a:r>
            <a:r>
              <a:rPr lang="it-IT" sz="1400" dirty="0"/>
              <a:t>{t, </a:t>
            </a:r>
            <a:r>
              <a:rPr lang="it-IT" sz="1400" dirty="0" err="1"/>
              <a:t>j</a:t>
            </a:r>
            <a:r>
              <a:rPr lang="it-IT" sz="1400" dirty="0"/>
              <a:t>}</a:t>
            </a:r>
          </a:p>
          <a:p>
            <a:pPr marL="342900" indent="-342900">
              <a:buFontTx/>
              <a:buAutoNum type="arabicPeriod"/>
            </a:pPr>
            <a:r>
              <a:rPr lang="it-IT" sz="1400" dirty="0"/>
              <a:t>Else </a:t>
            </a:r>
            <a:r>
              <a:rPr lang="it-IT" sz="1400" dirty="0" err="1"/>
              <a:t>send</a:t>
            </a:r>
            <a:r>
              <a:rPr lang="it-IT" sz="1400" dirty="0"/>
              <a:t> REPLY to </a:t>
            </a:r>
            <a:r>
              <a:rPr lang="it-IT" sz="1400" dirty="0" err="1"/>
              <a:t>pj</a:t>
            </a:r>
            <a:endParaRPr lang="it-IT" sz="1400" dirty="0"/>
          </a:p>
          <a:p>
            <a:pPr marL="342900" indent="-342900">
              <a:buFontTx/>
              <a:buAutoNum type="arabicPeriod"/>
            </a:pPr>
            <a:r>
              <a:rPr lang="it-IT" sz="1400" dirty="0" err="1"/>
              <a:t>Num</a:t>
            </a:r>
            <a:r>
              <a:rPr lang="it-IT" sz="1400" dirty="0"/>
              <a:t>=</a:t>
            </a:r>
            <a:r>
              <a:rPr lang="it-IT" sz="1400" dirty="0" err="1"/>
              <a:t>max</a:t>
            </a:r>
            <a:r>
              <a:rPr lang="it-IT" sz="1400" dirty="0"/>
              <a:t>(</a:t>
            </a:r>
            <a:r>
              <a:rPr lang="it-IT" sz="1400" dirty="0" err="1"/>
              <a:t>t,num</a:t>
            </a:r>
            <a:r>
              <a:rPr lang="it-IT" sz="1400" dirty="0"/>
              <a:t>)</a:t>
            </a:r>
          </a:p>
        </p:txBody>
      </p:sp>
      <p:sp>
        <p:nvSpPr>
          <p:cNvPr id="37894" name="Text Box 7"/>
          <p:cNvSpPr txBox="1">
            <a:spLocks noChangeArrowheads="1"/>
          </p:cNvSpPr>
          <p:nvPr/>
        </p:nvSpPr>
        <p:spPr bwMode="auto">
          <a:xfrm>
            <a:off x="4207396" y="5517232"/>
            <a:ext cx="5400154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it-IT" sz="1600" b="1" dirty="0" err="1"/>
              <a:t>Upon</a:t>
            </a:r>
            <a:r>
              <a:rPr lang="it-IT" sz="1600" b="1" dirty="0"/>
              <a:t> </a:t>
            </a:r>
            <a:r>
              <a:rPr lang="it-IT" sz="1600" b="1" dirty="0" err="1"/>
              <a:t>receipt</a:t>
            </a:r>
            <a:r>
              <a:rPr lang="it-IT" sz="1600" b="1" dirty="0"/>
              <a:t> of REPLY from </a:t>
            </a:r>
            <a:r>
              <a:rPr lang="it-IT" sz="1600" b="1" dirty="0" err="1"/>
              <a:t>pj</a:t>
            </a:r>
            <a:endParaRPr lang="it-IT" sz="1600" b="1" dirty="0"/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it-IT" sz="1600" dirty="0"/>
              <a:t>#</a:t>
            </a:r>
            <a:r>
              <a:rPr lang="it-IT" sz="1600" dirty="0" err="1"/>
              <a:t>replies</a:t>
            </a:r>
            <a:r>
              <a:rPr lang="it-IT" sz="1600" dirty="0"/>
              <a:t>=#replies+1</a:t>
            </a:r>
          </a:p>
        </p:txBody>
      </p:sp>
    </p:spTree>
    <p:extLst>
      <p:ext uri="{BB962C8B-B14F-4D97-AF65-F5344CB8AC3E}">
        <p14:creationId xmlns:p14="http://schemas.microsoft.com/office/powerpoint/2010/main" val="8420619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Line 4"/>
          <p:cNvSpPr>
            <a:spLocks noChangeShapeType="1"/>
          </p:cNvSpPr>
          <p:nvPr/>
        </p:nvSpPr>
        <p:spPr bwMode="auto">
          <a:xfrm>
            <a:off x="1327150" y="25654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8915" name="Line 5"/>
          <p:cNvSpPr>
            <a:spLocks noChangeShapeType="1"/>
          </p:cNvSpPr>
          <p:nvPr/>
        </p:nvSpPr>
        <p:spPr bwMode="auto">
          <a:xfrm>
            <a:off x="1327150" y="37163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8916" name="Line 6"/>
          <p:cNvSpPr>
            <a:spLocks noChangeShapeType="1"/>
          </p:cNvSpPr>
          <p:nvPr/>
        </p:nvSpPr>
        <p:spPr bwMode="auto">
          <a:xfrm>
            <a:off x="1327150" y="494188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8917" name="Oval 7"/>
          <p:cNvSpPr>
            <a:spLocks noChangeArrowheads="1"/>
          </p:cNvSpPr>
          <p:nvPr/>
        </p:nvSpPr>
        <p:spPr bwMode="auto">
          <a:xfrm>
            <a:off x="1182689" y="2205039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38918" name="Oval 8"/>
          <p:cNvSpPr>
            <a:spLocks noChangeArrowheads="1"/>
          </p:cNvSpPr>
          <p:nvPr/>
        </p:nvSpPr>
        <p:spPr bwMode="auto">
          <a:xfrm>
            <a:off x="1182689" y="33575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38919" name="Oval 9"/>
          <p:cNvSpPr>
            <a:spLocks noChangeArrowheads="1"/>
          </p:cNvSpPr>
          <p:nvPr/>
        </p:nvSpPr>
        <p:spPr bwMode="auto">
          <a:xfrm>
            <a:off x="1255714" y="46529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38920" name="Line 10"/>
          <p:cNvSpPr>
            <a:spLocks noChangeShapeType="1"/>
          </p:cNvSpPr>
          <p:nvPr/>
        </p:nvSpPr>
        <p:spPr bwMode="auto">
          <a:xfrm>
            <a:off x="2695575" y="2205039"/>
            <a:ext cx="0" cy="32400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21" name="Text Box 11"/>
          <p:cNvSpPr txBox="1">
            <a:spLocks noChangeArrowheads="1"/>
          </p:cNvSpPr>
          <p:nvPr/>
        </p:nvSpPr>
        <p:spPr bwMode="auto">
          <a:xfrm>
            <a:off x="2767014" y="5661025"/>
            <a:ext cx="1944687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P2 requires the CS</a:t>
            </a:r>
          </a:p>
        </p:txBody>
      </p:sp>
      <p:sp>
        <p:nvSpPr>
          <p:cNvPr id="38922" name="Line 12"/>
          <p:cNvSpPr>
            <a:spLocks noChangeShapeType="1"/>
          </p:cNvSpPr>
          <p:nvPr/>
        </p:nvSpPr>
        <p:spPr bwMode="auto">
          <a:xfrm>
            <a:off x="2695576" y="5373689"/>
            <a:ext cx="576263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8923" name="Oval 13"/>
          <p:cNvSpPr>
            <a:spLocks noChangeArrowheads="1"/>
          </p:cNvSpPr>
          <p:nvPr/>
        </p:nvSpPr>
        <p:spPr bwMode="auto">
          <a:xfrm>
            <a:off x="2551114" y="3357564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38924" name="Text Box 14"/>
          <p:cNvSpPr txBox="1">
            <a:spLocks noChangeArrowheads="1"/>
          </p:cNvSpPr>
          <p:nvPr/>
        </p:nvSpPr>
        <p:spPr bwMode="auto">
          <a:xfrm>
            <a:off x="2622550" y="2565400"/>
            <a:ext cx="23764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38925" name="Line 15"/>
          <p:cNvSpPr>
            <a:spLocks noChangeShapeType="1"/>
          </p:cNvSpPr>
          <p:nvPr/>
        </p:nvSpPr>
        <p:spPr bwMode="auto">
          <a:xfrm flipV="1">
            <a:off x="2840039" y="2565400"/>
            <a:ext cx="3527425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8926" name="Line 16"/>
          <p:cNvSpPr>
            <a:spLocks noChangeShapeType="1"/>
          </p:cNvSpPr>
          <p:nvPr/>
        </p:nvSpPr>
        <p:spPr bwMode="auto">
          <a:xfrm>
            <a:off x="2840039" y="3716338"/>
            <a:ext cx="1366837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8927" name="Rectangle 18"/>
          <p:cNvSpPr>
            <a:spLocks noChangeArrowheads="1"/>
          </p:cNvSpPr>
          <p:nvPr/>
        </p:nvSpPr>
        <p:spPr bwMode="auto">
          <a:xfrm>
            <a:off x="4638676" y="2636838"/>
            <a:ext cx="214313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38928" name="Rectangle 19"/>
          <p:cNvSpPr>
            <a:spLocks noChangeArrowheads="1"/>
          </p:cNvSpPr>
          <p:nvPr/>
        </p:nvSpPr>
        <p:spPr bwMode="auto">
          <a:xfrm>
            <a:off x="3703638" y="4076701"/>
            <a:ext cx="21431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38929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1" y="341314"/>
            <a:ext cx="8385175" cy="1431925"/>
          </a:xfrm>
        </p:spPr>
        <p:txBody>
          <a:bodyPr/>
          <a:lstStyle/>
          <a:p>
            <a:pPr eaLnBrk="1" hangingPunct="1"/>
            <a:r>
              <a:rPr lang="en-US" sz="3600" dirty="0" err="1"/>
              <a:t>Ricart-Agrawala’s</a:t>
            </a:r>
            <a:r>
              <a:rPr lang="en-US" sz="3600" dirty="0"/>
              <a:t> algorithm: example</a:t>
            </a:r>
          </a:p>
        </p:txBody>
      </p:sp>
    </p:spTree>
    <p:extLst>
      <p:ext uri="{BB962C8B-B14F-4D97-AF65-F5344CB8AC3E}">
        <p14:creationId xmlns:p14="http://schemas.microsoft.com/office/powerpoint/2010/main" val="6176237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Line 3"/>
          <p:cNvSpPr>
            <a:spLocks noChangeShapeType="1"/>
          </p:cNvSpPr>
          <p:nvPr/>
        </p:nvSpPr>
        <p:spPr bwMode="auto">
          <a:xfrm>
            <a:off x="1327150" y="25654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9939" name="Line 4"/>
          <p:cNvSpPr>
            <a:spLocks noChangeShapeType="1"/>
          </p:cNvSpPr>
          <p:nvPr/>
        </p:nvSpPr>
        <p:spPr bwMode="auto">
          <a:xfrm>
            <a:off x="1327150" y="37163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9940" name="Line 5"/>
          <p:cNvSpPr>
            <a:spLocks noChangeShapeType="1"/>
          </p:cNvSpPr>
          <p:nvPr/>
        </p:nvSpPr>
        <p:spPr bwMode="auto">
          <a:xfrm>
            <a:off x="1327150" y="494188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9941" name="Oval 6"/>
          <p:cNvSpPr>
            <a:spLocks noChangeArrowheads="1"/>
          </p:cNvSpPr>
          <p:nvPr/>
        </p:nvSpPr>
        <p:spPr bwMode="auto">
          <a:xfrm>
            <a:off x="1182689" y="2205039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39942" name="Oval 7"/>
          <p:cNvSpPr>
            <a:spLocks noChangeArrowheads="1"/>
          </p:cNvSpPr>
          <p:nvPr/>
        </p:nvSpPr>
        <p:spPr bwMode="auto">
          <a:xfrm>
            <a:off x="1182689" y="33575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39943" name="Oval 8"/>
          <p:cNvSpPr>
            <a:spLocks noChangeArrowheads="1"/>
          </p:cNvSpPr>
          <p:nvPr/>
        </p:nvSpPr>
        <p:spPr bwMode="auto">
          <a:xfrm>
            <a:off x="1255714" y="46529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39944" name="Line 9"/>
          <p:cNvSpPr>
            <a:spLocks noChangeShapeType="1"/>
          </p:cNvSpPr>
          <p:nvPr/>
        </p:nvSpPr>
        <p:spPr bwMode="auto">
          <a:xfrm>
            <a:off x="4279900" y="2133600"/>
            <a:ext cx="0" cy="32400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945" name="Text Box 10"/>
          <p:cNvSpPr txBox="1">
            <a:spLocks noChangeArrowheads="1"/>
          </p:cNvSpPr>
          <p:nvPr/>
        </p:nvSpPr>
        <p:spPr bwMode="auto">
          <a:xfrm>
            <a:off x="1758951" y="5661026"/>
            <a:ext cx="1655763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P3 receives the request of P2</a:t>
            </a:r>
          </a:p>
        </p:txBody>
      </p:sp>
      <p:sp>
        <p:nvSpPr>
          <p:cNvPr id="39946" name="Line 11"/>
          <p:cNvSpPr>
            <a:spLocks noChangeShapeType="1"/>
          </p:cNvSpPr>
          <p:nvPr/>
        </p:nvSpPr>
        <p:spPr bwMode="auto">
          <a:xfrm flipH="1">
            <a:off x="2982914" y="5084763"/>
            <a:ext cx="1296987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39947" name="Oval 12"/>
          <p:cNvSpPr>
            <a:spLocks noChangeArrowheads="1"/>
          </p:cNvSpPr>
          <p:nvPr/>
        </p:nvSpPr>
        <p:spPr bwMode="auto">
          <a:xfrm>
            <a:off x="2551114" y="3357564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39948" name="Text Box 13"/>
          <p:cNvSpPr txBox="1">
            <a:spLocks noChangeArrowheads="1"/>
          </p:cNvSpPr>
          <p:nvPr/>
        </p:nvSpPr>
        <p:spPr bwMode="auto">
          <a:xfrm>
            <a:off x="2622550" y="2565400"/>
            <a:ext cx="23764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39949" name="Line 14"/>
          <p:cNvSpPr>
            <a:spLocks noChangeShapeType="1"/>
          </p:cNvSpPr>
          <p:nvPr/>
        </p:nvSpPr>
        <p:spPr bwMode="auto">
          <a:xfrm flipV="1">
            <a:off x="2840039" y="2565400"/>
            <a:ext cx="3527425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9950" name="Line 15"/>
          <p:cNvSpPr>
            <a:spLocks noChangeShapeType="1"/>
          </p:cNvSpPr>
          <p:nvPr/>
        </p:nvSpPr>
        <p:spPr bwMode="auto">
          <a:xfrm>
            <a:off x="2840039" y="3716338"/>
            <a:ext cx="1366837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9951" name="Rectangle 16"/>
          <p:cNvSpPr>
            <a:spLocks noChangeArrowheads="1"/>
          </p:cNvSpPr>
          <p:nvPr/>
        </p:nvSpPr>
        <p:spPr bwMode="auto">
          <a:xfrm>
            <a:off x="4638676" y="2636838"/>
            <a:ext cx="214313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39952" name="Rectangle 17"/>
          <p:cNvSpPr>
            <a:spLocks noChangeArrowheads="1"/>
          </p:cNvSpPr>
          <p:nvPr/>
        </p:nvSpPr>
        <p:spPr bwMode="auto">
          <a:xfrm>
            <a:off x="3703638" y="4076701"/>
            <a:ext cx="21431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39953" name="Text Box 18"/>
          <p:cNvSpPr txBox="1">
            <a:spLocks noChangeArrowheads="1"/>
          </p:cNvSpPr>
          <p:nvPr/>
        </p:nvSpPr>
        <p:spPr bwMode="auto">
          <a:xfrm>
            <a:off x="4206875" y="5373689"/>
            <a:ext cx="237648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 max (t, num)</a:t>
            </a:r>
            <a:br>
              <a:rPr lang="en-GB" sz="1600"/>
            </a:br>
            <a:r>
              <a:rPr lang="en-GB" sz="1600"/>
              <a:t>=max (1, 0) = 1</a:t>
            </a:r>
          </a:p>
        </p:txBody>
      </p:sp>
      <p:sp>
        <p:nvSpPr>
          <p:cNvPr id="39954" name="Line 19"/>
          <p:cNvSpPr>
            <a:spLocks noChangeShapeType="1"/>
          </p:cNvSpPr>
          <p:nvPr/>
        </p:nvSpPr>
        <p:spPr bwMode="auto">
          <a:xfrm flipV="1">
            <a:off x="4422775" y="3716338"/>
            <a:ext cx="3600450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39955" name="Text Box 20"/>
          <p:cNvSpPr txBox="1">
            <a:spLocks noChangeArrowheads="1"/>
          </p:cNvSpPr>
          <p:nvPr/>
        </p:nvSpPr>
        <p:spPr bwMode="auto">
          <a:xfrm>
            <a:off x="5648326" y="399891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39956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1" y="341314"/>
            <a:ext cx="8385175" cy="1431925"/>
          </a:xfrm>
        </p:spPr>
        <p:txBody>
          <a:bodyPr/>
          <a:lstStyle/>
          <a:p>
            <a:pPr eaLnBrk="1" hangingPunct="1"/>
            <a:r>
              <a:rPr lang="en-US" sz="3600" dirty="0" err="1"/>
              <a:t>Ricart-Agrawala’s</a:t>
            </a:r>
            <a:r>
              <a:rPr lang="en-US" sz="3600" dirty="0"/>
              <a:t> algorithm: example</a:t>
            </a:r>
          </a:p>
        </p:txBody>
      </p:sp>
    </p:spTree>
    <p:extLst>
      <p:ext uri="{BB962C8B-B14F-4D97-AF65-F5344CB8AC3E}">
        <p14:creationId xmlns:p14="http://schemas.microsoft.com/office/powerpoint/2010/main" val="16144045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Line 3"/>
          <p:cNvSpPr>
            <a:spLocks noChangeShapeType="1"/>
          </p:cNvSpPr>
          <p:nvPr/>
        </p:nvSpPr>
        <p:spPr bwMode="auto">
          <a:xfrm>
            <a:off x="1327150" y="25654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0963" name="Line 4"/>
          <p:cNvSpPr>
            <a:spLocks noChangeShapeType="1"/>
          </p:cNvSpPr>
          <p:nvPr/>
        </p:nvSpPr>
        <p:spPr bwMode="auto">
          <a:xfrm>
            <a:off x="1327150" y="37163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0964" name="Line 5"/>
          <p:cNvSpPr>
            <a:spLocks noChangeShapeType="1"/>
          </p:cNvSpPr>
          <p:nvPr/>
        </p:nvSpPr>
        <p:spPr bwMode="auto">
          <a:xfrm>
            <a:off x="1327150" y="494188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0965" name="Oval 6"/>
          <p:cNvSpPr>
            <a:spLocks noChangeArrowheads="1"/>
          </p:cNvSpPr>
          <p:nvPr/>
        </p:nvSpPr>
        <p:spPr bwMode="auto">
          <a:xfrm>
            <a:off x="1182689" y="2205039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0966" name="Oval 7"/>
          <p:cNvSpPr>
            <a:spLocks noChangeArrowheads="1"/>
          </p:cNvSpPr>
          <p:nvPr/>
        </p:nvSpPr>
        <p:spPr bwMode="auto">
          <a:xfrm>
            <a:off x="1182689" y="33575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0967" name="Oval 8"/>
          <p:cNvSpPr>
            <a:spLocks noChangeArrowheads="1"/>
          </p:cNvSpPr>
          <p:nvPr/>
        </p:nvSpPr>
        <p:spPr bwMode="auto">
          <a:xfrm>
            <a:off x="1255714" y="46529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0968" name="Line 9"/>
          <p:cNvSpPr>
            <a:spLocks noChangeShapeType="1"/>
          </p:cNvSpPr>
          <p:nvPr/>
        </p:nvSpPr>
        <p:spPr bwMode="auto">
          <a:xfrm>
            <a:off x="5143500" y="2133600"/>
            <a:ext cx="0" cy="32400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0969" name="Text Box 10"/>
          <p:cNvSpPr txBox="1">
            <a:spLocks noChangeArrowheads="1"/>
          </p:cNvSpPr>
          <p:nvPr/>
        </p:nvSpPr>
        <p:spPr bwMode="auto">
          <a:xfrm>
            <a:off x="2479675" y="1841501"/>
            <a:ext cx="2305050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Also P1 tries to access the CS</a:t>
            </a:r>
          </a:p>
        </p:txBody>
      </p:sp>
      <p:sp>
        <p:nvSpPr>
          <p:cNvPr id="40970" name="Oval 12"/>
          <p:cNvSpPr>
            <a:spLocks noChangeArrowheads="1"/>
          </p:cNvSpPr>
          <p:nvPr/>
        </p:nvSpPr>
        <p:spPr bwMode="auto">
          <a:xfrm>
            <a:off x="2551114" y="3357564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0971" name="Text Box 13"/>
          <p:cNvSpPr txBox="1">
            <a:spLocks noChangeArrowheads="1"/>
          </p:cNvSpPr>
          <p:nvPr/>
        </p:nvSpPr>
        <p:spPr bwMode="auto">
          <a:xfrm>
            <a:off x="2622550" y="2565400"/>
            <a:ext cx="23764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40972" name="Line 14"/>
          <p:cNvSpPr>
            <a:spLocks noChangeShapeType="1"/>
          </p:cNvSpPr>
          <p:nvPr/>
        </p:nvSpPr>
        <p:spPr bwMode="auto">
          <a:xfrm flipV="1">
            <a:off x="2840038" y="2565400"/>
            <a:ext cx="31670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0973" name="Line 15"/>
          <p:cNvSpPr>
            <a:spLocks noChangeShapeType="1"/>
          </p:cNvSpPr>
          <p:nvPr/>
        </p:nvSpPr>
        <p:spPr bwMode="auto">
          <a:xfrm>
            <a:off x="2840039" y="3716338"/>
            <a:ext cx="1366837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0974" name="Rectangle 16"/>
          <p:cNvSpPr>
            <a:spLocks noChangeArrowheads="1"/>
          </p:cNvSpPr>
          <p:nvPr/>
        </p:nvSpPr>
        <p:spPr bwMode="auto">
          <a:xfrm>
            <a:off x="4638676" y="2636838"/>
            <a:ext cx="214313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0975" name="Rectangle 17"/>
          <p:cNvSpPr>
            <a:spLocks noChangeArrowheads="1"/>
          </p:cNvSpPr>
          <p:nvPr/>
        </p:nvSpPr>
        <p:spPr bwMode="auto">
          <a:xfrm>
            <a:off x="3703638" y="4076701"/>
            <a:ext cx="21431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0976" name="Text Box 18"/>
          <p:cNvSpPr txBox="1">
            <a:spLocks noChangeArrowheads="1"/>
          </p:cNvSpPr>
          <p:nvPr/>
        </p:nvSpPr>
        <p:spPr bwMode="auto">
          <a:xfrm>
            <a:off x="3775076" y="5013325"/>
            <a:ext cx="9366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 1</a:t>
            </a:r>
          </a:p>
        </p:txBody>
      </p:sp>
      <p:sp>
        <p:nvSpPr>
          <p:cNvPr id="40977" name="Line 19"/>
          <p:cNvSpPr>
            <a:spLocks noChangeShapeType="1"/>
          </p:cNvSpPr>
          <p:nvPr/>
        </p:nvSpPr>
        <p:spPr bwMode="auto">
          <a:xfrm flipV="1">
            <a:off x="4422775" y="3716338"/>
            <a:ext cx="3600450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0978" name="Text Box 20"/>
          <p:cNvSpPr txBox="1">
            <a:spLocks noChangeArrowheads="1"/>
          </p:cNvSpPr>
          <p:nvPr/>
        </p:nvSpPr>
        <p:spPr bwMode="auto">
          <a:xfrm>
            <a:off x="5648326" y="399891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0979" name="Oval 21"/>
          <p:cNvSpPr>
            <a:spLocks noChangeArrowheads="1"/>
          </p:cNvSpPr>
          <p:nvPr/>
        </p:nvSpPr>
        <p:spPr bwMode="auto">
          <a:xfrm>
            <a:off x="4999039" y="2276476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0980" name="Text Box 22"/>
          <p:cNvSpPr txBox="1">
            <a:spLocks noChangeArrowheads="1"/>
          </p:cNvSpPr>
          <p:nvPr/>
        </p:nvSpPr>
        <p:spPr bwMode="auto">
          <a:xfrm>
            <a:off x="5430839" y="1773238"/>
            <a:ext cx="23764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40981" name="Line 23"/>
          <p:cNvSpPr>
            <a:spLocks noChangeShapeType="1"/>
          </p:cNvSpPr>
          <p:nvPr/>
        </p:nvSpPr>
        <p:spPr bwMode="auto">
          <a:xfrm>
            <a:off x="4783138" y="2205038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0982" name="Line 24"/>
          <p:cNvSpPr>
            <a:spLocks noChangeShapeType="1"/>
          </p:cNvSpPr>
          <p:nvPr/>
        </p:nvSpPr>
        <p:spPr bwMode="auto">
          <a:xfrm>
            <a:off x="5503863" y="2565400"/>
            <a:ext cx="14398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0983" name="Line 25"/>
          <p:cNvSpPr>
            <a:spLocks noChangeShapeType="1"/>
          </p:cNvSpPr>
          <p:nvPr/>
        </p:nvSpPr>
        <p:spPr bwMode="auto">
          <a:xfrm>
            <a:off x="5503863" y="2565400"/>
            <a:ext cx="1223962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098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1" y="341314"/>
            <a:ext cx="8385175" cy="1431925"/>
          </a:xfrm>
        </p:spPr>
        <p:txBody>
          <a:bodyPr/>
          <a:lstStyle/>
          <a:p>
            <a:pPr eaLnBrk="1" hangingPunct="1"/>
            <a:r>
              <a:rPr lang="en-US" sz="3600" dirty="0" err="1"/>
              <a:t>Ricart-Agrawala’s</a:t>
            </a:r>
            <a:r>
              <a:rPr lang="en-US" sz="3600" dirty="0"/>
              <a:t> algorithm: example</a:t>
            </a:r>
          </a:p>
        </p:txBody>
      </p:sp>
    </p:spTree>
    <p:extLst>
      <p:ext uri="{BB962C8B-B14F-4D97-AF65-F5344CB8AC3E}">
        <p14:creationId xmlns:p14="http://schemas.microsoft.com/office/powerpoint/2010/main" val="19881865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Line 3"/>
          <p:cNvSpPr>
            <a:spLocks noChangeShapeType="1"/>
          </p:cNvSpPr>
          <p:nvPr/>
        </p:nvSpPr>
        <p:spPr bwMode="auto">
          <a:xfrm>
            <a:off x="1327150" y="25654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1987" name="Line 4"/>
          <p:cNvSpPr>
            <a:spLocks noChangeShapeType="1"/>
          </p:cNvSpPr>
          <p:nvPr/>
        </p:nvSpPr>
        <p:spPr bwMode="auto">
          <a:xfrm>
            <a:off x="1327150" y="37163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1988" name="Line 5"/>
          <p:cNvSpPr>
            <a:spLocks noChangeShapeType="1"/>
          </p:cNvSpPr>
          <p:nvPr/>
        </p:nvSpPr>
        <p:spPr bwMode="auto">
          <a:xfrm>
            <a:off x="1327150" y="494188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1989" name="Oval 6"/>
          <p:cNvSpPr>
            <a:spLocks noChangeArrowheads="1"/>
          </p:cNvSpPr>
          <p:nvPr/>
        </p:nvSpPr>
        <p:spPr bwMode="auto">
          <a:xfrm>
            <a:off x="1182689" y="2205039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1990" name="Oval 7"/>
          <p:cNvSpPr>
            <a:spLocks noChangeArrowheads="1"/>
          </p:cNvSpPr>
          <p:nvPr/>
        </p:nvSpPr>
        <p:spPr bwMode="auto">
          <a:xfrm>
            <a:off x="1182689" y="33575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1991" name="Oval 8"/>
          <p:cNvSpPr>
            <a:spLocks noChangeArrowheads="1"/>
          </p:cNvSpPr>
          <p:nvPr/>
        </p:nvSpPr>
        <p:spPr bwMode="auto">
          <a:xfrm>
            <a:off x="1255714" y="46529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1992" name="Line 9"/>
          <p:cNvSpPr>
            <a:spLocks noChangeShapeType="1"/>
          </p:cNvSpPr>
          <p:nvPr/>
        </p:nvSpPr>
        <p:spPr bwMode="auto">
          <a:xfrm>
            <a:off x="6007100" y="2133600"/>
            <a:ext cx="0" cy="32400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1993" name="Text Box 10"/>
          <p:cNvSpPr txBox="1">
            <a:spLocks noChangeArrowheads="1"/>
          </p:cNvSpPr>
          <p:nvPr/>
        </p:nvSpPr>
        <p:spPr bwMode="auto">
          <a:xfrm>
            <a:off x="6296025" y="1802607"/>
            <a:ext cx="230505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P1 receives the request of P2</a:t>
            </a:r>
          </a:p>
        </p:txBody>
      </p:sp>
      <p:sp>
        <p:nvSpPr>
          <p:cNvPr id="41994" name="Oval 11"/>
          <p:cNvSpPr>
            <a:spLocks noChangeArrowheads="1"/>
          </p:cNvSpPr>
          <p:nvPr/>
        </p:nvSpPr>
        <p:spPr bwMode="auto">
          <a:xfrm>
            <a:off x="2551114" y="3357564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1995" name="Text Box 12"/>
          <p:cNvSpPr txBox="1">
            <a:spLocks noChangeArrowheads="1"/>
          </p:cNvSpPr>
          <p:nvPr/>
        </p:nvSpPr>
        <p:spPr bwMode="auto">
          <a:xfrm>
            <a:off x="2622550" y="2565400"/>
            <a:ext cx="23764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41996" name="Line 13"/>
          <p:cNvSpPr>
            <a:spLocks noChangeShapeType="1"/>
          </p:cNvSpPr>
          <p:nvPr/>
        </p:nvSpPr>
        <p:spPr bwMode="auto">
          <a:xfrm flipV="1">
            <a:off x="2840038" y="2565400"/>
            <a:ext cx="31670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1997" name="Line 14"/>
          <p:cNvSpPr>
            <a:spLocks noChangeShapeType="1"/>
          </p:cNvSpPr>
          <p:nvPr/>
        </p:nvSpPr>
        <p:spPr bwMode="auto">
          <a:xfrm>
            <a:off x="2840039" y="3716338"/>
            <a:ext cx="1366837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1998" name="Rectangle 15"/>
          <p:cNvSpPr>
            <a:spLocks noChangeArrowheads="1"/>
          </p:cNvSpPr>
          <p:nvPr/>
        </p:nvSpPr>
        <p:spPr bwMode="auto">
          <a:xfrm>
            <a:off x="4638676" y="2636838"/>
            <a:ext cx="214313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1999" name="Rectangle 16"/>
          <p:cNvSpPr>
            <a:spLocks noChangeArrowheads="1"/>
          </p:cNvSpPr>
          <p:nvPr/>
        </p:nvSpPr>
        <p:spPr bwMode="auto">
          <a:xfrm>
            <a:off x="3703638" y="4076701"/>
            <a:ext cx="21431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2000" name="Text Box 17"/>
          <p:cNvSpPr txBox="1">
            <a:spLocks noChangeArrowheads="1"/>
          </p:cNvSpPr>
          <p:nvPr/>
        </p:nvSpPr>
        <p:spPr bwMode="auto">
          <a:xfrm>
            <a:off x="3486151" y="5013325"/>
            <a:ext cx="9366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 1</a:t>
            </a:r>
          </a:p>
        </p:txBody>
      </p:sp>
      <p:sp>
        <p:nvSpPr>
          <p:cNvPr id="42001" name="Line 18"/>
          <p:cNvSpPr>
            <a:spLocks noChangeShapeType="1"/>
          </p:cNvSpPr>
          <p:nvPr/>
        </p:nvSpPr>
        <p:spPr bwMode="auto">
          <a:xfrm flipV="1">
            <a:off x="4422775" y="3716338"/>
            <a:ext cx="3600450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2002" name="Text Box 19"/>
          <p:cNvSpPr txBox="1">
            <a:spLocks noChangeArrowheads="1"/>
          </p:cNvSpPr>
          <p:nvPr/>
        </p:nvSpPr>
        <p:spPr bwMode="auto">
          <a:xfrm>
            <a:off x="5648326" y="399891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2003" name="Oval 20"/>
          <p:cNvSpPr>
            <a:spLocks noChangeArrowheads="1"/>
          </p:cNvSpPr>
          <p:nvPr/>
        </p:nvSpPr>
        <p:spPr bwMode="auto">
          <a:xfrm>
            <a:off x="4999039" y="2276476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2004" name="Text Box 21"/>
          <p:cNvSpPr txBox="1">
            <a:spLocks noChangeArrowheads="1"/>
          </p:cNvSpPr>
          <p:nvPr/>
        </p:nvSpPr>
        <p:spPr bwMode="auto">
          <a:xfrm>
            <a:off x="3487739" y="1635125"/>
            <a:ext cx="23764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42005" name="Line 22"/>
          <p:cNvSpPr>
            <a:spLocks noChangeShapeType="1"/>
          </p:cNvSpPr>
          <p:nvPr/>
        </p:nvSpPr>
        <p:spPr bwMode="auto">
          <a:xfrm flipV="1">
            <a:off x="6007101" y="1916114"/>
            <a:ext cx="288925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2006" name="Line 23"/>
          <p:cNvSpPr>
            <a:spLocks noChangeShapeType="1"/>
          </p:cNvSpPr>
          <p:nvPr/>
        </p:nvSpPr>
        <p:spPr bwMode="auto">
          <a:xfrm>
            <a:off x="5503863" y="2565400"/>
            <a:ext cx="14398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2007" name="Line 24"/>
          <p:cNvSpPr>
            <a:spLocks noChangeShapeType="1"/>
          </p:cNvSpPr>
          <p:nvPr/>
        </p:nvSpPr>
        <p:spPr bwMode="auto">
          <a:xfrm>
            <a:off x="5503863" y="2565400"/>
            <a:ext cx="1223962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2008" name="Rectangle 25"/>
          <p:cNvSpPr>
            <a:spLocks noChangeArrowheads="1"/>
          </p:cNvSpPr>
          <p:nvPr/>
        </p:nvSpPr>
        <p:spPr bwMode="auto">
          <a:xfrm>
            <a:off x="6151563" y="2708276"/>
            <a:ext cx="21431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2009" name="Rectangle 26"/>
          <p:cNvSpPr>
            <a:spLocks noChangeArrowheads="1"/>
          </p:cNvSpPr>
          <p:nvPr/>
        </p:nvSpPr>
        <p:spPr bwMode="auto">
          <a:xfrm>
            <a:off x="5503863" y="3068638"/>
            <a:ext cx="214312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2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err="1"/>
              <a:t>Ricart-Agrawala’s</a:t>
            </a:r>
            <a:r>
              <a:rPr lang="en-US" sz="3600" dirty="0"/>
              <a:t> algorithm: example</a:t>
            </a:r>
          </a:p>
        </p:txBody>
      </p:sp>
    </p:spTree>
    <p:extLst>
      <p:ext uri="{BB962C8B-B14F-4D97-AF65-F5344CB8AC3E}">
        <p14:creationId xmlns:p14="http://schemas.microsoft.com/office/powerpoint/2010/main" val="6060506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3"/>
          <p:cNvSpPr>
            <a:spLocks noChangeShapeType="1"/>
          </p:cNvSpPr>
          <p:nvPr/>
        </p:nvSpPr>
        <p:spPr bwMode="auto">
          <a:xfrm>
            <a:off x="1327150" y="25654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3011" name="Line 4"/>
          <p:cNvSpPr>
            <a:spLocks noChangeShapeType="1"/>
          </p:cNvSpPr>
          <p:nvPr/>
        </p:nvSpPr>
        <p:spPr bwMode="auto">
          <a:xfrm>
            <a:off x="1327150" y="37163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3012" name="Line 5"/>
          <p:cNvSpPr>
            <a:spLocks noChangeShapeType="1"/>
          </p:cNvSpPr>
          <p:nvPr/>
        </p:nvSpPr>
        <p:spPr bwMode="auto">
          <a:xfrm>
            <a:off x="1327150" y="494188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3013" name="Oval 6"/>
          <p:cNvSpPr>
            <a:spLocks noChangeArrowheads="1"/>
          </p:cNvSpPr>
          <p:nvPr/>
        </p:nvSpPr>
        <p:spPr bwMode="auto">
          <a:xfrm>
            <a:off x="1182689" y="2205039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3014" name="Oval 7"/>
          <p:cNvSpPr>
            <a:spLocks noChangeArrowheads="1"/>
          </p:cNvSpPr>
          <p:nvPr/>
        </p:nvSpPr>
        <p:spPr bwMode="auto">
          <a:xfrm>
            <a:off x="1182689" y="33575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3015" name="Oval 8"/>
          <p:cNvSpPr>
            <a:spLocks noChangeArrowheads="1"/>
          </p:cNvSpPr>
          <p:nvPr/>
        </p:nvSpPr>
        <p:spPr bwMode="auto">
          <a:xfrm>
            <a:off x="1255714" y="46529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3016" name="Line 9"/>
          <p:cNvSpPr>
            <a:spLocks noChangeShapeType="1"/>
          </p:cNvSpPr>
          <p:nvPr/>
        </p:nvSpPr>
        <p:spPr bwMode="auto">
          <a:xfrm>
            <a:off x="6007100" y="2133600"/>
            <a:ext cx="0" cy="32400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3017" name="Oval 11"/>
          <p:cNvSpPr>
            <a:spLocks noChangeArrowheads="1"/>
          </p:cNvSpPr>
          <p:nvPr/>
        </p:nvSpPr>
        <p:spPr bwMode="auto">
          <a:xfrm>
            <a:off x="2551114" y="3357564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3018" name="Text Box 12"/>
          <p:cNvSpPr txBox="1">
            <a:spLocks noChangeArrowheads="1"/>
          </p:cNvSpPr>
          <p:nvPr/>
        </p:nvSpPr>
        <p:spPr bwMode="auto">
          <a:xfrm>
            <a:off x="2622550" y="2565400"/>
            <a:ext cx="23764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43019" name="Line 13"/>
          <p:cNvSpPr>
            <a:spLocks noChangeShapeType="1"/>
          </p:cNvSpPr>
          <p:nvPr/>
        </p:nvSpPr>
        <p:spPr bwMode="auto">
          <a:xfrm flipV="1">
            <a:off x="2840038" y="2565400"/>
            <a:ext cx="31670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3020" name="Line 14"/>
          <p:cNvSpPr>
            <a:spLocks noChangeShapeType="1"/>
          </p:cNvSpPr>
          <p:nvPr/>
        </p:nvSpPr>
        <p:spPr bwMode="auto">
          <a:xfrm>
            <a:off x="2840039" y="3716338"/>
            <a:ext cx="1366837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3021" name="Rectangle 15"/>
          <p:cNvSpPr>
            <a:spLocks noChangeArrowheads="1"/>
          </p:cNvSpPr>
          <p:nvPr/>
        </p:nvSpPr>
        <p:spPr bwMode="auto">
          <a:xfrm>
            <a:off x="4638676" y="2636838"/>
            <a:ext cx="214313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3022" name="Rectangle 16"/>
          <p:cNvSpPr>
            <a:spLocks noChangeArrowheads="1"/>
          </p:cNvSpPr>
          <p:nvPr/>
        </p:nvSpPr>
        <p:spPr bwMode="auto">
          <a:xfrm>
            <a:off x="3703638" y="4076701"/>
            <a:ext cx="21431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3023" name="Text Box 17"/>
          <p:cNvSpPr txBox="1">
            <a:spLocks noChangeArrowheads="1"/>
          </p:cNvSpPr>
          <p:nvPr/>
        </p:nvSpPr>
        <p:spPr bwMode="auto">
          <a:xfrm>
            <a:off x="3486151" y="5013325"/>
            <a:ext cx="9366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 1</a:t>
            </a:r>
          </a:p>
        </p:txBody>
      </p:sp>
      <p:sp>
        <p:nvSpPr>
          <p:cNvPr id="43024" name="Line 18"/>
          <p:cNvSpPr>
            <a:spLocks noChangeShapeType="1"/>
          </p:cNvSpPr>
          <p:nvPr/>
        </p:nvSpPr>
        <p:spPr bwMode="auto">
          <a:xfrm flipV="1">
            <a:off x="4422775" y="3716338"/>
            <a:ext cx="3600450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3025" name="Text Box 19"/>
          <p:cNvSpPr txBox="1">
            <a:spLocks noChangeArrowheads="1"/>
          </p:cNvSpPr>
          <p:nvPr/>
        </p:nvSpPr>
        <p:spPr bwMode="auto">
          <a:xfrm>
            <a:off x="5648326" y="399891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3026" name="Oval 20"/>
          <p:cNvSpPr>
            <a:spLocks noChangeArrowheads="1"/>
          </p:cNvSpPr>
          <p:nvPr/>
        </p:nvSpPr>
        <p:spPr bwMode="auto">
          <a:xfrm>
            <a:off x="4999039" y="2276476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3027" name="Text Box 21"/>
          <p:cNvSpPr txBox="1">
            <a:spLocks noChangeArrowheads="1"/>
          </p:cNvSpPr>
          <p:nvPr/>
        </p:nvSpPr>
        <p:spPr bwMode="auto">
          <a:xfrm>
            <a:off x="3487739" y="1635125"/>
            <a:ext cx="23764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43028" name="Line 23"/>
          <p:cNvSpPr>
            <a:spLocks noChangeShapeType="1"/>
          </p:cNvSpPr>
          <p:nvPr/>
        </p:nvSpPr>
        <p:spPr bwMode="auto">
          <a:xfrm>
            <a:off x="5503863" y="2565400"/>
            <a:ext cx="14398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3029" name="Line 24"/>
          <p:cNvSpPr>
            <a:spLocks noChangeShapeType="1"/>
          </p:cNvSpPr>
          <p:nvPr/>
        </p:nvSpPr>
        <p:spPr bwMode="auto">
          <a:xfrm>
            <a:off x="5503863" y="2565400"/>
            <a:ext cx="1223962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3030" name="Rectangle 25"/>
          <p:cNvSpPr>
            <a:spLocks noChangeArrowheads="1"/>
          </p:cNvSpPr>
          <p:nvPr/>
        </p:nvSpPr>
        <p:spPr bwMode="auto">
          <a:xfrm>
            <a:off x="6151563" y="2708276"/>
            <a:ext cx="21431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3031" name="Rectangle 26"/>
          <p:cNvSpPr>
            <a:spLocks noChangeArrowheads="1"/>
          </p:cNvSpPr>
          <p:nvPr/>
        </p:nvSpPr>
        <p:spPr bwMode="auto">
          <a:xfrm>
            <a:off x="5503863" y="3068638"/>
            <a:ext cx="214312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3032" name="Text Box 27"/>
          <p:cNvSpPr txBox="1">
            <a:spLocks noChangeArrowheads="1"/>
          </p:cNvSpPr>
          <p:nvPr/>
        </p:nvSpPr>
        <p:spPr bwMode="auto">
          <a:xfrm>
            <a:off x="6726237" y="1758475"/>
            <a:ext cx="2879725" cy="78898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{Last_Req , i} &lt; {t, j}?</a:t>
            </a:r>
          </a:p>
          <a:p>
            <a:pPr>
              <a:spcBef>
                <a:spcPct val="50000"/>
              </a:spcBef>
            </a:pPr>
            <a:r>
              <a:rPr lang="en-GB"/>
              <a:t>{1, 1} &lt; {1, 2}? </a:t>
            </a:r>
            <a:r>
              <a:rPr lang="en-GB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43033" name="Line 32"/>
          <p:cNvSpPr>
            <a:spLocks noChangeShapeType="1"/>
          </p:cNvSpPr>
          <p:nvPr/>
        </p:nvSpPr>
        <p:spPr bwMode="auto">
          <a:xfrm flipV="1">
            <a:off x="6007101" y="1989139"/>
            <a:ext cx="720725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6" name="Titolo 5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 err="1"/>
              <a:t>Ricart-Agrawala’s</a:t>
            </a:r>
            <a:r>
              <a:rPr lang="en-US" sz="3600" dirty="0"/>
              <a:t> algorithm: example</a:t>
            </a:r>
          </a:p>
        </p:txBody>
      </p:sp>
    </p:spTree>
    <p:extLst>
      <p:ext uri="{BB962C8B-B14F-4D97-AF65-F5344CB8AC3E}">
        <p14:creationId xmlns:p14="http://schemas.microsoft.com/office/powerpoint/2010/main" val="3780847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3"/>
          <p:cNvSpPr>
            <a:spLocks noChangeShapeType="1"/>
          </p:cNvSpPr>
          <p:nvPr/>
        </p:nvSpPr>
        <p:spPr bwMode="auto">
          <a:xfrm>
            <a:off x="1327150" y="25654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4035" name="Line 4"/>
          <p:cNvSpPr>
            <a:spLocks noChangeShapeType="1"/>
          </p:cNvSpPr>
          <p:nvPr/>
        </p:nvSpPr>
        <p:spPr bwMode="auto">
          <a:xfrm>
            <a:off x="1327150" y="37163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4036" name="Line 5"/>
          <p:cNvSpPr>
            <a:spLocks noChangeShapeType="1"/>
          </p:cNvSpPr>
          <p:nvPr/>
        </p:nvSpPr>
        <p:spPr bwMode="auto">
          <a:xfrm>
            <a:off x="1327150" y="494188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4037" name="Oval 6"/>
          <p:cNvSpPr>
            <a:spLocks noChangeArrowheads="1"/>
          </p:cNvSpPr>
          <p:nvPr/>
        </p:nvSpPr>
        <p:spPr bwMode="auto">
          <a:xfrm>
            <a:off x="1182689" y="2205039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4038" name="Oval 7"/>
          <p:cNvSpPr>
            <a:spLocks noChangeArrowheads="1"/>
          </p:cNvSpPr>
          <p:nvPr/>
        </p:nvSpPr>
        <p:spPr bwMode="auto">
          <a:xfrm>
            <a:off x="1182689" y="33575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4039" name="Oval 8"/>
          <p:cNvSpPr>
            <a:spLocks noChangeArrowheads="1"/>
          </p:cNvSpPr>
          <p:nvPr/>
        </p:nvSpPr>
        <p:spPr bwMode="auto">
          <a:xfrm>
            <a:off x="1255714" y="46529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4040" name="Line 9"/>
          <p:cNvSpPr>
            <a:spLocks noChangeShapeType="1"/>
          </p:cNvSpPr>
          <p:nvPr/>
        </p:nvSpPr>
        <p:spPr bwMode="auto">
          <a:xfrm>
            <a:off x="6007100" y="2133600"/>
            <a:ext cx="0" cy="32400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4041" name="Oval 11"/>
          <p:cNvSpPr>
            <a:spLocks noChangeArrowheads="1"/>
          </p:cNvSpPr>
          <p:nvPr/>
        </p:nvSpPr>
        <p:spPr bwMode="auto">
          <a:xfrm>
            <a:off x="2551114" y="3357564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4042" name="Text Box 12"/>
          <p:cNvSpPr txBox="1">
            <a:spLocks noChangeArrowheads="1"/>
          </p:cNvSpPr>
          <p:nvPr/>
        </p:nvSpPr>
        <p:spPr bwMode="auto">
          <a:xfrm>
            <a:off x="2622550" y="2565400"/>
            <a:ext cx="23764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44043" name="Line 13"/>
          <p:cNvSpPr>
            <a:spLocks noChangeShapeType="1"/>
          </p:cNvSpPr>
          <p:nvPr/>
        </p:nvSpPr>
        <p:spPr bwMode="auto">
          <a:xfrm flipV="1">
            <a:off x="2840038" y="2565400"/>
            <a:ext cx="31670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4044" name="Line 14"/>
          <p:cNvSpPr>
            <a:spLocks noChangeShapeType="1"/>
          </p:cNvSpPr>
          <p:nvPr/>
        </p:nvSpPr>
        <p:spPr bwMode="auto">
          <a:xfrm>
            <a:off x="2840039" y="3716338"/>
            <a:ext cx="1366837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4045" name="Rectangle 15"/>
          <p:cNvSpPr>
            <a:spLocks noChangeArrowheads="1"/>
          </p:cNvSpPr>
          <p:nvPr/>
        </p:nvSpPr>
        <p:spPr bwMode="auto">
          <a:xfrm>
            <a:off x="4638676" y="2636838"/>
            <a:ext cx="214313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4046" name="Rectangle 16"/>
          <p:cNvSpPr>
            <a:spLocks noChangeArrowheads="1"/>
          </p:cNvSpPr>
          <p:nvPr/>
        </p:nvSpPr>
        <p:spPr bwMode="auto">
          <a:xfrm>
            <a:off x="3703638" y="4076701"/>
            <a:ext cx="21431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4047" name="Text Box 17"/>
          <p:cNvSpPr txBox="1">
            <a:spLocks noChangeArrowheads="1"/>
          </p:cNvSpPr>
          <p:nvPr/>
        </p:nvSpPr>
        <p:spPr bwMode="auto">
          <a:xfrm>
            <a:off x="3486151" y="5013325"/>
            <a:ext cx="9366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 1</a:t>
            </a:r>
          </a:p>
        </p:txBody>
      </p:sp>
      <p:sp>
        <p:nvSpPr>
          <p:cNvPr id="44048" name="Line 18"/>
          <p:cNvSpPr>
            <a:spLocks noChangeShapeType="1"/>
          </p:cNvSpPr>
          <p:nvPr/>
        </p:nvSpPr>
        <p:spPr bwMode="auto">
          <a:xfrm flipV="1">
            <a:off x="4422775" y="3716338"/>
            <a:ext cx="3600450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4049" name="Text Box 19"/>
          <p:cNvSpPr txBox="1">
            <a:spLocks noChangeArrowheads="1"/>
          </p:cNvSpPr>
          <p:nvPr/>
        </p:nvSpPr>
        <p:spPr bwMode="auto">
          <a:xfrm>
            <a:off x="5648326" y="399891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4050" name="Oval 20"/>
          <p:cNvSpPr>
            <a:spLocks noChangeArrowheads="1"/>
          </p:cNvSpPr>
          <p:nvPr/>
        </p:nvSpPr>
        <p:spPr bwMode="auto">
          <a:xfrm>
            <a:off x="4999039" y="2276476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4051" name="Text Box 21"/>
          <p:cNvSpPr txBox="1">
            <a:spLocks noChangeArrowheads="1"/>
          </p:cNvSpPr>
          <p:nvPr/>
        </p:nvSpPr>
        <p:spPr bwMode="auto">
          <a:xfrm>
            <a:off x="3487739" y="1635125"/>
            <a:ext cx="23764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44052" name="Line 23"/>
          <p:cNvSpPr>
            <a:spLocks noChangeShapeType="1"/>
          </p:cNvSpPr>
          <p:nvPr/>
        </p:nvSpPr>
        <p:spPr bwMode="auto">
          <a:xfrm>
            <a:off x="5503863" y="2565400"/>
            <a:ext cx="14398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4053" name="Line 24"/>
          <p:cNvSpPr>
            <a:spLocks noChangeShapeType="1"/>
          </p:cNvSpPr>
          <p:nvPr/>
        </p:nvSpPr>
        <p:spPr bwMode="auto">
          <a:xfrm>
            <a:off x="5503863" y="2565400"/>
            <a:ext cx="1223962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4054" name="Rectangle 25"/>
          <p:cNvSpPr>
            <a:spLocks noChangeArrowheads="1"/>
          </p:cNvSpPr>
          <p:nvPr/>
        </p:nvSpPr>
        <p:spPr bwMode="auto">
          <a:xfrm>
            <a:off x="6151563" y="2708276"/>
            <a:ext cx="21431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4055" name="Rectangle 26"/>
          <p:cNvSpPr>
            <a:spLocks noChangeArrowheads="1"/>
          </p:cNvSpPr>
          <p:nvPr/>
        </p:nvSpPr>
        <p:spPr bwMode="auto">
          <a:xfrm>
            <a:off x="5503863" y="3068638"/>
            <a:ext cx="214312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4056" name="Rectangle 28"/>
          <p:cNvSpPr>
            <a:spLocks noChangeArrowheads="1"/>
          </p:cNvSpPr>
          <p:nvPr/>
        </p:nvSpPr>
        <p:spPr bwMode="auto">
          <a:xfrm>
            <a:off x="6510339" y="2062164"/>
            <a:ext cx="865187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1,2</a:t>
            </a:r>
          </a:p>
        </p:txBody>
      </p:sp>
      <p:cxnSp>
        <p:nvCxnSpPr>
          <p:cNvPr id="44057" name="AutoShape 29"/>
          <p:cNvCxnSpPr>
            <a:cxnSpLocks noChangeShapeType="1"/>
            <a:stCxn id="44040" idx="0"/>
            <a:endCxn id="44056" idx="2"/>
          </p:cNvCxnSpPr>
          <p:nvPr/>
        </p:nvCxnSpPr>
        <p:spPr bwMode="auto">
          <a:xfrm rot="5400000" flipV="1">
            <a:off x="6367463" y="1773238"/>
            <a:ext cx="215900" cy="936625"/>
          </a:xfrm>
          <a:prstGeom prst="curvedConnector5">
            <a:avLst>
              <a:gd name="adj1" fmla="val -50736"/>
              <a:gd name="adj2" fmla="val 26778"/>
              <a:gd name="adj3" fmla="val 14338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4058" name="Text Box 31"/>
          <p:cNvSpPr txBox="1">
            <a:spLocks noChangeArrowheads="1"/>
          </p:cNvSpPr>
          <p:nvPr/>
        </p:nvSpPr>
        <p:spPr bwMode="auto">
          <a:xfrm>
            <a:off x="7036118" y="1672275"/>
            <a:ext cx="23764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 dirty="0" err="1"/>
              <a:t>num</a:t>
            </a:r>
            <a:r>
              <a:rPr lang="en-GB" sz="1600" dirty="0"/>
              <a:t>=max (t, </a:t>
            </a:r>
            <a:r>
              <a:rPr lang="en-GB" sz="1600" dirty="0" err="1"/>
              <a:t>num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 err="1"/>
              <a:t>num</a:t>
            </a:r>
            <a:r>
              <a:rPr lang="en-GB" sz="2000" dirty="0"/>
              <a:t> </a:t>
            </a:r>
            <a:r>
              <a:rPr lang="en-GB" sz="1600" dirty="0"/>
              <a:t>=max (1, 1) =1</a:t>
            </a:r>
          </a:p>
        </p:txBody>
      </p:sp>
      <p:sp>
        <p:nvSpPr>
          <p:cNvPr id="44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err="1"/>
              <a:t>Ricart-Agrawala’s</a:t>
            </a:r>
            <a:r>
              <a:rPr lang="en-US" sz="3600" dirty="0"/>
              <a:t> algorithm: example</a:t>
            </a:r>
          </a:p>
        </p:txBody>
      </p:sp>
    </p:spTree>
    <p:extLst>
      <p:ext uri="{BB962C8B-B14F-4D97-AF65-F5344CB8AC3E}">
        <p14:creationId xmlns:p14="http://schemas.microsoft.com/office/powerpoint/2010/main" val="658447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Line 3"/>
          <p:cNvSpPr>
            <a:spLocks noChangeShapeType="1"/>
          </p:cNvSpPr>
          <p:nvPr/>
        </p:nvSpPr>
        <p:spPr bwMode="auto">
          <a:xfrm>
            <a:off x="1327150" y="25654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5059" name="Line 4"/>
          <p:cNvSpPr>
            <a:spLocks noChangeShapeType="1"/>
          </p:cNvSpPr>
          <p:nvPr/>
        </p:nvSpPr>
        <p:spPr bwMode="auto">
          <a:xfrm>
            <a:off x="1327150" y="37163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5060" name="Line 5"/>
          <p:cNvSpPr>
            <a:spLocks noChangeShapeType="1"/>
          </p:cNvSpPr>
          <p:nvPr/>
        </p:nvSpPr>
        <p:spPr bwMode="auto">
          <a:xfrm>
            <a:off x="1327150" y="494188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5061" name="Oval 6"/>
          <p:cNvSpPr>
            <a:spLocks noChangeArrowheads="1"/>
          </p:cNvSpPr>
          <p:nvPr/>
        </p:nvSpPr>
        <p:spPr bwMode="auto">
          <a:xfrm>
            <a:off x="1182689" y="2205039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5062" name="Oval 7"/>
          <p:cNvSpPr>
            <a:spLocks noChangeArrowheads="1"/>
          </p:cNvSpPr>
          <p:nvPr/>
        </p:nvSpPr>
        <p:spPr bwMode="auto">
          <a:xfrm>
            <a:off x="1182689" y="33575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5063" name="Oval 8"/>
          <p:cNvSpPr>
            <a:spLocks noChangeArrowheads="1"/>
          </p:cNvSpPr>
          <p:nvPr/>
        </p:nvSpPr>
        <p:spPr bwMode="auto">
          <a:xfrm>
            <a:off x="1255714" y="46529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5064" name="Line 9"/>
          <p:cNvSpPr>
            <a:spLocks noChangeShapeType="1"/>
          </p:cNvSpPr>
          <p:nvPr/>
        </p:nvSpPr>
        <p:spPr bwMode="auto">
          <a:xfrm>
            <a:off x="6727825" y="2133600"/>
            <a:ext cx="0" cy="32400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5065" name="Text Box 10"/>
          <p:cNvSpPr txBox="1">
            <a:spLocks noChangeArrowheads="1"/>
          </p:cNvSpPr>
          <p:nvPr/>
        </p:nvSpPr>
        <p:spPr bwMode="auto">
          <a:xfrm>
            <a:off x="4279900" y="5373688"/>
            <a:ext cx="2305050" cy="646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P3 receives the request of P1</a:t>
            </a:r>
          </a:p>
        </p:txBody>
      </p:sp>
      <p:sp>
        <p:nvSpPr>
          <p:cNvPr id="45066" name="Oval 11"/>
          <p:cNvSpPr>
            <a:spLocks noChangeArrowheads="1"/>
          </p:cNvSpPr>
          <p:nvPr/>
        </p:nvSpPr>
        <p:spPr bwMode="auto">
          <a:xfrm>
            <a:off x="2551114" y="3357564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5067" name="Text Box 12"/>
          <p:cNvSpPr txBox="1">
            <a:spLocks noChangeArrowheads="1"/>
          </p:cNvSpPr>
          <p:nvPr/>
        </p:nvSpPr>
        <p:spPr bwMode="auto">
          <a:xfrm>
            <a:off x="2622550" y="2565400"/>
            <a:ext cx="23764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45068" name="Line 13"/>
          <p:cNvSpPr>
            <a:spLocks noChangeShapeType="1"/>
          </p:cNvSpPr>
          <p:nvPr/>
        </p:nvSpPr>
        <p:spPr bwMode="auto">
          <a:xfrm flipV="1">
            <a:off x="2840038" y="2565400"/>
            <a:ext cx="31670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5069" name="Line 14"/>
          <p:cNvSpPr>
            <a:spLocks noChangeShapeType="1"/>
          </p:cNvSpPr>
          <p:nvPr/>
        </p:nvSpPr>
        <p:spPr bwMode="auto">
          <a:xfrm>
            <a:off x="2840039" y="3716338"/>
            <a:ext cx="1366837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5070" name="Rectangle 15"/>
          <p:cNvSpPr>
            <a:spLocks noChangeArrowheads="1"/>
          </p:cNvSpPr>
          <p:nvPr/>
        </p:nvSpPr>
        <p:spPr bwMode="auto">
          <a:xfrm>
            <a:off x="4638676" y="2636838"/>
            <a:ext cx="214313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5071" name="Rectangle 16"/>
          <p:cNvSpPr>
            <a:spLocks noChangeArrowheads="1"/>
          </p:cNvSpPr>
          <p:nvPr/>
        </p:nvSpPr>
        <p:spPr bwMode="auto">
          <a:xfrm>
            <a:off x="3703638" y="4076701"/>
            <a:ext cx="21431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5072" name="Text Box 17"/>
          <p:cNvSpPr txBox="1">
            <a:spLocks noChangeArrowheads="1"/>
          </p:cNvSpPr>
          <p:nvPr/>
        </p:nvSpPr>
        <p:spPr bwMode="auto">
          <a:xfrm>
            <a:off x="3486151" y="5013325"/>
            <a:ext cx="9366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 1</a:t>
            </a:r>
          </a:p>
        </p:txBody>
      </p:sp>
      <p:sp>
        <p:nvSpPr>
          <p:cNvPr id="45073" name="Line 18"/>
          <p:cNvSpPr>
            <a:spLocks noChangeShapeType="1"/>
          </p:cNvSpPr>
          <p:nvPr/>
        </p:nvSpPr>
        <p:spPr bwMode="auto">
          <a:xfrm flipV="1">
            <a:off x="4422776" y="3716338"/>
            <a:ext cx="3313113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5074" name="Text Box 19"/>
          <p:cNvSpPr txBox="1">
            <a:spLocks noChangeArrowheads="1"/>
          </p:cNvSpPr>
          <p:nvPr/>
        </p:nvSpPr>
        <p:spPr bwMode="auto">
          <a:xfrm>
            <a:off x="5648326" y="399891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5075" name="Oval 20"/>
          <p:cNvSpPr>
            <a:spLocks noChangeArrowheads="1"/>
          </p:cNvSpPr>
          <p:nvPr/>
        </p:nvSpPr>
        <p:spPr bwMode="auto">
          <a:xfrm>
            <a:off x="4999039" y="2276476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5076" name="Text Box 21"/>
          <p:cNvSpPr txBox="1">
            <a:spLocks noChangeArrowheads="1"/>
          </p:cNvSpPr>
          <p:nvPr/>
        </p:nvSpPr>
        <p:spPr bwMode="auto">
          <a:xfrm>
            <a:off x="3487739" y="1635125"/>
            <a:ext cx="23764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45077" name="Line 22"/>
          <p:cNvSpPr>
            <a:spLocks noChangeShapeType="1"/>
          </p:cNvSpPr>
          <p:nvPr/>
        </p:nvSpPr>
        <p:spPr bwMode="auto">
          <a:xfrm flipV="1">
            <a:off x="6296025" y="5157788"/>
            <a:ext cx="4318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5078" name="Line 23"/>
          <p:cNvSpPr>
            <a:spLocks noChangeShapeType="1"/>
          </p:cNvSpPr>
          <p:nvPr/>
        </p:nvSpPr>
        <p:spPr bwMode="auto">
          <a:xfrm>
            <a:off x="5503863" y="2565400"/>
            <a:ext cx="14398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5079" name="Line 24"/>
          <p:cNvSpPr>
            <a:spLocks noChangeShapeType="1"/>
          </p:cNvSpPr>
          <p:nvPr/>
        </p:nvSpPr>
        <p:spPr bwMode="auto">
          <a:xfrm>
            <a:off x="5503863" y="2565400"/>
            <a:ext cx="1223962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5080" name="Rectangle 25"/>
          <p:cNvSpPr>
            <a:spLocks noChangeArrowheads="1"/>
          </p:cNvSpPr>
          <p:nvPr/>
        </p:nvSpPr>
        <p:spPr bwMode="auto">
          <a:xfrm>
            <a:off x="6151563" y="2708276"/>
            <a:ext cx="21431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5081" name="Rectangle 26"/>
          <p:cNvSpPr>
            <a:spLocks noChangeArrowheads="1"/>
          </p:cNvSpPr>
          <p:nvPr/>
        </p:nvSpPr>
        <p:spPr bwMode="auto">
          <a:xfrm>
            <a:off x="5503863" y="3068638"/>
            <a:ext cx="214312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5082" name="Rectangle 28"/>
          <p:cNvSpPr>
            <a:spLocks noChangeArrowheads="1"/>
          </p:cNvSpPr>
          <p:nvPr/>
        </p:nvSpPr>
        <p:spPr bwMode="auto">
          <a:xfrm>
            <a:off x="5719764" y="1989139"/>
            <a:ext cx="865187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1,2</a:t>
            </a:r>
          </a:p>
        </p:txBody>
      </p:sp>
      <p:sp>
        <p:nvSpPr>
          <p:cNvPr id="45083" name="Text Box 30"/>
          <p:cNvSpPr txBox="1">
            <a:spLocks noChangeArrowheads="1"/>
          </p:cNvSpPr>
          <p:nvPr/>
        </p:nvSpPr>
        <p:spPr bwMode="auto">
          <a:xfrm>
            <a:off x="5648325" y="1700213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Q</a:t>
            </a:r>
          </a:p>
        </p:txBody>
      </p:sp>
      <p:sp>
        <p:nvSpPr>
          <p:cNvPr id="45084" name="Line 32"/>
          <p:cNvSpPr>
            <a:spLocks noChangeShapeType="1"/>
          </p:cNvSpPr>
          <p:nvPr/>
        </p:nvSpPr>
        <p:spPr bwMode="auto">
          <a:xfrm flipV="1">
            <a:off x="7015164" y="2565400"/>
            <a:ext cx="2016125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5085" name="Text Box 33"/>
          <p:cNvSpPr txBox="1">
            <a:spLocks noChangeArrowheads="1"/>
          </p:cNvSpPr>
          <p:nvPr/>
        </p:nvSpPr>
        <p:spPr bwMode="auto">
          <a:xfrm>
            <a:off x="7448551" y="422116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5086" name="Text Box 34"/>
          <p:cNvSpPr txBox="1">
            <a:spLocks noChangeArrowheads="1"/>
          </p:cNvSpPr>
          <p:nvPr/>
        </p:nvSpPr>
        <p:spPr bwMode="auto">
          <a:xfrm>
            <a:off x="7015164" y="5013325"/>
            <a:ext cx="23764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/>
              <a:t>num=max (t, num)</a:t>
            </a:r>
            <a:br>
              <a:rPr lang="en-GB" sz="1600"/>
            </a:br>
            <a:r>
              <a:rPr lang="en-GB" sz="1600"/>
              <a:t>num</a:t>
            </a:r>
            <a:r>
              <a:rPr lang="en-GB" sz="2000"/>
              <a:t> </a:t>
            </a:r>
            <a:r>
              <a:rPr lang="en-GB" sz="1600"/>
              <a:t>=max (1, 1) =1</a:t>
            </a:r>
          </a:p>
        </p:txBody>
      </p:sp>
      <p:sp>
        <p:nvSpPr>
          <p:cNvPr id="450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err="1"/>
              <a:t>Ricart-Agrawala’s</a:t>
            </a:r>
            <a:r>
              <a:rPr lang="en-US" sz="3600" dirty="0"/>
              <a:t> algorithm: example</a:t>
            </a:r>
          </a:p>
        </p:txBody>
      </p:sp>
    </p:spTree>
    <p:extLst>
      <p:ext uri="{BB962C8B-B14F-4D97-AF65-F5344CB8AC3E}">
        <p14:creationId xmlns:p14="http://schemas.microsoft.com/office/powerpoint/2010/main" val="6993913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Line 3"/>
          <p:cNvSpPr>
            <a:spLocks noChangeShapeType="1"/>
          </p:cNvSpPr>
          <p:nvPr/>
        </p:nvSpPr>
        <p:spPr bwMode="auto">
          <a:xfrm>
            <a:off x="1327150" y="25654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6083" name="Line 4"/>
          <p:cNvSpPr>
            <a:spLocks noChangeShapeType="1"/>
          </p:cNvSpPr>
          <p:nvPr/>
        </p:nvSpPr>
        <p:spPr bwMode="auto">
          <a:xfrm>
            <a:off x="1327150" y="37163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6084" name="Line 5"/>
          <p:cNvSpPr>
            <a:spLocks noChangeShapeType="1"/>
          </p:cNvSpPr>
          <p:nvPr/>
        </p:nvSpPr>
        <p:spPr bwMode="auto">
          <a:xfrm>
            <a:off x="1327150" y="494188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6085" name="Oval 6"/>
          <p:cNvSpPr>
            <a:spLocks noChangeArrowheads="1"/>
          </p:cNvSpPr>
          <p:nvPr/>
        </p:nvSpPr>
        <p:spPr bwMode="auto">
          <a:xfrm>
            <a:off x="1182689" y="2205039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6086" name="Oval 7"/>
          <p:cNvSpPr>
            <a:spLocks noChangeArrowheads="1"/>
          </p:cNvSpPr>
          <p:nvPr/>
        </p:nvSpPr>
        <p:spPr bwMode="auto">
          <a:xfrm>
            <a:off x="1182689" y="33575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6087" name="Oval 8"/>
          <p:cNvSpPr>
            <a:spLocks noChangeArrowheads="1"/>
          </p:cNvSpPr>
          <p:nvPr/>
        </p:nvSpPr>
        <p:spPr bwMode="auto">
          <a:xfrm>
            <a:off x="1255714" y="46529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6088" name="Line 9"/>
          <p:cNvSpPr>
            <a:spLocks noChangeShapeType="1"/>
          </p:cNvSpPr>
          <p:nvPr/>
        </p:nvSpPr>
        <p:spPr bwMode="auto">
          <a:xfrm>
            <a:off x="5143500" y="2133600"/>
            <a:ext cx="0" cy="32400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089" name="Text Box 10"/>
          <p:cNvSpPr txBox="1">
            <a:spLocks noChangeArrowheads="1"/>
          </p:cNvSpPr>
          <p:nvPr/>
        </p:nvSpPr>
        <p:spPr bwMode="auto">
          <a:xfrm>
            <a:off x="2479675" y="5589588"/>
            <a:ext cx="2305050" cy="646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P2 receives the request of P1</a:t>
            </a:r>
          </a:p>
        </p:txBody>
      </p:sp>
      <p:sp>
        <p:nvSpPr>
          <p:cNvPr id="46090" name="Oval 11"/>
          <p:cNvSpPr>
            <a:spLocks noChangeArrowheads="1"/>
          </p:cNvSpPr>
          <p:nvPr/>
        </p:nvSpPr>
        <p:spPr bwMode="auto">
          <a:xfrm>
            <a:off x="1614489" y="3357564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6091" name="Text Box 12"/>
          <p:cNvSpPr txBox="1">
            <a:spLocks noChangeArrowheads="1"/>
          </p:cNvSpPr>
          <p:nvPr/>
        </p:nvSpPr>
        <p:spPr bwMode="auto">
          <a:xfrm>
            <a:off x="1685926" y="2565401"/>
            <a:ext cx="1370013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=1</a:t>
            </a:r>
          </a:p>
        </p:txBody>
      </p:sp>
      <p:sp>
        <p:nvSpPr>
          <p:cNvPr id="46092" name="Line 13"/>
          <p:cNvSpPr>
            <a:spLocks noChangeShapeType="1"/>
          </p:cNvSpPr>
          <p:nvPr/>
        </p:nvSpPr>
        <p:spPr bwMode="auto">
          <a:xfrm flipV="1">
            <a:off x="1903413" y="2565400"/>
            <a:ext cx="14398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6093" name="Line 14"/>
          <p:cNvSpPr>
            <a:spLocks noChangeShapeType="1"/>
          </p:cNvSpPr>
          <p:nvPr/>
        </p:nvSpPr>
        <p:spPr bwMode="auto">
          <a:xfrm>
            <a:off x="1903414" y="3716338"/>
            <a:ext cx="719137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6094" name="Rectangle 15"/>
          <p:cNvSpPr>
            <a:spLocks noChangeArrowheads="1"/>
          </p:cNvSpPr>
          <p:nvPr/>
        </p:nvSpPr>
        <p:spPr bwMode="auto">
          <a:xfrm>
            <a:off x="2406651" y="3213101"/>
            <a:ext cx="21431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6095" name="Rectangle 16"/>
          <p:cNvSpPr>
            <a:spLocks noChangeArrowheads="1"/>
          </p:cNvSpPr>
          <p:nvPr/>
        </p:nvSpPr>
        <p:spPr bwMode="auto">
          <a:xfrm>
            <a:off x="2263776" y="4076701"/>
            <a:ext cx="21431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6096" name="Text Box 17"/>
          <p:cNvSpPr txBox="1">
            <a:spLocks noChangeArrowheads="1"/>
          </p:cNvSpPr>
          <p:nvPr/>
        </p:nvSpPr>
        <p:spPr bwMode="auto">
          <a:xfrm>
            <a:off x="2047876" y="4941888"/>
            <a:ext cx="9366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 1</a:t>
            </a:r>
          </a:p>
        </p:txBody>
      </p:sp>
      <p:sp>
        <p:nvSpPr>
          <p:cNvPr id="46097" name="Line 18"/>
          <p:cNvSpPr>
            <a:spLocks noChangeShapeType="1"/>
          </p:cNvSpPr>
          <p:nvPr/>
        </p:nvSpPr>
        <p:spPr bwMode="auto">
          <a:xfrm flipV="1">
            <a:off x="2695576" y="3716338"/>
            <a:ext cx="2879725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6098" name="Text Box 19"/>
          <p:cNvSpPr txBox="1">
            <a:spLocks noChangeArrowheads="1"/>
          </p:cNvSpPr>
          <p:nvPr/>
        </p:nvSpPr>
        <p:spPr bwMode="auto">
          <a:xfrm>
            <a:off x="3848101" y="399891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6099" name="Oval 20"/>
          <p:cNvSpPr>
            <a:spLocks noChangeArrowheads="1"/>
          </p:cNvSpPr>
          <p:nvPr/>
        </p:nvSpPr>
        <p:spPr bwMode="auto">
          <a:xfrm>
            <a:off x="3198814" y="2276476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6100" name="Text Box 21"/>
          <p:cNvSpPr txBox="1">
            <a:spLocks noChangeArrowheads="1"/>
          </p:cNvSpPr>
          <p:nvPr/>
        </p:nvSpPr>
        <p:spPr bwMode="auto">
          <a:xfrm>
            <a:off x="2263775" y="1635126"/>
            <a:ext cx="151288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1</a:t>
            </a:r>
          </a:p>
        </p:txBody>
      </p:sp>
      <p:sp>
        <p:nvSpPr>
          <p:cNvPr id="46101" name="Line 22"/>
          <p:cNvSpPr>
            <a:spLocks noChangeShapeType="1"/>
          </p:cNvSpPr>
          <p:nvPr/>
        </p:nvSpPr>
        <p:spPr bwMode="auto">
          <a:xfrm flipV="1">
            <a:off x="4711700" y="5373688"/>
            <a:ext cx="4318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102" name="Line 23"/>
          <p:cNvSpPr>
            <a:spLocks noChangeShapeType="1"/>
          </p:cNvSpPr>
          <p:nvPr/>
        </p:nvSpPr>
        <p:spPr bwMode="auto">
          <a:xfrm>
            <a:off x="3703638" y="2565400"/>
            <a:ext cx="14398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6103" name="Line 24"/>
          <p:cNvSpPr>
            <a:spLocks noChangeShapeType="1"/>
          </p:cNvSpPr>
          <p:nvPr/>
        </p:nvSpPr>
        <p:spPr bwMode="auto">
          <a:xfrm>
            <a:off x="3703638" y="2565400"/>
            <a:ext cx="1223962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6104" name="Rectangle 25"/>
          <p:cNvSpPr>
            <a:spLocks noChangeArrowheads="1"/>
          </p:cNvSpPr>
          <p:nvPr/>
        </p:nvSpPr>
        <p:spPr bwMode="auto">
          <a:xfrm>
            <a:off x="4351338" y="2708276"/>
            <a:ext cx="21431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6105" name="Rectangle 26"/>
          <p:cNvSpPr>
            <a:spLocks noChangeArrowheads="1"/>
          </p:cNvSpPr>
          <p:nvPr/>
        </p:nvSpPr>
        <p:spPr bwMode="auto">
          <a:xfrm>
            <a:off x="3703638" y="3068638"/>
            <a:ext cx="214312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6106" name="Rectangle 27"/>
          <p:cNvSpPr>
            <a:spLocks noChangeArrowheads="1"/>
          </p:cNvSpPr>
          <p:nvPr/>
        </p:nvSpPr>
        <p:spPr bwMode="auto">
          <a:xfrm>
            <a:off x="3919539" y="1989139"/>
            <a:ext cx="865187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1,2</a:t>
            </a:r>
          </a:p>
        </p:txBody>
      </p:sp>
      <p:sp>
        <p:nvSpPr>
          <p:cNvPr id="46107" name="Text Box 28"/>
          <p:cNvSpPr txBox="1">
            <a:spLocks noChangeArrowheads="1"/>
          </p:cNvSpPr>
          <p:nvPr/>
        </p:nvSpPr>
        <p:spPr bwMode="auto">
          <a:xfrm>
            <a:off x="3848100" y="1700213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Q</a:t>
            </a:r>
          </a:p>
        </p:txBody>
      </p:sp>
      <p:sp>
        <p:nvSpPr>
          <p:cNvPr id="46108" name="Line 29"/>
          <p:cNvSpPr>
            <a:spLocks noChangeShapeType="1"/>
          </p:cNvSpPr>
          <p:nvPr/>
        </p:nvSpPr>
        <p:spPr bwMode="auto">
          <a:xfrm flipV="1">
            <a:off x="5214939" y="2565400"/>
            <a:ext cx="2016125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6109" name="Text Box 30"/>
          <p:cNvSpPr txBox="1">
            <a:spLocks noChangeArrowheads="1"/>
          </p:cNvSpPr>
          <p:nvPr/>
        </p:nvSpPr>
        <p:spPr bwMode="auto">
          <a:xfrm>
            <a:off x="5648326" y="422116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6110" name="Text Box 31"/>
          <p:cNvSpPr txBox="1">
            <a:spLocks noChangeArrowheads="1"/>
          </p:cNvSpPr>
          <p:nvPr/>
        </p:nvSpPr>
        <p:spPr bwMode="auto">
          <a:xfrm>
            <a:off x="3919539" y="5013326"/>
            <a:ext cx="1152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/>
              <a:t>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46111" name="Text Box 32"/>
          <p:cNvSpPr txBox="1">
            <a:spLocks noChangeArrowheads="1"/>
          </p:cNvSpPr>
          <p:nvPr/>
        </p:nvSpPr>
        <p:spPr bwMode="auto">
          <a:xfrm>
            <a:off x="5359401" y="2781300"/>
            <a:ext cx="2879725" cy="78898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{Last_Req , i} &lt; {t, j}?</a:t>
            </a:r>
          </a:p>
          <a:p>
            <a:pPr>
              <a:spcBef>
                <a:spcPct val="50000"/>
              </a:spcBef>
            </a:pPr>
            <a:r>
              <a:rPr lang="en-GB"/>
              <a:t>{1, 2} &lt; {1, 1}? </a:t>
            </a:r>
            <a:r>
              <a:rPr lang="en-GB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4611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1" y="341314"/>
            <a:ext cx="8385175" cy="1431925"/>
          </a:xfrm>
        </p:spPr>
        <p:txBody>
          <a:bodyPr/>
          <a:lstStyle/>
          <a:p>
            <a:pPr eaLnBrk="1" hangingPunct="1"/>
            <a:r>
              <a:rPr lang="en-US" sz="3600" dirty="0" err="1"/>
              <a:t>Ricart-Agrawala’s</a:t>
            </a:r>
            <a:r>
              <a:rPr lang="en-US" sz="3600" dirty="0"/>
              <a:t> algorithm: example</a:t>
            </a:r>
          </a:p>
        </p:txBody>
      </p:sp>
    </p:spTree>
    <p:extLst>
      <p:ext uri="{BB962C8B-B14F-4D97-AF65-F5344CB8AC3E}">
        <p14:creationId xmlns:p14="http://schemas.microsoft.com/office/powerpoint/2010/main" val="14925874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Line 3"/>
          <p:cNvSpPr>
            <a:spLocks noChangeShapeType="1"/>
          </p:cNvSpPr>
          <p:nvPr/>
        </p:nvSpPr>
        <p:spPr bwMode="auto">
          <a:xfrm>
            <a:off x="1327150" y="25654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7107" name="Line 4"/>
          <p:cNvSpPr>
            <a:spLocks noChangeShapeType="1"/>
          </p:cNvSpPr>
          <p:nvPr/>
        </p:nvSpPr>
        <p:spPr bwMode="auto">
          <a:xfrm>
            <a:off x="1327150" y="37163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7108" name="Line 5"/>
          <p:cNvSpPr>
            <a:spLocks noChangeShapeType="1"/>
          </p:cNvSpPr>
          <p:nvPr/>
        </p:nvSpPr>
        <p:spPr bwMode="auto">
          <a:xfrm>
            <a:off x="1327150" y="494188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7109" name="Oval 6"/>
          <p:cNvSpPr>
            <a:spLocks noChangeArrowheads="1"/>
          </p:cNvSpPr>
          <p:nvPr/>
        </p:nvSpPr>
        <p:spPr bwMode="auto">
          <a:xfrm>
            <a:off x="1182689" y="2205039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7110" name="Oval 7"/>
          <p:cNvSpPr>
            <a:spLocks noChangeArrowheads="1"/>
          </p:cNvSpPr>
          <p:nvPr/>
        </p:nvSpPr>
        <p:spPr bwMode="auto">
          <a:xfrm>
            <a:off x="1182689" y="33575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7111" name="Oval 8"/>
          <p:cNvSpPr>
            <a:spLocks noChangeArrowheads="1"/>
          </p:cNvSpPr>
          <p:nvPr/>
        </p:nvSpPr>
        <p:spPr bwMode="auto">
          <a:xfrm>
            <a:off x="1255714" y="46529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7112" name="Line 9"/>
          <p:cNvSpPr>
            <a:spLocks noChangeShapeType="1"/>
          </p:cNvSpPr>
          <p:nvPr/>
        </p:nvSpPr>
        <p:spPr bwMode="auto">
          <a:xfrm>
            <a:off x="5143500" y="2133600"/>
            <a:ext cx="0" cy="32400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7113" name="Text Box 10"/>
          <p:cNvSpPr txBox="1">
            <a:spLocks noChangeArrowheads="1"/>
          </p:cNvSpPr>
          <p:nvPr/>
        </p:nvSpPr>
        <p:spPr bwMode="auto">
          <a:xfrm>
            <a:off x="2479675" y="5589588"/>
            <a:ext cx="2305050" cy="646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P2 receives the request of P1</a:t>
            </a:r>
          </a:p>
        </p:txBody>
      </p:sp>
      <p:sp>
        <p:nvSpPr>
          <p:cNvPr id="47114" name="Oval 11"/>
          <p:cNvSpPr>
            <a:spLocks noChangeArrowheads="1"/>
          </p:cNvSpPr>
          <p:nvPr/>
        </p:nvSpPr>
        <p:spPr bwMode="auto">
          <a:xfrm>
            <a:off x="1614489" y="3357564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7115" name="Text Box 12"/>
          <p:cNvSpPr txBox="1">
            <a:spLocks noChangeArrowheads="1"/>
          </p:cNvSpPr>
          <p:nvPr/>
        </p:nvSpPr>
        <p:spPr bwMode="auto">
          <a:xfrm>
            <a:off x="1685926" y="2565401"/>
            <a:ext cx="1370013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=1</a:t>
            </a:r>
          </a:p>
        </p:txBody>
      </p:sp>
      <p:sp>
        <p:nvSpPr>
          <p:cNvPr id="47116" name="Line 13"/>
          <p:cNvSpPr>
            <a:spLocks noChangeShapeType="1"/>
          </p:cNvSpPr>
          <p:nvPr/>
        </p:nvSpPr>
        <p:spPr bwMode="auto">
          <a:xfrm flipV="1">
            <a:off x="1903413" y="2565400"/>
            <a:ext cx="14398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7117" name="Line 14"/>
          <p:cNvSpPr>
            <a:spLocks noChangeShapeType="1"/>
          </p:cNvSpPr>
          <p:nvPr/>
        </p:nvSpPr>
        <p:spPr bwMode="auto">
          <a:xfrm>
            <a:off x="1903414" y="3716338"/>
            <a:ext cx="719137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7118" name="Rectangle 15"/>
          <p:cNvSpPr>
            <a:spLocks noChangeArrowheads="1"/>
          </p:cNvSpPr>
          <p:nvPr/>
        </p:nvSpPr>
        <p:spPr bwMode="auto">
          <a:xfrm>
            <a:off x="2406651" y="3213101"/>
            <a:ext cx="21431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7119" name="Rectangle 16"/>
          <p:cNvSpPr>
            <a:spLocks noChangeArrowheads="1"/>
          </p:cNvSpPr>
          <p:nvPr/>
        </p:nvSpPr>
        <p:spPr bwMode="auto">
          <a:xfrm>
            <a:off x="2263776" y="4076701"/>
            <a:ext cx="21431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7120" name="Text Box 17"/>
          <p:cNvSpPr txBox="1">
            <a:spLocks noChangeArrowheads="1"/>
          </p:cNvSpPr>
          <p:nvPr/>
        </p:nvSpPr>
        <p:spPr bwMode="auto">
          <a:xfrm>
            <a:off x="2047876" y="4941888"/>
            <a:ext cx="9366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 1</a:t>
            </a:r>
          </a:p>
        </p:txBody>
      </p:sp>
      <p:sp>
        <p:nvSpPr>
          <p:cNvPr id="47121" name="Line 18"/>
          <p:cNvSpPr>
            <a:spLocks noChangeShapeType="1"/>
          </p:cNvSpPr>
          <p:nvPr/>
        </p:nvSpPr>
        <p:spPr bwMode="auto">
          <a:xfrm flipV="1">
            <a:off x="2695576" y="3716338"/>
            <a:ext cx="2879725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7122" name="Text Box 19"/>
          <p:cNvSpPr txBox="1">
            <a:spLocks noChangeArrowheads="1"/>
          </p:cNvSpPr>
          <p:nvPr/>
        </p:nvSpPr>
        <p:spPr bwMode="auto">
          <a:xfrm>
            <a:off x="3848101" y="399891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7123" name="Oval 20"/>
          <p:cNvSpPr>
            <a:spLocks noChangeArrowheads="1"/>
          </p:cNvSpPr>
          <p:nvPr/>
        </p:nvSpPr>
        <p:spPr bwMode="auto">
          <a:xfrm>
            <a:off x="3198814" y="2276476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7124" name="Text Box 21"/>
          <p:cNvSpPr txBox="1">
            <a:spLocks noChangeArrowheads="1"/>
          </p:cNvSpPr>
          <p:nvPr/>
        </p:nvSpPr>
        <p:spPr bwMode="auto">
          <a:xfrm>
            <a:off x="2263775" y="1635126"/>
            <a:ext cx="151288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1</a:t>
            </a:r>
          </a:p>
        </p:txBody>
      </p:sp>
      <p:sp>
        <p:nvSpPr>
          <p:cNvPr id="47125" name="Line 22"/>
          <p:cNvSpPr>
            <a:spLocks noChangeShapeType="1"/>
          </p:cNvSpPr>
          <p:nvPr/>
        </p:nvSpPr>
        <p:spPr bwMode="auto">
          <a:xfrm flipV="1">
            <a:off x="4711700" y="5373688"/>
            <a:ext cx="4318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7126" name="Line 23"/>
          <p:cNvSpPr>
            <a:spLocks noChangeShapeType="1"/>
          </p:cNvSpPr>
          <p:nvPr/>
        </p:nvSpPr>
        <p:spPr bwMode="auto">
          <a:xfrm>
            <a:off x="3703638" y="2565400"/>
            <a:ext cx="14398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7127" name="Line 24"/>
          <p:cNvSpPr>
            <a:spLocks noChangeShapeType="1"/>
          </p:cNvSpPr>
          <p:nvPr/>
        </p:nvSpPr>
        <p:spPr bwMode="auto">
          <a:xfrm>
            <a:off x="3703638" y="2565400"/>
            <a:ext cx="1223962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7128" name="Rectangle 25"/>
          <p:cNvSpPr>
            <a:spLocks noChangeArrowheads="1"/>
          </p:cNvSpPr>
          <p:nvPr/>
        </p:nvSpPr>
        <p:spPr bwMode="auto">
          <a:xfrm>
            <a:off x="4351338" y="2708276"/>
            <a:ext cx="21431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7129" name="Rectangle 26"/>
          <p:cNvSpPr>
            <a:spLocks noChangeArrowheads="1"/>
          </p:cNvSpPr>
          <p:nvPr/>
        </p:nvSpPr>
        <p:spPr bwMode="auto">
          <a:xfrm>
            <a:off x="3703638" y="3068638"/>
            <a:ext cx="214312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7130" name="Rectangle 27"/>
          <p:cNvSpPr>
            <a:spLocks noChangeArrowheads="1"/>
          </p:cNvSpPr>
          <p:nvPr/>
        </p:nvSpPr>
        <p:spPr bwMode="auto">
          <a:xfrm>
            <a:off x="3919539" y="1989139"/>
            <a:ext cx="865187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1,2</a:t>
            </a:r>
          </a:p>
        </p:txBody>
      </p:sp>
      <p:sp>
        <p:nvSpPr>
          <p:cNvPr id="47131" name="Text Box 28"/>
          <p:cNvSpPr txBox="1">
            <a:spLocks noChangeArrowheads="1"/>
          </p:cNvSpPr>
          <p:nvPr/>
        </p:nvSpPr>
        <p:spPr bwMode="auto">
          <a:xfrm>
            <a:off x="3848100" y="1700213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Q</a:t>
            </a:r>
          </a:p>
        </p:txBody>
      </p:sp>
      <p:sp>
        <p:nvSpPr>
          <p:cNvPr id="47132" name="Line 29"/>
          <p:cNvSpPr>
            <a:spLocks noChangeShapeType="1"/>
          </p:cNvSpPr>
          <p:nvPr/>
        </p:nvSpPr>
        <p:spPr bwMode="auto">
          <a:xfrm flipV="1">
            <a:off x="5214939" y="2565400"/>
            <a:ext cx="2016125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7133" name="Text Box 30"/>
          <p:cNvSpPr txBox="1">
            <a:spLocks noChangeArrowheads="1"/>
          </p:cNvSpPr>
          <p:nvPr/>
        </p:nvSpPr>
        <p:spPr bwMode="auto">
          <a:xfrm>
            <a:off x="5648326" y="422116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7134" name="Text Box 31"/>
          <p:cNvSpPr txBox="1">
            <a:spLocks noChangeArrowheads="1"/>
          </p:cNvSpPr>
          <p:nvPr/>
        </p:nvSpPr>
        <p:spPr bwMode="auto">
          <a:xfrm>
            <a:off x="3919539" y="5013326"/>
            <a:ext cx="1152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/>
              <a:t>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47135" name="Line 33"/>
          <p:cNvSpPr>
            <a:spLocks noChangeShapeType="1"/>
          </p:cNvSpPr>
          <p:nvPr/>
        </p:nvSpPr>
        <p:spPr bwMode="auto">
          <a:xfrm flipV="1">
            <a:off x="5935663" y="2565400"/>
            <a:ext cx="7921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7136" name="Text Box 34"/>
          <p:cNvSpPr txBox="1">
            <a:spLocks noChangeArrowheads="1"/>
          </p:cNvSpPr>
          <p:nvPr/>
        </p:nvSpPr>
        <p:spPr bwMode="auto">
          <a:xfrm>
            <a:off x="5648326" y="2852738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7137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1" y="341314"/>
            <a:ext cx="8385175" cy="1431925"/>
          </a:xfrm>
        </p:spPr>
        <p:txBody>
          <a:bodyPr/>
          <a:lstStyle/>
          <a:p>
            <a:pPr eaLnBrk="1" hangingPunct="1"/>
            <a:r>
              <a:rPr lang="en-US" sz="3600" dirty="0" err="1"/>
              <a:t>Ricart-Agrawala’s</a:t>
            </a:r>
            <a:r>
              <a:rPr lang="en-US" sz="3600" dirty="0"/>
              <a:t> algorithm: example</a:t>
            </a:r>
          </a:p>
        </p:txBody>
      </p:sp>
    </p:spTree>
    <p:extLst>
      <p:ext uri="{BB962C8B-B14F-4D97-AF65-F5344CB8AC3E}">
        <p14:creationId xmlns:p14="http://schemas.microsoft.com/office/powerpoint/2010/main" val="11614470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Line 3"/>
          <p:cNvSpPr>
            <a:spLocks noChangeShapeType="1"/>
          </p:cNvSpPr>
          <p:nvPr/>
        </p:nvSpPr>
        <p:spPr bwMode="auto">
          <a:xfrm>
            <a:off x="1327150" y="25654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8131" name="Line 4"/>
          <p:cNvSpPr>
            <a:spLocks noChangeShapeType="1"/>
          </p:cNvSpPr>
          <p:nvPr/>
        </p:nvSpPr>
        <p:spPr bwMode="auto">
          <a:xfrm>
            <a:off x="1327150" y="37163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8132" name="Line 5"/>
          <p:cNvSpPr>
            <a:spLocks noChangeShapeType="1"/>
          </p:cNvSpPr>
          <p:nvPr/>
        </p:nvSpPr>
        <p:spPr bwMode="auto">
          <a:xfrm>
            <a:off x="1327150" y="494188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8133" name="Oval 6"/>
          <p:cNvSpPr>
            <a:spLocks noChangeArrowheads="1"/>
          </p:cNvSpPr>
          <p:nvPr/>
        </p:nvSpPr>
        <p:spPr bwMode="auto">
          <a:xfrm>
            <a:off x="1182689" y="2205039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8134" name="Oval 7"/>
          <p:cNvSpPr>
            <a:spLocks noChangeArrowheads="1"/>
          </p:cNvSpPr>
          <p:nvPr/>
        </p:nvSpPr>
        <p:spPr bwMode="auto">
          <a:xfrm>
            <a:off x="1182689" y="33575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8135" name="Oval 8"/>
          <p:cNvSpPr>
            <a:spLocks noChangeArrowheads="1"/>
          </p:cNvSpPr>
          <p:nvPr/>
        </p:nvSpPr>
        <p:spPr bwMode="auto">
          <a:xfrm>
            <a:off x="1255714" y="46529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8136" name="Line 9"/>
          <p:cNvSpPr>
            <a:spLocks noChangeShapeType="1"/>
          </p:cNvSpPr>
          <p:nvPr/>
        </p:nvSpPr>
        <p:spPr bwMode="auto">
          <a:xfrm>
            <a:off x="5575300" y="2133600"/>
            <a:ext cx="0" cy="32400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8137" name="Text Box 10"/>
          <p:cNvSpPr txBox="1">
            <a:spLocks noChangeArrowheads="1"/>
          </p:cNvSpPr>
          <p:nvPr/>
        </p:nvSpPr>
        <p:spPr bwMode="auto">
          <a:xfrm>
            <a:off x="3846513" y="5589588"/>
            <a:ext cx="2305050" cy="646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P2 receives the Reply sent from P3</a:t>
            </a:r>
          </a:p>
        </p:txBody>
      </p:sp>
      <p:sp>
        <p:nvSpPr>
          <p:cNvPr id="48138" name="Oval 11"/>
          <p:cNvSpPr>
            <a:spLocks noChangeArrowheads="1"/>
          </p:cNvSpPr>
          <p:nvPr/>
        </p:nvSpPr>
        <p:spPr bwMode="auto">
          <a:xfrm>
            <a:off x="1614489" y="3357564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8139" name="Text Box 12"/>
          <p:cNvSpPr txBox="1">
            <a:spLocks noChangeArrowheads="1"/>
          </p:cNvSpPr>
          <p:nvPr/>
        </p:nvSpPr>
        <p:spPr bwMode="auto">
          <a:xfrm>
            <a:off x="1685926" y="2565401"/>
            <a:ext cx="1370013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=1</a:t>
            </a:r>
          </a:p>
        </p:txBody>
      </p:sp>
      <p:sp>
        <p:nvSpPr>
          <p:cNvPr id="48140" name="Line 13"/>
          <p:cNvSpPr>
            <a:spLocks noChangeShapeType="1"/>
          </p:cNvSpPr>
          <p:nvPr/>
        </p:nvSpPr>
        <p:spPr bwMode="auto">
          <a:xfrm flipV="1">
            <a:off x="1903413" y="2565400"/>
            <a:ext cx="14398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8141" name="Line 14"/>
          <p:cNvSpPr>
            <a:spLocks noChangeShapeType="1"/>
          </p:cNvSpPr>
          <p:nvPr/>
        </p:nvSpPr>
        <p:spPr bwMode="auto">
          <a:xfrm>
            <a:off x="1903414" y="3716338"/>
            <a:ext cx="719137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8142" name="Rectangle 15"/>
          <p:cNvSpPr>
            <a:spLocks noChangeArrowheads="1"/>
          </p:cNvSpPr>
          <p:nvPr/>
        </p:nvSpPr>
        <p:spPr bwMode="auto">
          <a:xfrm>
            <a:off x="2406651" y="3213101"/>
            <a:ext cx="21431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8143" name="Rectangle 16"/>
          <p:cNvSpPr>
            <a:spLocks noChangeArrowheads="1"/>
          </p:cNvSpPr>
          <p:nvPr/>
        </p:nvSpPr>
        <p:spPr bwMode="auto">
          <a:xfrm>
            <a:off x="2263776" y="4076701"/>
            <a:ext cx="21431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8144" name="Text Box 17"/>
          <p:cNvSpPr txBox="1">
            <a:spLocks noChangeArrowheads="1"/>
          </p:cNvSpPr>
          <p:nvPr/>
        </p:nvSpPr>
        <p:spPr bwMode="auto">
          <a:xfrm>
            <a:off x="2047876" y="4941888"/>
            <a:ext cx="9366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 1</a:t>
            </a:r>
          </a:p>
        </p:txBody>
      </p:sp>
      <p:sp>
        <p:nvSpPr>
          <p:cNvPr id="48145" name="Line 18"/>
          <p:cNvSpPr>
            <a:spLocks noChangeShapeType="1"/>
          </p:cNvSpPr>
          <p:nvPr/>
        </p:nvSpPr>
        <p:spPr bwMode="auto">
          <a:xfrm flipV="1">
            <a:off x="2695576" y="3716338"/>
            <a:ext cx="2879725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8146" name="Text Box 19"/>
          <p:cNvSpPr txBox="1">
            <a:spLocks noChangeArrowheads="1"/>
          </p:cNvSpPr>
          <p:nvPr/>
        </p:nvSpPr>
        <p:spPr bwMode="auto">
          <a:xfrm>
            <a:off x="3848101" y="399891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8147" name="Oval 20"/>
          <p:cNvSpPr>
            <a:spLocks noChangeArrowheads="1"/>
          </p:cNvSpPr>
          <p:nvPr/>
        </p:nvSpPr>
        <p:spPr bwMode="auto">
          <a:xfrm>
            <a:off x="3198814" y="2276476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8148" name="Text Box 21"/>
          <p:cNvSpPr txBox="1">
            <a:spLocks noChangeArrowheads="1"/>
          </p:cNvSpPr>
          <p:nvPr/>
        </p:nvSpPr>
        <p:spPr bwMode="auto">
          <a:xfrm>
            <a:off x="2263775" y="1635126"/>
            <a:ext cx="151288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1</a:t>
            </a:r>
          </a:p>
        </p:txBody>
      </p:sp>
      <p:sp>
        <p:nvSpPr>
          <p:cNvPr id="48149" name="Line 22"/>
          <p:cNvSpPr>
            <a:spLocks noChangeShapeType="1"/>
          </p:cNvSpPr>
          <p:nvPr/>
        </p:nvSpPr>
        <p:spPr bwMode="auto">
          <a:xfrm flipV="1">
            <a:off x="5143500" y="5373688"/>
            <a:ext cx="4318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8150" name="Line 23"/>
          <p:cNvSpPr>
            <a:spLocks noChangeShapeType="1"/>
          </p:cNvSpPr>
          <p:nvPr/>
        </p:nvSpPr>
        <p:spPr bwMode="auto">
          <a:xfrm>
            <a:off x="3703638" y="2565400"/>
            <a:ext cx="14398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8151" name="Line 24"/>
          <p:cNvSpPr>
            <a:spLocks noChangeShapeType="1"/>
          </p:cNvSpPr>
          <p:nvPr/>
        </p:nvSpPr>
        <p:spPr bwMode="auto">
          <a:xfrm>
            <a:off x="3703638" y="2565400"/>
            <a:ext cx="1223962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8152" name="Rectangle 25"/>
          <p:cNvSpPr>
            <a:spLocks noChangeArrowheads="1"/>
          </p:cNvSpPr>
          <p:nvPr/>
        </p:nvSpPr>
        <p:spPr bwMode="auto">
          <a:xfrm>
            <a:off x="4351338" y="2708276"/>
            <a:ext cx="21431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8153" name="Rectangle 26"/>
          <p:cNvSpPr>
            <a:spLocks noChangeArrowheads="1"/>
          </p:cNvSpPr>
          <p:nvPr/>
        </p:nvSpPr>
        <p:spPr bwMode="auto">
          <a:xfrm>
            <a:off x="3703638" y="3068638"/>
            <a:ext cx="214312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8154" name="Rectangle 27"/>
          <p:cNvSpPr>
            <a:spLocks noChangeArrowheads="1"/>
          </p:cNvSpPr>
          <p:nvPr/>
        </p:nvSpPr>
        <p:spPr bwMode="auto">
          <a:xfrm>
            <a:off x="3919539" y="1989139"/>
            <a:ext cx="865187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1,2</a:t>
            </a:r>
          </a:p>
        </p:txBody>
      </p:sp>
      <p:sp>
        <p:nvSpPr>
          <p:cNvPr id="48155" name="Text Box 28"/>
          <p:cNvSpPr txBox="1">
            <a:spLocks noChangeArrowheads="1"/>
          </p:cNvSpPr>
          <p:nvPr/>
        </p:nvSpPr>
        <p:spPr bwMode="auto">
          <a:xfrm>
            <a:off x="3848100" y="1700213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Q</a:t>
            </a:r>
          </a:p>
        </p:txBody>
      </p:sp>
      <p:sp>
        <p:nvSpPr>
          <p:cNvPr id="48156" name="Line 29"/>
          <p:cNvSpPr>
            <a:spLocks noChangeShapeType="1"/>
          </p:cNvSpPr>
          <p:nvPr/>
        </p:nvSpPr>
        <p:spPr bwMode="auto">
          <a:xfrm flipV="1">
            <a:off x="5214939" y="2565400"/>
            <a:ext cx="2016125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8157" name="Text Box 30"/>
          <p:cNvSpPr txBox="1">
            <a:spLocks noChangeArrowheads="1"/>
          </p:cNvSpPr>
          <p:nvPr/>
        </p:nvSpPr>
        <p:spPr bwMode="auto">
          <a:xfrm>
            <a:off x="5648326" y="422116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8158" name="Text Box 31"/>
          <p:cNvSpPr txBox="1">
            <a:spLocks noChangeArrowheads="1"/>
          </p:cNvSpPr>
          <p:nvPr/>
        </p:nvSpPr>
        <p:spPr bwMode="auto">
          <a:xfrm>
            <a:off x="3919539" y="5013326"/>
            <a:ext cx="1152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/>
              <a:t>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48159" name="Line 32"/>
          <p:cNvSpPr>
            <a:spLocks noChangeShapeType="1"/>
          </p:cNvSpPr>
          <p:nvPr/>
        </p:nvSpPr>
        <p:spPr bwMode="auto">
          <a:xfrm flipV="1">
            <a:off x="5935663" y="2565400"/>
            <a:ext cx="7921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8160" name="Text Box 33"/>
          <p:cNvSpPr txBox="1">
            <a:spLocks noChangeArrowheads="1"/>
          </p:cNvSpPr>
          <p:nvPr/>
        </p:nvSpPr>
        <p:spPr bwMode="auto">
          <a:xfrm>
            <a:off x="6007101" y="2701926"/>
            <a:ext cx="10080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8161" name="Text Box 34"/>
          <p:cNvSpPr txBox="1">
            <a:spLocks noChangeArrowheads="1"/>
          </p:cNvSpPr>
          <p:nvPr/>
        </p:nvSpPr>
        <p:spPr bwMode="auto">
          <a:xfrm>
            <a:off x="4927600" y="3141663"/>
            <a:ext cx="13668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#replies=1</a:t>
            </a:r>
          </a:p>
        </p:txBody>
      </p:sp>
      <p:sp>
        <p:nvSpPr>
          <p:cNvPr id="48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1" y="341314"/>
            <a:ext cx="8385175" cy="1431925"/>
          </a:xfrm>
        </p:spPr>
        <p:txBody>
          <a:bodyPr/>
          <a:lstStyle/>
          <a:p>
            <a:pPr eaLnBrk="1" hangingPunct="1"/>
            <a:r>
              <a:rPr lang="en-US" sz="3600" dirty="0" err="1"/>
              <a:t>Ricart-Agrawala’s</a:t>
            </a:r>
            <a:r>
              <a:rPr lang="en-US" sz="3600" dirty="0"/>
              <a:t> algorithm: example</a:t>
            </a:r>
          </a:p>
        </p:txBody>
      </p:sp>
    </p:spTree>
    <p:extLst>
      <p:ext uri="{BB962C8B-B14F-4D97-AF65-F5344CB8AC3E}">
        <p14:creationId xmlns:p14="http://schemas.microsoft.com/office/powerpoint/2010/main" val="19611303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Line 3"/>
          <p:cNvSpPr>
            <a:spLocks noChangeShapeType="1"/>
          </p:cNvSpPr>
          <p:nvPr/>
        </p:nvSpPr>
        <p:spPr bwMode="auto">
          <a:xfrm>
            <a:off x="1327150" y="25654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9155" name="Line 4"/>
          <p:cNvSpPr>
            <a:spLocks noChangeShapeType="1"/>
          </p:cNvSpPr>
          <p:nvPr/>
        </p:nvSpPr>
        <p:spPr bwMode="auto">
          <a:xfrm>
            <a:off x="1327150" y="37163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9156" name="Line 5"/>
          <p:cNvSpPr>
            <a:spLocks noChangeShapeType="1"/>
          </p:cNvSpPr>
          <p:nvPr/>
        </p:nvSpPr>
        <p:spPr bwMode="auto">
          <a:xfrm>
            <a:off x="1327150" y="494188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9157" name="Oval 6"/>
          <p:cNvSpPr>
            <a:spLocks noChangeArrowheads="1"/>
          </p:cNvSpPr>
          <p:nvPr/>
        </p:nvSpPr>
        <p:spPr bwMode="auto">
          <a:xfrm>
            <a:off x="1182689" y="2205039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9158" name="Oval 7"/>
          <p:cNvSpPr>
            <a:spLocks noChangeArrowheads="1"/>
          </p:cNvSpPr>
          <p:nvPr/>
        </p:nvSpPr>
        <p:spPr bwMode="auto">
          <a:xfrm>
            <a:off x="1182689" y="33575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9159" name="Oval 8"/>
          <p:cNvSpPr>
            <a:spLocks noChangeArrowheads="1"/>
          </p:cNvSpPr>
          <p:nvPr/>
        </p:nvSpPr>
        <p:spPr bwMode="auto">
          <a:xfrm>
            <a:off x="1255714" y="46529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49160" name="Line 9"/>
          <p:cNvSpPr>
            <a:spLocks noChangeShapeType="1"/>
          </p:cNvSpPr>
          <p:nvPr/>
        </p:nvSpPr>
        <p:spPr bwMode="auto">
          <a:xfrm>
            <a:off x="6727825" y="2133600"/>
            <a:ext cx="0" cy="32400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9161" name="Text Box 10"/>
          <p:cNvSpPr txBox="1">
            <a:spLocks noChangeArrowheads="1"/>
          </p:cNvSpPr>
          <p:nvPr/>
        </p:nvSpPr>
        <p:spPr bwMode="auto">
          <a:xfrm>
            <a:off x="4999038" y="5589589"/>
            <a:ext cx="230505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P1 Riceve il Reply da P2</a:t>
            </a:r>
          </a:p>
        </p:txBody>
      </p:sp>
      <p:sp>
        <p:nvSpPr>
          <p:cNvPr id="49162" name="Oval 11"/>
          <p:cNvSpPr>
            <a:spLocks noChangeArrowheads="1"/>
          </p:cNvSpPr>
          <p:nvPr/>
        </p:nvSpPr>
        <p:spPr bwMode="auto">
          <a:xfrm>
            <a:off x="1614489" y="3357564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9163" name="Text Box 12"/>
          <p:cNvSpPr txBox="1">
            <a:spLocks noChangeArrowheads="1"/>
          </p:cNvSpPr>
          <p:nvPr/>
        </p:nvSpPr>
        <p:spPr bwMode="auto">
          <a:xfrm>
            <a:off x="1685926" y="2565401"/>
            <a:ext cx="1370013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=1</a:t>
            </a:r>
          </a:p>
        </p:txBody>
      </p:sp>
      <p:sp>
        <p:nvSpPr>
          <p:cNvPr id="49164" name="Line 13"/>
          <p:cNvSpPr>
            <a:spLocks noChangeShapeType="1"/>
          </p:cNvSpPr>
          <p:nvPr/>
        </p:nvSpPr>
        <p:spPr bwMode="auto">
          <a:xfrm flipV="1">
            <a:off x="1903413" y="2565400"/>
            <a:ext cx="14398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9165" name="Line 14"/>
          <p:cNvSpPr>
            <a:spLocks noChangeShapeType="1"/>
          </p:cNvSpPr>
          <p:nvPr/>
        </p:nvSpPr>
        <p:spPr bwMode="auto">
          <a:xfrm>
            <a:off x="1903414" y="3716338"/>
            <a:ext cx="719137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9166" name="Rectangle 15"/>
          <p:cNvSpPr>
            <a:spLocks noChangeArrowheads="1"/>
          </p:cNvSpPr>
          <p:nvPr/>
        </p:nvSpPr>
        <p:spPr bwMode="auto">
          <a:xfrm>
            <a:off x="2406651" y="3213101"/>
            <a:ext cx="21431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9167" name="Rectangle 16"/>
          <p:cNvSpPr>
            <a:spLocks noChangeArrowheads="1"/>
          </p:cNvSpPr>
          <p:nvPr/>
        </p:nvSpPr>
        <p:spPr bwMode="auto">
          <a:xfrm>
            <a:off x="2263776" y="4076701"/>
            <a:ext cx="21431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9168" name="Text Box 17"/>
          <p:cNvSpPr txBox="1">
            <a:spLocks noChangeArrowheads="1"/>
          </p:cNvSpPr>
          <p:nvPr/>
        </p:nvSpPr>
        <p:spPr bwMode="auto">
          <a:xfrm>
            <a:off x="2047876" y="4941888"/>
            <a:ext cx="9366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 1</a:t>
            </a:r>
          </a:p>
        </p:txBody>
      </p:sp>
      <p:sp>
        <p:nvSpPr>
          <p:cNvPr id="49169" name="Line 18"/>
          <p:cNvSpPr>
            <a:spLocks noChangeShapeType="1"/>
          </p:cNvSpPr>
          <p:nvPr/>
        </p:nvSpPr>
        <p:spPr bwMode="auto">
          <a:xfrm flipV="1">
            <a:off x="2695576" y="3716338"/>
            <a:ext cx="2879725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9170" name="Text Box 19"/>
          <p:cNvSpPr txBox="1">
            <a:spLocks noChangeArrowheads="1"/>
          </p:cNvSpPr>
          <p:nvPr/>
        </p:nvSpPr>
        <p:spPr bwMode="auto">
          <a:xfrm>
            <a:off x="3848101" y="399891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9171" name="Oval 20"/>
          <p:cNvSpPr>
            <a:spLocks noChangeArrowheads="1"/>
          </p:cNvSpPr>
          <p:nvPr/>
        </p:nvSpPr>
        <p:spPr bwMode="auto">
          <a:xfrm>
            <a:off x="3198814" y="2276476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49172" name="Text Box 21"/>
          <p:cNvSpPr txBox="1">
            <a:spLocks noChangeArrowheads="1"/>
          </p:cNvSpPr>
          <p:nvPr/>
        </p:nvSpPr>
        <p:spPr bwMode="auto">
          <a:xfrm>
            <a:off x="2263775" y="1635126"/>
            <a:ext cx="151288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1</a:t>
            </a:r>
          </a:p>
        </p:txBody>
      </p:sp>
      <p:sp>
        <p:nvSpPr>
          <p:cNvPr id="49173" name="Line 22"/>
          <p:cNvSpPr>
            <a:spLocks noChangeShapeType="1"/>
          </p:cNvSpPr>
          <p:nvPr/>
        </p:nvSpPr>
        <p:spPr bwMode="auto">
          <a:xfrm flipV="1">
            <a:off x="6296025" y="5373688"/>
            <a:ext cx="4318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9174" name="Line 23"/>
          <p:cNvSpPr>
            <a:spLocks noChangeShapeType="1"/>
          </p:cNvSpPr>
          <p:nvPr/>
        </p:nvSpPr>
        <p:spPr bwMode="auto">
          <a:xfrm>
            <a:off x="3703638" y="2565400"/>
            <a:ext cx="14398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9175" name="Line 24"/>
          <p:cNvSpPr>
            <a:spLocks noChangeShapeType="1"/>
          </p:cNvSpPr>
          <p:nvPr/>
        </p:nvSpPr>
        <p:spPr bwMode="auto">
          <a:xfrm>
            <a:off x="3703638" y="2565400"/>
            <a:ext cx="1223962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9176" name="Rectangle 25"/>
          <p:cNvSpPr>
            <a:spLocks noChangeArrowheads="1"/>
          </p:cNvSpPr>
          <p:nvPr/>
        </p:nvSpPr>
        <p:spPr bwMode="auto">
          <a:xfrm>
            <a:off x="4351338" y="2708276"/>
            <a:ext cx="21431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9177" name="Rectangle 26"/>
          <p:cNvSpPr>
            <a:spLocks noChangeArrowheads="1"/>
          </p:cNvSpPr>
          <p:nvPr/>
        </p:nvSpPr>
        <p:spPr bwMode="auto">
          <a:xfrm>
            <a:off x="3703638" y="3068638"/>
            <a:ext cx="214312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49178" name="Rectangle 27"/>
          <p:cNvSpPr>
            <a:spLocks noChangeArrowheads="1"/>
          </p:cNvSpPr>
          <p:nvPr/>
        </p:nvSpPr>
        <p:spPr bwMode="auto">
          <a:xfrm>
            <a:off x="3919539" y="1989139"/>
            <a:ext cx="865187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1,2</a:t>
            </a:r>
          </a:p>
        </p:txBody>
      </p:sp>
      <p:sp>
        <p:nvSpPr>
          <p:cNvPr id="49179" name="Text Box 28"/>
          <p:cNvSpPr txBox="1">
            <a:spLocks noChangeArrowheads="1"/>
          </p:cNvSpPr>
          <p:nvPr/>
        </p:nvSpPr>
        <p:spPr bwMode="auto">
          <a:xfrm>
            <a:off x="3848100" y="1700213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Q</a:t>
            </a:r>
          </a:p>
        </p:txBody>
      </p:sp>
      <p:sp>
        <p:nvSpPr>
          <p:cNvPr id="49180" name="Line 29"/>
          <p:cNvSpPr>
            <a:spLocks noChangeShapeType="1"/>
          </p:cNvSpPr>
          <p:nvPr/>
        </p:nvSpPr>
        <p:spPr bwMode="auto">
          <a:xfrm flipV="1">
            <a:off x="5214939" y="2565400"/>
            <a:ext cx="2016125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9181" name="Text Box 30"/>
          <p:cNvSpPr txBox="1">
            <a:spLocks noChangeArrowheads="1"/>
          </p:cNvSpPr>
          <p:nvPr/>
        </p:nvSpPr>
        <p:spPr bwMode="auto">
          <a:xfrm>
            <a:off x="5648326" y="422116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9182" name="Text Box 31"/>
          <p:cNvSpPr txBox="1">
            <a:spLocks noChangeArrowheads="1"/>
          </p:cNvSpPr>
          <p:nvPr/>
        </p:nvSpPr>
        <p:spPr bwMode="auto">
          <a:xfrm>
            <a:off x="3919539" y="5013326"/>
            <a:ext cx="1152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/>
              <a:t>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49183" name="Line 32"/>
          <p:cNvSpPr>
            <a:spLocks noChangeShapeType="1"/>
          </p:cNvSpPr>
          <p:nvPr/>
        </p:nvSpPr>
        <p:spPr bwMode="auto">
          <a:xfrm flipV="1">
            <a:off x="5935663" y="2565400"/>
            <a:ext cx="7921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9184" name="Text Box 33"/>
          <p:cNvSpPr txBox="1">
            <a:spLocks noChangeArrowheads="1"/>
          </p:cNvSpPr>
          <p:nvPr/>
        </p:nvSpPr>
        <p:spPr bwMode="auto">
          <a:xfrm>
            <a:off x="6007101" y="2701926"/>
            <a:ext cx="10080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49185" name="Text Box 34"/>
          <p:cNvSpPr txBox="1">
            <a:spLocks noChangeArrowheads="1"/>
          </p:cNvSpPr>
          <p:nvPr/>
        </p:nvSpPr>
        <p:spPr bwMode="auto">
          <a:xfrm>
            <a:off x="4927600" y="3141663"/>
            <a:ext cx="13668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#replies=1</a:t>
            </a:r>
          </a:p>
        </p:txBody>
      </p:sp>
      <p:sp>
        <p:nvSpPr>
          <p:cNvPr id="49186" name="Text Box 35"/>
          <p:cNvSpPr txBox="1">
            <a:spLocks noChangeArrowheads="1"/>
          </p:cNvSpPr>
          <p:nvPr/>
        </p:nvSpPr>
        <p:spPr bwMode="auto">
          <a:xfrm>
            <a:off x="6007100" y="1844676"/>
            <a:ext cx="13668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#replies=1</a:t>
            </a:r>
          </a:p>
        </p:txBody>
      </p:sp>
      <p:sp>
        <p:nvSpPr>
          <p:cNvPr id="49187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1" y="341314"/>
            <a:ext cx="8385175" cy="1431925"/>
          </a:xfrm>
        </p:spPr>
        <p:txBody>
          <a:bodyPr/>
          <a:lstStyle/>
          <a:p>
            <a:pPr eaLnBrk="1" hangingPunct="1"/>
            <a:r>
              <a:rPr lang="en-US" sz="3600" dirty="0" err="1"/>
              <a:t>Ricart-Agrawala’s</a:t>
            </a:r>
            <a:r>
              <a:rPr lang="en-US" sz="3600" dirty="0"/>
              <a:t> algorithm: example</a:t>
            </a:r>
          </a:p>
        </p:txBody>
      </p:sp>
    </p:spTree>
    <p:extLst>
      <p:ext uri="{BB962C8B-B14F-4D97-AF65-F5344CB8AC3E}">
        <p14:creationId xmlns:p14="http://schemas.microsoft.com/office/powerpoint/2010/main" val="11384253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Line 3"/>
          <p:cNvSpPr>
            <a:spLocks noChangeShapeType="1"/>
          </p:cNvSpPr>
          <p:nvPr/>
        </p:nvSpPr>
        <p:spPr bwMode="auto">
          <a:xfrm>
            <a:off x="1327150" y="25654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0179" name="Line 4"/>
          <p:cNvSpPr>
            <a:spLocks noChangeShapeType="1"/>
          </p:cNvSpPr>
          <p:nvPr/>
        </p:nvSpPr>
        <p:spPr bwMode="auto">
          <a:xfrm>
            <a:off x="1327150" y="37163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0180" name="Line 5"/>
          <p:cNvSpPr>
            <a:spLocks noChangeShapeType="1"/>
          </p:cNvSpPr>
          <p:nvPr/>
        </p:nvSpPr>
        <p:spPr bwMode="auto">
          <a:xfrm>
            <a:off x="1327150" y="494188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0181" name="Oval 6"/>
          <p:cNvSpPr>
            <a:spLocks noChangeArrowheads="1"/>
          </p:cNvSpPr>
          <p:nvPr/>
        </p:nvSpPr>
        <p:spPr bwMode="auto">
          <a:xfrm>
            <a:off x="1182689" y="2205039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50182" name="Oval 7"/>
          <p:cNvSpPr>
            <a:spLocks noChangeArrowheads="1"/>
          </p:cNvSpPr>
          <p:nvPr/>
        </p:nvSpPr>
        <p:spPr bwMode="auto">
          <a:xfrm>
            <a:off x="1182689" y="33575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50183" name="Oval 8"/>
          <p:cNvSpPr>
            <a:spLocks noChangeArrowheads="1"/>
          </p:cNvSpPr>
          <p:nvPr/>
        </p:nvSpPr>
        <p:spPr bwMode="auto">
          <a:xfrm>
            <a:off x="1255714" y="4652964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50184" name="Line 9"/>
          <p:cNvSpPr>
            <a:spLocks noChangeShapeType="1"/>
          </p:cNvSpPr>
          <p:nvPr/>
        </p:nvSpPr>
        <p:spPr bwMode="auto">
          <a:xfrm>
            <a:off x="7231063" y="2133600"/>
            <a:ext cx="0" cy="32400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50185" name="Text Box 10"/>
          <p:cNvSpPr txBox="1">
            <a:spLocks noChangeArrowheads="1"/>
          </p:cNvSpPr>
          <p:nvPr/>
        </p:nvSpPr>
        <p:spPr bwMode="auto">
          <a:xfrm>
            <a:off x="5214938" y="5589588"/>
            <a:ext cx="2305050" cy="646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P1 receives the Reply sent from P3</a:t>
            </a:r>
          </a:p>
        </p:txBody>
      </p:sp>
      <p:sp>
        <p:nvSpPr>
          <p:cNvPr id="50186" name="Oval 11"/>
          <p:cNvSpPr>
            <a:spLocks noChangeArrowheads="1"/>
          </p:cNvSpPr>
          <p:nvPr/>
        </p:nvSpPr>
        <p:spPr bwMode="auto">
          <a:xfrm>
            <a:off x="1614489" y="3357564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50187" name="Text Box 12"/>
          <p:cNvSpPr txBox="1">
            <a:spLocks noChangeArrowheads="1"/>
          </p:cNvSpPr>
          <p:nvPr/>
        </p:nvSpPr>
        <p:spPr bwMode="auto">
          <a:xfrm>
            <a:off x="1685926" y="2565401"/>
            <a:ext cx="1370013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=1</a:t>
            </a:r>
          </a:p>
        </p:txBody>
      </p:sp>
      <p:sp>
        <p:nvSpPr>
          <p:cNvPr id="50188" name="Line 13"/>
          <p:cNvSpPr>
            <a:spLocks noChangeShapeType="1"/>
          </p:cNvSpPr>
          <p:nvPr/>
        </p:nvSpPr>
        <p:spPr bwMode="auto">
          <a:xfrm flipV="1">
            <a:off x="1903413" y="2565400"/>
            <a:ext cx="14398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0189" name="Line 14"/>
          <p:cNvSpPr>
            <a:spLocks noChangeShapeType="1"/>
          </p:cNvSpPr>
          <p:nvPr/>
        </p:nvSpPr>
        <p:spPr bwMode="auto">
          <a:xfrm>
            <a:off x="1903414" y="3716338"/>
            <a:ext cx="719137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0190" name="Rectangle 15"/>
          <p:cNvSpPr>
            <a:spLocks noChangeArrowheads="1"/>
          </p:cNvSpPr>
          <p:nvPr/>
        </p:nvSpPr>
        <p:spPr bwMode="auto">
          <a:xfrm>
            <a:off x="2406651" y="3213101"/>
            <a:ext cx="21431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50191" name="Rectangle 16"/>
          <p:cNvSpPr>
            <a:spLocks noChangeArrowheads="1"/>
          </p:cNvSpPr>
          <p:nvPr/>
        </p:nvSpPr>
        <p:spPr bwMode="auto">
          <a:xfrm>
            <a:off x="2263776" y="4076701"/>
            <a:ext cx="214313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50192" name="Text Box 17"/>
          <p:cNvSpPr txBox="1">
            <a:spLocks noChangeArrowheads="1"/>
          </p:cNvSpPr>
          <p:nvPr/>
        </p:nvSpPr>
        <p:spPr bwMode="auto">
          <a:xfrm>
            <a:off x="2047876" y="4941888"/>
            <a:ext cx="9366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num= 1</a:t>
            </a:r>
          </a:p>
        </p:txBody>
      </p:sp>
      <p:sp>
        <p:nvSpPr>
          <p:cNvPr id="50193" name="Line 18"/>
          <p:cNvSpPr>
            <a:spLocks noChangeShapeType="1"/>
          </p:cNvSpPr>
          <p:nvPr/>
        </p:nvSpPr>
        <p:spPr bwMode="auto">
          <a:xfrm flipV="1">
            <a:off x="2695576" y="3716338"/>
            <a:ext cx="2879725" cy="1225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0194" name="Text Box 19"/>
          <p:cNvSpPr txBox="1">
            <a:spLocks noChangeArrowheads="1"/>
          </p:cNvSpPr>
          <p:nvPr/>
        </p:nvSpPr>
        <p:spPr bwMode="auto">
          <a:xfrm>
            <a:off x="3848101" y="399891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50195" name="Oval 20"/>
          <p:cNvSpPr>
            <a:spLocks noChangeArrowheads="1"/>
          </p:cNvSpPr>
          <p:nvPr/>
        </p:nvSpPr>
        <p:spPr bwMode="auto">
          <a:xfrm>
            <a:off x="3198814" y="2276476"/>
            <a:ext cx="288925" cy="28892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R</a:t>
            </a:r>
          </a:p>
        </p:txBody>
      </p:sp>
      <p:sp>
        <p:nvSpPr>
          <p:cNvPr id="50196" name="Text Box 21"/>
          <p:cNvSpPr txBox="1">
            <a:spLocks noChangeArrowheads="1"/>
          </p:cNvSpPr>
          <p:nvPr/>
        </p:nvSpPr>
        <p:spPr bwMode="auto">
          <a:xfrm>
            <a:off x="2263775" y="1635126"/>
            <a:ext cx="151288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/>
              <a:t>num=1</a:t>
            </a:r>
            <a:br>
              <a:rPr lang="en-GB" sz="1600"/>
            </a:br>
            <a:r>
              <a:rPr lang="en-GB" sz="1600"/>
              <a:t>Last_Req = 1</a:t>
            </a:r>
          </a:p>
        </p:txBody>
      </p:sp>
      <p:sp>
        <p:nvSpPr>
          <p:cNvPr id="50197" name="Line 22"/>
          <p:cNvSpPr>
            <a:spLocks noChangeShapeType="1"/>
          </p:cNvSpPr>
          <p:nvPr/>
        </p:nvSpPr>
        <p:spPr bwMode="auto">
          <a:xfrm flipV="1">
            <a:off x="6799263" y="5373688"/>
            <a:ext cx="4318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50198" name="Line 23"/>
          <p:cNvSpPr>
            <a:spLocks noChangeShapeType="1"/>
          </p:cNvSpPr>
          <p:nvPr/>
        </p:nvSpPr>
        <p:spPr bwMode="auto">
          <a:xfrm>
            <a:off x="3703638" y="2565400"/>
            <a:ext cx="14398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0199" name="Line 24"/>
          <p:cNvSpPr>
            <a:spLocks noChangeShapeType="1"/>
          </p:cNvSpPr>
          <p:nvPr/>
        </p:nvSpPr>
        <p:spPr bwMode="auto">
          <a:xfrm>
            <a:off x="3703638" y="2565400"/>
            <a:ext cx="1223962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0200" name="Rectangle 25"/>
          <p:cNvSpPr>
            <a:spLocks noChangeArrowheads="1"/>
          </p:cNvSpPr>
          <p:nvPr/>
        </p:nvSpPr>
        <p:spPr bwMode="auto">
          <a:xfrm>
            <a:off x="4351338" y="2708276"/>
            <a:ext cx="214312" cy="36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50201" name="Rectangle 26"/>
          <p:cNvSpPr>
            <a:spLocks noChangeArrowheads="1"/>
          </p:cNvSpPr>
          <p:nvPr/>
        </p:nvSpPr>
        <p:spPr bwMode="auto">
          <a:xfrm>
            <a:off x="3703638" y="3068638"/>
            <a:ext cx="214312" cy="360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50202" name="Rectangle 27"/>
          <p:cNvSpPr>
            <a:spLocks noChangeArrowheads="1"/>
          </p:cNvSpPr>
          <p:nvPr/>
        </p:nvSpPr>
        <p:spPr bwMode="auto">
          <a:xfrm>
            <a:off x="3919539" y="1989139"/>
            <a:ext cx="865187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1,2</a:t>
            </a:r>
          </a:p>
        </p:txBody>
      </p:sp>
      <p:sp>
        <p:nvSpPr>
          <p:cNvPr id="50203" name="Text Box 28"/>
          <p:cNvSpPr txBox="1">
            <a:spLocks noChangeArrowheads="1"/>
          </p:cNvSpPr>
          <p:nvPr/>
        </p:nvSpPr>
        <p:spPr bwMode="auto">
          <a:xfrm>
            <a:off x="3848100" y="1700213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Q</a:t>
            </a:r>
          </a:p>
        </p:txBody>
      </p:sp>
      <p:sp>
        <p:nvSpPr>
          <p:cNvPr id="50204" name="Line 29"/>
          <p:cNvSpPr>
            <a:spLocks noChangeShapeType="1"/>
          </p:cNvSpPr>
          <p:nvPr/>
        </p:nvSpPr>
        <p:spPr bwMode="auto">
          <a:xfrm flipV="1">
            <a:off x="5214939" y="2565400"/>
            <a:ext cx="2016125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0205" name="Text Box 30"/>
          <p:cNvSpPr txBox="1">
            <a:spLocks noChangeArrowheads="1"/>
          </p:cNvSpPr>
          <p:nvPr/>
        </p:nvSpPr>
        <p:spPr bwMode="auto">
          <a:xfrm>
            <a:off x="5648326" y="4221163"/>
            <a:ext cx="1008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50206" name="Text Box 31"/>
          <p:cNvSpPr txBox="1">
            <a:spLocks noChangeArrowheads="1"/>
          </p:cNvSpPr>
          <p:nvPr/>
        </p:nvSpPr>
        <p:spPr bwMode="auto">
          <a:xfrm>
            <a:off x="3919539" y="5013326"/>
            <a:ext cx="1152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/>
              <a:t>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50207" name="Line 32"/>
          <p:cNvSpPr>
            <a:spLocks noChangeShapeType="1"/>
          </p:cNvSpPr>
          <p:nvPr/>
        </p:nvSpPr>
        <p:spPr bwMode="auto">
          <a:xfrm flipV="1">
            <a:off x="5935663" y="2565400"/>
            <a:ext cx="7921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0208" name="Text Box 33"/>
          <p:cNvSpPr txBox="1">
            <a:spLocks noChangeArrowheads="1"/>
          </p:cNvSpPr>
          <p:nvPr/>
        </p:nvSpPr>
        <p:spPr bwMode="auto">
          <a:xfrm>
            <a:off x="6007101" y="2701926"/>
            <a:ext cx="10080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50209" name="Text Box 34"/>
          <p:cNvSpPr txBox="1">
            <a:spLocks noChangeArrowheads="1"/>
          </p:cNvSpPr>
          <p:nvPr/>
        </p:nvSpPr>
        <p:spPr bwMode="auto">
          <a:xfrm>
            <a:off x="4927600" y="3141663"/>
            <a:ext cx="13668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#replies=1</a:t>
            </a:r>
          </a:p>
        </p:txBody>
      </p:sp>
      <p:sp>
        <p:nvSpPr>
          <p:cNvPr id="50210" name="Text Box 35"/>
          <p:cNvSpPr txBox="1">
            <a:spLocks noChangeArrowheads="1"/>
          </p:cNvSpPr>
          <p:nvPr/>
        </p:nvSpPr>
        <p:spPr bwMode="auto">
          <a:xfrm>
            <a:off x="6656389" y="1766888"/>
            <a:ext cx="13668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#replies=2</a:t>
            </a:r>
          </a:p>
        </p:txBody>
      </p:sp>
      <p:sp>
        <p:nvSpPr>
          <p:cNvPr id="50211" name="Rectangle 36"/>
          <p:cNvSpPr>
            <a:spLocks noChangeArrowheads="1"/>
          </p:cNvSpPr>
          <p:nvPr/>
        </p:nvSpPr>
        <p:spPr bwMode="auto">
          <a:xfrm>
            <a:off x="7519988" y="2133601"/>
            <a:ext cx="863600" cy="43021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CS</a:t>
            </a:r>
          </a:p>
        </p:txBody>
      </p:sp>
      <p:sp>
        <p:nvSpPr>
          <p:cNvPr id="50212" name="Oval 37"/>
          <p:cNvSpPr>
            <a:spLocks noChangeArrowheads="1"/>
          </p:cNvSpPr>
          <p:nvPr/>
        </p:nvSpPr>
        <p:spPr bwMode="auto">
          <a:xfrm>
            <a:off x="7231064" y="2276476"/>
            <a:ext cx="288925" cy="2889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CS</a:t>
            </a:r>
          </a:p>
        </p:txBody>
      </p:sp>
      <p:sp>
        <p:nvSpPr>
          <p:cNvPr id="50213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1" y="341314"/>
            <a:ext cx="8385175" cy="1431925"/>
          </a:xfrm>
        </p:spPr>
        <p:txBody>
          <a:bodyPr/>
          <a:lstStyle/>
          <a:p>
            <a:pPr eaLnBrk="1" hangingPunct="1"/>
            <a:r>
              <a:rPr lang="en-US" sz="3600" dirty="0" err="1"/>
              <a:t>Ricart-Agrawala’s</a:t>
            </a:r>
            <a:r>
              <a:rPr lang="en-US" sz="3600" dirty="0"/>
              <a:t> algorithm: example</a:t>
            </a:r>
          </a:p>
        </p:txBody>
      </p:sp>
    </p:spTree>
    <p:extLst>
      <p:ext uri="{BB962C8B-B14F-4D97-AF65-F5344CB8AC3E}">
        <p14:creationId xmlns:p14="http://schemas.microsoft.com/office/powerpoint/2010/main" val="15829959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Line 3"/>
          <p:cNvSpPr>
            <a:spLocks noChangeShapeType="1"/>
          </p:cNvSpPr>
          <p:nvPr/>
        </p:nvSpPr>
        <p:spPr bwMode="auto">
          <a:xfrm>
            <a:off x="1327150" y="25654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1203" name="Line 4"/>
          <p:cNvSpPr>
            <a:spLocks noChangeShapeType="1"/>
          </p:cNvSpPr>
          <p:nvPr/>
        </p:nvSpPr>
        <p:spPr bwMode="auto">
          <a:xfrm>
            <a:off x="1327150" y="37163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1204" name="Line 5"/>
          <p:cNvSpPr>
            <a:spLocks noChangeShapeType="1"/>
          </p:cNvSpPr>
          <p:nvPr/>
        </p:nvSpPr>
        <p:spPr bwMode="auto">
          <a:xfrm>
            <a:off x="1327150" y="494188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1205" name="Line 9"/>
          <p:cNvSpPr>
            <a:spLocks noChangeShapeType="1"/>
          </p:cNvSpPr>
          <p:nvPr/>
        </p:nvSpPr>
        <p:spPr bwMode="auto">
          <a:xfrm>
            <a:off x="6296025" y="2133600"/>
            <a:ext cx="0" cy="32400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51206" name="Text Box 10"/>
          <p:cNvSpPr txBox="1">
            <a:spLocks noChangeArrowheads="1"/>
          </p:cNvSpPr>
          <p:nvPr/>
        </p:nvSpPr>
        <p:spPr bwMode="auto">
          <a:xfrm>
            <a:off x="6438900" y="5516564"/>
            <a:ext cx="2305050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P2 receives the second Reply and accesses CS</a:t>
            </a:r>
          </a:p>
        </p:txBody>
      </p:sp>
      <p:sp>
        <p:nvSpPr>
          <p:cNvPr id="51207" name="Line 18"/>
          <p:cNvSpPr>
            <a:spLocks noChangeShapeType="1"/>
          </p:cNvSpPr>
          <p:nvPr/>
        </p:nvSpPr>
        <p:spPr bwMode="auto">
          <a:xfrm flipV="1">
            <a:off x="1471613" y="3716339"/>
            <a:ext cx="151130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1208" name="Line 22"/>
          <p:cNvSpPr>
            <a:spLocks noChangeShapeType="1"/>
          </p:cNvSpPr>
          <p:nvPr/>
        </p:nvSpPr>
        <p:spPr bwMode="auto">
          <a:xfrm flipH="1" flipV="1">
            <a:off x="6296025" y="5157789"/>
            <a:ext cx="1079500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51209" name="Line 23"/>
          <p:cNvSpPr>
            <a:spLocks noChangeShapeType="1"/>
          </p:cNvSpPr>
          <p:nvPr/>
        </p:nvSpPr>
        <p:spPr bwMode="auto">
          <a:xfrm>
            <a:off x="1471613" y="2565400"/>
            <a:ext cx="1079500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1210" name="Line 24"/>
          <p:cNvSpPr>
            <a:spLocks noChangeShapeType="1"/>
          </p:cNvSpPr>
          <p:nvPr/>
        </p:nvSpPr>
        <p:spPr bwMode="auto">
          <a:xfrm>
            <a:off x="1471613" y="2565400"/>
            <a:ext cx="863600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1211" name="Line 29"/>
          <p:cNvSpPr>
            <a:spLocks noChangeShapeType="1"/>
          </p:cNvSpPr>
          <p:nvPr/>
        </p:nvSpPr>
        <p:spPr bwMode="auto">
          <a:xfrm flipV="1">
            <a:off x="2406651" y="2492376"/>
            <a:ext cx="1800225" cy="2449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1212" name="Text Box 30"/>
          <p:cNvSpPr txBox="1">
            <a:spLocks noChangeArrowheads="1"/>
          </p:cNvSpPr>
          <p:nvPr/>
        </p:nvSpPr>
        <p:spPr bwMode="auto">
          <a:xfrm>
            <a:off x="2840038" y="4221163"/>
            <a:ext cx="10080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51213" name="Text Box 31"/>
          <p:cNvSpPr txBox="1">
            <a:spLocks noChangeArrowheads="1"/>
          </p:cNvSpPr>
          <p:nvPr/>
        </p:nvSpPr>
        <p:spPr bwMode="auto">
          <a:xfrm>
            <a:off x="1327151" y="5013326"/>
            <a:ext cx="1152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/>
              <a:t>num</a:t>
            </a:r>
            <a:r>
              <a:rPr lang="en-GB" sz="2000"/>
              <a:t> </a:t>
            </a:r>
            <a:r>
              <a:rPr lang="en-GB" sz="1600"/>
              <a:t>=1</a:t>
            </a:r>
          </a:p>
        </p:txBody>
      </p:sp>
      <p:sp>
        <p:nvSpPr>
          <p:cNvPr id="51214" name="Line 32"/>
          <p:cNvSpPr>
            <a:spLocks noChangeShapeType="1"/>
          </p:cNvSpPr>
          <p:nvPr/>
        </p:nvSpPr>
        <p:spPr bwMode="auto">
          <a:xfrm flipV="1">
            <a:off x="3055938" y="2565400"/>
            <a:ext cx="7921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1215" name="Text Box 33"/>
          <p:cNvSpPr txBox="1">
            <a:spLocks noChangeArrowheads="1"/>
          </p:cNvSpPr>
          <p:nvPr/>
        </p:nvSpPr>
        <p:spPr bwMode="auto">
          <a:xfrm>
            <a:off x="3198813" y="2701926"/>
            <a:ext cx="10080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51216" name="Text Box 34"/>
          <p:cNvSpPr txBox="1">
            <a:spLocks noChangeArrowheads="1"/>
          </p:cNvSpPr>
          <p:nvPr/>
        </p:nvSpPr>
        <p:spPr bwMode="auto">
          <a:xfrm>
            <a:off x="2119314" y="3141663"/>
            <a:ext cx="13668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#replies=1</a:t>
            </a:r>
          </a:p>
        </p:txBody>
      </p:sp>
      <p:sp>
        <p:nvSpPr>
          <p:cNvPr id="51217" name="Text Box 35"/>
          <p:cNvSpPr txBox="1">
            <a:spLocks noChangeArrowheads="1"/>
          </p:cNvSpPr>
          <p:nvPr/>
        </p:nvSpPr>
        <p:spPr bwMode="auto">
          <a:xfrm>
            <a:off x="5646739" y="2205038"/>
            <a:ext cx="12969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#replies=0</a:t>
            </a:r>
          </a:p>
        </p:txBody>
      </p:sp>
      <p:sp>
        <p:nvSpPr>
          <p:cNvPr id="51218" name="Rectangle 36"/>
          <p:cNvSpPr>
            <a:spLocks noChangeArrowheads="1"/>
          </p:cNvSpPr>
          <p:nvPr/>
        </p:nvSpPr>
        <p:spPr bwMode="auto">
          <a:xfrm>
            <a:off x="4494213" y="2133601"/>
            <a:ext cx="863600" cy="43021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CS</a:t>
            </a:r>
          </a:p>
        </p:txBody>
      </p:sp>
      <p:sp>
        <p:nvSpPr>
          <p:cNvPr id="51219" name="Oval 37"/>
          <p:cNvSpPr>
            <a:spLocks noChangeArrowheads="1"/>
          </p:cNvSpPr>
          <p:nvPr/>
        </p:nvSpPr>
        <p:spPr bwMode="auto">
          <a:xfrm>
            <a:off x="4205289" y="2276476"/>
            <a:ext cx="288925" cy="2889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CS</a:t>
            </a:r>
          </a:p>
        </p:txBody>
      </p:sp>
      <p:sp>
        <p:nvSpPr>
          <p:cNvPr id="51220" name="Oval 38"/>
          <p:cNvSpPr>
            <a:spLocks noChangeArrowheads="1"/>
          </p:cNvSpPr>
          <p:nvPr/>
        </p:nvSpPr>
        <p:spPr bwMode="auto">
          <a:xfrm>
            <a:off x="5357814" y="2276476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51221" name="Line 39"/>
          <p:cNvSpPr>
            <a:spLocks noChangeShapeType="1"/>
          </p:cNvSpPr>
          <p:nvPr/>
        </p:nvSpPr>
        <p:spPr bwMode="auto">
          <a:xfrm>
            <a:off x="5646739" y="2565400"/>
            <a:ext cx="649287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1222" name="Text Box 40"/>
          <p:cNvSpPr txBox="1">
            <a:spLocks noChangeArrowheads="1"/>
          </p:cNvSpPr>
          <p:nvPr/>
        </p:nvSpPr>
        <p:spPr bwMode="auto">
          <a:xfrm>
            <a:off x="5143501" y="2774951"/>
            <a:ext cx="10080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Reply</a:t>
            </a:r>
          </a:p>
        </p:txBody>
      </p:sp>
      <p:sp>
        <p:nvSpPr>
          <p:cNvPr id="51223" name="Rectangle 41"/>
          <p:cNvSpPr>
            <a:spLocks noChangeArrowheads="1"/>
          </p:cNvSpPr>
          <p:nvPr/>
        </p:nvSpPr>
        <p:spPr bwMode="auto">
          <a:xfrm>
            <a:off x="5575300" y="1916114"/>
            <a:ext cx="865188" cy="2873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sp>
        <p:nvSpPr>
          <p:cNvPr id="51224" name="Text Box 42"/>
          <p:cNvSpPr txBox="1">
            <a:spLocks noChangeArrowheads="1"/>
          </p:cNvSpPr>
          <p:nvPr/>
        </p:nvSpPr>
        <p:spPr bwMode="auto">
          <a:xfrm>
            <a:off x="5503863" y="1627188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Q</a:t>
            </a:r>
          </a:p>
        </p:txBody>
      </p:sp>
      <p:sp>
        <p:nvSpPr>
          <p:cNvPr id="51225" name="Text Box 43"/>
          <p:cNvSpPr txBox="1">
            <a:spLocks noChangeArrowheads="1"/>
          </p:cNvSpPr>
          <p:nvPr/>
        </p:nvSpPr>
        <p:spPr bwMode="auto">
          <a:xfrm>
            <a:off x="7807325" y="3357563"/>
            <a:ext cx="12969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#replies=0</a:t>
            </a:r>
          </a:p>
        </p:txBody>
      </p:sp>
      <p:sp>
        <p:nvSpPr>
          <p:cNvPr id="51226" name="Rectangle 44"/>
          <p:cNvSpPr>
            <a:spLocks noChangeArrowheads="1"/>
          </p:cNvSpPr>
          <p:nvPr/>
        </p:nvSpPr>
        <p:spPr bwMode="auto">
          <a:xfrm>
            <a:off x="6654800" y="3286126"/>
            <a:ext cx="863600" cy="430213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CS</a:t>
            </a:r>
          </a:p>
        </p:txBody>
      </p:sp>
      <p:sp>
        <p:nvSpPr>
          <p:cNvPr id="51227" name="Oval 45"/>
          <p:cNvSpPr>
            <a:spLocks noChangeArrowheads="1"/>
          </p:cNvSpPr>
          <p:nvPr/>
        </p:nvSpPr>
        <p:spPr bwMode="auto">
          <a:xfrm>
            <a:off x="6365876" y="3429001"/>
            <a:ext cx="288925" cy="2889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CS</a:t>
            </a:r>
          </a:p>
        </p:txBody>
      </p:sp>
      <p:sp>
        <p:nvSpPr>
          <p:cNvPr id="51228" name="Oval 46"/>
          <p:cNvSpPr>
            <a:spLocks noChangeArrowheads="1"/>
          </p:cNvSpPr>
          <p:nvPr/>
        </p:nvSpPr>
        <p:spPr bwMode="auto">
          <a:xfrm>
            <a:off x="7518401" y="3429001"/>
            <a:ext cx="288925" cy="2889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1000"/>
              <a:t>NCS</a:t>
            </a:r>
          </a:p>
        </p:txBody>
      </p:sp>
      <p:sp>
        <p:nvSpPr>
          <p:cNvPr id="51229" name="Text Box 51"/>
          <p:cNvSpPr txBox="1">
            <a:spLocks noChangeArrowheads="1"/>
          </p:cNvSpPr>
          <p:nvPr/>
        </p:nvSpPr>
        <p:spPr bwMode="auto">
          <a:xfrm>
            <a:off x="6296025" y="2924176"/>
            <a:ext cx="12969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#replies=2</a:t>
            </a:r>
          </a:p>
        </p:txBody>
      </p:sp>
      <p:sp>
        <p:nvSpPr>
          <p:cNvPr id="512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701" y="341314"/>
            <a:ext cx="8385175" cy="1431925"/>
          </a:xfrm>
        </p:spPr>
        <p:txBody>
          <a:bodyPr/>
          <a:lstStyle/>
          <a:p>
            <a:pPr eaLnBrk="1" hangingPunct="1"/>
            <a:r>
              <a:rPr lang="en-US" sz="3600" dirty="0" err="1"/>
              <a:t>Ricart-Agrawala’s</a:t>
            </a:r>
            <a:r>
              <a:rPr lang="en-US" sz="3600" dirty="0"/>
              <a:t> algorithm: example</a:t>
            </a:r>
          </a:p>
        </p:txBody>
      </p:sp>
    </p:spTree>
    <p:extLst>
      <p:ext uri="{BB962C8B-B14F-4D97-AF65-F5344CB8AC3E}">
        <p14:creationId xmlns:p14="http://schemas.microsoft.com/office/powerpoint/2010/main" val="2372894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ttiv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1869</TotalTime>
  <Words>3513</Words>
  <Application>Microsoft Macintosh PowerPoint</Application>
  <PresentationFormat>Diapositive 35 mm</PresentationFormat>
  <Paragraphs>829</Paragraphs>
  <Slides>46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46</vt:i4>
      </vt:variant>
    </vt:vector>
  </HeadingPairs>
  <TitlesOfParts>
    <vt:vector size="54" baseType="lpstr">
      <vt:lpstr>ＭＳ Ｐゴシック</vt:lpstr>
      <vt:lpstr>Arial</vt:lpstr>
      <vt:lpstr>Calibri</vt:lpstr>
      <vt:lpstr>Calibri Light</vt:lpstr>
      <vt:lpstr>Courier New</vt:lpstr>
      <vt:lpstr>Symbol</vt:lpstr>
      <vt:lpstr>Wingdings</vt:lpstr>
      <vt:lpstr>Retrospettivo</vt:lpstr>
      <vt:lpstr>Dependable Distributed Systems Master of Science in Engineering in Computer Science    AA 2026/2027</vt:lpstr>
      <vt:lpstr>Recap</vt:lpstr>
      <vt:lpstr>Happened-Before relation</vt:lpstr>
      <vt:lpstr>Happened-Before Relation: Definition</vt:lpstr>
      <vt:lpstr>Happened-Before Relation</vt:lpstr>
      <vt:lpstr>Logical Clock</vt:lpstr>
      <vt:lpstr>Scalar Logical Clock: an implementation</vt:lpstr>
      <vt:lpstr>Scalar Logical Clock: example</vt:lpstr>
      <vt:lpstr>Limits of Scalar Logical Clock</vt:lpstr>
      <vt:lpstr>Vector Clock : definition</vt:lpstr>
      <vt:lpstr>Vector Clock : an implementation</vt:lpstr>
      <vt:lpstr>Vector Clock: an example</vt:lpstr>
      <vt:lpstr>Vector Clock: properties</vt:lpstr>
      <vt:lpstr>A comparison of Vector Clocks</vt:lpstr>
      <vt:lpstr>Logical clock in distributed algorithms</vt:lpstr>
      <vt:lpstr>Distributed Mutual Exclusion</vt:lpstr>
      <vt:lpstr>The Mutual Exclusion Problem</vt:lpstr>
      <vt:lpstr>System Model</vt:lpstr>
      <vt:lpstr>The Mutual Exclusion abstraction</vt:lpstr>
      <vt:lpstr>Different Approaches to Distributed Mutual Exclusion</vt:lpstr>
      <vt:lpstr>Timestamp-based algorithm: Lamport’s Distributed Mutual Exclusion</vt:lpstr>
      <vt:lpstr>Lamport’s algorithm: implementation</vt:lpstr>
      <vt:lpstr>Lamport’s algorithm: implementation</vt:lpstr>
      <vt:lpstr>Lamport’s algorithm: example</vt:lpstr>
      <vt:lpstr>Lamport’s algorithm: example</vt:lpstr>
      <vt:lpstr>Lamport’s algorithm: example</vt:lpstr>
      <vt:lpstr>Lamport’s algorithm: example</vt:lpstr>
      <vt:lpstr>Lamport’s algorithm: example</vt:lpstr>
      <vt:lpstr>Lamport’s algorithm: example</vt:lpstr>
      <vt:lpstr>Lamport’s algorithm: safety proof</vt:lpstr>
      <vt:lpstr>Lamport’s algorithm: properties</vt:lpstr>
      <vt:lpstr>Lamport’s algorithm: performances</vt:lpstr>
      <vt:lpstr>Ricart-Agrawala’s algorithm: implementation</vt:lpstr>
      <vt:lpstr>Ricart-Agrawala’s algorithm: example</vt:lpstr>
      <vt:lpstr>Ricart-Agrawala’s algorithm: example</vt:lpstr>
      <vt:lpstr>Ricart-Agrawala’s algorithm: example</vt:lpstr>
      <vt:lpstr>Ricart-Agrawala’s algorithm: example</vt:lpstr>
      <vt:lpstr>Ricart-Agrawala’s algorithm: example</vt:lpstr>
      <vt:lpstr>Ricart-Agrawala’s algorithm: example</vt:lpstr>
      <vt:lpstr>Ricart-Agrawala’s algorithm: example</vt:lpstr>
      <vt:lpstr>Ricart-Agrawala’s algorithm: example</vt:lpstr>
      <vt:lpstr>Ricart-Agrawala’s algorithm: example</vt:lpstr>
      <vt:lpstr>Ricart-Agrawala’s algorithm: example</vt:lpstr>
      <vt:lpstr>Ricart-Agrawala’s algorithm: example</vt:lpstr>
      <vt:lpstr>Ricart-Agrawala’s algorithm: example</vt:lpstr>
      <vt:lpstr>Ricart-Agrawala’s algorithm: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Silvia Bonomi</dc:creator>
  <cp:lastModifiedBy>Silvia Bonomi</cp:lastModifiedBy>
  <cp:revision>48</cp:revision>
  <dcterms:created xsi:type="dcterms:W3CDTF">2017-10-04T13:40:42Z</dcterms:created>
  <dcterms:modified xsi:type="dcterms:W3CDTF">2026-10-01T08:44:52Z</dcterms:modified>
</cp:coreProperties>
</file>