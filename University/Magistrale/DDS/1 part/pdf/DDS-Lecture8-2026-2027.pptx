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5" r:id="rId1"/>
  </p:sldMasterIdLst>
  <p:notesMasterIdLst>
    <p:notesMasterId r:id="rId36"/>
  </p:notesMasterIdLst>
  <p:sldIdLst>
    <p:sldId id="256" r:id="rId2"/>
    <p:sldId id="302" r:id="rId3"/>
    <p:sldId id="303" r:id="rId4"/>
    <p:sldId id="284" r:id="rId5"/>
    <p:sldId id="286" r:id="rId6"/>
    <p:sldId id="304" r:id="rId7"/>
    <p:sldId id="285" r:id="rId8"/>
    <p:sldId id="287" r:id="rId9"/>
    <p:sldId id="305" r:id="rId10"/>
    <p:sldId id="306" r:id="rId11"/>
    <p:sldId id="314" r:id="rId12"/>
    <p:sldId id="316" r:id="rId13"/>
    <p:sldId id="315" r:id="rId14"/>
    <p:sldId id="317" r:id="rId15"/>
    <p:sldId id="318" r:id="rId16"/>
    <p:sldId id="307" r:id="rId17"/>
    <p:sldId id="308" r:id="rId18"/>
    <p:sldId id="309" r:id="rId19"/>
    <p:sldId id="310" r:id="rId20"/>
    <p:sldId id="291" r:id="rId21"/>
    <p:sldId id="292" r:id="rId22"/>
    <p:sldId id="311" r:id="rId23"/>
    <p:sldId id="312" r:id="rId24"/>
    <p:sldId id="319" r:id="rId25"/>
    <p:sldId id="321" r:id="rId26"/>
    <p:sldId id="322" r:id="rId27"/>
    <p:sldId id="295" r:id="rId28"/>
    <p:sldId id="296" r:id="rId29"/>
    <p:sldId id="297" r:id="rId30"/>
    <p:sldId id="298" r:id="rId31"/>
    <p:sldId id="299" r:id="rId32"/>
    <p:sldId id="300" r:id="rId33"/>
    <p:sldId id="313" r:id="rId34"/>
    <p:sldId id="283" r:id="rId35"/>
  </p:sldIdLst>
  <p:sldSz cx="10287000" cy="6858000" type="35mm"/>
  <p:notesSz cx="6858000" cy="9144000"/>
  <p:defaultTextStyle>
    <a:defPPr>
      <a:defRPr lang="en-US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92"/>
  </p:normalViewPr>
  <p:slideViewPr>
    <p:cSldViewPr snapToGrid="0" snapToObjects="1">
      <p:cViewPr varScale="1">
        <p:scale>
          <a:sx n="106" d="100"/>
          <a:sy n="106" d="100"/>
        </p:scale>
        <p:origin x="1336" y="176"/>
      </p:cViewPr>
      <p:guideLst>
        <p:guide orient="horz" pos="21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4F95-BFF0-184C-9CF7-1FBA526794A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6C1B-9924-9649-9BEF-5BF5C1F203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966C1B-9924-9649-9BEF-5BF5C1F203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6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73E0F5AE-A5AD-7B49-9B17-3006194E4012}" type="slidenum">
              <a:rPr lang="it-IT" sz="1200">
                <a:ea typeface="ＭＳ Ｐゴシック" charset="0"/>
                <a:cs typeface="ＭＳ Ｐゴシック" charset="0"/>
              </a:rPr>
              <a:pPr/>
              <a:t>4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876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602C15A-BFB6-164D-8782-E02D1E4C91AF}" type="slidenum">
              <a:rPr lang="it-IT" sz="1200">
                <a:ea typeface="ＭＳ Ｐゴシック" charset="0"/>
                <a:cs typeface="ＭＳ Ｐゴシック" charset="0"/>
              </a:rPr>
              <a:pPr/>
              <a:t>5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364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AE5B11E-DCF9-A54A-AACD-E784F92B1AA4}" type="slidenum">
              <a:rPr lang="it-IT" sz="1200">
                <a:ea typeface="ＭＳ Ｐゴシック" charset="0"/>
                <a:cs typeface="ＭＳ Ｐゴシック" charset="0"/>
              </a:rPr>
              <a:pPr/>
              <a:t>7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61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70AF04A-849C-4942-A03B-C82AFAC8AEC3}" type="slidenum">
              <a:rPr lang="it-IT" sz="1200">
                <a:ea typeface="ＭＳ Ｐゴシック" charset="0"/>
                <a:cs typeface="ＭＳ Ｐゴシック" charset="0"/>
              </a:rPr>
              <a:pPr/>
              <a:t>8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75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70AF04A-849C-4942-A03B-C82AFAC8AEC3}" type="slidenum">
              <a:rPr lang="it-IT" sz="1200">
                <a:ea typeface="ＭＳ Ｐゴシック" charset="0"/>
                <a:cs typeface="ＭＳ Ｐゴシック" charset="0"/>
              </a:rPr>
              <a:pPr/>
              <a:t>9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1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70AF04A-849C-4942-A03B-C82AFAC8AEC3}" type="slidenum">
              <a:rPr lang="it-IT" sz="1200">
                <a:ea typeface="ＭＳ Ｐゴシック" charset="0"/>
                <a:cs typeface="ＭＳ Ｐゴシック" charset="0"/>
              </a:rPr>
              <a:pPr/>
              <a:t>19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2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91B0F163-604B-AF4E-A89B-20DC34F3AE67}" type="slidenum">
              <a:rPr lang="it-IT" sz="1200">
                <a:ea typeface="ＭＳ Ｐゴシック" charset="0"/>
                <a:cs typeface="ＭＳ Ｐゴシック" charset="0"/>
              </a:rPr>
              <a:pPr/>
              <a:t>20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59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CA9FA61F-F9D8-4840-B25C-6CD5E932B589}" type="slidenum">
              <a:rPr lang="it-IT" sz="1200">
                <a:ea typeface="ＭＳ Ｐゴシック" charset="0"/>
                <a:cs typeface="ＭＳ Ｐゴシック" charset="0"/>
              </a:rPr>
              <a:pPr/>
              <a:t>21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09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CA9FA61F-F9D8-4840-B25C-6CD5E932B589}" type="slidenum">
              <a:rPr lang="it-IT" sz="1200">
                <a:ea typeface="ＭＳ Ｐゴシック" charset="0"/>
                <a:cs typeface="ＭＳ Ｐゴシック" charset="0"/>
              </a:rPr>
              <a:pPr/>
              <a:t>22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11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6546E18B-ED82-D946-976A-1D23833D46AE}" type="slidenum">
              <a:rPr lang="it-IT" sz="1200">
                <a:ea typeface="ＭＳ Ｐゴシック" charset="0"/>
                <a:cs typeface="ＭＳ Ｐゴシック" charset="0"/>
              </a:rPr>
              <a:pPr/>
              <a:t>27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565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5A736360-57FE-B84D-B313-C91502537C47}" type="slidenum">
              <a:rPr lang="it-IT" sz="1200">
                <a:ea typeface="ＭＳ Ｐゴシック" charset="0"/>
                <a:cs typeface="ＭＳ Ｐゴシック" charset="0"/>
              </a:rPr>
              <a:pPr/>
              <a:t>29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43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D57D007D-95E6-B745-9AD4-29E94F291134}" type="slidenum">
              <a:rPr lang="it-IT" sz="1200">
                <a:ea typeface="ＭＳ Ｐゴシック" charset="0"/>
                <a:cs typeface="ＭＳ Ｐゴシック" charset="0"/>
              </a:rPr>
              <a:pPr/>
              <a:t>30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779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DBC2A2F2-E348-A444-A5C4-CDAB92E7949B}" type="slidenum">
              <a:rPr lang="it-IT" sz="1200">
                <a:ea typeface="ＭＳ Ｐゴシック" charset="0"/>
                <a:cs typeface="ＭＳ Ｐゴシック" charset="0"/>
              </a:rPr>
              <a:pPr/>
              <a:t>31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85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6E801CE-6301-5D4A-869D-AED475B5867A}" type="slidenum">
              <a:rPr lang="it-IT" sz="1200">
                <a:ea typeface="ＭＳ Ｐゴシック" charset="0"/>
                <a:cs typeface="ＭＳ Ｐゴシック" charset="0"/>
              </a:rPr>
              <a:pPr/>
              <a:t>32</a:t>
            </a:fld>
            <a:endParaRPr lang="it-IT" sz="1200">
              <a:ea typeface="ＭＳ Ｐゴシック" charset="0"/>
              <a:cs typeface="ＭＳ Ｐゴシック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153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9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DA16AA21-1863-4931-97CB-99D0A168701B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Dependable Distributed Systems</a:t>
            </a:r>
            <a:br>
              <a:rPr lang="en-GB" sz="4000" dirty="0"/>
            </a:br>
            <a:r>
              <a:rPr lang="en-GB" sz="4000" dirty="0"/>
              <a:t>Master of Science in Engineering in Computer Science  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8: Broadcast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65483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what we know up to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 Define a system model and specify a problem or an abstraction in terms of safety and </a:t>
            </a:r>
            <a:r>
              <a:rPr lang="en-US" dirty="0" err="1"/>
              <a:t>liveness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/>
              <a:t> point-to-point communication abstractions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 fair-loss, stubborn or perfect links</a:t>
            </a:r>
          </a:p>
          <a:p>
            <a:pPr>
              <a:buFont typeface="Wingdings" charset="2"/>
              <a:buChar char="Ø"/>
            </a:pPr>
            <a:r>
              <a:rPr lang="en-US" dirty="0"/>
              <a:t> how to timestamp events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 physical clocks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 logical clocks</a:t>
            </a:r>
          </a:p>
          <a:p>
            <a:pPr>
              <a:buFont typeface="Wingdings" charset="2"/>
              <a:buChar char="Ø"/>
            </a:pPr>
            <a:r>
              <a:rPr lang="en-US" dirty="0"/>
              <a:t> handling failures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 Failure Detector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 Leader Election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88520" y="3703490"/>
            <a:ext cx="4585465" cy="151242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 to now, the focus has been on the interaction between two processes (like in a client/server environment)</a:t>
            </a:r>
          </a:p>
        </p:txBody>
      </p:sp>
    </p:spTree>
    <p:extLst>
      <p:ext uri="{BB962C8B-B14F-4D97-AF65-F5344CB8AC3E}">
        <p14:creationId xmlns:p14="http://schemas.microsoft.com/office/powerpoint/2010/main" val="3571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in a group: Broadcast</a:t>
            </a:r>
          </a:p>
        </p:txBody>
      </p:sp>
      <p:sp>
        <p:nvSpPr>
          <p:cNvPr id="4" name="Oval 3"/>
          <p:cNvSpPr/>
          <p:nvPr/>
        </p:nvSpPr>
        <p:spPr>
          <a:xfrm>
            <a:off x="1387679" y="3189612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44717" y="2617608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314159" y="3213850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20271" y="4233953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524778" y="4166130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4" idx="7"/>
            <a:endCxn id="5" idx="2"/>
          </p:cNvCxnSpPr>
          <p:nvPr/>
        </p:nvCxnSpPr>
        <p:spPr>
          <a:xfrm flipV="1">
            <a:off x="1718667" y="2816356"/>
            <a:ext cx="626050" cy="4314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6"/>
            <a:endCxn id="6" idx="2"/>
          </p:cNvCxnSpPr>
          <p:nvPr/>
        </p:nvCxnSpPr>
        <p:spPr>
          <a:xfrm>
            <a:off x="1775456" y="3388360"/>
            <a:ext cx="1538703" cy="24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5"/>
            <a:endCxn id="7" idx="1"/>
          </p:cNvCxnSpPr>
          <p:nvPr/>
        </p:nvCxnSpPr>
        <p:spPr>
          <a:xfrm>
            <a:off x="1718667" y="3528895"/>
            <a:ext cx="1458393" cy="763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4"/>
            <a:endCxn id="8" idx="0"/>
          </p:cNvCxnSpPr>
          <p:nvPr/>
        </p:nvCxnSpPr>
        <p:spPr>
          <a:xfrm>
            <a:off x="1581568" y="3587107"/>
            <a:ext cx="137099" cy="5790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251571" y="3107162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208609" y="2535158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178051" y="3131400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984163" y="4151503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388670" y="4083680"/>
            <a:ext cx="387777" cy="39749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9" idx="7"/>
            <a:endCxn id="20" idx="2"/>
          </p:cNvCxnSpPr>
          <p:nvPr/>
        </p:nvCxnSpPr>
        <p:spPr>
          <a:xfrm flipV="1">
            <a:off x="6582559" y="2733906"/>
            <a:ext cx="626050" cy="4314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1" idx="2"/>
          </p:cNvCxnSpPr>
          <p:nvPr/>
        </p:nvCxnSpPr>
        <p:spPr>
          <a:xfrm>
            <a:off x="6639348" y="3305910"/>
            <a:ext cx="1538703" cy="24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9" idx="5"/>
          </p:cNvCxnSpPr>
          <p:nvPr/>
        </p:nvCxnSpPr>
        <p:spPr>
          <a:xfrm>
            <a:off x="6582559" y="3446445"/>
            <a:ext cx="911234" cy="470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4"/>
            <a:endCxn id="23" idx="0"/>
          </p:cNvCxnSpPr>
          <p:nvPr/>
        </p:nvCxnSpPr>
        <p:spPr>
          <a:xfrm>
            <a:off x="6445460" y="3504657"/>
            <a:ext cx="137099" cy="5790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xplosion 1 27"/>
          <p:cNvSpPr/>
          <p:nvPr/>
        </p:nvSpPr>
        <p:spPr>
          <a:xfrm>
            <a:off x="6272337" y="3107162"/>
            <a:ext cx="620443" cy="523529"/>
          </a:xfrm>
          <a:prstGeom prst="irregularSeal1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xplosion 1 29"/>
          <p:cNvSpPr/>
          <p:nvPr/>
        </p:nvSpPr>
        <p:spPr>
          <a:xfrm>
            <a:off x="7348335" y="3775181"/>
            <a:ext cx="286829" cy="283197"/>
          </a:xfrm>
          <a:prstGeom prst="irregularSeal1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 Arrow 31"/>
          <p:cNvSpPr/>
          <p:nvPr/>
        </p:nvSpPr>
        <p:spPr>
          <a:xfrm>
            <a:off x="2422272" y="2202934"/>
            <a:ext cx="281138" cy="38291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 Arrow 34"/>
          <p:cNvSpPr/>
          <p:nvPr/>
        </p:nvSpPr>
        <p:spPr>
          <a:xfrm>
            <a:off x="3367479" y="2806701"/>
            <a:ext cx="281138" cy="38291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 Arrow 35"/>
          <p:cNvSpPr/>
          <p:nvPr/>
        </p:nvSpPr>
        <p:spPr>
          <a:xfrm>
            <a:off x="3177060" y="3812135"/>
            <a:ext cx="281138" cy="38291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Up Arrow 36"/>
          <p:cNvSpPr/>
          <p:nvPr/>
        </p:nvSpPr>
        <p:spPr>
          <a:xfrm>
            <a:off x="1764426" y="3763660"/>
            <a:ext cx="281138" cy="38291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Up Arrow 37"/>
          <p:cNvSpPr/>
          <p:nvPr/>
        </p:nvSpPr>
        <p:spPr>
          <a:xfrm>
            <a:off x="1437529" y="2787226"/>
            <a:ext cx="281138" cy="38291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8770331" y="2845861"/>
            <a:ext cx="79990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it-IT" sz="96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943" y="5419505"/>
            <a:ext cx="372266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Failures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7578" y="5419505"/>
            <a:ext cx="372266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Crash Failures</a:t>
            </a:r>
          </a:p>
        </p:txBody>
      </p:sp>
    </p:spTree>
    <p:extLst>
      <p:ext uri="{BB962C8B-B14F-4D97-AF65-F5344CB8AC3E}">
        <p14:creationId xmlns:p14="http://schemas.microsoft.com/office/powerpoint/2010/main" val="200657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8" grpId="0" animBg="1"/>
      <p:bldP spid="30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Best Effort Broadcast (BEB)</a:t>
            </a:r>
            <a:br>
              <a:rPr lang="en-GB" dirty="0"/>
            </a:br>
            <a:r>
              <a:rPr lang="en-GB" dirty="0"/>
              <a:t>Specification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64" y="2039987"/>
            <a:ext cx="6554818" cy="3990728"/>
          </a:xfrm>
          <a:prstGeom prst="rect">
            <a:avLst/>
          </a:prstGeom>
        </p:spPr>
      </p:pic>
      <p:sp>
        <p:nvSpPr>
          <p:cNvPr id="6" name="Rettangolo arrotondato 5"/>
          <p:cNvSpPr/>
          <p:nvPr/>
        </p:nvSpPr>
        <p:spPr>
          <a:xfrm>
            <a:off x="7280855" y="4027860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BEB</a:t>
            </a:r>
          </a:p>
        </p:txBody>
      </p:sp>
      <p:cxnSp>
        <p:nvCxnSpPr>
          <p:cNvPr id="7" name="Connettore 2 6"/>
          <p:cNvCxnSpPr/>
          <p:nvPr/>
        </p:nvCxnSpPr>
        <p:spPr>
          <a:xfrm flipH="1" flipV="1">
            <a:off x="9152517" y="3149526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7159475" y="3508222"/>
            <a:ext cx="15320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Broadcast 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cxnSp>
        <p:nvCxnSpPr>
          <p:cNvPr id="14" name="Connettore 2 9"/>
          <p:cNvCxnSpPr/>
          <p:nvPr/>
        </p:nvCxnSpPr>
        <p:spPr>
          <a:xfrm>
            <a:off x="7765314" y="3259406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2"/>
          <p:cNvSpPr txBox="1"/>
          <p:nvPr/>
        </p:nvSpPr>
        <p:spPr>
          <a:xfrm>
            <a:off x="8708487" y="3508222"/>
            <a:ext cx="125181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603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Best Effort Broadcast (BEB)</a:t>
            </a:r>
            <a:br>
              <a:rPr lang="en-GB" dirty="0"/>
            </a:br>
            <a:r>
              <a:rPr lang="en-GB" dirty="0"/>
              <a:t>Implementation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253" y="1845734"/>
            <a:ext cx="4158225" cy="178019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ea typeface="ＭＳ Ｐゴシック" charset="0"/>
              </a:rPr>
              <a:t>System model</a:t>
            </a:r>
          </a:p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Asynchronous system</a:t>
            </a:r>
          </a:p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perfect links</a:t>
            </a:r>
          </a:p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crash failures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18" y="2034200"/>
            <a:ext cx="4032824" cy="3834894"/>
          </a:xfrm>
          <a:prstGeom prst="rect">
            <a:avLst/>
          </a:prstGeom>
        </p:spPr>
      </p:pic>
      <p:sp>
        <p:nvSpPr>
          <p:cNvPr id="8" name="Rettangolo arrotondato 5"/>
          <p:cNvSpPr/>
          <p:nvPr/>
        </p:nvSpPr>
        <p:spPr>
          <a:xfrm>
            <a:off x="7280170" y="3625930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BEB</a:t>
            </a:r>
          </a:p>
        </p:txBody>
      </p:sp>
      <p:cxnSp>
        <p:nvCxnSpPr>
          <p:cNvPr id="9" name="Connettore 2 6"/>
          <p:cNvCxnSpPr/>
          <p:nvPr/>
        </p:nvCxnSpPr>
        <p:spPr>
          <a:xfrm flipH="1" flipV="1">
            <a:off x="9151832" y="2747596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7"/>
          <p:cNvSpPr txBox="1"/>
          <p:nvPr/>
        </p:nvSpPr>
        <p:spPr>
          <a:xfrm>
            <a:off x="6863655" y="3106292"/>
            <a:ext cx="205521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r>
              <a:rPr lang="en-US" dirty="0"/>
              <a:t> (m)</a:t>
            </a:r>
          </a:p>
        </p:txBody>
      </p:sp>
      <p:sp>
        <p:nvSpPr>
          <p:cNvPr id="11" name="Rettangolo arrotondato 8"/>
          <p:cNvSpPr/>
          <p:nvPr/>
        </p:nvSpPr>
        <p:spPr>
          <a:xfrm>
            <a:off x="7280170" y="5295196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Perfect Point-to-point Link</a:t>
            </a:r>
          </a:p>
        </p:txBody>
      </p:sp>
      <p:cxnSp>
        <p:nvCxnSpPr>
          <p:cNvPr id="12" name="Connettore 2 9"/>
          <p:cNvCxnSpPr/>
          <p:nvPr/>
        </p:nvCxnSpPr>
        <p:spPr>
          <a:xfrm>
            <a:off x="7765946" y="452674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0"/>
          <p:cNvSpPr txBox="1"/>
          <p:nvPr/>
        </p:nvSpPr>
        <p:spPr>
          <a:xfrm>
            <a:off x="7051572" y="4740153"/>
            <a:ext cx="137344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pp2pSend (m)</a:t>
            </a:r>
          </a:p>
        </p:txBody>
      </p:sp>
      <p:cxnSp>
        <p:nvCxnSpPr>
          <p:cNvPr id="14" name="Connettore 2 11"/>
          <p:cNvCxnSpPr/>
          <p:nvPr/>
        </p:nvCxnSpPr>
        <p:spPr>
          <a:xfrm flipV="1">
            <a:off x="9151833" y="452674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9"/>
          <p:cNvCxnSpPr/>
          <p:nvPr/>
        </p:nvCxnSpPr>
        <p:spPr>
          <a:xfrm>
            <a:off x="7764629" y="2857476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2"/>
          <p:cNvSpPr txBox="1"/>
          <p:nvPr/>
        </p:nvSpPr>
        <p:spPr>
          <a:xfrm>
            <a:off x="8707802" y="3106292"/>
            <a:ext cx="150368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BEB_Deliver</a:t>
            </a:r>
            <a:r>
              <a:rPr lang="en-US" dirty="0"/>
              <a:t>(m)</a:t>
            </a:r>
          </a:p>
        </p:txBody>
      </p:sp>
      <p:sp>
        <p:nvSpPr>
          <p:cNvPr id="17" name="CasellaDiTesto 12"/>
          <p:cNvSpPr txBox="1"/>
          <p:nvPr/>
        </p:nvSpPr>
        <p:spPr>
          <a:xfrm>
            <a:off x="8707802" y="4743632"/>
            <a:ext cx="150551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pp2pDeliver(m)</a:t>
            </a:r>
          </a:p>
        </p:txBody>
      </p:sp>
    </p:spTree>
    <p:extLst>
      <p:ext uri="{BB962C8B-B14F-4D97-AF65-F5344CB8AC3E}">
        <p14:creationId xmlns:p14="http://schemas.microsoft.com/office/powerpoint/2010/main" val="424165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Validity</a:t>
            </a:r>
          </a:p>
          <a:p>
            <a:pPr lvl="1"/>
            <a:r>
              <a:rPr lang="en-US" dirty="0"/>
              <a:t>It comes from the </a:t>
            </a:r>
            <a:r>
              <a:rPr lang="en-US" i="1" dirty="0"/>
              <a:t>reliable delivery </a:t>
            </a:r>
            <a:r>
              <a:rPr lang="en-US" dirty="0"/>
              <a:t>property of perfect links + the fact that the sender sends the message to every other process in the system.</a:t>
            </a:r>
          </a:p>
          <a:p>
            <a:pPr lvl="1"/>
            <a:endParaRPr lang="en-US" dirty="0"/>
          </a:p>
          <a:p>
            <a:r>
              <a:rPr lang="en-US" dirty="0"/>
              <a:t>No Duplication</a:t>
            </a:r>
          </a:p>
          <a:p>
            <a:pPr lvl="1"/>
            <a:r>
              <a:rPr lang="en-US" dirty="0"/>
              <a:t> it directly follows from the No Duplication of perfect links + assumption on the uniqueness of messages (i.e., different messages have different identifiers).</a:t>
            </a:r>
          </a:p>
          <a:p>
            <a:pPr lvl="1"/>
            <a:endParaRPr lang="en-US" dirty="0"/>
          </a:p>
          <a:p>
            <a:r>
              <a:rPr lang="en-US" dirty="0"/>
              <a:t>No Creation</a:t>
            </a:r>
          </a:p>
          <a:p>
            <a:pPr lvl="1"/>
            <a:r>
              <a:rPr lang="en-US" dirty="0"/>
              <a:t> it directly follows from the corresponding property of perfect links.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5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Observations on Best Effort Broadcast (BEB)</a:t>
            </a:r>
            <a:endParaRPr lang="it-IT" dirty="0">
              <a:latin typeface="Times New Roman" charset="0"/>
              <a:ea typeface="MS PGothic" charset="0"/>
            </a:endParaRPr>
          </a:p>
        </p:txBody>
      </p:sp>
      <p:sp>
        <p:nvSpPr>
          <p:cNvPr id="101379" name="Text Box 10"/>
          <p:cNvSpPr txBox="1">
            <a:spLocks noChangeArrowheads="1"/>
          </p:cNvSpPr>
          <p:nvPr/>
        </p:nvSpPr>
        <p:spPr bwMode="auto">
          <a:xfrm>
            <a:off x="764857" y="4717601"/>
            <a:ext cx="8842321" cy="1744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45720" rIns="0" bIns="45720" rtlCol="0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charset="2"/>
              <a:buChar char="Ø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lvl="1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charset="2"/>
              <a:buChar char="Ø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dirty="0"/>
              <a:t>BEB ensures the delivery of messages as long as the sender does not fail</a:t>
            </a:r>
          </a:p>
          <a:p>
            <a:pPr lvl="1"/>
            <a:endParaRPr lang="en-GB" dirty="0"/>
          </a:p>
          <a:p>
            <a:r>
              <a:rPr lang="en-GB" dirty="0"/>
              <a:t>If the sender fails processes may disagree on whether or not deliver the message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570492" y="2355885"/>
            <a:ext cx="63498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570492" y="2925170"/>
            <a:ext cx="63498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570492" y="3439005"/>
            <a:ext cx="63498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570492" y="3923755"/>
            <a:ext cx="63498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67969" y="2355885"/>
            <a:ext cx="959748" cy="1567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967969" y="2355885"/>
            <a:ext cx="1328137" cy="1083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967969" y="2355885"/>
            <a:ext cx="3611174" cy="5692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977663" y="2113510"/>
            <a:ext cx="465333" cy="232680"/>
          </a:xfrm>
          <a:custGeom>
            <a:avLst/>
            <a:gdLst>
              <a:gd name="connsiteX0" fmla="*/ 0 w 465333"/>
              <a:gd name="connsiteY0" fmla="*/ 232680 h 232680"/>
              <a:gd name="connsiteX1" fmla="*/ 184194 w 465333"/>
              <a:gd name="connsiteY1" fmla="*/ 0 h 232680"/>
              <a:gd name="connsiteX2" fmla="*/ 465333 w 465333"/>
              <a:gd name="connsiteY2" fmla="*/ 232680 h 23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333" h="232680">
                <a:moveTo>
                  <a:pt x="0" y="232680"/>
                </a:moveTo>
                <a:cubicBezTo>
                  <a:pt x="53319" y="116340"/>
                  <a:pt x="106639" y="0"/>
                  <a:pt x="184194" y="0"/>
                </a:cubicBezTo>
                <a:cubicBezTo>
                  <a:pt x="261749" y="0"/>
                  <a:pt x="465333" y="232680"/>
                  <a:pt x="465333" y="232680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Up Arrow 29"/>
          <p:cNvSpPr/>
          <p:nvPr/>
        </p:nvSpPr>
        <p:spPr>
          <a:xfrm>
            <a:off x="2442996" y="2123205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Up Arrow 33"/>
          <p:cNvSpPr/>
          <p:nvPr/>
        </p:nvSpPr>
        <p:spPr>
          <a:xfrm>
            <a:off x="5579143" y="2692490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 Arrow 34"/>
          <p:cNvSpPr/>
          <p:nvPr/>
        </p:nvSpPr>
        <p:spPr>
          <a:xfrm>
            <a:off x="3296106" y="3206325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 Arrow 35"/>
          <p:cNvSpPr/>
          <p:nvPr/>
        </p:nvSpPr>
        <p:spPr>
          <a:xfrm>
            <a:off x="2927717" y="3691075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262828" y="3691074"/>
            <a:ext cx="916133" cy="259045"/>
          </a:xfrm>
          <a:custGeom>
            <a:avLst/>
            <a:gdLst>
              <a:gd name="connsiteX0" fmla="*/ 0 w 465333"/>
              <a:gd name="connsiteY0" fmla="*/ 232680 h 232680"/>
              <a:gd name="connsiteX1" fmla="*/ 184194 w 465333"/>
              <a:gd name="connsiteY1" fmla="*/ 0 h 232680"/>
              <a:gd name="connsiteX2" fmla="*/ 465333 w 465333"/>
              <a:gd name="connsiteY2" fmla="*/ 232680 h 23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333" h="232680">
                <a:moveTo>
                  <a:pt x="0" y="232680"/>
                </a:moveTo>
                <a:cubicBezTo>
                  <a:pt x="53319" y="116340"/>
                  <a:pt x="106639" y="0"/>
                  <a:pt x="184194" y="0"/>
                </a:cubicBezTo>
                <a:cubicBezTo>
                  <a:pt x="261749" y="0"/>
                  <a:pt x="465333" y="232680"/>
                  <a:pt x="465333" y="232680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501584" y="2408054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5449" y="1839743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9157" y="2908087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40467" y="3400225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8044" y="2035950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4728" y="3439005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cxnSp>
        <p:nvCxnSpPr>
          <p:cNvPr id="33" name="Straight Arrow Connector 32"/>
          <p:cNvCxnSpPr>
            <a:stCxn id="37" idx="0"/>
          </p:cNvCxnSpPr>
          <p:nvPr/>
        </p:nvCxnSpPr>
        <p:spPr>
          <a:xfrm flipV="1">
            <a:off x="4262828" y="2925171"/>
            <a:ext cx="293544" cy="10249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7" idx="0"/>
          </p:cNvCxnSpPr>
          <p:nvPr/>
        </p:nvCxnSpPr>
        <p:spPr>
          <a:xfrm flipV="1">
            <a:off x="4262828" y="3548371"/>
            <a:ext cx="564988" cy="4017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262828" y="2377582"/>
            <a:ext cx="2901354" cy="15461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899282" y="3608488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65" name="Up Arrow 64"/>
          <p:cNvSpPr/>
          <p:nvPr/>
        </p:nvSpPr>
        <p:spPr>
          <a:xfrm>
            <a:off x="5178961" y="3719747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4449734" y="2394665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68" name="Up Arrow 67"/>
          <p:cNvSpPr/>
          <p:nvPr/>
        </p:nvSpPr>
        <p:spPr>
          <a:xfrm>
            <a:off x="4543967" y="2675407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xplosion 1 70"/>
          <p:cNvSpPr/>
          <p:nvPr/>
        </p:nvSpPr>
        <p:spPr>
          <a:xfrm>
            <a:off x="5501584" y="3780637"/>
            <a:ext cx="436291" cy="380972"/>
          </a:xfrm>
          <a:prstGeom prst="irregularSeal1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xplosion 1 71"/>
          <p:cNvSpPr/>
          <p:nvPr/>
        </p:nvSpPr>
        <p:spPr>
          <a:xfrm>
            <a:off x="4723924" y="3518925"/>
            <a:ext cx="207784" cy="172149"/>
          </a:xfrm>
          <a:prstGeom prst="irregularSeal1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7069949" y="1832768"/>
            <a:ext cx="49441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76" name="Up Arrow 75"/>
          <p:cNvSpPr/>
          <p:nvPr/>
        </p:nvSpPr>
        <p:spPr>
          <a:xfrm>
            <a:off x="7164182" y="2113510"/>
            <a:ext cx="184194" cy="23268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56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(Regular) </a:t>
            </a:r>
            <a:r>
              <a:rPr lang="it-IT" dirty="0" err="1"/>
              <a:t>Reliable</a:t>
            </a:r>
            <a:r>
              <a:rPr lang="it-IT" dirty="0"/>
              <a:t> Broadcast (RB)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48" y="1900220"/>
            <a:ext cx="5718117" cy="4045355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6032965" y="4023425"/>
            <a:ext cx="375051" cy="1163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85573" y="4388141"/>
            <a:ext cx="238482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as BEB</a:t>
            </a:r>
          </a:p>
        </p:txBody>
      </p:sp>
      <p:sp>
        <p:nvSpPr>
          <p:cNvPr id="7" name="Right Brace 6"/>
          <p:cNvSpPr/>
          <p:nvPr/>
        </p:nvSpPr>
        <p:spPr>
          <a:xfrm>
            <a:off x="6032965" y="5293348"/>
            <a:ext cx="375051" cy="436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11600" y="5293348"/>
            <a:ext cx="194858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Liveness</a:t>
            </a:r>
            <a:r>
              <a:rPr lang="en-US" dirty="0"/>
              <a:t>: agreement</a:t>
            </a:r>
          </a:p>
          <a:p>
            <a:endParaRPr lang="en-US" dirty="0"/>
          </a:p>
        </p:txBody>
      </p:sp>
      <p:sp>
        <p:nvSpPr>
          <p:cNvPr id="9" name="Plus 8"/>
          <p:cNvSpPr/>
          <p:nvPr/>
        </p:nvSpPr>
        <p:spPr>
          <a:xfrm>
            <a:off x="6824877" y="4837927"/>
            <a:ext cx="310222" cy="348898"/>
          </a:xfrm>
          <a:prstGeom prst="mathPlus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ttangolo arrotondato 5"/>
          <p:cNvSpPr/>
          <p:nvPr/>
        </p:nvSpPr>
        <p:spPr>
          <a:xfrm>
            <a:off x="7159475" y="2964029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</a:t>
            </a:r>
          </a:p>
        </p:txBody>
      </p:sp>
      <p:cxnSp>
        <p:nvCxnSpPr>
          <p:cNvPr id="47" name="Connettore 2 6"/>
          <p:cNvCxnSpPr/>
          <p:nvPr/>
        </p:nvCxnSpPr>
        <p:spPr>
          <a:xfrm flipH="1" flipV="1">
            <a:off x="9031137" y="2085695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sellaDiTesto 7"/>
          <p:cNvSpPr txBox="1"/>
          <p:nvPr/>
        </p:nvSpPr>
        <p:spPr>
          <a:xfrm>
            <a:off x="6611601" y="2444391"/>
            <a:ext cx="19585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r>
              <a:rPr lang="en-US" dirty="0"/>
              <a:t> 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cxnSp>
        <p:nvCxnSpPr>
          <p:cNvPr id="49" name="Connettore 2 9"/>
          <p:cNvCxnSpPr/>
          <p:nvPr/>
        </p:nvCxnSpPr>
        <p:spPr>
          <a:xfrm>
            <a:off x="7643934" y="2195575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12"/>
          <p:cNvSpPr txBox="1"/>
          <p:nvPr/>
        </p:nvSpPr>
        <p:spPr>
          <a:xfrm>
            <a:off x="8587107" y="2444391"/>
            <a:ext cx="158108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RB_Deliver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6865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01451" y="5645152"/>
            <a:ext cx="3088974" cy="6347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BEB vs RB</a:t>
            </a:r>
          </a:p>
        </p:txBody>
      </p:sp>
      <p:sp>
        <p:nvSpPr>
          <p:cNvPr id="49157" name="Line 7"/>
          <p:cNvSpPr>
            <a:spLocks noChangeShapeType="1"/>
          </p:cNvSpPr>
          <p:nvPr/>
        </p:nvSpPr>
        <p:spPr bwMode="auto">
          <a:xfrm>
            <a:off x="1317899" y="2632162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Line 8"/>
          <p:cNvSpPr>
            <a:spLocks noChangeShapeType="1"/>
          </p:cNvSpPr>
          <p:nvPr/>
        </p:nvSpPr>
        <p:spPr bwMode="auto">
          <a:xfrm>
            <a:off x="1317899" y="3279862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Line 9"/>
          <p:cNvSpPr>
            <a:spLocks noChangeShapeType="1"/>
          </p:cNvSpPr>
          <p:nvPr/>
        </p:nvSpPr>
        <p:spPr bwMode="auto">
          <a:xfrm>
            <a:off x="1317899" y="3784687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AutoShape 10"/>
          <p:cNvSpPr>
            <a:spLocks noChangeArrowheads="1"/>
          </p:cNvSpPr>
          <p:nvPr/>
        </p:nvSpPr>
        <p:spPr bwMode="auto">
          <a:xfrm>
            <a:off x="2694856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1" name="AutoShape 11"/>
          <p:cNvSpPr>
            <a:spLocks noChangeArrowheads="1"/>
          </p:cNvSpPr>
          <p:nvPr/>
        </p:nvSpPr>
        <p:spPr bwMode="auto">
          <a:xfrm>
            <a:off x="4477222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2" name="AutoShape 12"/>
          <p:cNvSpPr>
            <a:spLocks noChangeArrowheads="1"/>
          </p:cNvSpPr>
          <p:nvPr/>
        </p:nvSpPr>
        <p:spPr bwMode="auto">
          <a:xfrm>
            <a:off x="3747666" y="3495762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3" name="AutoShape 13"/>
          <p:cNvSpPr>
            <a:spLocks noChangeArrowheads="1"/>
          </p:cNvSpPr>
          <p:nvPr/>
        </p:nvSpPr>
        <p:spPr bwMode="auto">
          <a:xfrm>
            <a:off x="4234335" y="2487701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4" name="AutoShape 14"/>
          <p:cNvSpPr>
            <a:spLocks noChangeArrowheads="1"/>
          </p:cNvSpPr>
          <p:nvPr/>
        </p:nvSpPr>
        <p:spPr bwMode="auto">
          <a:xfrm>
            <a:off x="2369816" y="3495762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5" name="AutoShape 15"/>
          <p:cNvSpPr>
            <a:spLocks noChangeArrowheads="1"/>
          </p:cNvSpPr>
          <p:nvPr/>
        </p:nvSpPr>
        <p:spPr bwMode="auto">
          <a:xfrm>
            <a:off x="3909294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6" name="AutoShape 16"/>
          <p:cNvSpPr>
            <a:spLocks noChangeArrowheads="1"/>
          </p:cNvSpPr>
          <p:nvPr/>
        </p:nvSpPr>
        <p:spPr bwMode="auto">
          <a:xfrm>
            <a:off x="1884041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7" name="AutoShape 17"/>
          <p:cNvSpPr>
            <a:spLocks noChangeArrowheads="1"/>
          </p:cNvSpPr>
          <p:nvPr/>
        </p:nvSpPr>
        <p:spPr bwMode="auto">
          <a:xfrm>
            <a:off x="3100265" y="3495762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8" name="AutoShape 18"/>
          <p:cNvSpPr>
            <a:spLocks noChangeArrowheads="1"/>
          </p:cNvSpPr>
          <p:nvPr/>
        </p:nvSpPr>
        <p:spPr bwMode="auto">
          <a:xfrm>
            <a:off x="2369816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9" name="AutoShape 19"/>
          <p:cNvSpPr>
            <a:spLocks noChangeArrowheads="1"/>
          </p:cNvSpPr>
          <p:nvPr/>
        </p:nvSpPr>
        <p:spPr bwMode="auto">
          <a:xfrm>
            <a:off x="3503887" y="2344826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0" name="AutoShape 20"/>
          <p:cNvSpPr>
            <a:spLocks noChangeArrowheads="1"/>
          </p:cNvSpPr>
          <p:nvPr/>
        </p:nvSpPr>
        <p:spPr bwMode="auto">
          <a:xfrm>
            <a:off x="3991447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1" name="Line 21"/>
          <p:cNvSpPr>
            <a:spLocks noChangeShapeType="1"/>
          </p:cNvSpPr>
          <p:nvPr/>
        </p:nvSpPr>
        <p:spPr bwMode="auto">
          <a:xfrm>
            <a:off x="5711430" y="4875213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2" name="Line 22"/>
          <p:cNvSpPr>
            <a:spLocks noChangeShapeType="1"/>
          </p:cNvSpPr>
          <p:nvPr/>
        </p:nvSpPr>
        <p:spPr bwMode="auto">
          <a:xfrm>
            <a:off x="5711430" y="5522913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3" name="Line 23"/>
          <p:cNvSpPr>
            <a:spLocks noChangeShapeType="1"/>
          </p:cNvSpPr>
          <p:nvPr/>
        </p:nvSpPr>
        <p:spPr bwMode="auto">
          <a:xfrm>
            <a:off x="5711430" y="6027738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4" name="AutoShape 24"/>
          <p:cNvSpPr>
            <a:spLocks noChangeArrowheads="1"/>
          </p:cNvSpPr>
          <p:nvPr/>
        </p:nvSpPr>
        <p:spPr bwMode="auto">
          <a:xfrm>
            <a:off x="7088387" y="45878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5" name="AutoShape 25"/>
          <p:cNvSpPr>
            <a:spLocks noChangeArrowheads="1"/>
          </p:cNvSpPr>
          <p:nvPr/>
        </p:nvSpPr>
        <p:spPr bwMode="auto">
          <a:xfrm>
            <a:off x="8870753" y="52355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6" name="AutoShape 26"/>
          <p:cNvSpPr>
            <a:spLocks noChangeArrowheads="1"/>
          </p:cNvSpPr>
          <p:nvPr/>
        </p:nvSpPr>
        <p:spPr bwMode="auto">
          <a:xfrm>
            <a:off x="8627866" y="4730752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7" name="AutoShape 27"/>
          <p:cNvSpPr>
            <a:spLocks noChangeArrowheads="1"/>
          </p:cNvSpPr>
          <p:nvPr/>
        </p:nvSpPr>
        <p:spPr bwMode="auto">
          <a:xfrm>
            <a:off x="6763347" y="5738813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8" name="AutoShape 28"/>
          <p:cNvSpPr>
            <a:spLocks noChangeArrowheads="1"/>
          </p:cNvSpPr>
          <p:nvPr/>
        </p:nvSpPr>
        <p:spPr bwMode="auto">
          <a:xfrm>
            <a:off x="8302825" y="52355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9" name="AutoShape 30"/>
          <p:cNvSpPr>
            <a:spLocks noChangeArrowheads="1"/>
          </p:cNvSpPr>
          <p:nvPr/>
        </p:nvSpPr>
        <p:spPr bwMode="auto">
          <a:xfrm>
            <a:off x="7493796" y="5738813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0" name="AutoShape 31"/>
          <p:cNvSpPr>
            <a:spLocks noChangeArrowheads="1"/>
          </p:cNvSpPr>
          <p:nvPr/>
        </p:nvSpPr>
        <p:spPr bwMode="auto">
          <a:xfrm>
            <a:off x="8302825" y="45878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42BA9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1" name="Rectangle 32"/>
          <p:cNvSpPr>
            <a:spLocks noChangeArrowheads="1"/>
          </p:cNvSpPr>
          <p:nvPr/>
        </p:nvSpPr>
        <p:spPr bwMode="auto">
          <a:xfrm>
            <a:off x="925831" y="2128925"/>
            <a:ext cx="4847982" cy="187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2" name="Rectangle 33"/>
          <p:cNvSpPr>
            <a:spLocks noChangeArrowheads="1"/>
          </p:cNvSpPr>
          <p:nvPr/>
        </p:nvSpPr>
        <p:spPr bwMode="auto">
          <a:xfrm>
            <a:off x="5386389" y="4300539"/>
            <a:ext cx="4698801" cy="1871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386389" y="4659314"/>
            <a:ext cx="435769" cy="1489075"/>
            <a:chOff x="204" y="2069"/>
            <a:chExt cx="244" cy="938"/>
          </a:xfrm>
        </p:grpSpPr>
        <p:sp>
          <p:nvSpPr>
            <p:cNvPr id="105508" name="Text Box 35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05509" name="Text Box 36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05510" name="Text Box 37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994644" y="2416263"/>
            <a:ext cx="435769" cy="1489075"/>
            <a:chOff x="204" y="2069"/>
            <a:chExt cx="244" cy="938"/>
          </a:xfrm>
        </p:grpSpPr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05506" name="Text Box 40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sp>
        <p:nvSpPr>
          <p:cNvPr id="49185" name="AutoShape 42"/>
          <p:cNvSpPr>
            <a:spLocks noChangeArrowheads="1"/>
          </p:cNvSpPr>
          <p:nvPr/>
        </p:nvSpPr>
        <p:spPr bwMode="auto">
          <a:xfrm>
            <a:off x="3180631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42BA9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790" y="2579334"/>
            <a:ext cx="251281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Satisfies BEB but not RB</a:t>
            </a:r>
          </a:p>
          <a:p>
            <a:r>
              <a:rPr lang="en-US" dirty="0"/>
              <a:t>(violation of the Agreement Property)</a:t>
            </a:r>
          </a:p>
        </p:txBody>
      </p:sp>
      <p:sp>
        <p:nvSpPr>
          <p:cNvPr id="5" name="Left Arrow 4"/>
          <p:cNvSpPr/>
          <p:nvPr/>
        </p:nvSpPr>
        <p:spPr>
          <a:xfrm>
            <a:off x="6117184" y="2908500"/>
            <a:ext cx="646163" cy="227784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560803" y="2395320"/>
            <a:ext cx="9695" cy="473683"/>
          </a:xfrm>
          <a:prstGeom prst="straightConnector1">
            <a:avLst/>
          </a:prstGeom>
          <a:ln>
            <a:solidFill>
              <a:schemeClr val="accent4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703508" y="3065551"/>
            <a:ext cx="9695" cy="47368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2078879" y="3065551"/>
            <a:ext cx="9695" cy="473683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1898008" y="3519000"/>
            <a:ext cx="9695" cy="473683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107489" y="4638371"/>
            <a:ext cx="9695" cy="473683"/>
          </a:xfrm>
          <a:prstGeom prst="straightConnector1">
            <a:avLst/>
          </a:prstGeom>
          <a:ln>
            <a:solidFill>
              <a:schemeClr val="accent4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6237789" y="5308602"/>
            <a:ext cx="9695" cy="473683"/>
          </a:xfrm>
          <a:prstGeom prst="straightConnector1">
            <a:avLst/>
          </a:prstGeom>
          <a:ln>
            <a:solidFill>
              <a:srgbClr val="FF66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6613160" y="5308602"/>
            <a:ext cx="9695" cy="473683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116466" y="2864738"/>
            <a:ext cx="499556" cy="5972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222671" y="5113449"/>
            <a:ext cx="659960" cy="2686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543868" y="5064761"/>
            <a:ext cx="146888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Satisfies RB</a:t>
            </a:r>
          </a:p>
        </p:txBody>
      </p:sp>
      <p:sp>
        <p:nvSpPr>
          <p:cNvPr id="50" name="AutoShape 20"/>
          <p:cNvSpPr>
            <a:spLocks noChangeArrowheads="1"/>
          </p:cNvSpPr>
          <p:nvPr/>
        </p:nvSpPr>
        <p:spPr bwMode="auto">
          <a:xfrm>
            <a:off x="1856039" y="5811839"/>
            <a:ext cx="323255" cy="33655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 sz="1100">
              <a:ea typeface="ＭＳ Ｐゴシック" charset="0"/>
              <a:cs typeface="ＭＳ Ｐゴシック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594427" y="5775684"/>
            <a:ext cx="0" cy="3603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9777" y="5874437"/>
            <a:ext cx="1162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Broadcast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7296" y="5874437"/>
            <a:ext cx="1030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Deliver Event</a:t>
            </a:r>
          </a:p>
        </p:txBody>
      </p:sp>
    </p:spTree>
    <p:extLst>
      <p:ext uri="{BB962C8B-B14F-4D97-AF65-F5344CB8AC3E}">
        <p14:creationId xmlns:p14="http://schemas.microsoft.com/office/powerpoint/2010/main" val="32341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9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/>
              <a:t>(Regular) Reliable Broadcast (RB)</a:t>
            </a:r>
            <a:br>
              <a:rPr lang="en-GB" sz="4000"/>
            </a:br>
            <a:r>
              <a:rPr lang="en-GB" sz="4000"/>
              <a:t>Implementation in Synchronous Systems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956913" y="1971643"/>
            <a:ext cx="4007386" cy="2703559"/>
            <a:chOff x="4654885" y="2017569"/>
            <a:chExt cx="4908360" cy="3472013"/>
          </a:xfrm>
        </p:grpSpPr>
        <p:sp>
          <p:nvSpPr>
            <p:cNvPr id="4" name="Rettangolo arrotondato 5"/>
            <p:cNvSpPr/>
            <p:nvPr/>
          </p:nvSpPr>
          <p:spPr>
            <a:xfrm>
              <a:off x="5071400" y="2786023"/>
              <a:ext cx="4341205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RB</a:t>
              </a:r>
            </a:p>
          </p:txBody>
        </p:sp>
        <p:cxnSp>
          <p:nvCxnSpPr>
            <p:cNvPr id="5" name="Connettore 2 6"/>
            <p:cNvCxnSpPr/>
            <p:nvPr/>
          </p:nvCxnSpPr>
          <p:spPr>
            <a:xfrm flipH="1" flipV="1">
              <a:off x="8164046" y="2017569"/>
              <a:ext cx="2" cy="8000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sellaDiTesto 7"/>
            <p:cNvSpPr txBox="1"/>
            <p:nvPr/>
          </p:nvSpPr>
          <p:spPr>
            <a:xfrm>
              <a:off x="5036848" y="2266385"/>
              <a:ext cx="1958554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RB_Broadcast</a:t>
              </a:r>
              <a:r>
                <a:rPr lang="en-US" sz="1200" dirty="0"/>
                <a:t> (m)</a:t>
              </a:r>
            </a:p>
          </p:txBody>
        </p:sp>
        <p:cxnSp>
          <p:nvCxnSpPr>
            <p:cNvPr id="7" name="Connettore 2 9"/>
            <p:cNvCxnSpPr/>
            <p:nvPr/>
          </p:nvCxnSpPr>
          <p:spPr>
            <a:xfrm>
              <a:off x="6069181" y="2017569"/>
              <a:ext cx="0" cy="7684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12"/>
            <p:cNvSpPr txBox="1"/>
            <p:nvPr/>
          </p:nvSpPr>
          <p:spPr>
            <a:xfrm>
              <a:off x="7720016" y="2198519"/>
              <a:ext cx="1330690" cy="355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RB_Deliver</a:t>
              </a:r>
              <a:r>
                <a:rPr lang="en-US" sz="1200" dirty="0"/>
                <a:t>(m)</a:t>
              </a:r>
            </a:p>
          </p:txBody>
        </p:sp>
        <p:sp>
          <p:nvSpPr>
            <p:cNvPr id="9" name="Rettangolo arrotondato 5"/>
            <p:cNvSpPr/>
            <p:nvPr/>
          </p:nvSpPr>
          <p:spPr>
            <a:xfrm>
              <a:off x="5071400" y="4603757"/>
              <a:ext cx="2528887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BEB</a:t>
              </a:r>
            </a:p>
          </p:txBody>
        </p:sp>
        <p:cxnSp>
          <p:nvCxnSpPr>
            <p:cNvPr id="10" name="Connettore 2 6"/>
            <p:cNvCxnSpPr/>
            <p:nvPr/>
          </p:nvCxnSpPr>
          <p:spPr>
            <a:xfrm flipH="1" flipV="1">
              <a:off x="6943062" y="3671848"/>
              <a:ext cx="2" cy="10314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sellaDiTesto 7"/>
            <p:cNvSpPr txBox="1"/>
            <p:nvPr/>
          </p:nvSpPr>
          <p:spPr>
            <a:xfrm>
              <a:off x="4654885" y="4084118"/>
              <a:ext cx="2055219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BEB_Broadcast</a:t>
              </a:r>
              <a:r>
                <a:rPr lang="en-US" sz="1200" dirty="0"/>
                <a:t> (m)</a:t>
              </a:r>
            </a:p>
          </p:txBody>
        </p:sp>
        <p:cxnSp>
          <p:nvCxnSpPr>
            <p:cNvPr id="12" name="Connettore 2 9"/>
            <p:cNvCxnSpPr/>
            <p:nvPr/>
          </p:nvCxnSpPr>
          <p:spPr>
            <a:xfrm>
              <a:off x="5555859" y="3671848"/>
              <a:ext cx="0" cy="931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sellaDiTesto 12"/>
            <p:cNvSpPr txBox="1"/>
            <p:nvPr/>
          </p:nvSpPr>
          <p:spPr>
            <a:xfrm>
              <a:off x="6499032" y="4084118"/>
              <a:ext cx="1422909" cy="355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BEB_Deliver</a:t>
              </a:r>
              <a:r>
                <a:rPr lang="en-US" sz="1200" dirty="0"/>
                <a:t>(m)</a:t>
              </a:r>
            </a:p>
          </p:txBody>
        </p:sp>
        <p:sp>
          <p:nvSpPr>
            <p:cNvPr id="14" name="Rettangolo arrotondato 5"/>
            <p:cNvSpPr/>
            <p:nvPr/>
          </p:nvSpPr>
          <p:spPr>
            <a:xfrm>
              <a:off x="7720016" y="4603757"/>
              <a:ext cx="1672567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Perfect FD</a:t>
              </a:r>
            </a:p>
            <a:p>
              <a:pPr algn="ctr"/>
              <a:r>
                <a:rPr lang="en-US" sz="1200" dirty="0"/>
                <a:t>P</a:t>
              </a:r>
            </a:p>
          </p:txBody>
        </p:sp>
        <p:cxnSp>
          <p:nvCxnSpPr>
            <p:cNvPr id="15" name="Connettore 2 6"/>
            <p:cNvCxnSpPr>
              <a:stCxn id="14" idx="0"/>
            </p:cNvCxnSpPr>
            <p:nvPr/>
          </p:nvCxnSpPr>
          <p:spPr>
            <a:xfrm flipV="1">
              <a:off x="8556300" y="3671849"/>
              <a:ext cx="2240" cy="9319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7"/>
            <p:cNvSpPr txBox="1"/>
            <p:nvPr/>
          </p:nvSpPr>
          <p:spPr>
            <a:xfrm>
              <a:off x="8558540" y="4104528"/>
              <a:ext cx="1004705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Crash (p</a:t>
              </a:r>
              <a:r>
                <a:rPr lang="en-US" sz="1200" baseline="-25000" dirty="0"/>
                <a:t>i</a:t>
              </a:r>
              <a:r>
                <a:rPr lang="en-US" sz="1200" dirty="0"/>
                <a:t>)</a:t>
              </a: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773433"/>
            <a:ext cx="3432416" cy="452607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29191" y="1850993"/>
            <a:ext cx="1570498" cy="14617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ine Callout 2 25"/>
          <p:cNvSpPr/>
          <p:nvPr/>
        </p:nvSpPr>
        <p:spPr>
          <a:xfrm>
            <a:off x="5816656" y="5089875"/>
            <a:ext cx="2642755" cy="969499"/>
          </a:xfrm>
          <a:prstGeom prst="borderCallout2">
            <a:avLst>
              <a:gd name="adj1" fmla="val 50750"/>
              <a:gd name="adj2" fmla="val -4665"/>
              <a:gd name="adj3" fmla="val 49750"/>
              <a:gd name="adj4" fmla="val -16300"/>
              <a:gd name="adj5" fmla="val 26500"/>
              <a:gd name="adj6" fmla="val -53637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algorithm is Lazy in the sense that it retransmits only when necessary 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4081354" y="5574624"/>
            <a:ext cx="1299054" cy="572005"/>
          </a:xfrm>
          <a:prstGeom prst="lin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331723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1024759" y="5719374"/>
            <a:ext cx="7698827" cy="5255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AF520B-6EFE-D54B-9AAE-0DA4A5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EBE8358-313B-6F47-A34B-B748A9C40878}"/>
              </a:ext>
            </a:extLst>
          </p:cNvPr>
          <p:cNvCxnSpPr/>
          <p:nvPr/>
        </p:nvCxnSpPr>
        <p:spPr>
          <a:xfrm>
            <a:off x="1346755" y="2421902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DD7E38B-04A1-8E44-AAA9-4DBB7D114DA2}"/>
              </a:ext>
            </a:extLst>
          </p:cNvPr>
          <p:cNvCxnSpPr/>
          <p:nvPr/>
        </p:nvCxnSpPr>
        <p:spPr>
          <a:xfrm>
            <a:off x="1346755" y="3517277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DADF999-0FA8-194B-8FBD-82723870D43F}"/>
              </a:ext>
            </a:extLst>
          </p:cNvPr>
          <p:cNvCxnSpPr/>
          <p:nvPr/>
        </p:nvCxnSpPr>
        <p:spPr>
          <a:xfrm>
            <a:off x="1346755" y="4731715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2032555" y="2177564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B28043-A6FB-2A42-B166-272766EFF1C8}"/>
              </a:ext>
            </a:extLst>
          </p:cNvPr>
          <p:cNvSpPr txBox="1"/>
          <p:nvPr/>
        </p:nvSpPr>
        <p:spPr>
          <a:xfrm>
            <a:off x="1861106" y="175165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0B3CDDA-37FD-2440-BF07-AC53A9CA6DC3}"/>
              </a:ext>
            </a:extLst>
          </p:cNvPr>
          <p:cNvSpPr/>
          <p:nvPr/>
        </p:nvSpPr>
        <p:spPr>
          <a:xfrm>
            <a:off x="2589768" y="244492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6E58F95E-3168-D441-BFCD-D555CC3BFB34}"/>
              </a:ext>
            </a:extLst>
          </p:cNvPr>
          <p:cNvSpPr/>
          <p:nvPr/>
        </p:nvSpPr>
        <p:spPr>
          <a:xfrm>
            <a:off x="3599418" y="3556329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2718355" y="473274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C1150-6DF1-BF43-AF30-6E352F58931A}"/>
              </a:ext>
            </a:extLst>
          </p:cNvPr>
          <p:cNvSpPr txBox="1"/>
          <p:nvPr/>
        </p:nvSpPr>
        <p:spPr>
          <a:xfrm>
            <a:off x="2439749" y="279877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03C8CD-A1F1-B146-B443-0924144761C1}"/>
              </a:ext>
            </a:extLst>
          </p:cNvPr>
          <p:cNvSpPr txBox="1"/>
          <p:nvPr/>
        </p:nvSpPr>
        <p:spPr>
          <a:xfrm>
            <a:off x="3506551" y="389200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6DCA32-9EFE-0841-96CF-C6A3F60A9711}"/>
              </a:ext>
            </a:extLst>
          </p:cNvPr>
          <p:cNvSpPr txBox="1"/>
          <p:nvPr/>
        </p:nvSpPr>
        <p:spPr>
          <a:xfrm>
            <a:off x="2421732" y="5153468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7849F20F-B30A-234C-B4D8-4D482EA805B7}"/>
              </a:ext>
            </a:extLst>
          </p:cNvPr>
          <p:cNvSpPr/>
          <p:nvPr/>
        </p:nvSpPr>
        <p:spPr>
          <a:xfrm>
            <a:off x="2585004" y="1998284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AB344770-1AD0-C249-A9BA-717267A77D3C}"/>
              </a:ext>
            </a:extLst>
          </p:cNvPr>
          <p:cNvSpPr/>
          <p:nvPr/>
        </p:nvSpPr>
        <p:spPr>
          <a:xfrm>
            <a:off x="3604179" y="3090725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2746929" y="4320401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3583921-E8DE-1F4C-B9E3-66C8EEE4DF7C}"/>
              </a:ext>
            </a:extLst>
          </p:cNvPr>
          <p:cNvCxnSpPr>
            <a:cxnSpLocks/>
          </p:cNvCxnSpPr>
          <p:nvPr/>
        </p:nvCxnSpPr>
        <p:spPr>
          <a:xfrm>
            <a:off x="4240001" y="2191888"/>
            <a:ext cx="0" cy="336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3154F68-8C04-7544-8154-C53BAABC51A8}"/>
              </a:ext>
            </a:extLst>
          </p:cNvPr>
          <p:cNvSpPr txBox="1"/>
          <p:nvPr/>
        </p:nvSpPr>
        <p:spPr>
          <a:xfrm>
            <a:off x="4063762" y="174832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6F9A7FA4-1C66-5C41-84D3-9F9CBDC96E8C}"/>
              </a:ext>
            </a:extLst>
          </p:cNvPr>
          <p:cNvSpPr/>
          <p:nvPr/>
        </p:nvSpPr>
        <p:spPr>
          <a:xfrm>
            <a:off x="5280581" y="353760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58AD955-F993-5F43-88E4-F4F187A53866}"/>
              </a:ext>
            </a:extLst>
          </p:cNvPr>
          <p:cNvSpPr txBox="1"/>
          <p:nvPr/>
        </p:nvSpPr>
        <p:spPr>
          <a:xfrm>
            <a:off x="5187714" y="384471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FAF31BE2-6509-1340-B6E3-E953439C2DD9}"/>
              </a:ext>
            </a:extLst>
          </p:cNvPr>
          <p:cNvSpPr/>
          <p:nvPr/>
        </p:nvSpPr>
        <p:spPr>
          <a:xfrm>
            <a:off x="5278199" y="3113587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CC76D9FF-1A2E-FD4D-B494-53AA8DE5D2B1}"/>
              </a:ext>
            </a:extLst>
          </p:cNvPr>
          <p:cNvSpPr/>
          <p:nvPr/>
        </p:nvSpPr>
        <p:spPr>
          <a:xfrm>
            <a:off x="4442379" y="4753382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92AFFED-AC98-164E-81EE-0A7B3452A6F2}"/>
              </a:ext>
            </a:extLst>
          </p:cNvPr>
          <p:cNvSpPr txBox="1"/>
          <p:nvPr/>
        </p:nvSpPr>
        <p:spPr>
          <a:xfrm>
            <a:off x="3945730" y="5224267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9FD83E8C-9A2E-EF41-99B3-D7B44881A921}"/>
              </a:ext>
            </a:extLst>
          </p:cNvPr>
          <p:cNvSpPr/>
          <p:nvPr/>
        </p:nvSpPr>
        <p:spPr>
          <a:xfrm>
            <a:off x="6690283" y="3534824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AD1A4B-AAB5-0C43-90D8-9C9CEB48D90B}"/>
              </a:ext>
            </a:extLst>
          </p:cNvPr>
          <p:cNvSpPr txBox="1"/>
          <p:nvPr/>
        </p:nvSpPr>
        <p:spPr>
          <a:xfrm>
            <a:off x="6368814" y="3944396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9" name="Esplosione 1 28">
            <a:extLst>
              <a:ext uri="{FF2B5EF4-FFF2-40B4-BE49-F238E27FC236}">
                <a16:creationId xmlns:a16="http://schemas.microsoft.com/office/drawing/2014/main" id="{6E1613A0-D7A1-DB4A-BBCF-9AEE1B92D437}"/>
              </a:ext>
            </a:extLst>
          </p:cNvPr>
          <p:cNvSpPr/>
          <p:nvPr/>
        </p:nvSpPr>
        <p:spPr>
          <a:xfrm>
            <a:off x="5121035" y="2251750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0710A19-D7A3-F842-BB61-00CB7ECA635A}"/>
              </a:ext>
            </a:extLst>
          </p:cNvPr>
          <p:cNvCxnSpPr/>
          <p:nvPr/>
        </p:nvCxnSpPr>
        <p:spPr>
          <a:xfrm>
            <a:off x="4792422" y="4554843"/>
            <a:ext cx="0" cy="3537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577E48A-888E-C746-A9C9-1BB6E011EA52}"/>
              </a:ext>
            </a:extLst>
          </p:cNvPr>
          <p:cNvSpPr txBox="1"/>
          <p:nvPr/>
        </p:nvSpPr>
        <p:spPr>
          <a:xfrm>
            <a:off x="4563824" y="4246537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2" name="Freccia su 31">
            <a:extLst>
              <a:ext uri="{FF2B5EF4-FFF2-40B4-BE49-F238E27FC236}">
                <a16:creationId xmlns:a16="http://schemas.microsoft.com/office/drawing/2014/main" id="{340ADC3E-6A54-3A49-AB63-4FAA3539C664}"/>
              </a:ext>
            </a:extLst>
          </p:cNvPr>
          <p:cNvSpPr/>
          <p:nvPr/>
        </p:nvSpPr>
        <p:spPr>
          <a:xfrm>
            <a:off x="5419122" y="4753382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5EF78CD-B124-6341-93B3-23B291E6F8EB}"/>
              </a:ext>
            </a:extLst>
          </p:cNvPr>
          <p:cNvSpPr txBox="1"/>
          <p:nvPr/>
        </p:nvSpPr>
        <p:spPr>
          <a:xfrm>
            <a:off x="5122499" y="5174103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4" name="Freccia su 33">
            <a:extLst>
              <a:ext uri="{FF2B5EF4-FFF2-40B4-BE49-F238E27FC236}">
                <a16:creationId xmlns:a16="http://schemas.microsoft.com/office/drawing/2014/main" id="{6409AFF3-F599-5E4D-8B57-C56F74568FFC}"/>
              </a:ext>
            </a:extLst>
          </p:cNvPr>
          <p:cNvSpPr/>
          <p:nvPr/>
        </p:nvSpPr>
        <p:spPr>
          <a:xfrm>
            <a:off x="4498666" y="3532601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9398A1B-B607-164D-B37C-836573B93FC9}"/>
              </a:ext>
            </a:extLst>
          </p:cNvPr>
          <p:cNvSpPr txBox="1"/>
          <p:nvPr/>
        </p:nvSpPr>
        <p:spPr>
          <a:xfrm>
            <a:off x="4377223" y="389200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A38BEF6C-AE00-B149-979A-DFA366F86DB0}"/>
              </a:ext>
            </a:extLst>
          </p:cNvPr>
          <p:cNvCxnSpPr/>
          <p:nvPr/>
        </p:nvCxnSpPr>
        <p:spPr>
          <a:xfrm>
            <a:off x="7020844" y="3314503"/>
            <a:ext cx="0" cy="33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2007B34-993C-F84F-A873-286662DE1A7C}"/>
              </a:ext>
            </a:extLst>
          </p:cNvPr>
          <p:cNvSpPr txBox="1"/>
          <p:nvPr/>
        </p:nvSpPr>
        <p:spPr>
          <a:xfrm>
            <a:off x="6781787" y="294277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EDA4A0B0-3AAD-994B-99B7-59BF8C117D9F}"/>
              </a:ext>
            </a:extLst>
          </p:cNvPr>
          <p:cNvCxnSpPr>
            <a:cxnSpLocks/>
          </p:cNvCxnSpPr>
          <p:nvPr/>
        </p:nvCxnSpPr>
        <p:spPr>
          <a:xfrm>
            <a:off x="7253635" y="3314503"/>
            <a:ext cx="0" cy="3492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D6469FC-C503-B648-9E4B-2E1399607171}"/>
              </a:ext>
            </a:extLst>
          </p:cNvPr>
          <p:cNvSpPr txBox="1"/>
          <p:nvPr/>
        </p:nvSpPr>
        <p:spPr>
          <a:xfrm>
            <a:off x="7094579" y="294498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0" name="Freccia su 39">
            <a:extLst>
              <a:ext uri="{FF2B5EF4-FFF2-40B4-BE49-F238E27FC236}">
                <a16:creationId xmlns:a16="http://schemas.microsoft.com/office/drawing/2014/main" id="{0F92D1F5-EB7A-9A44-895B-2AB64F9DC67F}"/>
              </a:ext>
            </a:extLst>
          </p:cNvPr>
          <p:cNvSpPr/>
          <p:nvPr/>
        </p:nvSpPr>
        <p:spPr>
          <a:xfrm>
            <a:off x="8519081" y="4782035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FCDC519-E913-CA4C-888E-C918B5375827}"/>
              </a:ext>
            </a:extLst>
          </p:cNvPr>
          <p:cNvSpPr txBox="1"/>
          <p:nvPr/>
        </p:nvSpPr>
        <p:spPr>
          <a:xfrm>
            <a:off x="8251034" y="5150452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2" name="Freccia su 41">
            <a:extLst>
              <a:ext uri="{FF2B5EF4-FFF2-40B4-BE49-F238E27FC236}">
                <a16:creationId xmlns:a16="http://schemas.microsoft.com/office/drawing/2014/main" id="{6A2BCDD4-160B-1845-9213-42B9F31B3A5D}"/>
              </a:ext>
            </a:extLst>
          </p:cNvPr>
          <p:cNvSpPr/>
          <p:nvPr/>
        </p:nvSpPr>
        <p:spPr>
          <a:xfrm>
            <a:off x="8519080" y="4330220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/>
          <p:cNvSpPr txBox="1"/>
          <p:nvPr/>
        </p:nvSpPr>
        <p:spPr>
          <a:xfrm>
            <a:off x="949027" y="2189773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718" y="3272842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718" y="4554843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49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1171575" y="58135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/>
          <p:cNvSpPr txBox="1"/>
          <p:nvPr/>
        </p:nvSpPr>
        <p:spPr>
          <a:xfrm>
            <a:off x="1476758" y="5837077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BeB_Deliver</a:t>
            </a:r>
            <a:endParaRPr lang="en-US" dirty="0"/>
          </a:p>
        </p:txBody>
      </p:sp>
      <p:sp>
        <p:nvSpPr>
          <p:cNvPr id="51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3331371" y="581355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/>
          <p:cNvSpPr txBox="1"/>
          <p:nvPr/>
        </p:nvSpPr>
        <p:spPr>
          <a:xfrm>
            <a:off x="3837575" y="5828318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RB_Deliver</a:t>
            </a:r>
            <a:endParaRPr lang="en-US" dirty="0"/>
          </a:p>
        </p:txBody>
      </p:sp>
      <p:cxnSp>
        <p:nvCxnSpPr>
          <p:cNvPr id="53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5360194" y="5813558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44835" y="5837077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endParaRPr lang="en-US" dirty="0"/>
          </a:p>
        </p:txBody>
      </p:sp>
      <p:sp>
        <p:nvSpPr>
          <p:cNvPr id="55" name="Up-Down Arrow 54"/>
          <p:cNvSpPr/>
          <p:nvPr/>
        </p:nvSpPr>
        <p:spPr>
          <a:xfrm>
            <a:off x="1900673" y="223780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Up-Down Arrow 55"/>
          <p:cNvSpPr/>
          <p:nvPr/>
        </p:nvSpPr>
        <p:spPr>
          <a:xfrm>
            <a:off x="4087454" y="223780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Up-Down Arrow 56"/>
          <p:cNvSpPr/>
          <p:nvPr/>
        </p:nvSpPr>
        <p:spPr>
          <a:xfrm>
            <a:off x="7223123" y="5813558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380790" y="5813558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5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 animBg="1"/>
      <p:bldP spid="20" grpId="0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1" grpId="0"/>
      <p:bldP spid="32" grpId="0" animBg="1"/>
      <p:bldP spid="33" grpId="0"/>
      <p:bldP spid="34" grpId="0" animBg="1"/>
      <p:bldP spid="35" grpId="0"/>
      <p:bldP spid="37" grpId="0"/>
      <p:bldP spid="39" grpId="0"/>
      <p:bldP spid="40" grpId="0" animBg="1"/>
      <p:bldP spid="41" grpId="0"/>
      <p:bldP spid="42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F520B-6EFE-D54B-9AAE-0DA4A5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EBE8358-313B-6F47-A34B-B748A9C40878}"/>
              </a:ext>
            </a:extLst>
          </p:cNvPr>
          <p:cNvCxnSpPr/>
          <p:nvPr/>
        </p:nvCxnSpPr>
        <p:spPr>
          <a:xfrm>
            <a:off x="1171575" y="2551152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DD7E38B-04A1-8E44-AAA9-4DBB7D114DA2}"/>
              </a:ext>
            </a:extLst>
          </p:cNvPr>
          <p:cNvCxnSpPr/>
          <p:nvPr/>
        </p:nvCxnSpPr>
        <p:spPr>
          <a:xfrm>
            <a:off x="1171575" y="3646527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DADF999-0FA8-194B-8FBD-82723870D43F}"/>
              </a:ext>
            </a:extLst>
          </p:cNvPr>
          <p:cNvCxnSpPr/>
          <p:nvPr/>
        </p:nvCxnSpPr>
        <p:spPr>
          <a:xfrm>
            <a:off x="1171575" y="4860965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1857375" y="2151102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B28043-A6FB-2A42-B166-272766EFF1C8}"/>
              </a:ext>
            </a:extLst>
          </p:cNvPr>
          <p:cNvSpPr txBox="1"/>
          <p:nvPr/>
        </p:nvSpPr>
        <p:spPr>
          <a:xfrm>
            <a:off x="1473106" y="2011243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0B3CDDA-37FD-2440-BF07-AC53A9CA6DC3}"/>
              </a:ext>
            </a:extLst>
          </p:cNvPr>
          <p:cNvSpPr/>
          <p:nvPr/>
        </p:nvSpPr>
        <p:spPr>
          <a:xfrm>
            <a:off x="2414588" y="257417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6E58F95E-3168-D441-BFCD-D555CC3BFB34}"/>
              </a:ext>
            </a:extLst>
          </p:cNvPr>
          <p:cNvSpPr/>
          <p:nvPr/>
        </p:nvSpPr>
        <p:spPr>
          <a:xfrm>
            <a:off x="3424238" y="3685579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2543175" y="486199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C1150-6DF1-BF43-AF30-6E352F58931A}"/>
              </a:ext>
            </a:extLst>
          </p:cNvPr>
          <p:cNvSpPr txBox="1"/>
          <p:nvPr/>
        </p:nvSpPr>
        <p:spPr>
          <a:xfrm>
            <a:off x="2264569" y="292802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03C8CD-A1F1-B146-B443-0924144761C1}"/>
              </a:ext>
            </a:extLst>
          </p:cNvPr>
          <p:cNvSpPr txBox="1"/>
          <p:nvPr/>
        </p:nvSpPr>
        <p:spPr>
          <a:xfrm>
            <a:off x="3331371" y="402125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6DCA32-9EFE-0841-96CF-C6A3F60A9711}"/>
              </a:ext>
            </a:extLst>
          </p:cNvPr>
          <p:cNvSpPr txBox="1"/>
          <p:nvPr/>
        </p:nvSpPr>
        <p:spPr>
          <a:xfrm>
            <a:off x="2421732" y="522140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7849F20F-B30A-234C-B4D8-4D482EA805B7}"/>
              </a:ext>
            </a:extLst>
          </p:cNvPr>
          <p:cNvSpPr/>
          <p:nvPr/>
        </p:nvSpPr>
        <p:spPr>
          <a:xfrm>
            <a:off x="2409824" y="2127534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AB344770-1AD0-C249-A9BA-717267A77D3C}"/>
              </a:ext>
            </a:extLst>
          </p:cNvPr>
          <p:cNvSpPr/>
          <p:nvPr/>
        </p:nvSpPr>
        <p:spPr>
          <a:xfrm>
            <a:off x="3428999" y="3219975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2571749" y="4449651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3583921-E8DE-1F4C-B9E3-66C8EEE4DF7C}"/>
              </a:ext>
            </a:extLst>
          </p:cNvPr>
          <p:cNvCxnSpPr>
            <a:cxnSpLocks/>
          </p:cNvCxnSpPr>
          <p:nvPr/>
        </p:nvCxnSpPr>
        <p:spPr>
          <a:xfrm>
            <a:off x="4060031" y="2147769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3154F68-8C04-7544-8154-C53BAABC51A8}"/>
              </a:ext>
            </a:extLst>
          </p:cNvPr>
          <p:cNvSpPr txBox="1"/>
          <p:nvPr/>
        </p:nvSpPr>
        <p:spPr>
          <a:xfrm>
            <a:off x="3888582" y="187757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6F9A7FA4-1C66-5C41-84D3-9F9CBDC96E8C}"/>
              </a:ext>
            </a:extLst>
          </p:cNvPr>
          <p:cNvSpPr/>
          <p:nvPr/>
        </p:nvSpPr>
        <p:spPr>
          <a:xfrm>
            <a:off x="4523513" y="366685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58AD955-F993-5F43-88E4-F4F187A53866}"/>
              </a:ext>
            </a:extLst>
          </p:cNvPr>
          <p:cNvSpPr txBox="1"/>
          <p:nvPr/>
        </p:nvSpPr>
        <p:spPr>
          <a:xfrm>
            <a:off x="4430646" y="397396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FAF31BE2-6509-1340-B6E3-E953439C2DD9}"/>
              </a:ext>
            </a:extLst>
          </p:cNvPr>
          <p:cNvSpPr/>
          <p:nvPr/>
        </p:nvSpPr>
        <p:spPr>
          <a:xfrm>
            <a:off x="4521131" y="3242837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CC76D9FF-1A2E-FD4D-B494-53AA8DE5D2B1}"/>
              </a:ext>
            </a:extLst>
          </p:cNvPr>
          <p:cNvSpPr/>
          <p:nvPr/>
        </p:nvSpPr>
        <p:spPr>
          <a:xfrm>
            <a:off x="4267199" y="4882632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92AFFED-AC98-164E-81EE-0A7B3452A6F2}"/>
              </a:ext>
            </a:extLst>
          </p:cNvPr>
          <p:cNvSpPr txBox="1"/>
          <p:nvPr/>
        </p:nvSpPr>
        <p:spPr>
          <a:xfrm>
            <a:off x="3945730" y="5292204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9FD83E8C-9A2E-EF41-99B3-D7B44881A921}"/>
              </a:ext>
            </a:extLst>
          </p:cNvPr>
          <p:cNvSpPr/>
          <p:nvPr/>
        </p:nvSpPr>
        <p:spPr>
          <a:xfrm>
            <a:off x="6515103" y="3664074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AD1A4B-AAB5-0C43-90D8-9C9CEB48D90B}"/>
              </a:ext>
            </a:extLst>
          </p:cNvPr>
          <p:cNvSpPr txBox="1"/>
          <p:nvPr/>
        </p:nvSpPr>
        <p:spPr>
          <a:xfrm>
            <a:off x="6193634" y="4073646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9" name="Esplosione 1 28">
            <a:extLst>
              <a:ext uri="{FF2B5EF4-FFF2-40B4-BE49-F238E27FC236}">
                <a16:creationId xmlns:a16="http://schemas.microsoft.com/office/drawing/2014/main" id="{6E1613A0-D7A1-DB4A-BBCF-9AEE1B92D437}"/>
              </a:ext>
            </a:extLst>
          </p:cNvPr>
          <p:cNvSpPr/>
          <p:nvPr/>
        </p:nvSpPr>
        <p:spPr>
          <a:xfrm>
            <a:off x="4945855" y="2381000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0710A19-D7A3-F842-BB61-00CB7ECA635A}"/>
              </a:ext>
            </a:extLst>
          </p:cNvPr>
          <p:cNvCxnSpPr/>
          <p:nvPr/>
        </p:nvCxnSpPr>
        <p:spPr>
          <a:xfrm>
            <a:off x="4617242" y="4528888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577E48A-888E-C746-A9C9-1BB6E011EA52}"/>
              </a:ext>
            </a:extLst>
          </p:cNvPr>
          <p:cNvSpPr txBox="1"/>
          <p:nvPr/>
        </p:nvSpPr>
        <p:spPr>
          <a:xfrm>
            <a:off x="4445793" y="425869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2" name="Freccia su 31">
            <a:extLst>
              <a:ext uri="{FF2B5EF4-FFF2-40B4-BE49-F238E27FC236}">
                <a16:creationId xmlns:a16="http://schemas.microsoft.com/office/drawing/2014/main" id="{340ADC3E-6A54-3A49-AB63-4FAA3539C664}"/>
              </a:ext>
            </a:extLst>
          </p:cNvPr>
          <p:cNvSpPr/>
          <p:nvPr/>
        </p:nvSpPr>
        <p:spPr>
          <a:xfrm>
            <a:off x="5243942" y="4882632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5EF78CD-B124-6341-93B3-23B291E6F8EB}"/>
              </a:ext>
            </a:extLst>
          </p:cNvPr>
          <p:cNvSpPr txBox="1"/>
          <p:nvPr/>
        </p:nvSpPr>
        <p:spPr>
          <a:xfrm>
            <a:off x="5122499" y="524204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4" name="Freccia su 33">
            <a:extLst>
              <a:ext uri="{FF2B5EF4-FFF2-40B4-BE49-F238E27FC236}">
                <a16:creationId xmlns:a16="http://schemas.microsoft.com/office/drawing/2014/main" id="{6409AFF3-F599-5E4D-8B57-C56F74568FFC}"/>
              </a:ext>
            </a:extLst>
          </p:cNvPr>
          <p:cNvSpPr/>
          <p:nvPr/>
        </p:nvSpPr>
        <p:spPr>
          <a:xfrm>
            <a:off x="5718840" y="3661851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9398A1B-B607-164D-B37C-836573B93FC9}"/>
              </a:ext>
            </a:extLst>
          </p:cNvPr>
          <p:cNvSpPr txBox="1"/>
          <p:nvPr/>
        </p:nvSpPr>
        <p:spPr>
          <a:xfrm>
            <a:off x="5597397" y="402125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A38BEF6C-AE00-B149-979A-DFA366F86DB0}"/>
              </a:ext>
            </a:extLst>
          </p:cNvPr>
          <p:cNvCxnSpPr/>
          <p:nvPr/>
        </p:nvCxnSpPr>
        <p:spPr>
          <a:xfrm>
            <a:off x="6838694" y="3263819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2007B34-993C-F84F-A873-286662DE1A7C}"/>
              </a:ext>
            </a:extLst>
          </p:cNvPr>
          <p:cNvSpPr txBox="1"/>
          <p:nvPr/>
        </p:nvSpPr>
        <p:spPr>
          <a:xfrm>
            <a:off x="6667245" y="299362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EDA4A0B0-3AAD-994B-99B7-59BF8C117D9F}"/>
              </a:ext>
            </a:extLst>
          </p:cNvPr>
          <p:cNvCxnSpPr>
            <a:cxnSpLocks/>
          </p:cNvCxnSpPr>
          <p:nvPr/>
        </p:nvCxnSpPr>
        <p:spPr>
          <a:xfrm>
            <a:off x="7090848" y="3249943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D6469FC-C503-B648-9E4B-2E1399607171}"/>
              </a:ext>
            </a:extLst>
          </p:cNvPr>
          <p:cNvSpPr txBox="1"/>
          <p:nvPr/>
        </p:nvSpPr>
        <p:spPr>
          <a:xfrm>
            <a:off x="6919399" y="297975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3" name="Esplosione 1 42">
            <a:extLst>
              <a:ext uri="{FF2B5EF4-FFF2-40B4-BE49-F238E27FC236}">
                <a16:creationId xmlns:a16="http://schemas.microsoft.com/office/drawing/2014/main" id="{7166E8D4-D9F0-AD4D-BDC3-0535C5CB093B}"/>
              </a:ext>
            </a:extLst>
          </p:cNvPr>
          <p:cNvSpPr/>
          <p:nvPr/>
        </p:nvSpPr>
        <p:spPr>
          <a:xfrm>
            <a:off x="7721269" y="3503738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45">
            <a:extLst>
              <a:ext uri="{FF2B5EF4-FFF2-40B4-BE49-F238E27FC236}">
                <a16:creationId xmlns:a16="http://schemas.microsoft.com/office/drawing/2014/main" id="{E9C58FE0-C829-0843-938E-C4143050E032}"/>
              </a:ext>
            </a:extLst>
          </p:cNvPr>
          <p:cNvSpPr txBox="1"/>
          <p:nvPr/>
        </p:nvSpPr>
        <p:spPr>
          <a:xfrm>
            <a:off x="723396" y="229665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41" name="TextBox 46">
            <a:extLst>
              <a:ext uri="{FF2B5EF4-FFF2-40B4-BE49-F238E27FC236}">
                <a16:creationId xmlns:a16="http://schemas.microsoft.com/office/drawing/2014/main" id="{B021A8BF-9F65-2E4B-83E9-0CFC7FEA38A0}"/>
              </a:ext>
            </a:extLst>
          </p:cNvPr>
          <p:cNvSpPr txBox="1"/>
          <p:nvPr/>
        </p:nvSpPr>
        <p:spPr>
          <a:xfrm>
            <a:off x="747087" y="3379719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42" name="TextBox 47">
            <a:extLst>
              <a:ext uri="{FF2B5EF4-FFF2-40B4-BE49-F238E27FC236}">
                <a16:creationId xmlns:a16="http://schemas.microsoft.com/office/drawing/2014/main" id="{58FD701E-32B5-9D42-AEE5-3BDB3FBBECC9}"/>
              </a:ext>
            </a:extLst>
          </p:cNvPr>
          <p:cNvSpPr txBox="1"/>
          <p:nvPr/>
        </p:nvSpPr>
        <p:spPr>
          <a:xfrm>
            <a:off x="747087" y="466172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44" name="Rectangle 58">
            <a:extLst>
              <a:ext uri="{FF2B5EF4-FFF2-40B4-BE49-F238E27FC236}">
                <a16:creationId xmlns:a16="http://schemas.microsoft.com/office/drawing/2014/main" id="{E23D38DB-8489-CF40-845E-540EAFA2BC80}"/>
              </a:ext>
            </a:extLst>
          </p:cNvPr>
          <p:cNvSpPr/>
          <p:nvPr/>
        </p:nvSpPr>
        <p:spPr>
          <a:xfrm>
            <a:off x="1024759" y="5719374"/>
            <a:ext cx="7698827" cy="5255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ccia su 11">
            <a:extLst>
              <a:ext uri="{FF2B5EF4-FFF2-40B4-BE49-F238E27FC236}">
                <a16:creationId xmlns:a16="http://schemas.microsoft.com/office/drawing/2014/main" id="{FBED0D0A-8A5C-5140-80C3-B1F9ED0E4BCC}"/>
              </a:ext>
            </a:extLst>
          </p:cNvPr>
          <p:cNvSpPr/>
          <p:nvPr/>
        </p:nvSpPr>
        <p:spPr>
          <a:xfrm>
            <a:off x="1171575" y="58135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9">
            <a:extLst>
              <a:ext uri="{FF2B5EF4-FFF2-40B4-BE49-F238E27FC236}">
                <a16:creationId xmlns:a16="http://schemas.microsoft.com/office/drawing/2014/main" id="{5FB0A83D-5595-B542-ACEB-33F98C5FE050}"/>
              </a:ext>
            </a:extLst>
          </p:cNvPr>
          <p:cNvSpPr txBox="1"/>
          <p:nvPr/>
        </p:nvSpPr>
        <p:spPr>
          <a:xfrm>
            <a:off x="1476758" y="5837077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BeB_Deliver</a:t>
            </a:r>
            <a:endParaRPr lang="en-US" dirty="0"/>
          </a:p>
        </p:txBody>
      </p:sp>
      <p:sp>
        <p:nvSpPr>
          <p:cNvPr id="47" name="Freccia su 17">
            <a:extLst>
              <a:ext uri="{FF2B5EF4-FFF2-40B4-BE49-F238E27FC236}">
                <a16:creationId xmlns:a16="http://schemas.microsoft.com/office/drawing/2014/main" id="{AC043243-25AF-234E-AEB1-94B08C32679D}"/>
              </a:ext>
            </a:extLst>
          </p:cNvPr>
          <p:cNvSpPr/>
          <p:nvPr/>
        </p:nvSpPr>
        <p:spPr>
          <a:xfrm>
            <a:off x="3331371" y="581355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51">
            <a:extLst>
              <a:ext uri="{FF2B5EF4-FFF2-40B4-BE49-F238E27FC236}">
                <a16:creationId xmlns:a16="http://schemas.microsoft.com/office/drawing/2014/main" id="{2B200A9E-2BFD-4E4B-90A7-C6E227161757}"/>
              </a:ext>
            </a:extLst>
          </p:cNvPr>
          <p:cNvSpPr txBox="1"/>
          <p:nvPr/>
        </p:nvSpPr>
        <p:spPr>
          <a:xfrm>
            <a:off x="3837575" y="5828318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RB_Deliver</a:t>
            </a:r>
            <a:endParaRPr lang="en-US" dirty="0"/>
          </a:p>
        </p:txBody>
      </p:sp>
      <p:cxnSp>
        <p:nvCxnSpPr>
          <p:cNvPr id="49" name="Connettore 2 7">
            <a:extLst>
              <a:ext uri="{FF2B5EF4-FFF2-40B4-BE49-F238E27FC236}">
                <a16:creationId xmlns:a16="http://schemas.microsoft.com/office/drawing/2014/main" id="{FB9AA514-0BB4-CA4D-A6A5-3445A09478FF}"/>
              </a:ext>
            </a:extLst>
          </p:cNvPr>
          <p:cNvCxnSpPr/>
          <p:nvPr/>
        </p:nvCxnSpPr>
        <p:spPr>
          <a:xfrm>
            <a:off x="5360194" y="5813558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3">
            <a:extLst>
              <a:ext uri="{FF2B5EF4-FFF2-40B4-BE49-F238E27FC236}">
                <a16:creationId xmlns:a16="http://schemas.microsoft.com/office/drawing/2014/main" id="{F09ADA9B-84DD-174F-B094-276822A7F14B}"/>
              </a:ext>
            </a:extLst>
          </p:cNvPr>
          <p:cNvSpPr txBox="1"/>
          <p:nvPr/>
        </p:nvSpPr>
        <p:spPr>
          <a:xfrm>
            <a:off x="5444835" y="5837077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endParaRPr lang="en-US" dirty="0"/>
          </a:p>
        </p:txBody>
      </p:sp>
      <p:sp>
        <p:nvSpPr>
          <p:cNvPr id="51" name="Up-Down Arrow 56">
            <a:extLst>
              <a:ext uri="{FF2B5EF4-FFF2-40B4-BE49-F238E27FC236}">
                <a16:creationId xmlns:a16="http://schemas.microsoft.com/office/drawing/2014/main" id="{F74BD5CE-2675-3344-A4BD-FA236BC8BC21}"/>
              </a:ext>
            </a:extLst>
          </p:cNvPr>
          <p:cNvSpPr/>
          <p:nvPr/>
        </p:nvSpPr>
        <p:spPr>
          <a:xfrm>
            <a:off x="7223123" y="5813558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7">
            <a:extLst>
              <a:ext uri="{FF2B5EF4-FFF2-40B4-BE49-F238E27FC236}">
                <a16:creationId xmlns:a16="http://schemas.microsoft.com/office/drawing/2014/main" id="{0C5692A2-A4FA-BF41-B3D3-34472150565C}"/>
              </a:ext>
            </a:extLst>
          </p:cNvPr>
          <p:cNvSpPr txBox="1"/>
          <p:nvPr/>
        </p:nvSpPr>
        <p:spPr>
          <a:xfrm>
            <a:off x="7380790" y="5813558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endParaRPr lang="en-US" dirty="0"/>
          </a:p>
        </p:txBody>
      </p:sp>
      <p:sp>
        <p:nvSpPr>
          <p:cNvPr id="53" name="Up-Down Arrow 54">
            <a:extLst>
              <a:ext uri="{FF2B5EF4-FFF2-40B4-BE49-F238E27FC236}">
                <a16:creationId xmlns:a16="http://schemas.microsoft.com/office/drawing/2014/main" id="{E09D83FB-2376-2E45-A387-15A8253E0F27}"/>
              </a:ext>
            </a:extLst>
          </p:cNvPr>
          <p:cNvSpPr/>
          <p:nvPr/>
        </p:nvSpPr>
        <p:spPr>
          <a:xfrm>
            <a:off x="1734417" y="235655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Up-Down Arrow 54">
            <a:extLst>
              <a:ext uri="{FF2B5EF4-FFF2-40B4-BE49-F238E27FC236}">
                <a16:creationId xmlns:a16="http://schemas.microsoft.com/office/drawing/2014/main" id="{D98237CC-67B7-824A-A4D8-CB0A01DA721A}"/>
              </a:ext>
            </a:extLst>
          </p:cNvPr>
          <p:cNvSpPr/>
          <p:nvPr/>
        </p:nvSpPr>
        <p:spPr>
          <a:xfrm>
            <a:off x="3897306" y="2391242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0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 animBg="1"/>
      <p:bldP spid="20" grpId="0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1" grpId="0"/>
      <p:bldP spid="32" grpId="0" animBg="1"/>
      <p:bldP spid="33" grpId="0"/>
      <p:bldP spid="34" grpId="0" animBg="1"/>
      <p:bldP spid="35" grpId="0"/>
      <p:bldP spid="37" grpId="0"/>
      <p:bldP spid="39" grpId="0"/>
      <p:bldP spid="43" grpId="0" animBg="1"/>
      <p:bldP spid="53" grpId="0" animBg="1"/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F520B-6EFE-D54B-9AAE-0DA4A5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EBE8358-313B-6F47-A34B-B748A9C40878}"/>
              </a:ext>
            </a:extLst>
          </p:cNvPr>
          <p:cNvCxnSpPr/>
          <p:nvPr/>
        </p:nvCxnSpPr>
        <p:spPr>
          <a:xfrm>
            <a:off x="1171575" y="2515533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DD7E38B-04A1-8E44-AAA9-4DBB7D114DA2}"/>
              </a:ext>
            </a:extLst>
          </p:cNvPr>
          <p:cNvCxnSpPr/>
          <p:nvPr/>
        </p:nvCxnSpPr>
        <p:spPr>
          <a:xfrm>
            <a:off x="1171575" y="3610908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DADF999-0FA8-194B-8FBD-82723870D43F}"/>
              </a:ext>
            </a:extLst>
          </p:cNvPr>
          <p:cNvCxnSpPr/>
          <p:nvPr/>
        </p:nvCxnSpPr>
        <p:spPr>
          <a:xfrm>
            <a:off x="1171575" y="4825346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1857375" y="2115483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B28043-A6FB-2A42-B166-272766EFF1C8}"/>
              </a:ext>
            </a:extLst>
          </p:cNvPr>
          <p:cNvSpPr txBox="1"/>
          <p:nvPr/>
        </p:nvSpPr>
        <p:spPr>
          <a:xfrm>
            <a:off x="1685926" y="184529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0B3CDDA-37FD-2440-BF07-AC53A9CA6DC3}"/>
              </a:ext>
            </a:extLst>
          </p:cNvPr>
          <p:cNvSpPr/>
          <p:nvPr/>
        </p:nvSpPr>
        <p:spPr>
          <a:xfrm>
            <a:off x="2414588" y="253855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6E58F95E-3168-D441-BFCD-D555CC3BFB34}"/>
              </a:ext>
            </a:extLst>
          </p:cNvPr>
          <p:cNvSpPr/>
          <p:nvPr/>
        </p:nvSpPr>
        <p:spPr>
          <a:xfrm>
            <a:off x="3424238" y="3649960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2543175" y="482637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C1150-6DF1-BF43-AF30-6E352F58931A}"/>
              </a:ext>
            </a:extLst>
          </p:cNvPr>
          <p:cNvSpPr txBox="1"/>
          <p:nvPr/>
        </p:nvSpPr>
        <p:spPr>
          <a:xfrm>
            <a:off x="2264569" y="289240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03C8CD-A1F1-B146-B443-0924144761C1}"/>
              </a:ext>
            </a:extLst>
          </p:cNvPr>
          <p:cNvSpPr txBox="1"/>
          <p:nvPr/>
        </p:nvSpPr>
        <p:spPr>
          <a:xfrm>
            <a:off x="3331371" y="398564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6DCA32-9EFE-0841-96CF-C6A3F60A9711}"/>
              </a:ext>
            </a:extLst>
          </p:cNvPr>
          <p:cNvSpPr txBox="1"/>
          <p:nvPr/>
        </p:nvSpPr>
        <p:spPr>
          <a:xfrm>
            <a:off x="2421732" y="518578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7849F20F-B30A-234C-B4D8-4D482EA805B7}"/>
              </a:ext>
            </a:extLst>
          </p:cNvPr>
          <p:cNvSpPr/>
          <p:nvPr/>
        </p:nvSpPr>
        <p:spPr>
          <a:xfrm>
            <a:off x="2409824" y="2091915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AB344770-1AD0-C249-A9BA-717267A77D3C}"/>
              </a:ext>
            </a:extLst>
          </p:cNvPr>
          <p:cNvSpPr/>
          <p:nvPr/>
        </p:nvSpPr>
        <p:spPr>
          <a:xfrm>
            <a:off x="3428999" y="3184356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2571749" y="4414032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3583921-E8DE-1F4C-B9E3-66C8EEE4DF7C}"/>
              </a:ext>
            </a:extLst>
          </p:cNvPr>
          <p:cNvCxnSpPr>
            <a:cxnSpLocks/>
          </p:cNvCxnSpPr>
          <p:nvPr/>
        </p:nvCxnSpPr>
        <p:spPr>
          <a:xfrm>
            <a:off x="4060031" y="2112150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3154F68-8C04-7544-8154-C53BAABC51A8}"/>
              </a:ext>
            </a:extLst>
          </p:cNvPr>
          <p:cNvSpPr txBox="1"/>
          <p:nvPr/>
        </p:nvSpPr>
        <p:spPr>
          <a:xfrm>
            <a:off x="3888582" y="1841957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6F9A7FA4-1C66-5C41-84D3-9F9CBDC96E8C}"/>
              </a:ext>
            </a:extLst>
          </p:cNvPr>
          <p:cNvSpPr/>
          <p:nvPr/>
        </p:nvSpPr>
        <p:spPr>
          <a:xfrm>
            <a:off x="7934322" y="4862314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58AD955-F993-5F43-88E4-F4F187A53866}"/>
              </a:ext>
            </a:extLst>
          </p:cNvPr>
          <p:cNvSpPr txBox="1"/>
          <p:nvPr/>
        </p:nvSpPr>
        <p:spPr>
          <a:xfrm>
            <a:off x="7789498" y="5169418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m2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FAF31BE2-6509-1340-B6E3-E953439C2DD9}"/>
              </a:ext>
            </a:extLst>
          </p:cNvPr>
          <p:cNvSpPr/>
          <p:nvPr/>
        </p:nvSpPr>
        <p:spPr>
          <a:xfrm>
            <a:off x="6514235" y="3253485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CC76D9FF-1A2E-FD4D-B494-53AA8DE5D2B1}"/>
              </a:ext>
            </a:extLst>
          </p:cNvPr>
          <p:cNvSpPr/>
          <p:nvPr/>
        </p:nvSpPr>
        <p:spPr>
          <a:xfrm>
            <a:off x="4267199" y="4847013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92AFFED-AC98-164E-81EE-0A7B3452A6F2}"/>
              </a:ext>
            </a:extLst>
          </p:cNvPr>
          <p:cNvSpPr txBox="1"/>
          <p:nvPr/>
        </p:nvSpPr>
        <p:spPr>
          <a:xfrm>
            <a:off x="3945730" y="5256585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9FD83E8C-9A2E-EF41-99B3-D7B44881A921}"/>
              </a:ext>
            </a:extLst>
          </p:cNvPr>
          <p:cNvSpPr/>
          <p:nvPr/>
        </p:nvSpPr>
        <p:spPr>
          <a:xfrm>
            <a:off x="4267199" y="3619248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AD1A4B-AAB5-0C43-90D8-9C9CEB48D90B}"/>
              </a:ext>
            </a:extLst>
          </p:cNvPr>
          <p:cNvSpPr txBox="1"/>
          <p:nvPr/>
        </p:nvSpPr>
        <p:spPr>
          <a:xfrm>
            <a:off x="3945730" y="4028820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69ABF54-A66D-D949-95CA-ED6ABC4C19E4}"/>
              </a:ext>
            </a:extLst>
          </p:cNvPr>
          <p:cNvCxnSpPr>
            <a:cxnSpLocks/>
          </p:cNvCxnSpPr>
          <p:nvPr/>
        </p:nvCxnSpPr>
        <p:spPr>
          <a:xfrm>
            <a:off x="4617242" y="4639799"/>
            <a:ext cx="0" cy="4515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642788D-8EAB-5145-8019-490CE517448B}"/>
              </a:ext>
            </a:extLst>
          </p:cNvPr>
          <p:cNvSpPr txBox="1"/>
          <p:nvPr/>
        </p:nvSpPr>
        <p:spPr>
          <a:xfrm>
            <a:off x="4410168" y="436557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1" name="Freccia su 30">
            <a:extLst>
              <a:ext uri="{FF2B5EF4-FFF2-40B4-BE49-F238E27FC236}">
                <a16:creationId xmlns:a16="http://schemas.microsoft.com/office/drawing/2014/main" id="{A6622165-0A4C-6940-86E1-08011A35CC0C}"/>
              </a:ext>
            </a:extLst>
          </p:cNvPr>
          <p:cNvSpPr/>
          <p:nvPr/>
        </p:nvSpPr>
        <p:spPr>
          <a:xfrm>
            <a:off x="5243942" y="4847013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E221981-5354-E94F-9FB6-8639EF20BB70}"/>
              </a:ext>
            </a:extLst>
          </p:cNvPr>
          <p:cNvSpPr txBox="1"/>
          <p:nvPr/>
        </p:nvSpPr>
        <p:spPr>
          <a:xfrm>
            <a:off x="5122499" y="520642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3" name="Freccia su 32">
            <a:extLst>
              <a:ext uri="{FF2B5EF4-FFF2-40B4-BE49-F238E27FC236}">
                <a16:creationId xmlns:a16="http://schemas.microsoft.com/office/drawing/2014/main" id="{CED00462-E64C-4143-B4FD-4F4B92FF0E0D}"/>
              </a:ext>
            </a:extLst>
          </p:cNvPr>
          <p:cNvSpPr/>
          <p:nvPr/>
        </p:nvSpPr>
        <p:spPr>
          <a:xfrm>
            <a:off x="5030074" y="3626232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5C49DB5-88C3-2448-9EC9-3D800926CEAB}"/>
              </a:ext>
            </a:extLst>
          </p:cNvPr>
          <p:cNvSpPr txBox="1"/>
          <p:nvPr/>
        </p:nvSpPr>
        <p:spPr>
          <a:xfrm>
            <a:off x="4908631" y="398564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1514A73-7FBE-A54A-8FE8-49E06D9A19ED}"/>
              </a:ext>
            </a:extLst>
          </p:cNvPr>
          <p:cNvCxnSpPr>
            <a:cxnSpLocks/>
          </p:cNvCxnSpPr>
          <p:nvPr/>
        </p:nvCxnSpPr>
        <p:spPr>
          <a:xfrm>
            <a:off x="4644312" y="3414427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9C2F63F-CC76-BA47-9B8E-AC4C5A909DE8}"/>
              </a:ext>
            </a:extLst>
          </p:cNvPr>
          <p:cNvSpPr txBox="1"/>
          <p:nvPr/>
        </p:nvSpPr>
        <p:spPr>
          <a:xfrm>
            <a:off x="4410167" y="309602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7" name="Freccia su 36">
            <a:extLst>
              <a:ext uri="{FF2B5EF4-FFF2-40B4-BE49-F238E27FC236}">
                <a16:creationId xmlns:a16="http://schemas.microsoft.com/office/drawing/2014/main" id="{D107AB02-0591-FE45-B6C8-280781A91E6C}"/>
              </a:ext>
            </a:extLst>
          </p:cNvPr>
          <p:cNvSpPr/>
          <p:nvPr/>
        </p:nvSpPr>
        <p:spPr>
          <a:xfrm>
            <a:off x="5988621" y="4862314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898DF2B-E5EA-AA4C-9823-D87C673E240D}"/>
              </a:ext>
            </a:extLst>
          </p:cNvPr>
          <p:cNvSpPr txBox="1"/>
          <p:nvPr/>
        </p:nvSpPr>
        <p:spPr>
          <a:xfrm>
            <a:off x="5867178" y="5221722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9" name="Freccia su 38">
            <a:extLst>
              <a:ext uri="{FF2B5EF4-FFF2-40B4-BE49-F238E27FC236}">
                <a16:creationId xmlns:a16="http://schemas.microsoft.com/office/drawing/2014/main" id="{78945C01-4D3F-7F43-8E96-99629E1EA27E}"/>
              </a:ext>
            </a:extLst>
          </p:cNvPr>
          <p:cNvSpPr/>
          <p:nvPr/>
        </p:nvSpPr>
        <p:spPr>
          <a:xfrm>
            <a:off x="5774753" y="3641533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E54ECC1-04DF-4447-9BF6-D58141FB7DA3}"/>
              </a:ext>
            </a:extLst>
          </p:cNvPr>
          <p:cNvSpPr txBox="1"/>
          <p:nvPr/>
        </p:nvSpPr>
        <p:spPr>
          <a:xfrm>
            <a:off x="5653310" y="400094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1" name="Esplosione 1 40">
            <a:extLst>
              <a:ext uri="{FF2B5EF4-FFF2-40B4-BE49-F238E27FC236}">
                <a16:creationId xmlns:a16="http://schemas.microsoft.com/office/drawing/2014/main" id="{E696FF9C-C884-E049-9202-AC6A6004C9E9}"/>
              </a:ext>
            </a:extLst>
          </p:cNvPr>
          <p:cNvSpPr/>
          <p:nvPr/>
        </p:nvSpPr>
        <p:spPr>
          <a:xfrm>
            <a:off x="4137690" y="2344766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AC580A7-70A1-E24C-9753-4522A9F0CCA2}"/>
              </a:ext>
            </a:extLst>
          </p:cNvPr>
          <p:cNvSpPr txBox="1"/>
          <p:nvPr/>
        </p:nvSpPr>
        <p:spPr>
          <a:xfrm>
            <a:off x="6802157" y="302014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58BA25DE-590D-A94A-90BA-E87578C69B88}"/>
              </a:ext>
            </a:extLst>
          </p:cNvPr>
          <p:cNvSpPr/>
          <p:nvPr/>
        </p:nvSpPr>
        <p:spPr>
          <a:xfrm>
            <a:off x="6507305" y="3653253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72EB2D1-E28C-124C-A0E0-E3FBAB0E9D42}"/>
              </a:ext>
            </a:extLst>
          </p:cNvPr>
          <p:cNvSpPr txBox="1"/>
          <p:nvPr/>
        </p:nvSpPr>
        <p:spPr>
          <a:xfrm>
            <a:off x="6381970" y="398962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6" name="Freccia su 45">
            <a:extLst>
              <a:ext uri="{FF2B5EF4-FFF2-40B4-BE49-F238E27FC236}">
                <a16:creationId xmlns:a16="http://schemas.microsoft.com/office/drawing/2014/main" id="{1D36719B-81A7-5D40-B02B-4674C6A5E69D}"/>
              </a:ext>
            </a:extLst>
          </p:cNvPr>
          <p:cNvSpPr/>
          <p:nvPr/>
        </p:nvSpPr>
        <p:spPr>
          <a:xfrm>
            <a:off x="7944554" y="4414032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9A9238D3-DC58-EE42-A8C6-486582003BAC}"/>
              </a:ext>
            </a:extLst>
          </p:cNvPr>
          <p:cNvCxnSpPr>
            <a:cxnSpLocks/>
          </p:cNvCxnSpPr>
          <p:nvPr/>
        </p:nvCxnSpPr>
        <p:spPr>
          <a:xfrm>
            <a:off x="7033262" y="3376595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5">
            <a:extLst>
              <a:ext uri="{FF2B5EF4-FFF2-40B4-BE49-F238E27FC236}">
                <a16:creationId xmlns:a16="http://schemas.microsoft.com/office/drawing/2014/main" id="{2D3D7118-1173-0049-B31B-E72DE544CA1D}"/>
              </a:ext>
            </a:extLst>
          </p:cNvPr>
          <p:cNvSpPr txBox="1"/>
          <p:nvPr/>
        </p:nvSpPr>
        <p:spPr>
          <a:xfrm>
            <a:off x="723396" y="229665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49" name="TextBox 46">
            <a:extLst>
              <a:ext uri="{FF2B5EF4-FFF2-40B4-BE49-F238E27FC236}">
                <a16:creationId xmlns:a16="http://schemas.microsoft.com/office/drawing/2014/main" id="{4C709EA9-DB9B-2540-8A91-B531A298084D}"/>
              </a:ext>
            </a:extLst>
          </p:cNvPr>
          <p:cNvSpPr txBox="1"/>
          <p:nvPr/>
        </p:nvSpPr>
        <p:spPr>
          <a:xfrm>
            <a:off x="747087" y="3379719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AD2EFC18-E22A-0E4D-8C88-48E58DAEA79B}"/>
              </a:ext>
            </a:extLst>
          </p:cNvPr>
          <p:cNvSpPr txBox="1"/>
          <p:nvPr/>
        </p:nvSpPr>
        <p:spPr>
          <a:xfrm>
            <a:off x="747087" y="466172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Rectangle 58">
            <a:extLst>
              <a:ext uri="{FF2B5EF4-FFF2-40B4-BE49-F238E27FC236}">
                <a16:creationId xmlns:a16="http://schemas.microsoft.com/office/drawing/2014/main" id="{CBB09E93-FD60-8D40-8D40-AB8825E4C08B}"/>
              </a:ext>
            </a:extLst>
          </p:cNvPr>
          <p:cNvSpPr/>
          <p:nvPr/>
        </p:nvSpPr>
        <p:spPr>
          <a:xfrm>
            <a:off x="1024759" y="5719374"/>
            <a:ext cx="7698827" cy="5255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ccia su 11">
            <a:extLst>
              <a:ext uri="{FF2B5EF4-FFF2-40B4-BE49-F238E27FC236}">
                <a16:creationId xmlns:a16="http://schemas.microsoft.com/office/drawing/2014/main" id="{F7FC47D5-17AD-3043-9ACD-1C4CDC7E1CC9}"/>
              </a:ext>
            </a:extLst>
          </p:cNvPr>
          <p:cNvSpPr/>
          <p:nvPr/>
        </p:nvSpPr>
        <p:spPr>
          <a:xfrm>
            <a:off x="1171575" y="58135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49">
            <a:extLst>
              <a:ext uri="{FF2B5EF4-FFF2-40B4-BE49-F238E27FC236}">
                <a16:creationId xmlns:a16="http://schemas.microsoft.com/office/drawing/2014/main" id="{46D4C350-01C2-ED42-8039-1D8C9127C4BD}"/>
              </a:ext>
            </a:extLst>
          </p:cNvPr>
          <p:cNvSpPr txBox="1"/>
          <p:nvPr/>
        </p:nvSpPr>
        <p:spPr>
          <a:xfrm>
            <a:off x="1476758" y="5837077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BeB_Deliver</a:t>
            </a:r>
            <a:endParaRPr lang="en-US" dirty="0"/>
          </a:p>
        </p:txBody>
      </p:sp>
      <p:sp>
        <p:nvSpPr>
          <p:cNvPr id="54" name="Freccia su 17">
            <a:extLst>
              <a:ext uri="{FF2B5EF4-FFF2-40B4-BE49-F238E27FC236}">
                <a16:creationId xmlns:a16="http://schemas.microsoft.com/office/drawing/2014/main" id="{1AC6F529-490A-0645-87FE-85907263A293}"/>
              </a:ext>
            </a:extLst>
          </p:cNvPr>
          <p:cNvSpPr/>
          <p:nvPr/>
        </p:nvSpPr>
        <p:spPr>
          <a:xfrm>
            <a:off x="3331371" y="581355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1">
            <a:extLst>
              <a:ext uri="{FF2B5EF4-FFF2-40B4-BE49-F238E27FC236}">
                <a16:creationId xmlns:a16="http://schemas.microsoft.com/office/drawing/2014/main" id="{21AEB30A-4E1E-4A4C-ADF0-0A95093C7A60}"/>
              </a:ext>
            </a:extLst>
          </p:cNvPr>
          <p:cNvSpPr txBox="1"/>
          <p:nvPr/>
        </p:nvSpPr>
        <p:spPr>
          <a:xfrm>
            <a:off x="3837575" y="5828318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RB_Deliver</a:t>
            </a:r>
            <a:endParaRPr lang="en-US" dirty="0"/>
          </a:p>
        </p:txBody>
      </p:sp>
      <p:cxnSp>
        <p:nvCxnSpPr>
          <p:cNvPr id="56" name="Connettore 2 7">
            <a:extLst>
              <a:ext uri="{FF2B5EF4-FFF2-40B4-BE49-F238E27FC236}">
                <a16:creationId xmlns:a16="http://schemas.microsoft.com/office/drawing/2014/main" id="{EF8023E5-53F7-6E42-B99E-35B367D44DD4}"/>
              </a:ext>
            </a:extLst>
          </p:cNvPr>
          <p:cNvCxnSpPr/>
          <p:nvPr/>
        </p:nvCxnSpPr>
        <p:spPr>
          <a:xfrm>
            <a:off x="5360194" y="5813558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3">
            <a:extLst>
              <a:ext uri="{FF2B5EF4-FFF2-40B4-BE49-F238E27FC236}">
                <a16:creationId xmlns:a16="http://schemas.microsoft.com/office/drawing/2014/main" id="{CF5B5458-8828-AD41-AC68-A7A1904B1163}"/>
              </a:ext>
            </a:extLst>
          </p:cNvPr>
          <p:cNvSpPr txBox="1"/>
          <p:nvPr/>
        </p:nvSpPr>
        <p:spPr>
          <a:xfrm>
            <a:off x="5444835" y="5837077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endParaRPr lang="en-US" dirty="0"/>
          </a:p>
        </p:txBody>
      </p:sp>
      <p:sp>
        <p:nvSpPr>
          <p:cNvPr id="58" name="Up-Down Arrow 56">
            <a:extLst>
              <a:ext uri="{FF2B5EF4-FFF2-40B4-BE49-F238E27FC236}">
                <a16:creationId xmlns:a16="http://schemas.microsoft.com/office/drawing/2014/main" id="{E1FD02B2-9844-874F-A7EB-ED9CBD482E20}"/>
              </a:ext>
            </a:extLst>
          </p:cNvPr>
          <p:cNvSpPr/>
          <p:nvPr/>
        </p:nvSpPr>
        <p:spPr>
          <a:xfrm>
            <a:off x="7223123" y="5813558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7">
            <a:extLst>
              <a:ext uri="{FF2B5EF4-FFF2-40B4-BE49-F238E27FC236}">
                <a16:creationId xmlns:a16="http://schemas.microsoft.com/office/drawing/2014/main" id="{40D2BF56-7070-454C-9626-4D292D171444}"/>
              </a:ext>
            </a:extLst>
          </p:cNvPr>
          <p:cNvSpPr txBox="1"/>
          <p:nvPr/>
        </p:nvSpPr>
        <p:spPr>
          <a:xfrm>
            <a:off x="7380790" y="5813558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endParaRPr lang="en-US" dirty="0"/>
          </a:p>
        </p:txBody>
      </p:sp>
      <p:sp>
        <p:nvSpPr>
          <p:cNvPr id="60" name="Up-Down Arrow 54">
            <a:extLst>
              <a:ext uri="{FF2B5EF4-FFF2-40B4-BE49-F238E27FC236}">
                <a16:creationId xmlns:a16="http://schemas.microsoft.com/office/drawing/2014/main" id="{A13B3E4E-2FF8-D24F-9FC5-E9C3D3188FC1}"/>
              </a:ext>
            </a:extLst>
          </p:cNvPr>
          <p:cNvSpPr/>
          <p:nvPr/>
        </p:nvSpPr>
        <p:spPr>
          <a:xfrm>
            <a:off x="1734417" y="235655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Up-Down Arrow 54">
            <a:extLst>
              <a:ext uri="{FF2B5EF4-FFF2-40B4-BE49-F238E27FC236}">
                <a16:creationId xmlns:a16="http://schemas.microsoft.com/office/drawing/2014/main" id="{FCC35504-94E3-ED44-95D7-1947212F12B0}"/>
              </a:ext>
            </a:extLst>
          </p:cNvPr>
          <p:cNvSpPr/>
          <p:nvPr/>
        </p:nvSpPr>
        <p:spPr>
          <a:xfrm>
            <a:off x="3897306" y="2391242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5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  <p:bldP spid="30" grpId="0"/>
      <p:bldP spid="31" grpId="0" animBg="1"/>
      <p:bldP spid="32" grpId="0"/>
      <p:bldP spid="33" grpId="0" animBg="1"/>
      <p:bldP spid="34" grpId="0"/>
      <p:bldP spid="36" grpId="0"/>
      <p:bldP spid="37" grpId="0" animBg="1"/>
      <p:bldP spid="38" grpId="0"/>
      <p:bldP spid="39" grpId="0" animBg="1"/>
      <p:bldP spid="40" grpId="0"/>
      <p:bldP spid="43" grpId="0"/>
      <p:bldP spid="44" grpId="0" animBg="1"/>
      <p:bldP spid="45" grpId="0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F520B-6EFE-D54B-9AAE-0DA4A5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EBE8358-313B-6F47-A34B-B748A9C40878}"/>
              </a:ext>
            </a:extLst>
          </p:cNvPr>
          <p:cNvCxnSpPr/>
          <p:nvPr/>
        </p:nvCxnSpPr>
        <p:spPr>
          <a:xfrm>
            <a:off x="1171575" y="2539277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DD7E38B-04A1-8E44-AAA9-4DBB7D114DA2}"/>
              </a:ext>
            </a:extLst>
          </p:cNvPr>
          <p:cNvCxnSpPr/>
          <p:nvPr/>
        </p:nvCxnSpPr>
        <p:spPr>
          <a:xfrm>
            <a:off x="1171575" y="3634652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DADF999-0FA8-194B-8FBD-82723870D43F}"/>
              </a:ext>
            </a:extLst>
          </p:cNvPr>
          <p:cNvCxnSpPr/>
          <p:nvPr/>
        </p:nvCxnSpPr>
        <p:spPr>
          <a:xfrm>
            <a:off x="1171575" y="4849090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1857375" y="2139227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B28043-A6FB-2A42-B166-272766EFF1C8}"/>
              </a:ext>
            </a:extLst>
          </p:cNvPr>
          <p:cNvSpPr txBox="1"/>
          <p:nvPr/>
        </p:nvSpPr>
        <p:spPr>
          <a:xfrm>
            <a:off x="1685926" y="186903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0B3CDDA-37FD-2440-BF07-AC53A9CA6DC3}"/>
              </a:ext>
            </a:extLst>
          </p:cNvPr>
          <p:cNvSpPr/>
          <p:nvPr/>
        </p:nvSpPr>
        <p:spPr>
          <a:xfrm>
            <a:off x="2414588" y="2562301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6E58F95E-3168-D441-BFCD-D555CC3BFB34}"/>
              </a:ext>
            </a:extLst>
          </p:cNvPr>
          <p:cNvSpPr/>
          <p:nvPr/>
        </p:nvSpPr>
        <p:spPr>
          <a:xfrm>
            <a:off x="3424238" y="3673704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2543175" y="4850122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C1150-6DF1-BF43-AF30-6E352F58931A}"/>
              </a:ext>
            </a:extLst>
          </p:cNvPr>
          <p:cNvSpPr txBox="1"/>
          <p:nvPr/>
        </p:nvSpPr>
        <p:spPr>
          <a:xfrm>
            <a:off x="2264569" y="291614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03C8CD-A1F1-B146-B443-0924144761C1}"/>
              </a:ext>
            </a:extLst>
          </p:cNvPr>
          <p:cNvSpPr txBox="1"/>
          <p:nvPr/>
        </p:nvSpPr>
        <p:spPr>
          <a:xfrm>
            <a:off x="3331371" y="400938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6DCA32-9EFE-0841-96CF-C6A3F60A9711}"/>
              </a:ext>
            </a:extLst>
          </p:cNvPr>
          <p:cNvSpPr txBox="1"/>
          <p:nvPr/>
        </p:nvSpPr>
        <p:spPr>
          <a:xfrm>
            <a:off x="2421732" y="520953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7849F20F-B30A-234C-B4D8-4D482EA805B7}"/>
              </a:ext>
            </a:extLst>
          </p:cNvPr>
          <p:cNvSpPr/>
          <p:nvPr/>
        </p:nvSpPr>
        <p:spPr>
          <a:xfrm>
            <a:off x="2409824" y="2115659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AB344770-1AD0-C249-A9BA-717267A77D3C}"/>
              </a:ext>
            </a:extLst>
          </p:cNvPr>
          <p:cNvSpPr/>
          <p:nvPr/>
        </p:nvSpPr>
        <p:spPr>
          <a:xfrm>
            <a:off x="3428999" y="3208100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2571749" y="4437776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3583921-E8DE-1F4C-B9E3-66C8EEE4DF7C}"/>
              </a:ext>
            </a:extLst>
          </p:cNvPr>
          <p:cNvCxnSpPr>
            <a:cxnSpLocks/>
          </p:cNvCxnSpPr>
          <p:nvPr/>
        </p:nvCxnSpPr>
        <p:spPr>
          <a:xfrm>
            <a:off x="4060031" y="2135894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3154F68-8C04-7544-8154-C53BAABC51A8}"/>
              </a:ext>
            </a:extLst>
          </p:cNvPr>
          <p:cNvSpPr txBox="1"/>
          <p:nvPr/>
        </p:nvSpPr>
        <p:spPr>
          <a:xfrm>
            <a:off x="3888582" y="186570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FAF31BE2-6509-1340-B6E3-E953439C2DD9}"/>
              </a:ext>
            </a:extLst>
          </p:cNvPr>
          <p:cNvSpPr/>
          <p:nvPr/>
        </p:nvSpPr>
        <p:spPr>
          <a:xfrm>
            <a:off x="6514235" y="3277229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CC76D9FF-1A2E-FD4D-B494-53AA8DE5D2B1}"/>
              </a:ext>
            </a:extLst>
          </p:cNvPr>
          <p:cNvSpPr/>
          <p:nvPr/>
        </p:nvSpPr>
        <p:spPr>
          <a:xfrm>
            <a:off x="4267199" y="4870757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92AFFED-AC98-164E-81EE-0A7B3452A6F2}"/>
              </a:ext>
            </a:extLst>
          </p:cNvPr>
          <p:cNvSpPr txBox="1"/>
          <p:nvPr/>
        </p:nvSpPr>
        <p:spPr>
          <a:xfrm>
            <a:off x="3945730" y="5280329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9FD83E8C-9A2E-EF41-99B3-D7B44881A921}"/>
              </a:ext>
            </a:extLst>
          </p:cNvPr>
          <p:cNvSpPr/>
          <p:nvPr/>
        </p:nvSpPr>
        <p:spPr>
          <a:xfrm>
            <a:off x="4267199" y="3642992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AD1A4B-AAB5-0C43-90D8-9C9CEB48D90B}"/>
              </a:ext>
            </a:extLst>
          </p:cNvPr>
          <p:cNvSpPr txBox="1"/>
          <p:nvPr/>
        </p:nvSpPr>
        <p:spPr>
          <a:xfrm>
            <a:off x="3945730" y="4052564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642788D-8EAB-5145-8019-490CE517448B}"/>
              </a:ext>
            </a:extLst>
          </p:cNvPr>
          <p:cNvSpPr txBox="1"/>
          <p:nvPr/>
        </p:nvSpPr>
        <p:spPr>
          <a:xfrm>
            <a:off x="4445793" y="436557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1" name="Freccia su 30">
            <a:extLst>
              <a:ext uri="{FF2B5EF4-FFF2-40B4-BE49-F238E27FC236}">
                <a16:creationId xmlns:a16="http://schemas.microsoft.com/office/drawing/2014/main" id="{A6622165-0A4C-6940-86E1-08011A35CC0C}"/>
              </a:ext>
            </a:extLst>
          </p:cNvPr>
          <p:cNvSpPr/>
          <p:nvPr/>
        </p:nvSpPr>
        <p:spPr>
          <a:xfrm>
            <a:off x="5243942" y="487075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E221981-5354-E94F-9FB6-8639EF20BB70}"/>
              </a:ext>
            </a:extLst>
          </p:cNvPr>
          <p:cNvSpPr txBox="1"/>
          <p:nvPr/>
        </p:nvSpPr>
        <p:spPr>
          <a:xfrm>
            <a:off x="5122499" y="523016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3" name="Freccia su 32">
            <a:extLst>
              <a:ext uri="{FF2B5EF4-FFF2-40B4-BE49-F238E27FC236}">
                <a16:creationId xmlns:a16="http://schemas.microsoft.com/office/drawing/2014/main" id="{CED00462-E64C-4143-B4FD-4F4B92FF0E0D}"/>
              </a:ext>
            </a:extLst>
          </p:cNvPr>
          <p:cNvSpPr/>
          <p:nvPr/>
        </p:nvSpPr>
        <p:spPr>
          <a:xfrm>
            <a:off x="5030074" y="364997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5C49DB5-88C3-2448-9EC9-3D800926CEAB}"/>
              </a:ext>
            </a:extLst>
          </p:cNvPr>
          <p:cNvSpPr txBox="1"/>
          <p:nvPr/>
        </p:nvSpPr>
        <p:spPr>
          <a:xfrm>
            <a:off x="4908631" y="4009384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9C2F63F-CC76-BA47-9B8E-AC4C5A909DE8}"/>
              </a:ext>
            </a:extLst>
          </p:cNvPr>
          <p:cNvSpPr txBox="1"/>
          <p:nvPr/>
        </p:nvSpPr>
        <p:spPr>
          <a:xfrm>
            <a:off x="4472863" y="3037352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7" name="Freccia su 36">
            <a:extLst>
              <a:ext uri="{FF2B5EF4-FFF2-40B4-BE49-F238E27FC236}">
                <a16:creationId xmlns:a16="http://schemas.microsoft.com/office/drawing/2014/main" id="{D107AB02-0591-FE45-B6C8-280781A91E6C}"/>
              </a:ext>
            </a:extLst>
          </p:cNvPr>
          <p:cNvSpPr/>
          <p:nvPr/>
        </p:nvSpPr>
        <p:spPr>
          <a:xfrm>
            <a:off x="5988621" y="48860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898DF2B-E5EA-AA4C-9823-D87C673E240D}"/>
              </a:ext>
            </a:extLst>
          </p:cNvPr>
          <p:cNvSpPr txBox="1"/>
          <p:nvPr/>
        </p:nvSpPr>
        <p:spPr>
          <a:xfrm>
            <a:off x="5867178" y="524546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9" name="Freccia su 38">
            <a:extLst>
              <a:ext uri="{FF2B5EF4-FFF2-40B4-BE49-F238E27FC236}">
                <a16:creationId xmlns:a16="http://schemas.microsoft.com/office/drawing/2014/main" id="{78945C01-4D3F-7F43-8E96-99629E1EA27E}"/>
              </a:ext>
            </a:extLst>
          </p:cNvPr>
          <p:cNvSpPr/>
          <p:nvPr/>
        </p:nvSpPr>
        <p:spPr>
          <a:xfrm>
            <a:off x="5774753" y="366527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E54ECC1-04DF-4447-9BF6-D58141FB7DA3}"/>
              </a:ext>
            </a:extLst>
          </p:cNvPr>
          <p:cNvSpPr txBox="1"/>
          <p:nvPr/>
        </p:nvSpPr>
        <p:spPr>
          <a:xfrm>
            <a:off x="5653310" y="402468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1" name="Esplosione 1 40">
            <a:extLst>
              <a:ext uri="{FF2B5EF4-FFF2-40B4-BE49-F238E27FC236}">
                <a16:creationId xmlns:a16="http://schemas.microsoft.com/office/drawing/2014/main" id="{E696FF9C-C884-E049-9202-AC6A6004C9E9}"/>
              </a:ext>
            </a:extLst>
          </p:cNvPr>
          <p:cNvSpPr/>
          <p:nvPr/>
        </p:nvSpPr>
        <p:spPr>
          <a:xfrm>
            <a:off x="4945855" y="2369125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AC580A7-70A1-E24C-9753-4522A9F0CCA2}"/>
              </a:ext>
            </a:extLst>
          </p:cNvPr>
          <p:cNvSpPr txBox="1"/>
          <p:nvPr/>
        </p:nvSpPr>
        <p:spPr>
          <a:xfrm>
            <a:off x="6731266" y="3174537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58BA25DE-590D-A94A-90BA-E87578C69B88}"/>
              </a:ext>
            </a:extLst>
          </p:cNvPr>
          <p:cNvSpPr/>
          <p:nvPr/>
        </p:nvSpPr>
        <p:spPr>
          <a:xfrm>
            <a:off x="6507305" y="3676997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72EB2D1-E28C-124C-A0E0-E3FBAB0E9D42}"/>
              </a:ext>
            </a:extLst>
          </p:cNvPr>
          <p:cNvSpPr txBox="1"/>
          <p:nvPr/>
        </p:nvSpPr>
        <p:spPr>
          <a:xfrm>
            <a:off x="6381970" y="4013368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7" name="Esplosione 1 46">
            <a:extLst>
              <a:ext uri="{FF2B5EF4-FFF2-40B4-BE49-F238E27FC236}">
                <a16:creationId xmlns:a16="http://schemas.microsoft.com/office/drawing/2014/main" id="{5DA6FE14-5E5B-424A-A526-6AF8EC7093B8}"/>
              </a:ext>
            </a:extLst>
          </p:cNvPr>
          <p:cNvSpPr/>
          <p:nvPr/>
        </p:nvSpPr>
        <p:spPr>
          <a:xfrm>
            <a:off x="7662174" y="3455425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F046FE39-2FE0-954A-BBA0-E00E06D8F47F}"/>
              </a:ext>
            </a:extLst>
          </p:cNvPr>
          <p:cNvCxnSpPr>
            <a:cxnSpLocks/>
          </p:cNvCxnSpPr>
          <p:nvPr/>
        </p:nvCxnSpPr>
        <p:spPr>
          <a:xfrm>
            <a:off x="4644312" y="3438171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BAF36B0B-3E1A-E74A-9961-4209B34BE17A}"/>
              </a:ext>
            </a:extLst>
          </p:cNvPr>
          <p:cNvCxnSpPr>
            <a:cxnSpLocks/>
          </p:cNvCxnSpPr>
          <p:nvPr/>
        </p:nvCxnSpPr>
        <p:spPr>
          <a:xfrm>
            <a:off x="6958024" y="3445260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D0814B73-95EF-7943-912C-FBBA3D96EF64}"/>
              </a:ext>
            </a:extLst>
          </p:cNvPr>
          <p:cNvCxnSpPr>
            <a:cxnSpLocks/>
          </p:cNvCxnSpPr>
          <p:nvPr/>
        </p:nvCxnSpPr>
        <p:spPr>
          <a:xfrm>
            <a:off x="4679019" y="4639559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5">
            <a:extLst>
              <a:ext uri="{FF2B5EF4-FFF2-40B4-BE49-F238E27FC236}">
                <a16:creationId xmlns:a16="http://schemas.microsoft.com/office/drawing/2014/main" id="{10003B36-B0C9-B046-957E-97E294596F7F}"/>
              </a:ext>
            </a:extLst>
          </p:cNvPr>
          <p:cNvSpPr txBox="1"/>
          <p:nvPr/>
        </p:nvSpPr>
        <p:spPr>
          <a:xfrm>
            <a:off x="723396" y="229665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0" name="TextBox 46">
            <a:extLst>
              <a:ext uri="{FF2B5EF4-FFF2-40B4-BE49-F238E27FC236}">
                <a16:creationId xmlns:a16="http://schemas.microsoft.com/office/drawing/2014/main" id="{F39C1A72-819C-C448-877F-043A75B3717B}"/>
              </a:ext>
            </a:extLst>
          </p:cNvPr>
          <p:cNvSpPr txBox="1"/>
          <p:nvPr/>
        </p:nvSpPr>
        <p:spPr>
          <a:xfrm>
            <a:off x="747087" y="3379719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1" name="TextBox 47">
            <a:extLst>
              <a:ext uri="{FF2B5EF4-FFF2-40B4-BE49-F238E27FC236}">
                <a16:creationId xmlns:a16="http://schemas.microsoft.com/office/drawing/2014/main" id="{BBA94299-DD76-2745-A25A-C49F9D423999}"/>
              </a:ext>
            </a:extLst>
          </p:cNvPr>
          <p:cNvSpPr txBox="1"/>
          <p:nvPr/>
        </p:nvSpPr>
        <p:spPr>
          <a:xfrm>
            <a:off x="747087" y="466172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2" name="Rectangle 58">
            <a:extLst>
              <a:ext uri="{FF2B5EF4-FFF2-40B4-BE49-F238E27FC236}">
                <a16:creationId xmlns:a16="http://schemas.microsoft.com/office/drawing/2014/main" id="{6D7B470F-F5B4-B249-9212-8A0771200483}"/>
              </a:ext>
            </a:extLst>
          </p:cNvPr>
          <p:cNvSpPr/>
          <p:nvPr/>
        </p:nvSpPr>
        <p:spPr>
          <a:xfrm>
            <a:off x="1024759" y="5719374"/>
            <a:ext cx="7698827" cy="5255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ccia su 11">
            <a:extLst>
              <a:ext uri="{FF2B5EF4-FFF2-40B4-BE49-F238E27FC236}">
                <a16:creationId xmlns:a16="http://schemas.microsoft.com/office/drawing/2014/main" id="{A3F76CEC-252B-074E-B783-E594D3DFDAAF}"/>
              </a:ext>
            </a:extLst>
          </p:cNvPr>
          <p:cNvSpPr/>
          <p:nvPr/>
        </p:nvSpPr>
        <p:spPr>
          <a:xfrm>
            <a:off x="1171575" y="58135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49">
            <a:extLst>
              <a:ext uri="{FF2B5EF4-FFF2-40B4-BE49-F238E27FC236}">
                <a16:creationId xmlns:a16="http://schemas.microsoft.com/office/drawing/2014/main" id="{140D53F7-1EC9-2C4F-B547-E8430DDF7AAB}"/>
              </a:ext>
            </a:extLst>
          </p:cNvPr>
          <p:cNvSpPr txBox="1"/>
          <p:nvPr/>
        </p:nvSpPr>
        <p:spPr>
          <a:xfrm>
            <a:off x="1476758" y="5837077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BeB_Deliver</a:t>
            </a:r>
            <a:endParaRPr lang="en-US" dirty="0"/>
          </a:p>
        </p:txBody>
      </p:sp>
      <p:sp>
        <p:nvSpPr>
          <p:cNvPr id="55" name="Freccia su 17">
            <a:extLst>
              <a:ext uri="{FF2B5EF4-FFF2-40B4-BE49-F238E27FC236}">
                <a16:creationId xmlns:a16="http://schemas.microsoft.com/office/drawing/2014/main" id="{C5630F28-5A27-2C4B-A1E5-43020919CA5A}"/>
              </a:ext>
            </a:extLst>
          </p:cNvPr>
          <p:cNvSpPr/>
          <p:nvPr/>
        </p:nvSpPr>
        <p:spPr>
          <a:xfrm>
            <a:off x="3331371" y="581355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1">
            <a:extLst>
              <a:ext uri="{FF2B5EF4-FFF2-40B4-BE49-F238E27FC236}">
                <a16:creationId xmlns:a16="http://schemas.microsoft.com/office/drawing/2014/main" id="{963C43A0-4E5E-8E4F-9C5F-AD81D341A7C9}"/>
              </a:ext>
            </a:extLst>
          </p:cNvPr>
          <p:cNvSpPr txBox="1"/>
          <p:nvPr/>
        </p:nvSpPr>
        <p:spPr>
          <a:xfrm>
            <a:off x="3837575" y="5828318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RB_Deliver</a:t>
            </a:r>
            <a:endParaRPr lang="en-US" dirty="0"/>
          </a:p>
        </p:txBody>
      </p:sp>
      <p:cxnSp>
        <p:nvCxnSpPr>
          <p:cNvPr id="57" name="Connettore 2 7">
            <a:extLst>
              <a:ext uri="{FF2B5EF4-FFF2-40B4-BE49-F238E27FC236}">
                <a16:creationId xmlns:a16="http://schemas.microsoft.com/office/drawing/2014/main" id="{E0CFC3CD-B3B8-0247-82D1-F15D8DB1173D}"/>
              </a:ext>
            </a:extLst>
          </p:cNvPr>
          <p:cNvCxnSpPr/>
          <p:nvPr/>
        </p:nvCxnSpPr>
        <p:spPr>
          <a:xfrm>
            <a:off x="5360194" y="5813558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3">
            <a:extLst>
              <a:ext uri="{FF2B5EF4-FFF2-40B4-BE49-F238E27FC236}">
                <a16:creationId xmlns:a16="http://schemas.microsoft.com/office/drawing/2014/main" id="{673E5399-0C7E-FE47-87E1-1252037CFB51}"/>
              </a:ext>
            </a:extLst>
          </p:cNvPr>
          <p:cNvSpPr txBox="1"/>
          <p:nvPr/>
        </p:nvSpPr>
        <p:spPr>
          <a:xfrm>
            <a:off x="5444835" y="5837077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endParaRPr lang="en-US" dirty="0"/>
          </a:p>
        </p:txBody>
      </p:sp>
      <p:sp>
        <p:nvSpPr>
          <p:cNvPr id="59" name="Up-Down Arrow 56">
            <a:extLst>
              <a:ext uri="{FF2B5EF4-FFF2-40B4-BE49-F238E27FC236}">
                <a16:creationId xmlns:a16="http://schemas.microsoft.com/office/drawing/2014/main" id="{F767D779-3B0A-F34A-B9CD-E1AEB290AA27}"/>
              </a:ext>
            </a:extLst>
          </p:cNvPr>
          <p:cNvSpPr/>
          <p:nvPr/>
        </p:nvSpPr>
        <p:spPr>
          <a:xfrm>
            <a:off x="7223123" y="5813558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7">
            <a:extLst>
              <a:ext uri="{FF2B5EF4-FFF2-40B4-BE49-F238E27FC236}">
                <a16:creationId xmlns:a16="http://schemas.microsoft.com/office/drawing/2014/main" id="{FF6BB0C2-8549-864C-9F9B-7BE0DD4B2A70}"/>
              </a:ext>
            </a:extLst>
          </p:cNvPr>
          <p:cNvSpPr txBox="1"/>
          <p:nvPr/>
        </p:nvSpPr>
        <p:spPr>
          <a:xfrm>
            <a:off x="7380790" y="5813558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endParaRPr lang="en-US" dirty="0"/>
          </a:p>
        </p:txBody>
      </p:sp>
      <p:sp>
        <p:nvSpPr>
          <p:cNvPr id="61" name="Up-Down Arrow 54">
            <a:extLst>
              <a:ext uri="{FF2B5EF4-FFF2-40B4-BE49-F238E27FC236}">
                <a16:creationId xmlns:a16="http://schemas.microsoft.com/office/drawing/2014/main" id="{74091F58-557A-9846-A9A3-71082411259D}"/>
              </a:ext>
            </a:extLst>
          </p:cNvPr>
          <p:cNvSpPr/>
          <p:nvPr/>
        </p:nvSpPr>
        <p:spPr>
          <a:xfrm>
            <a:off x="1734417" y="235655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Up-Down Arrow 54">
            <a:extLst>
              <a:ext uri="{FF2B5EF4-FFF2-40B4-BE49-F238E27FC236}">
                <a16:creationId xmlns:a16="http://schemas.microsoft.com/office/drawing/2014/main" id="{533F1D8C-5BC2-A242-804B-BCE3EAB823F8}"/>
              </a:ext>
            </a:extLst>
          </p:cNvPr>
          <p:cNvSpPr/>
          <p:nvPr/>
        </p:nvSpPr>
        <p:spPr>
          <a:xfrm>
            <a:off x="3897306" y="2391242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71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F520B-6EFE-D54B-9AAE-0DA4A5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with removal of retransmission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EBE8358-313B-6F47-A34B-B748A9C40878}"/>
              </a:ext>
            </a:extLst>
          </p:cNvPr>
          <p:cNvCxnSpPr/>
          <p:nvPr/>
        </p:nvCxnSpPr>
        <p:spPr>
          <a:xfrm>
            <a:off x="1171575" y="2539279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DD7E38B-04A1-8E44-AAA9-4DBB7D114DA2}"/>
              </a:ext>
            </a:extLst>
          </p:cNvPr>
          <p:cNvCxnSpPr/>
          <p:nvPr/>
        </p:nvCxnSpPr>
        <p:spPr>
          <a:xfrm>
            <a:off x="1171575" y="3634654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DADF999-0FA8-194B-8FBD-82723870D43F}"/>
              </a:ext>
            </a:extLst>
          </p:cNvPr>
          <p:cNvCxnSpPr/>
          <p:nvPr/>
        </p:nvCxnSpPr>
        <p:spPr>
          <a:xfrm>
            <a:off x="1171575" y="4849092"/>
            <a:ext cx="7958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F6A5C77-E18C-8348-B308-8830176DE1CD}"/>
              </a:ext>
            </a:extLst>
          </p:cNvPr>
          <p:cNvCxnSpPr/>
          <p:nvPr/>
        </p:nvCxnSpPr>
        <p:spPr>
          <a:xfrm>
            <a:off x="1857375" y="2139229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B28043-A6FB-2A42-B166-272766EFF1C8}"/>
              </a:ext>
            </a:extLst>
          </p:cNvPr>
          <p:cNvSpPr txBox="1"/>
          <p:nvPr/>
        </p:nvSpPr>
        <p:spPr>
          <a:xfrm>
            <a:off x="1685926" y="186903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0B3CDDA-37FD-2440-BF07-AC53A9CA6DC3}"/>
              </a:ext>
            </a:extLst>
          </p:cNvPr>
          <p:cNvSpPr/>
          <p:nvPr/>
        </p:nvSpPr>
        <p:spPr>
          <a:xfrm>
            <a:off x="2414588" y="2562303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6E58F95E-3168-D441-BFCD-D555CC3BFB34}"/>
              </a:ext>
            </a:extLst>
          </p:cNvPr>
          <p:cNvSpPr/>
          <p:nvPr/>
        </p:nvSpPr>
        <p:spPr>
          <a:xfrm>
            <a:off x="3424238" y="3673706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B75414D-9A6E-F249-A240-7C17F62CF53E}"/>
              </a:ext>
            </a:extLst>
          </p:cNvPr>
          <p:cNvSpPr/>
          <p:nvPr/>
        </p:nvSpPr>
        <p:spPr>
          <a:xfrm>
            <a:off x="2543175" y="4850124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7C1150-6DF1-BF43-AF30-6E352F58931A}"/>
              </a:ext>
            </a:extLst>
          </p:cNvPr>
          <p:cNvSpPr txBox="1"/>
          <p:nvPr/>
        </p:nvSpPr>
        <p:spPr>
          <a:xfrm>
            <a:off x="2264569" y="2916151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03C8CD-A1F1-B146-B443-0924144761C1}"/>
              </a:ext>
            </a:extLst>
          </p:cNvPr>
          <p:cNvSpPr txBox="1"/>
          <p:nvPr/>
        </p:nvSpPr>
        <p:spPr>
          <a:xfrm>
            <a:off x="3331371" y="400938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6DCA32-9EFE-0841-96CF-C6A3F60A9711}"/>
              </a:ext>
            </a:extLst>
          </p:cNvPr>
          <p:cNvSpPr txBox="1"/>
          <p:nvPr/>
        </p:nvSpPr>
        <p:spPr>
          <a:xfrm>
            <a:off x="2421732" y="5209532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7849F20F-B30A-234C-B4D8-4D482EA805B7}"/>
              </a:ext>
            </a:extLst>
          </p:cNvPr>
          <p:cNvSpPr/>
          <p:nvPr/>
        </p:nvSpPr>
        <p:spPr>
          <a:xfrm>
            <a:off x="2409824" y="2115661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AB344770-1AD0-C249-A9BA-717267A77D3C}"/>
              </a:ext>
            </a:extLst>
          </p:cNvPr>
          <p:cNvSpPr/>
          <p:nvPr/>
        </p:nvSpPr>
        <p:spPr>
          <a:xfrm>
            <a:off x="3428999" y="3208102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4A089E2E-29A3-5D48-A580-1BA49AB550B2}"/>
              </a:ext>
            </a:extLst>
          </p:cNvPr>
          <p:cNvSpPr/>
          <p:nvPr/>
        </p:nvSpPr>
        <p:spPr>
          <a:xfrm>
            <a:off x="2571749" y="443777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3583921-E8DE-1F4C-B9E3-66C8EEE4DF7C}"/>
              </a:ext>
            </a:extLst>
          </p:cNvPr>
          <p:cNvCxnSpPr>
            <a:cxnSpLocks/>
          </p:cNvCxnSpPr>
          <p:nvPr/>
        </p:nvCxnSpPr>
        <p:spPr>
          <a:xfrm>
            <a:off x="4060031" y="2135896"/>
            <a:ext cx="0" cy="72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3154F68-8C04-7544-8154-C53BAABC51A8}"/>
              </a:ext>
            </a:extLst>
          </p:cNvPr>
          <p:cNvSpPr txBox="1"/>
          <p:nvPr/>
        </p:nvSpPr>
        <p:spPr>
          <a:xfrm>
            <a:off x="3888582" y="1865703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FAF31BE2-6509-1340-B6E3-E953439C2DD9}"/>
              </a:ext>
            </a:extLst>
          </p:cNvPr>
          <p:cNvSpPr/>
          <p:nvPr/>
        </p:nvSpPr>
        <p:spPr>
          <a:xfrm>
            <a:off x="6514235" y="3277231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CC76D9FF-1A2E-FD4D-B494-53AA8DE5D2B1}"/>
              </a:ext>
            </a:extLst>
          </p:cNvPr>
          <p:cNvSpPr/>
          <p:nvPr/>
        </p:nvSpPr>
        <p:spPr>
          <a:xfrm>
            <a:off x="4267199" y="4870759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92AFFED-AC98-164E-81EE-0A7B3452A6F2}"/>
              </a:ext>
            </a:extLst>
          </p:cNvPr>
          <p:cNvSpPr txBox="1"/>
          <p:nvPr/>
        </p:nvSpPr>
        <p:spPr>
          <a:xfrm>
            <a:off x="3945730" y="5280331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9FD83E8C-9A2E-EF41-99B3-D7B44881A921}"/>
              </a:ext>
            </a:extLst>
          </p:cNvPr>
          <p:cNvSpPr/>
          <p:nvPr/>
        </p:nvSpPr>
        <p:spPr>
          <a:xfrm>
            <a:off x="4267199" y="3642994"/>
            <a:ext cx="242887" cy="387906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AD1A4B-AAB5-0C43-90D8-9C9CEB48D90B}"/>
              </a:ext>
            </a:extLst>
          </p:cNvPr>
          <p:cNvSpPr txBox="1"/>
          <p:nvPr/>
        </p:nvSpPr>
        <p:spPr>
          <a:xfrm>
            <a:off x="3945730" y="4052566"/>
            <a:ext cx="10001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642788D-8EAB-5145-8019-490CE517448B}"/>
              </a:ext>
            </a:extLst>
          </p:cNvPr>
          <p:cNvSpPr txBox="1"/>
          <p:nvPr/>
        </p:nvSpPr>
        <p:spPr>
          <a:xfrm>
            <a:off x="4493293" y="4377449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1" name="Freccia su 30">
            <a:extLst>
              <a:ext uri="{FF2B5EF4-FFF2-40B4-BE49-F238E27FC236}">
                <a16:creationId xmlns:a16="http://schemas.microsoft.com/office/drawing/2014/main" id="{A6622165-0A4C-6940-86E1-08011A35CC0C}"/>
              </a:ext>
            </a:extLst>
          </p:cNvPr>
          <p:cNvSpPr/>
          <p:nvPr/>
        </p:nvSpPr>
        <p:spPr>
          <a:xfrm>
            <a:off x="5243942" y="4870759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E221981-5354-E94F-9FB6-8639EF20BB70}"/>
              </a:ext>
            </a:extLst>
          </p:cNvPr>
          <p:cNvSpPr txBox="1"/>
          <p:nvPr/>
        </p:nvSpPr>
        <p:spPr>
          <a:xfrm>
            <a:off x="5122499" y="5230167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3" name="Freccia su 32">
            <a:extLst>
              <a:ext uri="{FF2B5EF4-FFF2-40B4-BE49-F238E27FC236}">
                <a16:creationId xmlns:a16="http://schemas.microsoft.com/office/drawing/2014/main" id="{CED00462-E64C-4143-B4FD-4F4B92FF0E0D}"/>
              </a:ext>
            </a:extLst>
          </p:cNvPr>
          <p:cNvSpPr/>
          <p:nvPr/>
        </p:nvSpPr>
        <p:spPr>
          <a:xfrm>
            <a:off x="5030074" y="364997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5C49DB5-88C3-2448-9EC9-3D800926CEAB}"/>
              </a:ext>
            </a:extLst>
          </p:cNvPr>
          <p:cNvSpPr txBox="1"/>
          <p:nvPr/>
        </p:nvSpPr>
        <p:spPr>
          <a:xfrm>
            <a:off x="4908631" y="4009386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9C2F63F-CC76-BA47-9B8E-AC4C5A909DE8}"/>
              </a:ext>
            </a:extLst>
          </p:cNvPr>
          <p:cNvSpPr txBox="1"/>
          <p:nvPr/>
        </p:nvSpPr>
        <p:spPr>
          <a:xfrm>
            <a:off x="4388644" y="3144005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7" name="Freccia su 36">
            <a:extLst>
              <a:ext uri="{FF2B5EF4-FFF2-40B4-BE49-F238E27FC236}">
                <a16:creationId xmlns:a16="http://schemas.microsoft.com/office/drawing/2014/main" id="{D107AB02-0591-FE45-B6C8-280781A91E6C}"/>
              </a:ext>
            </a:extLst>
          </p:cNvPr>
          <p:cNvSpPr/>
          <p:nvPr/>
        </p:nvSpPr>
        <p:spPr>
          <a:xfrm>
            <a:off x="5988621" y="4886060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898DF2B-E5EA-AA4C-9823-D87C673E240D}"/>
              </a:ext>
            </a:extLst>
          </p:cNvPr>
          <p:cNvSpPr txBox="1"/>
          <p:nvPr/>
        </p:nvSpPr>
        <p:spPr>
          <a:xfrm>
            <a:off x="5867178" y="5245468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9" name="Freccia su 38">
            <a:extLst>
              <a:ext uri="{FF2B5EF4-FFF2-40B4-BE49-F238E27FC236}">
                <a16:creationId xmlns:a16="http://schemas.microsoft.com/office/drawing/2014/main" id="{78945C01-4D3F-7F43-8E96-99629E1EA27E}"/>
              </a:ext>
            </a:extLst>
          </p:cNvPr>
          <p:cNvSpPr/>
          <p:nvPr/>
        </p:nvSpPr>
        <p:spPr>
          <a:xfrm>
            <a:off x="5774753" y="3665279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E54ECC1-04DF-4447-9BF6-D58141FB7DA3}"/>
              </a:ext>
            </a:extLst>
          </p:cNvPr>
          <p:cNvSpPr txBox="1"/>
          <p:nvPr/>
        </p:nvSpPr>
        <p:spPr>
          <a:xfrm>
            <a:off x="5653310" y="4024687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1" name="Esplosione 1 40">
            <a:extLst>
              <a:ext uri="{FF2B5EF4-FFF2-40B4-BE49-F238E27FC236}">
                <a16:creationId xmlns:a16="http://schemas.microsoft.com/office/drawing/2014/main" id="{E696FF9C-C884-E049-9202-AC6A6004C9E9}"/>
              </a:ext>
            </a:extLst>
          </p:cNvPr>
          <p:cNvSpPr/>
          <p:nvPr/>
        </p:nvSpPr>
        <p:spPr>
          <a:xfrm>
            <a:off x="4945855" y="2369127"/>
            <a:ext cx="498981" cy="36368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AC580A7-70A1-E24C-9753-4522A9F0CCA2}"/>
              </a:ext>
            </a:extLst>
          </p:cNvPr>
          <p:cNvSpPr txBox="1"/>
          <p:nvPr/>
        </p:nvSpPr>
        <p:spPr>
          <a:xfrm>
            <a:off x="6802157" y="304389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58BA25DE-590D-A94A-90BA-E87578C69B88}"/>
              </a:ext>
            </a:extLst>
          </p:cNvPr>
          <p:cNvSpPr/>
          <p:nvPr/>
        </p:nvSpPr>
        <p:spPr>
          <a:xfrm>
            <a:off x="6507305" y="3676999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72EB2D1-E28C-124C-A0E0-E3FBAB0E9D42}"/>
              </a:ext>
            </a:extLst>
          </p:cNvPr>
          <p:cNvSpPr txBox="1"/>
          <p:nvPr/>
        </p:nvSpPr>
        <p:spPr>
          <a:xfrm>
            <a:off x="6381970" y="4013370"/>
            <a:ext cx="55721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188AC8F1-20F6-4B4E-BAF5-E3DA56726F83}"/>
              </a:ext>
            </a:extLst>
          </p:cNvPr>
          <p:cNvCxnSpPr>
            <a:cxnSpLocks/>
          </p:cNvCxnSpPr>
          <p:nvPr/>
        </p:nvCxnSpPr>
        <p:spPr>
          <a:xfrm>
            <a:off x="4644312" y="3438173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369671A-FE0E-F044-9716-D76169BB6891}"/>
              </a:ext>
            </a:extLst>
          </p:cNvPr>
          <p:cNvCxnSpPr>
            <a:cxnSpLocks/>
          </p:cNvCxnSpPr>
          <p:nvPr/>
        </p:nvCxnSpPr>
        <p:spPr>
          <a:xfrm>
            <a:off x="4737336" y="4640903"/>
            <a:ext cx="0" cy="4094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5">
            <a:extLst>
              <a:ext uri="{FF2B5EF4-FFF2-40B4-BE49-F238E27FC236}">
                <a16:creationId xmlns:a16="http://schemas.microsoft.com/office/drawing/2014/main" id="{CE3E3F8A-4616-E744-86CF-75239F8A3E06}"/>
              </a:ext>
            </a:extLst>
          </p:cNvPr>
          <p:cNvSpPr txBox="1"/>
          <p:nvPr/>
        </p:nvSpPr>
        <p:spPr>
          <a:xfrm>
            <a:off x="723396" y="229665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F6BE00E9-B2A3-B34D-B77B-7E5BBD00B28C}"/>
              </a:ext>
            </a:extLst>
          </p:cNvPr>
          <p:cNvSpPr txBox="1"/>
          <p:nvPr/>
        </p:nvSpPr>
        <p:spPr>
          <a:xfrm>
            <a:off x="747087" y="3379719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28FB71BA-F879-ED42-AEC1-362A9D4CB0EE}"/>
              </a:ext>
            </a:extLst>
          </p:cNvPr>
          <p:cNvSpPr txBox="1"/>
          <p:nvPr/>
        </p:nvSpPr>
        <p:spPr>
          <a:xfrm>
            <a:off x="747087" y="4661720"/>
            <a:ext cx="3740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0" name="Rectangle 58">
            <a:extLst>
              <a:ext uri="{FF2B5EF4-FFF2-40B4-BE49-F238E27FC236}">
                <a16:creationId xmlns:a16="http://schemas.microsoft.com/office/drawing/2014/main" id="{D9E992FA-7723-A341-84B9-E80B7C482A92}"/>
              </a:ext>
            </a:extLst>
          </p:cNvPr>
          <p:cNvSpPr/>
          <p:nvPr/>
        </p:nvSpPr>
        <p:spPr>
          <a:xfrm>
            <a:off x="1024759" y="5719374"/>
            <a:ext cx="7698827" cy="5255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ccia su 11">
            <a:extLst>
              <a:ext uri="{FF2B5EF4-FFF2-40B4-BE49-F238E27FC236}">
                <a16:creationId xmlns:a16="http://schemas.microsoft.com/office/drawing/2014/main" id="{9A6110D7-899C-E54E-BD83-E4FD0F09E269}"/>
              </a:ext>
            </a:extLst>
          </p:cNvPr>
          <p:cNvSpPr/>
          <p:nvPr/>
        </p:nvSpPr>
        <p:spPr>
          <a:xfrm>
            <a:off x="1171575" y="5813558"/>
            <a:ext cx="257175" cy="3563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49">
            <a:extLst>
              <a:ext uri="{FF2B5EF4-FFF2-40B4-BE49-F238E27FC236}">
                <a16:creationId xmlns:a16="http://schemas.microsoft.com/office/drawing/2014/main" id="{A45F06C4-E5ED-1741-B9D1-CB7FE5943F0A}"/>
              </a:ext>
            </a:extLst>
          </p:cNvPr>
          <p:cNvSpPr txBox="1"/>
          <p:nvPr/>
        </p:nvSpPr>
        <p:spPr>
          <a:xfrm>
            <a:off x="1476758" y="5837077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BeB_Deliver</a:t>
            </a:r>
            <a:endParaRPr lang="en-US" dirty="0"/>
          </a:p>
        </p:txBody>
      </p:sp>
      <p:sp>
        <p:nvSpPr>
          <p:cNvPr id="53" name="Freccia su 17">
            <a:extLst>
              <a:ext uri="{FF2B5EF4-FFF2-40B4-BE49-F238E27FC236}">
                <a16:creationId xmlns:a16="http://schemas.microsoft.com/office/drawing/2014/main" id="{DC0E3488-4FE2-7E43-8DC6-C61BDFF7A82C}"/>
              </a:ext>
            </a:extLst>
          </p:cNvPr>
          <p:cNvSpPr/>
          <p:nvPr/>
        </p:nvSpPr>
        <p:spPr>
          <a:xfrm>
            <a:off x="3331371" y="5813558"/>
            <a:ext cx="257175" cy="356392"/>
          </a:xfrm>
          <a:prstGeom prst="up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1">
            <a:extLst>
              <a:ext uri="{FF2B5EF4-FFF2-40B4-BE49-F238E27FC236}">
                <a16:creationId xmlns:a16="http://schemas.microsoft.com/office/drawing/2014/main" id="{40A85C0D-85B9-1A42-BC89-1C6B7AF93F1E}"/>
              </a:ext>
            </a:extLst>
          </p:cNvPr>
          <p:cNvSpPr txBox="1"/>
          <p:nvPr/>
        </p:nvSpPr>
        <p:spPr>
          <a:xfrm>
            <a:off x="3837575" y="5828318"/>
            <a:ext cx="13450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RB_Deliver</a:t>
            </a:r>
            <a:endParaRPr lang="en-US" dirty="0"/>
          </a:p>
        </p:txBody>
      </p:sp>
      <p:cxnSp>
        <p:nvCxnSpPr>
          <p:cNvPr id="55" name="Connettore 2 7">
            <a:extLst>
              <a:ext uri="{FF2B5EF4-FFF2-40B4-BE49-F238E27FC236}">
                <a16:creationId xmlns:a16="http://schemas.microsoft.com/office/drawing/2014/main" id="{A9E13672-1590-DA41-B800-4FB49E0A743A}"/>
              </a:ext>
            </a:extLst>
          </p:cNvPr>
          <p:cNvCxnSpPr/>
          <p:nvPr/>
        </p:nvCxnSpPr>
        <p:spPr>
          <a:xfrm>
            <a:off x="5360194" y="5813558"/>
            <a:ext cx="0" cy="350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3">
            <a:extLst>
              <a:ext uri="{FF2B5EF4-FFF2-40B4-BE49-F238E27FC236}">
                <a16:creationId xmlns:a16="http://schemas.microsoft.com/office/drawing/2014/main" id="{BFBCD1AB-C471-4746-A69F-E3250C2BEA8F}"/>
              </a:ext>
            </a:extLst>
          </p:cNvPr>
          <p:cNvSpPr txBox="1"/>
          <p:nvPr/>
        </p:nvSpPr>
        <p:spPr>
          <a:xfrm>
            <a:off x="5444835" y="5837077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BeB_Broadcast</a:t>
            </a:r>
            <a:endParaRPr lang="en-US" dirty="0"/>
          </a:p>
        </p:txBody>
      </p:sp>
      <p:sp>
        <p:nvSpPr>
          <p:cNvPr id="57" name="Up-Down Arrow 56">
            <a:extLst>
              <a:ext uri="{FF2B5EF4-FFF2-40B4-BE49-F238E27FC236}">
                <a16:creationId xmlns:a16="http://schemas.microsoft.com/office/drawing/2014/main" id="{543220E3-EF58-8549-8FCE-5416FE9E4A72}"/>
              </a:ext>
            </a:extLst>
          </p:cNvPr>
          <p:cNvSpPr/>
          <p:nvPr/>
        </p:nvSpPr>
        <p:spPr>
          <a:xfrm>
            <a:off x="7223123" y="5813558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508698-73BA-FD4F-8C38-280D052DAA67}"/>
              </a:ext>
            </a:extLst>
          </p:cNvPr>
          <p:cNvSpPr txBox="1"/>
          <p:nvPr/>
        </p:nvSpPr>
        <p:spPr>
          <a:xfrm>
            <a:off x="7380790" y="5813558"/>
            <a:ext cx="174892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RB_Broadcast</a:t>
            </a:r>
            <a:endParaRPr lang="en-US" dirty="0"/>
          </a:p>
        </p:txBody>
      </p:sp>
      <p:sp>
        <p:nvSpPr>
          <p:cNvPr id="59" name="Up-Down Arrow 54">
            <a:extLst>
              <a:ext uri="{FF2B5EF4-FFF2-40B4-BE49-F238E27FC236}">
                <a16:creationId xmlns:a16="http://schemas.microsoft.com/office/drawing/2014/main" id="{6DB50C20-ED2A-0249-9A96-A97236AC2CD6}"/>
              </a:ext>
            </a:extLst>
          </p:cNvPr>
          <p:cNvSpPr/>
          <p:nvPr/>
        </p:nvSpPr>
        <p:spPr>
          <a:xfrm>
            <a:off x="1734417" y="2356559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Up-Down Arrow 54">
            <a:extLst>
              <a:ext uri="{FF2B5EF4-FFF2-40B4-BE49-F238E27FC236}">
                <a16:creationId xmlns:a16="http://schemas.microsoft.com/office/drawing/2014/main" id="{0112DD73-FDC2-734E-8FD2-08C6454BB467}"/>
              </a:ext>
            </a:extLst>
          </p:cNvPr>
          <p:cNvSpPr/>
          <p:nvPr/>
        </p:nvSpPr>
        <p:spPr>
          <a:xfrm>
            <a:off x="3897306" y="2391242"/>
            <a:ext cx="96848" cy="314813"/>
          </a:xfrm>
          <a:prstGeom prst="up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27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Lazy RB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Best case</a:t>
            </a:r>
          </a:p>
          <a:p>
            <a:pPr marL="201168" lvl="1" indent="0">
              <a:buNone/>
            </a:pPr>
            <a:r>
              <a:rPr lang="en-GB" dirty="0">
                <a:ea typeface="ＭＳ Ｐゴシック" charset="0"/>
              </a:rPr>
              <a:t> 1 BEB message per one RB message </a:t>
            </a:r>
          </a:p>
          <a:p>
            <a:pPr marL="201168" lvl="1" indent="0">
              <a:buNone/>
            </a:pPr>
            <a:endParaRPr lang="en-GB" dirty="0">
              <a:ea typeface="ＭＳ Ｐゴシック" charset="0"/>
            </a:endParaRPr>
          </a:p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Worst case</a:t>
            </a:r>
          </a:p>
          <a:p>
            <a:pPr marL="201168" lvl="1" indent="0">
              <a:buNone/>
            </a:pPr>
            <a:r>
              <a:rPr lang="en-GB" dirty="0">
                <a:ea typeface="ＭＳ Ｐゴシック" charset="0"/>
              </a:rPr>
              <a:t>  n-1 BEB messages per one RB (this is the case with n-1 failures)</a:t>
            </a:r>
          </a:p>
          <a:p>
            <a:pPr marL="201168" lvl="1" indent="0">
              <a:buNone/>
            </a:pPr>
            <a:endParaRPr lang="en-GB" dirty="0">
              <a:ea typeface="ＭＳ Ｐゴシック" charset="0"/>
            </a:endParaRPr>
          </a:p>
          <a:p>
            <a:pPr marL="201168" lvl="1" indent="0">
              <a:buNone/>
            </a:pPr>
            <a:endParaRPr lang="en-GB" dirty="0">
              <a:ea typeface="ＭＳ Ｐゴシック" charset="0"/>
            </a:endParaRPr>
          </a:p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What if the FD is not perfect?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440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(Regular) Reliable Broadcast (RB)</a:t>
            </a:r>
            <a:br>
              <a:rPr lang="en-GB" sz="4000" dirty="0"/>
            </a:br>
            <a:r>
              <a:rPr lang="en-GB" sz="4000" dirty="0"/>
              <a:t>Implementation in Asynchronous Systems</a:t>
            </a:r>
          </a:p>
        </p:txBody>
      </p:sp>
      <p:sp>
        <p:nvSpPr>
          <p:cNvPr id="4" name="Rettangolo arrotondato 5"/>
          <p:cNvSpPr/>
          <p:nvPr/>
        </p:nvSpPr>
        <p:spPr>
          <a:xfrm>
            <a:off x="7462549" y="2620172"/>
            <a:ext cx="2064687" cy="689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RB</a:t>
            </a:r>
          </a:p>
        </p:txBody>
      </p:sp>
      <p:cxnSp>
        <p:nvCxnSpPr>
          <p:cNvPr id="5" name="Connettore 2 6"/>
          <p:cNvCxnSpPr/>
          <p:nvPr/>
        </p:nvCxnSpPr>
        <p:spPr>
          <a:xfrm flipH="1" flipV="1">
            <a:off x="8990648" y="1997170"/>
            <a:ext cx="2" cy="62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7"/>
          <p:cNvSpPr txBox="1"/>
          <p:nvPr/>
        </p:nvSpPr>
        <p:spPr>
          <a:xfrm>
            <a:off x="7015242" y="2215544"/>
            <a:ext cx="1599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RB_Broadcast</a:t>
            </a:r>
            <a:r>
              <a:rPr lang="en-US" sz="1200" dirty="0"/>
              <a:t> (m)</a:t>
            </a:r>
          </a:p>
        </p:txBody>
      </p:sp>
      <p:cxnSp>
        <p:nvCxnSpPr>
          <p:cNvPr id="7" name="Connettore 2 9"/>
          <p:cNvCxnSpPr/>
          <p:nvPr/>
        </p:nvCxnSpPr>
        <p:spPr>
          <a:xfrm>
            <a:off x="7858081" y="2021798"/>
            <a:ext cx="0" cy="59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12"/>
          <p:cNvSpPr txBox="1"/>
          <p:nvPr/>
        </p:nvSpPr>
        <p:spPr>
          <a:xfrm>
            <a:off x="8628123" y="2138071"/>
            <a:ext cx="1086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RB_Deliver</a:t>
            </a:r>
            <a:r>
              <a:rPr lang="en-US" sz="1200" dirty="0"/>
              <a:t>(m)</a:t>
            </a:r>
          </a:p>
        </p:txBody>
      </p:sp>
      <p:sp>
        <p:nvSpPr>
          <p:cNvPr id="9" name="Rettangolo arrotondato 5"/>
          <p:cNvSpPr/>
          <p:nvPr/>
        </p:nvSpPr>
        <p:spPr>
          <a:xfrm>
            <a:off x="7462549" y="4035590"/>
            <a:ext cx="2064687" cy="689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BEB</a:t>
            </a:r>
          </a:p>
        </p:txBody>
      </p:sp>
      <p:cxnSp>
        <p:nvCxnSpPr>
          <p:cNvPr id="10" name="Connettore 2 6"/>
          <p:cNvCxnSpPr/>
          <p:nvPr/>
        </p:nvCxnSpPr>
        <p:spPr>
          <a:xfrm flipH="1" flipV="1">
            <a:off x="8990650" y="3309939"/>
            <a:ext cx="2" cy="803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7"/>
          <p:cNvSpPr txBox="1"/>
          <p:nvPr/>
        </p:nvSpPr>
        <p:spPr>
          <a:xfrm>
            <a:off x="7122489" y="3630962"/>
            <a:ext cx="167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BEB_Broadcast</a:t>
            </a:r>
            <a:r>
              <a:rPr lang="en-US" sz="1200" dirty="0"/>
              <a:t> (m)</a:t>
            </a:r>
          </a:p>
        </p:txBody>
      </p:sp>
      <p:cxnSp>
        <p:nvCxnSpPr>
          <p:cNvPr id="12" name="Connettore 2 9"/>
          <p:cNvCxnSpPr/>
          <p:nvPr/>
        </p:nvCxnSpPr>
        <p:spPr>
          <a:xfrm>
            <a:off x="7858081" y="3309939"/>
            <a:ext cx="0" cy="72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8628126" y="3630962"/>
            <a:ext cx="1161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BEB_Deliver</a:t>
            </a:r>
            <a:r>
              <a:rPr lang="en-US" sz="1200" dirty="0"/>
              <a:t>(m)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5218" y="2138071"/>
            <a:ext cx="1841941" cy="14617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ine Callout 2 25"/>
          <p:cNvSpPr/>
          <p:nvPr/>
        </p:nvSpPr>
        <p:spPr>
          <a:xfrm>
            <a:off x="5816656" y="5089875"/>
            <a:ext cx="2642755" cy="969499"/>
          </a:xfrm>
          <a:prstGeom prst="borderCallout2">
            <a:avLst>
              <a:gd name="adj1" fmla="val 50750"/>
              <a:gd name="adj2" fmla="val -4665"/>
              <a:gd name="adj3" fmla="val 49750"/>
              <a:gd name="adj4" fmla="val -16300"/>
              <a:gd name="adj5" fmla="val -71500"/>
              <a:gd name="adj6" fmla="val -58773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algorithm is Eager in the sense that it retransmits every message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021798"/>
            <a:ext cx="3515372" cy="372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79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Eager RB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GB" dirty="0">
                <a:ea typeface="ＭＳ Ｐゴシック" charset="0"/>
              </a:rPr>
              <a:t>  Best case = Worst case</a:t>
            </a:r>
          </a:p>
          <a:p>
            <a:pPr marL="201168" lvl="1" indent="0">
              <a:buNone/>
            </a:pPr>
            <a:r>
              <a:rPr lang="en-GB" dirty="0">
                <a:ea typeface="ＭＳ Ｐゴシック" charset="0"/>
              </a:rPr>
              <a:t>  n BEB messages per </a:t>
            </a:r>
            <a:r>
              <a:rPr lang="en-GB">
                <a:ea typeface="ＭＳ Ｐゴシック" charset="0"/>
              </a:rPr>
              <a:t>one RB</a:t>
            </a:r>
            <a:endParaRPr lang="en-GB" dirty="0">
              <a:ea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075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BEB vs RB</a:t>
            </a:r>
          </a:p>
        </p:txBody>
      </p:sp>
      <p:sp>
        <p:nvSpPr>
          <p:cNvPr id="49157" name="Line 7"/>
          <p:cNvSpPr>
            <a:spLocks noChangeShapeType="1"/>
          </p:cNvSpPr>
          <p:nvPr/>
        </p:nvSpPr>
        <p:spPr bwMode="auto">
          <a:xfrm>
            <a:off x="1317899" y="2632162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Line 8"/>
          <p:cNvSpPr>
            <a:spLocks noChangeShapeType="1"/>
          </p:cNvSpPr>
          <p:nvPr/>
        </p:nvSpPr>
        <p:spPr bwMode="auto">
          <a:xfrm>
            <a:off x="1317899" y="3279862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Line 9"/>
          <p:cNvSpPr>
            <a:spLocks noChangeShapeType="1"/>
          </p:cNvSpPr>
          <p:nvPr/>
        </p:nvSpPr>
        <p:spPr bwMode="auto">
          <a:xfrm>
            <a:off x="1317899" y="3784687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AutoShape 10"/>
          <p:cNvSpPr>
            <a:spLocks noChangeArrowheads="1"/>
          </p:cNvSpPr>
          <p:nvPr/>
        </p:nvSpPr>
        <p:spPr bwMode="auto">
          <a:xfrm>
            <a:off x="2694856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1" name="AutoShape 11"/>
          <p:cNvSpPr>
            <a:spLocks noChangeArrowheads="1"/>
          </p:cNvSpPr>
          <p:nvPr/>
        </p:nvSpPr>
        <p:spPr bwMode="auto">
          <a:xfrm>
            <a:off x="4477222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2" name="AutoShape 12"/>
          <p:cNvSpPr>
            <a:spLocks noChangeArrowheads="1"/>
          </p:cNvSpPr>
          <p:nvPr/>
        </p:nvSpPr>
        <p:spPr bwMode="auto">
          <a:xfrm>
            <a:off x="3747666" y="3495762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3" name="AutoShape 13"/>
          <p:cNvSpPr>
            <a:spLocks noChangeArrowheads="1"/>
          </p:cNvSpPr>
          <p:nvPr/>
        </p:nvSpPr>
        <p:spPr bwMode="auto">
          <a:xfrm>
            <a:off x="4234335" y="2487701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4" name="AutoShape 14"/>
          <p:cNvSpPr>
            <a:spLocks noChangeArrowheads="1"/>
          </p:cNvSpPr>
          <p:nvPr/>
        </p:nvSpPr>
        <p:spPr bwMode="auto">
          <a:xfrm>
            <a:off x="2369816" y="3495762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5" name="AutoShape 15"/>
          <p:cNvSpPr>
            <a:spLocks noChangeArrowheads="1"/>
          </p:cNvSpPr>
          <p:nvPr/>
        </p:nvSpPr>
        <p:spPr bwMode="auto">
          <a:xfrm>
            <a:off x="3909294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6" name="AutoShape 16"/>
          <p:cNvSpPr>
            <a:spLocks noChangeArrowheads="1"/>
          </p:cNvSpPr>
          <p:nvPr/>
        </p:nvSpPr>
        <p:spPr bwMode="auto">
          <a:xfrm>
            <a:off x="1884041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7" name="AutoShape 17"/>
          <p:cNvSpPr>
            <a:spLocks noChangeArrowheads="1"/>
          </p:cNvSpPr>
          <p:nvPr/>
        </p:nvSpPr>
        <p:spPr bwMode="auto">
          <a:xfrm>
            <a:off x="3100265" y="3495762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8" name="AutoShape 18"/>
          <p:cNvSpPr>
            <a:spLocks noChangeArrowheads="1"/>
          </p:cNvSpPr>
          <p:nvPr/>
        </p:nvSpPr>
        <p:spPr bwMode="auto">
          <a:xfrm>
            <a:off x="2369816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69" name="AutoShape 19"/>
          <p:cNvSpPr>
            <a:spLocks noChangeArrowheads="1"/>
          </p:cNvSpPr>
          <p:nvPr/>
        </p:nvSpPr>
        <p:spPr bwMode="auto">
          <a:xfrm>
            <a:off x="3503887" y="2344826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0" name="AutoShape 20"/>
          <p:cNvSpPr>
            <a:spLocks noChangeArrowheads="1"/>
          </p:cNvSpPr>
          <p:nvPr/>
        </p:nvSpPr>
        <p:spPr bwMode="auto">
          <a:xfrm>
            <a:off x="3991447" y="2344826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1" name="Line 21"/>
          <p:cNvSpPr>
            <a:spLocks noChangeShapeType="1"/>
          </p:cNvSpPr>
          <p:nvPr/>
        </p:nvSpPr>
        <p:spPr bwMode="auto">
          <a:xfrm>
            <a:off x="5711430" y="4875213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2" name="Line 22"/>
          <p:cNvSpPr>
            <a:spLocks noChangeShapeType="1"/>
          </p:cNvSpPr>
          <p:nvPr/>
        </p:nvSpPr>
        <p:spPr bwMode="auto">
          <a:xfrm>
            <a:off x="5711430" y="5522913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3" name="Line 23"/>
          <p:cNvSpPr>
            <a:spLocks noChangeShapeType="1"/>
          </p:cNvSpPr>
          <p:nvPr/>
        </p:nvSpPr>
        <p:spPr bwMode="auto">
          <a:xfrm>
            <a:off x="5711430" y="6027738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4" name="AutoShape 24"/>
          <p:cNvSpPr>
            <a:spLocks noChangeArrowheads="1"/>
          </p:cNvSpPr>
          <p:nvPr/>
        </p:nvSpPr>
        <p:spPr bwMode="auto">
          <a:xfrm>
            <a:off x="7088387" y="45878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5" name="AutoShape 25"/>
          <p:cNvSpPr>
            <a:spLocks noChangeArrowheads="1"/>
          </p:cNvSpPr>
          <p:nvPr/>
        </p:nvSpPr>
        <p:spPr bwMode="auto">
          <a:xfrm>
            <a:off x="8870753" y="52355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6" name="AutoShape 26"/>
          <p:cNvSpPr>
            <a:spLocks noChangeArrowheads="1"/>
          </p:cNvSpPr>
          <p:nvPr/>
        </p:nvSpPr>
        <p:spPr bwMode="auto">
          <a:xfrm>
            <a:off x="8627866" y="4730752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7" name="AutoShape 27"/>
          <p:cNvSpPr>
            <a:spLocks noChangeArrowheads="1"/>
          </p:cNvSpPr>
          <p:nvPr/>
        </p:nvSpPr>
        <p:spPr bwMode="auto">
          <a:xfrm>
            <a:off x="6763347" y="5738813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8" name="AutoShape 28"/>
          <p:cNvSpPr>
            <a:spLocks noChangeArrowheads="1"/>
          </p:cNvSpPr>
          <p:nvPr/>
        </p:nvSpPr>
        <p:spPr bwMode="auto">
          <a:xfrm>
            <a:off x="8302825" y="52355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79" name="AutoShape 30"/>
          <p:cNvSpPr>
            <a:spLocks noChangeArrowheads="1"/>
          </p:cNvSpPr>
          <p:nvPr/>
        </p:nvSpPr>
        <p:spPr bwMode="auto">
          <a:xfrm>
            <a:off x="7493796" y="5738813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0" name="AutoShape 31"/>
          <p:cNvSpPr>
            <a:spLocks noChangeArrowheads="1"/>
          </p:cNvSpPr>
          <p:nvPr/>
        </p:nvSpPr>
        <p:spPr bwMode="auto">
          <a:xfrm>
            <a:off x="8302825" y="4587877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42BA9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1" name="Rectangle 32"/>
          <p:cNvSpPr>
            <a:spLocks noChangeArrowheads="1"/>
          </p:cNvSpPr>
          <p:nvPr/>
        </p:nvSpPr>
        <p:spPr bwMode="auto">
          <a:xfrm>
            <a:off x="925831" y="2128925"/>
            <a:ext cx="4847982" cy="187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9182" name="Rectangle 33"/>
          <p:cNvSpPr>
            <a:spLocks noChangeArrowheads="1"/>
          </p:cNvSpPr>
          <p:nvPr/>
        </p:nvSpPr>
        <p:spPr bwMode="auto">
          <a:xfrm>
            <a:off x="5386389" y="4300539"/>
            <a:ext cx="4698801" cy="1871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386389" y="4659314"/>
            <a:ext cx="435769" cy="1489075"/>
            <a:chOff x="204" y="2069"/>
            <a:chExt cx="244" cy="938"/>
          </a:xfrm>
        </p:grpSpPr>
        <p:sp>
          <p:nvSpPr>
            <p:cNvPr id="105508" name="Text Box 35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05509" name="Text Box 36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05510" name="Text Box 37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994644" y="2416263"/>
            <a:ext cx="435769" cy="1489075"/>
            <a:chOff x="204" y="2069"/>
            <a:chExt cx="244" cy="938"/>
          </a:xfrm>
        </p:grpSpPr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05506" name="Text Box 40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sp>
        <p:nvSpPr>
          <p:cNvPr id="49185" name="AutoShape 42"/>
          <p:cNvSpPr>
            <a:spLocks noChangeArrowheads="1"/>
          </p:cNvSpPr>
          <p:nvPr/>
        </p:nvSpPr>
        <p:spPr bwMode="auto">
          <a:xfrm>
            <a:off x="3180631" y="299252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42BA9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9790" y="2579334"/>
            <a:ext cx="251281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Satisfies BEB but not RB</a:t>
            </a:r>
          </a:p>
          <a:p>
            <a:r>
              <a:rPr lang="en-US" dirty="0"/>
              <a:t>(violation of the Agreement Property)</a:t>
            </a:r>
          </a:p>
        </p:txBody>
      </p:sp>
      <p:sp>
        <p:nvSpPr>
          <p:cNvPr id="5" name="Left Arrow 4"/>
          <p:cNvSpPr/>
          <p:nvPr/>
        </p:nvSpPr>
        <p:spPr>
          <a:xfrm>
            <a:off x="6117184" y="2908500"/>
            <a:ext cx="646163" cy="227784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560803" y="2395320"/>
            <a:ext cx="9695" cy="473683"/>
          </a:xfrm>
          <a:prstGeom prst="straightConnector1">
            <a:avLst/>
          </a:prstGeom>
          <a:ln>
            <a:solidFill>
              <a:schemeClr val="accent4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703508" y="3065551"/>
            <a:ext cx="9695" cy="473683"/>
          </a:xfrm>
          <a:prstGeom prst="straightConnector1">
            <a:avLst/>
          </a:prstGeom>
          <a:ln>
            <a:solidFill>
              <a:srgbClr val="FF66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2078879" y="3065551"/>
            <a:ext cx="9695" cy="473683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1898008" y="3519000"/>
            <a:ext cx="9695" cy="47368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107489" y="4638371"/>
            <a:ext cx="9695" cy="473683"/>
          </a:xfrm>
          <a:prstGeom prst="straightConnector1">
            <a:avLst/>
          </a:prstGeom>
          <a:ln>
            <a:solidFill>
              <a:schemeClr val="accent4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6237789" y="5308602"/>
            <a:ext cx="9695" cy="473683"/>
          </a:xfrm>
          <a:prstGeom prst="straightConnector1">
            <a:avLst/>
          </a:prstGeom>
          <a:ln>
            <a:solidFill>
              <a:srgbClr val="FF66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6613160" y="5308602"/>
            <a:ext cx="9695" cy="473683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06040" y="4422471"/>
            <a:ext cx="499556" cy="5972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222671" y="5113449"/>
            <a:ext cx="659960" cy="2686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543868" y="5064761"/>
            <a:ext cx="146888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Satisfies RB</a:t>
            </a:r>
          </a:p>
        </p:txBody>
      </p:sp>
    </p:spTree>
    <p:extLst>
      <p:ext uri="{BB962C8B-B14F-4D97-AF65-F5344CB8AC3E}">
        <p14:creationId xmlns:p14="http://schemas.microsoft.com/office/powerpoint/2010/main" val="3602308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Uniform Reliable Broadcast (URB) Specification</a:t>
            </a:r>
          </a:p>
        </p:txBody>
      </p:sp>
      <p:sp>
        <p:nvSpPr>
          <p:cNvPr id="113668" name="Text Box 8"/>
          <p:cNvSpPr txBox="1">
            <a:spLocks noChangeArrowheads="1"/>
          </p:cNvSpPr>
          <p:nvPr/>
        </p:nvSpPr>
        <p:spPr bwMode="auto">
          <a:xfrm>
            <a:off x="4709554" y="5555236"/>
            <a:ext cx="47420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en-GB" sz="1400" dirty="0">
                <a:latin typeface="+mn-lt"/>
                <a:ea typeface="ＭＳ Ｐゴシック" charset="0"/>
              </a:rPr>
              <a:t>the set of messages delivered by a correct process is a superset of the ones delivered by a faulty one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38" y="1859481"/>
            <a:ext cx="6014184" cy="3311381"/>
          </a:xfrm>
          <a:prstGeom prst="rect">
            <a:avLst/>
          </a:prstGeom>
        </p:spPr>
      </p:pic>
      <p:sp>
        <p:nvSpPr>
          <p:cNvPr id="7" name="Right Brace 6"/>
          <p:cNvSpPr/>
          <p:nvPr/>
        </p:nvSpPr>
        <p:spPr>
          <a:xfrm>
            <a:off x="6627972" y="3266765"/>
            <a:ext cx="375051" cy="1163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80580" y="3631481"/>
            <a:ext cx="238482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as BEB and RB</a:t>
            </a:r>
          </a:p>
        </p:txBody>
      </p:sp>
      <p:sp>
        <p:nvSpPr>
          <p:cNvPr id="9" name="Right Brace 8"/>
          <p:cNvSpPr/>
          <p:nvPr/>
        </p:nvSpPr>
        <p:spPr>
          <a:xfrm>
            <a:off x="6627972" y="4536688"/>
            <a:ext cx="375051" cy="436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206607" y="4536688"/>
            <a:ext cx="194858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Uniform agreement</a:t>
            </a:r>
          </a:p>
          <a:p>
            <a:endParaRPr lang="en-US" dirty="0"/>
          </a:p>
        </p:txBody>
      </p:sp>
      <p:sp>
        <p:nvSpPr>
          <p:cNvPr id="11" name="Plus 10"/>
          <p:cNvSpPr/>
          <p:nvPr/>
        </p:nvSpPr>
        <p:spPr>
          <a:xfrm>
            <a:off x="7419884" y="4081267"/>
            <a:ext cx="310222" cy="348898"/>
          </a:xfrm>
          <a:prstGeom prst="mathPlus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arrotondato 5"/>
          <p:cNvSpPr/>
          <p:nvPr/>
        </p:nvSpPr>
        <p:spPr>
          <a:xfrm>
            <a:off x="7373983" y="2650358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URB</a:t>
            </a:r>
          </a:p>
        </p:txBody>
      </p:sp>
      <p:cxnSp>
        <p:nvCxnSpPr>
          <p:cNvPr id="13" name="Connettore 2 6"/>
          <p:cNvCxnSpPr/>
          <p:nvPr/>
        </p:nvCxnSpPr>
        <p:spPr>
          <a:xfrm flipH="1" flipV="1">
            <a:off x="9245645" y="1772024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7"/>
          <p:cNvSpPr txBox="1"/>
          <p:nvPr/>
        </p:nvSpPr>
        <p:spPr>
          <a:xfrm>
            <a:off x="6627972" y="2130720"/>
            <a:ext cx="215669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URB_Broadcast</a:t>
            </a:r>
            <a:r>
              <a:rPr lang="en-US" dirty="0"/>
              <a:t> 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cxnSp>
        <p:nvCxnSpPr>
          <p:cNvPr id="15" name="Connettore 2 9"/>
          <p:cNvCxnSpPr/>
          <p:nvPr/>
        </p:nvCxnSpPr>
        <p:spPr>
          <a:xfrm>
            <a:off x="7858442" y="1881904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2"/>
          <p:cNvSpPr txBox="1"/>
          <p:nvPr/>
        </p:nvSpPr>
        <p:spPr>
          <a:xfrm>
            <a:off x="8572621" y="2122055"/>
            <a:ext cx="171437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URB_Deliver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sp>
        <p:nvSpPr>
          <p:cNvPr id="3" name="Line Callout 2 2"/>
          <p:cNvSpPr/>
          <p:nvPr/>
        </p:nvSpPr>
        <p:spPr>
          <a:xfrm>
            <a:off x="662868" y="5535845"/>
            <a:ext cx="2762912" cy="746514"/>
          </a:xfrm>
          <a:prstGeom prst="borderCallout2">
            <a:avLst>
              <a:gd name="adj1" fmla="val -9159"/>
              <a:gd name="adj2" fmla="val 49486"/>
              <a:gd name="adj3" fmla="val -34410"/>
              <a:gd name="adj4" fmla="val 40075"/>
              <a:gd name="adj5" fmla="val -74513"/>
              <a:gd name="adj6" fmla="val 39787"/>
            </a:avLst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ea typeface="MS PGothic" charset="0"/>
              </a:rPr>
              <a:t>Agreement on a message delivered by  any process (crashed or not)!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19605" y="5729744"/>
            <a:ext cx="639832" cy="2808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0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7" grpId="0" animBg="1"/>
      <p:bldP spid="8" grpId="0"/>
      <p:bldP spid="9" grpId="0" animBg="1"/>
      <p:bldP spid="10" grpId="0"/>
      <p:bldP spid="11" grpId="0" animBg="1"/>
      <p:bldP spid="3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Line 7"/>
          <p:cNvSpPr>
            <a:spLocks noChangeShapeType="1"/>
          </p:cNvSpPr>
          <p:nvPr/>
        </p:nvSpPr>
        <p:spPr bwMode="auto">
          <a:xfrm>
            <a:off x="685787" y="2492374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4" name="Line 8"/>
          <p:cNvSpPr>
            <a:spLocks noChangeShapeType="1"/>
          </p:cNvSpPr>
          <p:nvPr/>
        </p:nvSpPr>
        <p:spPr bwMode="auto">
          <a:xfrm>
            <a:off x="685788" y="3140074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5" name="Line 9"/>
          <p:cNvSpPr>
            <a:spLocks noChangeShapeType="1"/>
          </p:cNvSpPr>
          <p:nvPr/>
        </p:nvSpPr>
        <p:spPr bwMode="auto">
          <a:xfrm>
            <a:off x="685788" y="3644899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6" name="AutoShape 11"/>
          <p:cNvSpPr>
            <a:spLocks noChangeArrowheads="1"/>
          </p:cNvSpPr>
          <p:nvPr/>
        </p:nvSpPr>
        <p:spPr bwMode="auto">
          <a:xfrm>
            <a:off x="2062745" y="22050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17" name="AutoShape 12"/>
          <p:cNvSpPr>
            <a:spLocks noChangeArrowheads="1"/>
          </p:cNvSpPr>
          <p:nvPr/>
        </p:nvSpPr>
        <p:spPr bwMode="auto">
          <a:xfrm>
            <a:off x="3845111" y="28527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18" name="AutoShape 13"/>
          <p:cNvSpPr>
            <a:spLocks noChangeArrowheads="1"/>
          </p:cNvSpPr>
          <p:nvPr/>
        </p:nvSpPr>
        <p:spPr bwMode="auto">
          <a:xfrm>
            <a:off x="1009042" y="33575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19" name="AutoShape 14"/>
          <p:cNvSpPr>
            <a:spLocks noChangeArrowheads="1"/>
          </p:cNvSpPr>
          <p:nvPr/>
        </p:nvSpPr>
        <p:spPr bwMode="auto">
          <a:xfrm>
            <a:off x="3602223" y="2347911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0" name="AutoShape 15"/>
          <p:cNvSpPr>
            <a:spLocks noChangeArrowheads="1"/>
          </p:cNvSpPr>
          <p:nvPr/>
        </p:nvSpPr>
        <p:spPr bwMode="auto">
          <a:xfrm>
            <a:off x="1737704" y="335597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1" name="AutoShape 16"/>
          <p:cNvSpPr>
            <a:spLocks noChangeArrowheads="1"/>
          </p:cNvSpPr>
          <p:nvPr/>
        </p:nvSpPr>
        <p:spPr bwMode="auto">
          <a:xfrm>
            <a:off x="3277182" y="28527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2" name="AutoShape 17"/>
          <p:cNvSpPr>
            <a:spLocks noChangeArrowheads="1"/>
          </p:cNvSpPr>
          <p:nvPr/>
        </p:nvSpPr>
        <p:spPr bwMode="auto">
          <a:xfrm>
            <a:off x="1251929" y="22050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3" name="AutoShape 18"/>
          <p:cNvSpPr>
            <a:spLocks noChangeArrowheads="1"/>
          </p:cNvSpPr>
          <p:nvPr/>
        </p:nvSpPr>
        <p:spPr bwMode="auto">
          <a:xfrm>
            <a:off x="2468154" y="3355975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4" name="AutoShape 19"/>
          <p:cNvSpPr>
            <a:spLocks noChangeArrowheads="1"/>
          </p:cNvSpPr>
          <p:nvPr/>
        </p:nvSpPr>
        <p:spPr bwMode="auto">
          <a:xfrm>
            <a:off x="1737704" y="28527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5" name="AutoShape 20"/>
          <p:cNvSpPr>
            <a:spLocks noChangeArrowheads="1"/>
          </p:cNvSpPr>
          <p:nvPr/>
        </p:nvSpPr>
        <p:spPr bwMode="auto">
          <a:xfrm>
            <a:off x="2871776" y="22050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26" name="Line 21"/>
          <p:cNvSpPr>
            <a:spLocks noChangeShapeType="1"/>
          </p:cNvSpPr>
          <p:nvPr/>
        </p:nvSpPr>
        <p:spPr bwMode="auto">
          <a:xfrm>
            <a:off x="5627477" y="2492374"/>
            <a:ext cx="30771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27" name="Line 22"/>
          <p:cNvSpPr>
            <a:spLocks noChangeShapeType="1"/>
          </p:cNvSpPr>
          <p:nvPr/>
        </p:nvSpPr>
        <p:spPr bwMode="auto">
          <a:xfrm>
            <a:off x="5627476" y="3140074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28" name="Line 23"/>
          <p:cNvSpPr>
            <a:spLocks noChangeShapeType="1"/>
          </p:cNvSpPr>
          <p:nvPr/>
        </p:nvSpPr>
        <p:spPr bwMode="auto">
          <a:xfrm>
            <a:off x="5627476" y="3644899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29" name="AutoShape 24"/>
          <p:cNvSpPr>
            <a:spLocks noChangeArrowheads="1"/>
          </p:cNvSpPr>
          <p:nvPr/>
        </p:nvSpPr>
        <p:spPr bwMode="auto">
          <a:xfrm>
            <a:off x="7004435" y="22050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0" name="AutoShape 25"/>
          <p:cNvSpPr>
            <a:spLocks noChangeArrowheads="1"/>
          </p:cNvSpPr>
          <p:nvPr/>
        </p:nvSpPr>
        <p:spPr bwMode="auto">
          <a:xfrm>
            <a:off x="8786801" y="28527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1" name="AutoShape 26"/>
          <p:cNvSpPr>
            <a:spLocks noChangeArrowheads="1"/>
          </p:cNvSpPr>
          <p:nvPr/>
        </p:nvSpPr>
        <p:spPr bwMode="auto">
          <a:xfrm>
            <a:off x="5950732" y="33575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2" name="AutoShape 27"/>
          <p:cNvSpPr>
            <a:spLocks noChangeArrowheads="1"/>
          </p:cNvSpPr>
          <p:nvPr/>
        </p:nvSpPr>
        <p:spPr bwMode="auto">
          <a:xfrm>
            <a:off x="8543912" y="2347911"/>
            <a:ext cx="648295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3" name="AutoShape 28"/>
          <p:cNvSpPr>
            <a:spLocks noChangeArrowheads="1"/>
          </p:cNvSpPr>
          <p:nvPr/>
        </p:nvSpPr>
        <p:spPr bwMode="auto">
          <a:xfrm>
            <a:off x="6679394" y="3355975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4" name="AutoShape 29"/>
          <p:cNvSpPr>
            <a:spLocks noChangeArrowheads="1"/>
          </p:cNvSpPr>
          <p:nvPr/>
        </p:nvSpPr>
        <p:spPr bwMode="auto">
          <a:xfrm>
            <a:off x="8218873" y="28527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5" name="AutoShape 30"/>
          <p:cNvSpPr>
            <a:spLocks noChangeArrowheads="1"/>
          </p:cNvSpPr>
          <p:nvPr/>
        </p:nvSpPr>
        <p:spPr bwMode="auto">
          <a:xfrm>
            <a:off x="6193619" y="22050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6" name="AutoShape 31"/>
          <p:cNvSpPr>
            <a:spLocks noChangeArrowheads="1"/>
          </p:cNvSpPr>
          <p:nvPr/>
        </p:nvSpPr>
        <p:spPr bwMode="auto">
          <a:xfrm>
            <a:off x="7409842" y="335597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7" name="AutoShape 32"/>
          <p:cNvSpPr>
            <a:spLocks noChangeArrowheads="1"/>
          </p:cNvSpPr>
          <p:nvPr/>
        </p:nvSpPr>
        <p:spPr bwMode="auto">
          <a:xfrm>
            <a:off x="6679394" y="285273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8" name="AutoShape 33"/>
          <p:cNvSpPr>
            <a:spLocks noChangeArrowheads="1"/>
          </p:cNvSpPr>
          <p:nvPr/>
        </p:nvSpPr>
        <p:spPr bwMode="auto">
          <a:xfrm>
            <a:off x="7813464" y="22050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39" name="AutoShape 34"/>
          <p:cNvSpPr>
            <a:spLocks noChangeArrowheads="1"/>
          </p:cNvSpPr>
          <p:nvPr/>
        </p:nvSpPr>
        <p:spPr bwMode="auto">
          <a:xfrm>
            <a:off x="8220657" y="3355975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6" name="AutoShape 61"/>
          <p:cNvSpPr>
            <a:spLocks noChangeArrowheads="1"/>
          </p:cNvSpPr>
          <p:nvPr/>
        </p:nvSpPr>
        <p:spPr bwMode="auto">
          <a:xfrm>
            <a:off x="5627476" y="220503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71" name="Rectangle 69"/>
          <p:cNvSpPr>
            <a:spLocks noChangeArrowheads="1"/>
          </p:cNvSpPr>
          <p:nvPr/>
        </p:nvSpPr>
        <p:spPr bwMode="auto">
          <a:xfrm>
            <a:off x="362533" y="1989137"/>
            <a:ext cx="4698802" cy="1871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72" name="Rectangle 70"/>
          <p:cNvSpPr>
            <a:spLocks noChangeArrowheads="1"/>
          </p:cNvSpPr>
          <p:nvPr/>
        </p:nvSpPr>
        <p:spPr bwMode="auto">
          <a:xfrm>
            <a:off x="5384589" y="1989137"/>
            <a:ext cx="4698802" cy="1871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grpSp>
        <p:nvGrpSpPr>
          <p:cNvPr id="115775" name="Group 76"/>
          <p:cNvGrpSpPr>
            <a:grpSpLocks/>
          </p:cNvGrpSpPr>
          <p:nvPr/>
        </p:nvGrpSpPr>
        <p:grpSpPr bwMode="auto">
          <a:xfrm>
            <a:off x="362532" y="2276475"/>
            <a:ext cx="435769" cy="1489075"/>
            <a:chOff x="204" y="2069"/>
            <a:chExt cx="244" cy="938"/>
          </a:xfrm>
        </p:grpSpPr>
        <p:sp>
          <p:nvSpPr>
            <p:cNvPr id="115794" name="Text Box 73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15795" name="Text Box 74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15796" name="Text Box 75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grpSp>
        <p:nvGrpSpPr>
          <p:cNvPr id="115778" name="Group 85"/>
          <p:cNvGrpSpPr>
            <a:grpSpLocks/>
          </p:cNvGrpSpPr>
          <p:nvPr/>
        </p:nvGrpSpPr>
        <p:grpSpPr bwMode="auto">
          <a:xfrm>
            <a:off x="5304222" y="2276475"/>
            <a:ext cx="435769" cy="1489075"/>
            <a:chOff x="204" y="2069"/>
            <a:chExt cx="244" cy="938"/>
          </a:xfrm>
        </p:grpSpPr>
        <p:sp>
          <p:nvSpPr>
            <p:cNvPr id="115785" name="Text Box 86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15786" name="Text Box 87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15787" name="Text Box 88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sp>
        <p:nvSpPr>
          <p:cNvPr id="115779" name="Text Box 90"/>
          <p:cNvSpPr txBox="1">
            <a:spLocks noChangeArrowheads="1"/>
          </p:cNvSpPr>
          <p:nvPr/>
        </p:nvSpPr>
        <p:spPr bwMode="auto">
          <a:xfrm>
            <a:off x="362533" y="1989137"/>
            <a:ext cx="483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it-IT" sz="2000">
                <a:ea typeface="ＭＳ Ｐゴシック" charset="0"/>
              </a:rPr>
              <a:t>R1</a:t>
            </a:r>
          </a:p>
        </p:txBody>
      </p:sp>
      <p:sp>
        <p:nvSpPr>
          <p:cNvPr id="115780" name="Text Box 91"/>
          <p:cNvSpPr txBox="1">
            <a:spLocks noChangeArrowheads="1"/>
          </p:cNvSpPr>
          <p:nvPr/>
        </p:nvSpPr>
        <p:spPr bwMode="auto">
          <a:xfrm>
            <a:off x="9597615" y="1989137"/>
            <a:ext cx="483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it-IT" sz="2000">
                <a:ea typeface="ＭＳ Ｐゴシック" charset="0"/>
              </a:rPr>
              <a:t>R2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BEB vs RB vs URB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51929" y="4731160"/>
            <a:ext cx="18502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URB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2884" y="4468472"/>
            <a:ext cx="356473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BEB if yellow message is sent by p1</a:t>
            </a:r>
          </a:p>
          <a:p>
            <a:endParaRPr lang="en-US" dirty="0"/>
          </a:p>
          <a:p>
            <a:r>
              <a:rPr lang="en-US" dirty="0"/>
              <a:t>Non-correct otherwise</a:t>
            </a:r>
          </a:p>
        </p:txBody>
      </p:sp>
    </p:spTree>
    <p:extLst>
      <p:ext uri="{BB962C8B-B14F-4D97-AF65-F5344CB8AC3E}">
        <p14:creationId xmlns:p14="http://schemas.microsoft.com/office/powerpoint/2010/main" val="209066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40" name="Line 35"/>
          <p:cNvSpPr>
            <a:spLocks noChangeShapeType="1"/>
          </p:cNvSpPr>
          <p:nvPr/>
        </p:nvSpPr>
        <p:spPr bwMode="auto">
          <a:xfrm>
            <a:off x="767941" y="4508499"/>
            <a:ext cx="3077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41" name="Line 36"/>
          <p:cNvSpPr>
            <a:spLocks noChangeShapeType="1"/>
          </p:cNvSpPr>
          <p:nvPr/>
        </p:nvSpPr>
        <p:spPr bwMode="auto">
          <a:xfrm>
            <a:off x="767941" y="5156199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42" name="Line 37"/>
          <p:cNvSpPr>
            <a:spLocks noChangeShapeType="1"/>
          </p:cNvSpPr>
          <p:nvPr/>
        </p:nvSpPr>
        <p:spPr bwMode="auto">
          <a:xfrm>
            <a:off x="767941" y="5661024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43" name="AutoShape 38"/>
          <p:cNvSpPr>
            <a:spLocks noChangeArrowheads="1"/>
          </p:cNvSpPr>
          <p:nvPr/>
        </p:nvSpPr>
        <p:spPr bwMode="auto">
          <a:xfrm>
            <a:off x="2144898" y="42211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4" name="AutoShape 39"/>
          <p:cNvSpPr>
            <a:spLocks noChangeArrowheads="1"/>
          </p:cNvSpPr>
          <p:nvPr/>
        </p:nvSpPr>
        <p:spPr bwMode="auto">
          <a:xfrm>
            <a:off x="3927264" y="48688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5" name="AutoShape 40"/>
          <p:cNvSpPr>
            <a:spLocks noChangeArrowheads="1"/>
          </p:cNvSpPr>
          <p:nvPr/>
        </p:nvSpPr>
        <p:spPr bwMode="auto">
          <a:xfrm>
            <a:off x="1091195" y="5373686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6" name="AutoShape 41"/>
          <p:cNvSpPr>
            <a:spLocks noChangeArrowheads="1"/>
          </p:cNvSpPr>
          <p:nvPr/>
        </p:nvSpPr>
        <p:spPr bwMode="auto">
          <a:xfrm>
            <a:off x="3684377" y="4364037"/>
            <a:ext cx="648296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7" name="AutoShape 42"/>
          <p:cNvSpPr>
            <a:spLocks noChangeArrowheads="1"/>
          </p:cNvSpPr>
          <p:nvPr/>
        </p:nvSpPr>
        <p:spPr bwMode="auto">
          <a:xfrm>
            <a:off x="1819857" y="5372100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8" name="AutoShape 43"/>
          <p:cNvSpPr>
            <a:spLocks noChangeArrowheads="1"/>
          </p:cNvSpPr>
          <p:nvPr/>
        </p:nvSpPr>
        <p:spPr bwMode="auto">
          <a:xfrm>
            <a:off x="3359336" y="48688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49" name="AutoShape 44"/>
          <p:cNvSpPr>
            <a:spLocks noChangeArrowheads="1"/>
          </p:cNvSpPr>
          <p:nvPr/>
        </p:nvSpPr>
        <p:spPr bwMode="auto">
          <a:xfrm>
            <a:off x="1334082" y="42211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0" name="AutoShape 45"/>
          <p:cNvSpPr>
            <a:spLocks noChangeArrowheads="1"/>
          </p:cNvSpPr>
          <p:nvPr/>
        </p:nvSpPr>
        <p:spPr bwMode="auto">
          <a:xfrm>
            <a:off x="2550307" y="5372100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1" name="AutoShape 46"/>
          <p:cNvSpPr>
            <a:spLocks noChangeArrowheads="1"/>
          </p:cNvSpPr>
          <p:nvPr/>
        </p:nvSpPr>
        <p:spPr bwMode="auto">
          <a:xfrm>
            <a:off x="1819857" y="48688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2" name="AutoShape 47"/>
          <p:cNvSpPr>
            <a:spLocks noChangeArrowheads="1"/>
          </p:cNvSpPr>
          <p:nvPr/>
        </p:nvSpPr>
        <p:spPr bwMode="auto">
          <a:xfrm>
            <a:off x="2953929" y="42211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3" name="Line 48"/>
          <p:cNvSpPr>
            <a:spLocks noChangeShapeType="1"/>
          </p:cNvSpPr>
          <p:nvPr/>
        </p:nvSpPr>
        <p:spPr bwMode="auto">
          <a:xfrm>
            <a:off x="5709630" y="4508499"/>
            <a:ext cx="30771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54" name="Line 49"/>
          <p:cNvSpPr>
            <a:spLocks noChangeShapeType="1"/>
          </p:cNvSpPr>
          <p:nvPr/>
        </p:nvSpPr>
        <p:spPr bwMode="auto">
          <a:xfrm>
            <a:off x="5709630" y="5156199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55" name="Line 50"/>
          <p:cNvSpPr>
            <a:spLocks noChangeShapeType="1"/>
          </p:cNvSpPr>
          <p:nvPr/>
        </p:nvSpPr>
        <p:spPr bwMode="auto">
          <a:xfrm>
            <a:off x="5709630" y="5661024"/>
            <a:ext cx="42112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56" name="AutoShape 51"/>
          <p:cNvSpPr>
            <a:spLocks noChangeArrowheads="1"/>
          </p:cNvSpPr>
          <p:nvPr/>
        </p:nvSpPr>
        <p:spPr bwMode="auto">
          <a:xfrm>
            <a:off x="7086588" y="42211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7" name="AutoShape 52"/>
          <p:cNvSpPr>
            <a:spLocks noChangeArrowheads="1"/>
          </p:cNvSpPr>
          <p:nvPr/>
        </p:nvSpPr>
        <p:spPr bwMode="auto">
          <a:xfrm>
            <a:off x="8868954" y="48688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8" name="AutoShape 53"/>
          <p:cNvSpPr>
            <a:spLocks noChangeArrowheads="1"/>
          </p:cNvSpPr>
          <p:nvPr/>
        </p:nvSpPr>
        <p:spPr bwMode="auto">
          <a:xfrm>
            <a:off x="6032885" y="537368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59" name="AutoShape 54"/>
          <p:cNvSpPr>
            <a:spLocks noChangeArrowheads="1"/>
          </p:cNvSpPr>
          <p:nvPr/>
        </p:nvSpPr>
        <p:spPr bwMode="auto">
          <a:xfrm>
            <a:off x="8626066" y="4364037"/>
            <a:ext cx="648295" cy="288925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0" name="AutoShape 55"/>
          <p:cNvSpPr>
            <a:spLocks noChangeArrowheads="1"/>
          </p:cNvSpPr>
          <p:nvPr/>
        </p:nvSpPr>
        <p:spPr bwMode="auto">
          <a:xfrm>
            <a:off x="6761548" y="5372100"/>
            <a:ext cx="323254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1" name="AutoShape 56"/>
          <p:cNvSpPr>
            <a:spLocks noChangeArrowheads="1"/>
          </p:cNvSpPr>
          <p:nvPr/>
        </p:nvSpPr>
        <p:spPr bwMode="auto">
          <a:xfrm>
            <a:off x="8301026" y="48688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2" name="AutoShape 57"/>
          <p:cNvSpPr>
            <a:spLocks noChangeArrowheads="1"/>
          </p:cNvSpPr>
          <p:nvPr/>
        </p:nvSpPr>
        <p:spPr bwMode="auto">
          <a:xfrm>
            <a:off x="6275773" y="42211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3" name="AutoShape 58"/>
          <p:cNvSpPr>
            <a:spLocks noChangeArrowheads="1"/>
          </p:cNvSpPr>
          <p:nvPr/>
        </p:nvSpPr>
        <p:spPr bwMode="auto">
          <a:xfrm>
            <a:off x="7491995" y="5372100"/>
            <a:ext cx="32325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4" name="AutoShape 59"/>
          <p:cNvSpPr>
            <a:spLocks noChangeArrowheads="1"/>
          </p:cNvSpPr>
          <p:nvPr/>
        </p:nvSpPr>
        <p:spPr bwMode="auto">
          <a:xfrm>
            <a:off x="6761548" y="48688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5" name="AutoShape 60"/>
          <p:cNvSpPr>
            <a:spLocks noChangeArrowheads="1"/>
          </p:cNvSpPr>
          <p:nvPr/>
        </p:nvSpPr>
        <p:spPr bwMode="auto">
          <a:xfrm>
            <a:off x="7734882" y="4221161"/>
            <a:ext cx="323255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7" name="AutoShape 63"/>
          <p:cNvSpPr>
            <a:spLocks noChangeArrowheads="1"/>
          </p:cNvSpPr>
          <p:nvPr/>
        </p:nvSpPr>
        <p:spPr bwMode="auto">
          <a:xfrm>
            <a:off x="2793194" y="48688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69" name="AutoShape 65"/>
          <p:cNvSpPr>
            <a:spLocks noChangeArrowheads="1"/>
          </p:cNvSpPr>
          <p:nvPr/>
        </p:nvSpPr>
        <p:spPr bwMode="auto">
          <a:xfrm>
            <a:off x="3439704" y="5373686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70" name="AutoShape 67"/>
          <p:cNvSpPr>
            <a:spLocks noChangeArrowheads="1"/>
          </p:cNvSpPr>
          <p:nvPr/>
        </p:nvSpPr>
        <p:spPr bwMode="auto">
          <a:xfrm>
            <a:off x="8301026" y="4221161"/>
            <a:ext cx="323254" cy="287338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73" name="Rectangle 71"/>
          <p:cNvSpPr>
            <a:spLocks noChangeArrowheads="1"/>
          </p:cNvSpPr>
          <p:nvPr/>
        </p:nvSpPr>
        <p:spPr bwMode="auto">
          <a:xfrm>
            <a:off x="5384589" y="3933824"/>
            <a:ext cx="4698802" cy="187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sp>
        <p:nvSpPr>
          <p:cNvPr id="115774" name="Rectangle 72"/>
          <p:cNvSpPr>
            <a:spLocks noChangeArrowheads="1"/>
          </p:cNvSpPr>
          <p:nvPr/>
        </p:nvSpPr>
        <p:spPr bwMode="auto">
          <a:xfrm>
            <a:off x="362533" y="3933824"/>
            <a:ext cx="4698802" cy="187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it-IT">
              <a:ea typeface="ＭＳ Ｐゴシック" charset="0"/>
              <a:cs typeface="ＭＳ Ｐゴシック" charset="0"/>
            </a:endParaRPr>
          </a:p>
        </p:txBody>
      </p:sp>
      <p:grpSp>
        <p:nvGrpSpPr>
          <p:cNvPr id="115776" name="Group 77"/>
          <p:cNvGrpSpPr>
            <a:grpSpLocks/>
          </p:cNvGrpSpPr>
          <p:nvPr/>
        </p:nvGrpSpPr>
        <p:grpSpPr bwMode="auto">
          <a:xfrm>
            <a:off x="362532" y="4316412"/>
            <a:ext cx="435769" cy="1489075"/>
            <a:chOff x="204" y="2069"/>
            <a:chExt cx="244" cy="938"/>
          </a:xfrm>
        </p:grpSpPr>
        <p:sp>
          <p:nvSpPr>
            <p:cNvPr id="115791" name="Text Box 78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15792" name="Text Box 79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15793" name="Text Box 80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grpSp>
        <p:nvGrpSpPr>
          <p:cNvPr id="115777" name="Group 81"/>
          <p:cNvGrpSpPr>
            <a:grpSpLocks/>
          </p:cNvGrpSpPr>
          <p:nvPr/>
        </p:nvGrpSpPr>
        <p:grpSpPr bwMode="auto">
          <a:xfrm>
            <a:off x="5384588" y="4292600"/>
            <a:ext cx="435769" cy="1489075"/>
            <a:chOff x="204" y="2069"/>
            <a:chExt cx="244" cy="938"/>
          </a:xfrm>
        </p:grpSpPr>
        <p:sp>
          <p:nvSpPr>
            <p:cNvPr id="115788" name="Text Box 82"/>
            <p:cNvSpPr txBox="1">
              <a:spLocks noChangeArrowheads="1"/>
            </p:cNvSpPr>
            <p:nvPr/>
          </p:nvSpPr>
          <p:spPr bwMode="auto">
            <a:xfrm>
              <a:off x="204" y="2069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p1</a:t>
              </a:r>
            </a:p>
          </p:txBody>
        </p:sp>
        <p:sp>
          <p:nvSpPr>
            <p:cNvPr id="115789" name="Text Box 83"/>
            <p:cNvSpPr txBox="1">
              <a:spLocks noChangeArrowheads="1"/>
            </p:cNvSpPr>
            <p:nvPr/>
          </p:nvSpPr>
          <p:spPr bwMode="auto">
            <a:xfrm>
              <a:off x="204" y="247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p2</a:t>
              </a:r>
            </a:p>
          </p:txBody>
        </p:sp>
        <p:sp>
          <p:nvSpPr>
            <p:cNvPr id="115790" name="Text Box 84"/>
            <p:cNvSpPr txBox="1">
              <a:spLocks noChangeArrowheads="1"/>
            </p:cNvSpPr>
            <p:nvPr/>
          </p:nvSpPr>
          <p:spPr bwMode="auto">
            <a:xfrm>
              <a:off x="204" y="279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charset="0"/>
                  <a:ea typeface="MS PGothic" charset="0"/>
                  <a:cs typeface="ＭＳ Ｐゴシック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charset="0"/>
                  <a:ea typeface="MS PGothic" charset="0"/>
                </a:defRPr>
              </a:lvl9pPr>
            </a:lstStyle>
            <a:p>
              <a:pPr eaLnBrk="1" hangingPunct="1"/>
              <a:r>
                <a:rPr lang="it-IT" sz="1600">
                  <a:ea typeface="ＭＳ Ｐゴシック" charset="0"/>
                </a:rPr>
                <a:t>p3</a:t>
              </a:r>
            </a:p>
          </p:txBody>
        </p:sp>
      </p:grpSp>
      <p:sp>
        <p:nvSpPr>
          <p:cNvPr id="115781" name="Text Box 92"/>
          <p:cNvSpPr txBox="1">
            <a:spLocks noChangeArrowheads="1"/>
          </p:cNvSpPr>
          <p:nvPr/>
        </p:nvSpPr>
        <p:spPr bwMode="auto">
          <a:xfrm>
            <a:off x="9515462" y="3968750"/>
            <a:ext cx="483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it-IT" sz="2000">
                <a:ea typeface="ＭＳ Ｐゴシック" charset="0"/>
              </a:rPr>
              <a:t>R4</a:t>
            </a:r>
          </a:p>
        </p:txBody>
      </p:sp>
      <p:sp>
        <p:nvSpPr>
          <p:cNvPr id="115782" name="Text Box 93"/>
          <p:cNvSpPr txBox="1">
            <a:spLocks noChangeArrowheads="1"/>
          </p:cNvSpPr>
          <p:nvPr/>
        </p:nvSpPr>
        <p:spPr bwMode="auto">
          <a:xfrm>
            <a:off x="307169" y="3895725"/>
            <a:ext cx="483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it-IT" sz="2000">
                <a:ea typeface="ＭＳ Ｐゴシック" charset="0"/>
              </a:rPr>
              <a:t>R3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BEB vs RB vs URB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1426895" y="2988367"/>
            <a:ext cx="18502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URB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50731" y="2723372"/>
            <a:ext cx="356473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RB if yellow message is sent by p1</a:t>
            </a:r>
          </a:p>
          <a:p>
            <a:endParaRPr lang="en-US" dirty="0"/>
          </a:p>
          <a:p>
            <a:r>
              <a:rPr lang="en-US" dirty="0"/>
              <a:t>Non-correct otherwise</a:t>
            </a:r>
          </a:p>
        </p:txBody>
      </p:sp>
    </p:spTree>
    <p:extLst>
      <p:ext uri="{BB962C8B-B14F-4D97-AF65-F5344CB8AC3E}">
        <p14:creationId xmlns:p14="http://schemas.microsoft.com/office/powerpoint/2010/main" val="106716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Uniform Reliable Broadcast (URB) Implementation in Synchronous System</a:t>
            </a:r>
            <a:endParaRPr lang="en-US" sz="4000" dirty="0"/>
          </a:p>
        </p:txBody>
      </p:sp>
      <p:grpSp>
        <p:nvGrpSpPr>
          <p:cNvPr id="3" name="Group 2"/>
          <p:cNvGrpSpPr/>
          <p:nvPr/>
        </p:nvGrpSpPr>
        <p:grpSpPr>
          <a:xfrm>
            <a:off x="5956913" y="1971643"/>
            <a:ext cx="4007386" cy="2703559"/>
            <a:chOff x="4654885" y="2017569"/>
            <a:chExt cx="4908360" cy="3472013"/>
          </a:xfrm>
        </p:grpSpPr>
        <p:sp>
          <p:nvSpPr>
            <p:cNvPr id="4" name="Rettangolo arrotondato 5"/>
            <p:cNvSpPr/>
            <p:nvPr/>
          </p:nvSpPr>
          <p:spPr>
            <a:xfrm>
              <a:off x="5071400" y="2786023"/>
              <a:ext cx="4341205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URB</a:t>
              </a:r>
            </a:p>
          </p:txBody>
        </p:sp>
        <p:cxnSp>
          <p:nvCxnSpPr>
            <p:cNvPr id="5" name="Connettore 2 6"/>
            <p:cNvCxnSpPr/>
            <p:nvPr/>
          </p:nvCxnSpPr>
          <p:spPr>
            <a:xfrm flipH="1" flipV="1">
              <a:off x="8164046" y="2017569"/>
              <a:ext cx="2" cy="8000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sellaDiTesto 7"/>
            <p:cNvSpPr txBox="1"/>
            <p:nvPr/>
          </p:nvSpPr>
          <p:spPr>
            <a:xfrm>
              <a:off x="5036848" y="2266385"/>
              <a:ext cx="1958554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URB_Broadcast</a:t>
              </a:r>
              <a:r>
                <a:rPr lang="en-US" sz="1200" dirty="0"/>
                <a:t> (m)</a:t>
              </a:r>
            </a:p>
          </p:txBody>
        </p:sp>
        <p:cxnSp>
          <p:nvCxnSpPr>
            <p:cNvPr id="7" name="Connettore 2 9"/>
            <p:cNvCxnSpPr/>
            <p:nvPr/>
          </p:nvCxnSpPr>
          <p:spPr>
            <a:xfrm>
              <a:off x="6069181" y="2017569"/>
              <a:ext cx="0" cy="7684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12"/>
            <p:cNvSpPr txBox="1"/>
            <p:nvPr/>
          </p:nvSpPr>
          <p:spPr>
            <a:xfrm>
              <a:off x="7720016" y="2198519"/>
              <a:ext cx="1451624" cy="355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URB_Deliver</a:t>
              </a:r>
              <a:r>
                <a:rPr lang="en-US" sz="1200" dirty="0"/>
                <a:t>(m)</a:t>
              </a:r>
            </a:p>
          </p:txBody>
        </p:sp>
        <p:sp>
          <p:nvSpPr>
            <p:cNvPr id="9" name="Rettangolo arrotondato 5"/>
            <p:cNvSpPr/>
            <p:nvPr/>
          </p:nvSpPr>
          <p:spPr>
            <a:xfrm>
              <a:off x="5071400" y="4603757"/>
              <a:ext cx="2528887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BEB</a:t>
              </a:r>
            </a:p>
          </p:txBody>
        </p:sp>
        <p:cxnSp>
          <p:nvCxnSpPr>
            <p:cNvPr id="10" name="Connettore 2 6"/>
            <p:cNvCxnSpPr/>
            <p:nvPr/>
          </p:nvCxnSpPr>
          <p:spPr>
            <a:xfrm flipH="1" flipV="1">
              <a:off x="6943062" y="3671848"/>
              <a:ext cx="2" cy="10314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sellaDiTesto 7"/>
            <p:cNvSpPr txBox="1"/>
            <p:nvPr/>
          </p:nvSpPr>
          <p:spPr>
            <a:xfrm>
              <a:off x="4654885" y="4084118"/>
              <a:ext cx="2055219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BEB_Broadcast</a:t>
              </a:r>
              <a:r>
                <a:rPr lang="en-US" sz="1200" dirty="0"/>
                <a:t> (m)</a:t>
              </a:r>
            </a:p>
          </p:txBody>
        </p:sp>
        <p:cxnSp>
          <p:nvCxnSpPr>
            <p:cNvPr id="12" name="Connettore 2 9"/>
            <p:cNvCxnSpPr/>
            <p:nvPr/>
          </p:nvCxnSpPr>
          <p:spPr>
            <a:xfrm>
              <a:off x="5555859" y="3671848"/>
              <a:ext cx="0" cy="931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sellaDiTesto 12"/>
            <p:cNvSpPr txBox="1"/>
            <p:nvPr/>
          </p:nvSpPr>
          <p:spPr>
            <a:xfrm>
              <a:off x="6499032" y="4084118"/>
              <a:ext cx="1422909" cy="355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BEB_Deliver</a:t>
              </a:r>
              <a:r>
                <a:rPr lang="en-US" sz="1200" dirty="0"/>
                <a:t>(m)</a:t>
              </a:r>
            </a:p>
          </p:txBody>
        </p:sp>
        <p:sp>
          <p:nvSpPr>
            <p:cNvPr id="14" name="Rettangolo arrotondato 5"/>
            <p:cNvSpPr/>
            <p:nvPr/>
          </p:nvSpPr>
          <p:spPr>
            <a:xfrm>
              <a:off x="7720016" y="4603757"/>
              <a:ext cx="1672567" cy="8858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Perfect FD</a:t>
              </a:r>
            </a:p>
            <a:p>
              <a:pPr algn="ctr"/>
              <a:r>
                <a:rPr lang="en-US" sz="1200" dirty="0"/>
                <a:t>P</a:t>
              </a:r>
            </a:p>
          </p:txBody>
        </p:sp>
        <p:cxnSp>
          <p:nvCxnSpPr>
            <p:cNvPr id="15" name="Connettore 2 6"/>
            <p:cNvCxnSpPr>
              <a:stCxn id="14" idx="0"/>
            </p:cNvCxnSpPr>
            <p:nvPr/>
          </p:nvCxnSpPr>
          <p:spPr>
            <a:xfrm flipV="1">
              <a:off x="8556300" y="3671849"/>
              <a:ext cx="2240" cy="9319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7"/>
            <p:cNvSpPr txBox="1"/>
            <p:nvPr/>
          </p:nvSpPr>
          <p:spPr>
            <a:xfrm>
              <a:off x="8558540" y="4104528"/>
              <a:ext cx="1004705" cy="355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Crash (p</a:t>
              </a:r>
              <a:r>
                <a:rPr lang="en-US" sz="1200" baseline="-25000" dirty="0"/>
                <a:t>i</a:t>
              </a:r>
              <a:r>
                <a:rPr lang="en-US" sz="1200" dirty="0"/>
                <a:t>)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832785"/>
            <a:ext cx="33655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6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EF96C-BD65-CB4B-9F6D-51F5EC0A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6C168F9-EEE5-2F4C-AC0D-40AD23EAD017}"/>
              </a:ext>
            </a:extLst>
          </p:cNvPr>
          <p:cNvCxnSpPr/>
          <p:nvPr/>
        </p:nvCxnSpPr>
        <p:spPr>
          <a:xfrm>
            <a:off x="925830" y="2691245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565AA6D-84D6-044B-863F-2933FE8070EF}"/>
              </a:ext>
            </a:extLst>
          </p:cNvPr>
          <p:cNvCxnSpPr/>
          <p:nvPr/>
        </p:nvCxnSpPr>
        <p:spPr>
          <a:xfrm>
            <a:off x="925830" y="4059381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42D4E2E-3805-AA43-876A-9FBDA8DFABB0}"/>
              </a:ext>
            </a:extLst>
          </p:cNvPr>
          <p:cNvCxnSpPr/>
          <p:nvPr/>
        </p:nvCxnSpPr>
        <p:spPr>
          <a:xfrm>
            <a:off x="925830" y="5534890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21874F0D-C6E6-1144-9464-4FDAE5F7D901}"/>
              </a:ext>
            </a:extLst>
          </p:cNvPr>
          <p:cNvCxnSpPr/>
          <p:nvPr/>
        </p:nvCxnSpPr>
        <p:spPr>
          <a:xfrm>
            <a:off x="1039091" y="2275609"/>
            <a:ext cx="0" cy="383424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D7F046-0436-1641-ABB7-A468991CE205}"/>
              </a:ext>
            </a:extLst>
          </p:cNvPr>
          <p:cNvSpPr txBox="1"/>
          <p:nvPr/>
        </p:nvSpPr>
        <p:spPr>
          <a:xfrm>
            <a:off x="1039091" y="1737362"/>
            <a:ext cx="216131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Delivered = empty</a:t>
            </a:r>
          </a:p>
          <a:p>
            <a:r>
              <a:rPr lang="en-GB" dirty="0"/>
              <a:t>Pending = empty</a:t>
            </a:r>
          </a:p>
          <a:p>
            <a:r>
              <a:rPr lang="en-GB" dirty="0"/>
              <a:t>Correct = {p1, p2, p3}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8A249DD3-813E-994B-B689-F50E4EB5096F}"/>
              </a:ext>
            </a:extLst>
          </p:cNvPr>
          <p:cNvCxnSpPr>
            <a:stCxn id="9" idx="2"/>
          </p:cNvCxnSpPr>
          <p:nvPr/>
        </p:nvCxnSpPr>
        <p:spPr>
          <a:xfrm flipH="1">
            <a:off x="1039091" y="2577592"/>
            <a:ext cx="1080655" cy="651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A608193-BB3A-CC47-9195-C0E7531FEA0D}"/>
              </a:ext>
            </a:extLst>
          </p:cNvPr>
          <p:cNvCxnSpPr/>
          <p:nvPr/>
        </p:nvCxnSpPr>
        <p:spPr>
          <a:xfrm>
            <a:off x="1454727" y="534092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F66B3BE-99E9-D647-B26A-D953FACF6428}"/>
              </a:ext>
            </a:extLst>
          </p:cNvPr>
          <p:cNvSpPr txBox="1"/>
          <p:nvPr/>
        </p:nvSpPr>
        <p:spPr>
          <a:xfrm>
            <a:off x="1166382" y="5093011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C9A0A8F-85AC-4747-9F52-FD319B56B96B}"/>
              </a:ext>
            </a:extLst>
          </p:cNvPr>
          <p:cNvSpPr txBox="1"/>
          <p:nvPr/>
        </p:nvSpPr>
        <p:spPr>
          <a:xfrm>
            <a:off x="1547124" y="5663135"/>
            <a:ext cx="222365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pending</a:t>
            </a:r>
            <a:r>
              <a:rPr lang="en-GB" baseline="-25000" dirty="0"/>
              <a:t>3</a:t>
            </a:r>
            <a:r>
              <a:rPr lang="en-GB" dirty="0"/>
              <a:t> = {&lt;p3, m1&gt;}</a:t>
            </a: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19D4846-C5E3-954C-A746-1915A7205E44}"/>
              </a:ext>
            </a:extLst>
          </p:cNvPr>
          <p:cNvCxnSpPr>
            <a:cxnSpLocks/>
            <a:stCxn id="15" idx="0"/>
            <a:endCxn id="49" idx="6"/>
          </p:cNvCxnSpPr>
          <p:nvPr/>
        </p:nvCxnSpPr>
        <p:spPr>
          <a:xfrm flipH="1" flipV="1">
            <a:off x="1371527" y="5540276"/>
            <a:ext cx="1287425" cy="12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ccia su 17">
            <a:extLst>
              <a:ext uri="{FF2B5EF4-FFF2-40B4-BE49-F238E27FC236}">
                <a16:creationId xmlns:a16="http://schemas.microsoft.com/office/drawing/2014/main" id="{681BD8D9-3A55-0846-BAB4-93B8A11EFCAC}"/>
              </a:ext>
            </a:extLst>
          </p:cNvPr>
          <p:cNvSpPr/>
          <p:nvPr/>
        </p:nvSpPr>
        <p:spPr>
          <a:xfrm>
            <a:off x="2072987" y="405938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15B376F3-FB4F-E04A-A17E-41F29A58D2AF}"/>
              </a:ext>
            </a:extLst>
          </p:cNvPr>
          <p:cNvSpPr/>
          <p:nvPr/>
        </p:nvSpPr>
        <p:spPr>
          <a:xfrm>
            <a:off x="5107651" y="2691245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A6DF9BF-5F12-D744-94F0-29E0447563DC}"/>
              </a:ext>
            </a:extLst>
          </p:cNvPr>
          <p:cNvSpPr/>
          <p:nvPr/>
        </p:nvSpPr>
        <p:spPr>
          <a:xfrm>
            <a:off x="5331055" y="5536622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D6510B8-5FA8-1448-A6FE-B6F725AB22FF}"/>
              </a:ext>
            </a:extLst>
          </p:cNvPr>
          <p:cNvSpPr txBox="1"/>
          <p:nvPr/>
        </p:nvSpPr>
        <p:spPr>
          <a:xfrm>
            <a:off x="1309255" y="4511038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AB0B1C7-96EA-AD45-BEBF-983211C1A647}"/>
              </a:ext>
            </a:extLst>
          </p:cNvPr>
          <p:cNvCxnSpPr/>
          <p:nvPr/>
        </p:nvCxnSpPr>
        <p:spPr>
          <a:xfrm>
            <a:off x="2582142" y="381484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447FCE6-CBBE-9946-ADAD-39F77400C309}"/>
              </a:ext>
            </a:extLst>
          </p:cNvPr>
          <p:cNvSpPr txBox="1"/>
          <p:nvPr/>
        </p:nvSpPr>
        <p:spPr>
          <a:xfrm>
            <a:off x="2362415" y="3513511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768111C1-2E7E-E74B-BB2F-D61308C14586}"/>
              </a:ext>
            </a:extLst>
          </p:cNvPr>
          <p:cNvSpPr/>
          <p:nvPr/>
        </p:nvSpPr>
        <p:spPr>
          <a:xfrm>
            <a:off x="6819293" y="2678775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462973AC-034E-F343-9FB9-981CFCD89AA7}"/>
              </a:ext>
            </a:extLst>
          </p:cNvPr>
          <p:cNvSpPr/>
          <p:nvPr/>
        </p:nvSpPr>
        <p:spPr>
          <a:xfrm>
            <a:off x="6364602" y="5542166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ccia su 25">
            <a:extLst>
              <a:ext uri="{FF2B5EF4-FFF2-40B4-BE49-F238E27FC236}">
                <a16:creationId xmlns:a16="http://schemas.microsoft.com/office/drawing/2014/main" id="{86A76A06-2572-2C48-A23B-AC622F645C39}"/>
              </a:ext>
            </a:extLst>
          </p:cNvPr>
          <p:cNvSpPr/>
          <p:nvPr/>
        </p:nvSpPr>
        <p:spPr>
          <a:xfrm>
            <a:off x="3961537" y="405938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D3AABB8-9834-134C-B99C-E5C1D962014D}"/>
              </a:ext>
            </a:extLst>
          </p:cNvPr>
          <p:cNvSpPr txBox="1"/>
          <p:nvPr/>
        </p:nvSpPr>
        <p:spPr>
          <a:xfrm>
            <a:off x="4842164" y="3229493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p3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02C4544-84AD-7242-94CD-4F2BC6276659}"/>
              </a:ext>
            </a:extLst>
          </p:cNvPr>
          <p:cNvSpPr txBox="1"/>
          <p:nvPr/>
        </p:nvSpPr>
        <p:spPr>
          <a:xfrm>
            <a:off x="6447255" y="3066382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2291AFC-C52E-7843-B713-5B99762A7412}"/>
              </a:ext>
            </a:extLst>
          </p:cNvPr>
          <p:cNvSpPr txBox="1"/>
          <p:nvPr/>
        </p:nvSpPr>
        <p:spPr>
          <a:xfrm>
            <a:off x="3582268" y="4511037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66D334-B73D-B64B-9244-BC9E504F917F}"/>
              </a:ext>
            </a:extLst>
          </p:cNvPr>
          <p:cNvSpPr txBox="1"/>
          <p:nvPr/>
        </p:nvSpPr>
        <p:spPr>
          <a:xfrm>
            <a:off x="4998202" y="5967812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p3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FEE8EA7-6EA4-EE44-9816-4A6C1B4503E3}"/>
              </a:ext>
            </a:extLst>
          </p:cNvPr>
          <p:cNvSpPr txBox="1"/>
          <p:nvPr/>
        </p:nvSpPr>
        <p:spPr>
          <a:xfrm>
            <a:off x="6000576" y="5972974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297164D-D664-1144-A431-59A80C7F44B4}"/>
              </a:ext>
            </a:extLst>
          </p:cNvPr>
          <p:cNvSpPr txBox="1"/>
          <p:nvPr/>
        </p:nvSpPr>
        <p:spPr>
          <a:xfrm>
            <a:off x="3071034" y="3688441"/>
            <a:ext cx="203661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{p3, p2}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2B2D58B6-BEBB-134E-B009-4BF06DE323A4}"/>
              </a:ext>
            </a:extLst>
          </p:cNvPr>
          <p:cNvSpPr txBox="1"/>
          <p:nvPr/>
        </p:nvSpPr>
        <p:spPr>
          <a:xfrm>
            <a:off x="4338377" y="1839659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39B49B07-43F8-C44B-9178-101721DB6D84}"/>
              </a:ext>
            </a:extLst>
          </p:cNvPr>
          <p:cNvCxnSpPr/>
          <p:nvPr/>
        </p:nvCxnSpPr>
        <p:spPr>
          <a:xfrm>
            <a:off x="5493414" y="2449291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AD27EF3-4396-444F-A3C7-6152C3DB99BA}"/>
              </a:ext>
            </a:extLst>
          </p:cNvPr>
          <p:cNvSpPr txBox="1"/>
          <p:nvPr/>
        </p:nvSpPr>
        <p:spPr>
          <a:xfrm>
            <a:off x="5347942" y="2968837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6" name="Freccia su 35">
            <a:extLst>
              <a:ext uri="{FF2B5EF4-FFF2-40B4-BE49-F238E27FC236}">
                <a16:creationId xmlns:a16="http://schemas.microsoft.com/office/drawing/2014/main" id="{BD18851C-D73D-284E-8CD7-A6E8A5A42AC9}"/>
              </a:ext>
            </a:extLst>
          </p:cNvPr>
          <p:cNvSpPr/>
          <p:nvPr/>
        </p:nvSpPr>
        <p:spPr>
          <a:xfrm>
            <a:off x="8019356" y="271445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029E01A-10FA-8944-BA29-0ADAFAEA86D0}"/>
              </a:ext>
            </a:extLst>
          </p:cNvPr>
          <p:cNvSpPr txBox="1"/>
          <p:nvPr/>
        </p:nvSpPr>
        <p:spPr>
          <a:xfrm>
            <a:off x="7640087" y="3115346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38" name="Freccia su 37">
            <a:extLst>
              <a:ext uri="{FF2B5EF4-FFF2-40B4-BE49-F238E27FC236}">
                <a16:creationId xmlns:a16="http://schemas.microsoft.com/office/drawing/2014/main" id="{63850220-9DA4-E94E-A5FF-5878BACD4563}"/>
              </a:ext>
            </a:extLst>
          </p:cNvPr>
          <p:cNvSpPr/>
          <p:nvPr/>
        </p:nvSpPr>
        <p:spPr>
          <a:xfrm>
            <a:off x="5985162" y="4073236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F9841735-E852-DB44-A8B5-D3BFFB54BC23}"/>
              </a:ext>
            </a:extLst>
          </p:cNvPr>
          <p:cNvSpPr txBox="1"/>
          <p:nvPr/>
        </p:nvSpPr>
        <p:spPr>
          <a:xfrm>
            <a:off x="5607996" y="4460939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40" name="Freccia su 39">
            <a:extLst>
              <a:ext uri="{FF2B5EF4-FFF2-40B4-BE49-F238E27FC236}">
                <a16:creationId xmlns:a16="http://schemas.microsoft.com/office/drawing/2014/main" id="{EF002122-AE99-454B-A502-6366150D17BB}"/>
              </a:ext>
            </a:extLst>
          </p:cNvPr>
          <p:cNvSpPr/>
          <p:nvPr/>
        </p:nvSpPr>
        <p:spPr>
          <a:xfrm>
            <a:off x="7442839" y="5532314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E454FE7-BA9E-424D-A1CA-3C54AF9D15CA}"/>
              </a:ext>
            </a:extLst>
          </p:cNvPr>
          <p:cNvSpPr txBox="1"/>
          <p:nvPr/>
        </p:nvSpPr>
        <p:spPr>
          <a:xfrm>
            <a:off x="7175272" y="6077455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99B59E3-5DED-1543-9586-FD8039035A78}"/>
              </a:ext>
            </a:extLst>
          </p:cNvPr>
          <p:cNvSpPr txBox="1"/>
          <p:nvPr/>
        </p:nvSpPr>
        <p:spPr>
          <a:xfrm>
            <a:off x="6060063" y="1733890"/>
            <a:ext cx="1741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{p3, p2}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9AB74F9-4BD3-4D4B-AB90-7E15141B7E21}"/>
              </a:ext>
            </a:extLst>
          </p:cNvPr>
          <p:cNvSpPr txBox="1"/>
          <p:nvPr/>
        </p:nvSpPr>
        <p:spPr>
          <a:xfrm>
            <a:off x="8242760" y="1781800"/>
            <a:ext cx="204424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{p3, p2, p1}</a:t>
            </a:r>
          </a:p>
        </p:txBody>
      </p:sp>
      <p:cxnSp>
        <p:nvCxnSpPr>
          <p:cNvPr id="45" name="Connettore 1 44">
            <a:extLst>
              <a:ext uri="{FF2B5EF4-FFF2-40B4-BE49-F238E27FC236}">
                <a16:creationId xmlns:a16="http://schemas.microsoft.com/office/drawing/2014/main" id="{80DCB530-13F2-B644-BDE6-CB024BFA22BE}"/>
              </a:ext>
            </a:extLst>
          </p:cNvPr>
          <p:cNvCxnSpPr>
            <a:stCxn id="43" idx="2"/>
            <a:endCxn id="36" idx="0"/>
          </p:cNvCxnSpPr>
          <p:nvPr/>
        </p:nvCxnSpPr>
        <p:spPr>
          <a:xfrm flipH="1">
            <a:off x="8131058" y="2123432"/>
            <a:ext cx="1133822" cy="591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1 46">
            <a:extLst>
              <a:ext uri="{FF2B5EF4-FFF2-40B4-BE49-F238E27FC236}">
                <a16:creationId xmlns:a16="http://schemas.microsoft.com/office/drawing/2014/main" id="{BF0167A3-8905-594C-B2BB-1550E9590407}"/>
              </a:ext>
            </a:extLst>
          </p:cNvPr>
          <p:cNvCxnSpPr>
            <a:cxnSpLocks/>
            <a:stCxn id="42" idx="2"/>
            <a:endCxn id="24" idx="0"/>
          </p:cNvCxnSpPr>
          <p:nvPr/>
        </p:nvCxnSpPr>
        <p:spPr>
          <a:xfrm>
            <a:off x="6930995" y="2075522"/>
            <a:ext cx="0" cy="603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ccia su 47">
            <a:extLst>
              <a:ext uri="{FF2B5EF4-FFF2-40B4-BE49-F238E27FC236}">
                <a16:creationId xmlns:a16="http://schemas.microsoft.com/office/drawing/2014/main" id="{CC06D28D-996B-9A48-BC18-6167C2997C18}"/>
              </a:ext>
            </a:extLst>
          </p:cNvPr>
          <p:cNvSpPr/>
          <p:nvPr/>
        </p:nvSpPr>
        <p:spPr>
          <a:xfrm>
            <a:off x="8018054" y="2252832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1D9D8A-0B95-BD48-AA12-D46D0E68FB8D}"/>
              </a:ext>
            </a:extLst>
          </p:cNvPr>
          <p:cNvSpPr txBox="1"/>
          <p:nvPr/>
        </p:nvSpPr>
        <p:spPr>
          <a:xfrm>
            <a:off x="502305" y="2489381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1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72A2357-791B-8E4B-923A-42B68D8B629F}"/>
              </a:ext>
            </a:extLst>
          </p:cNvPr>
          <p:cNvSpPr txBox="1"/>
          <p:nvPr/>
        </p:nvSpPr>
        <p:spPr>
          <a:xfrm>
            <a:off x="504922" y="3890104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2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EE82B105-B95C-7247-9043-F505C8E0D21B}"/>
              </a:ext>
            </a:extLst>
          </p:cNvPr>
          <p:cNvSpPr txBox="1"/>
          <p:nvPr/>
        </p:nvSpPr>
        <p:spPr>
          <a:xfrm>
            <a:off x="501160" y="5334395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3</a:t>
            </a:r>
          </a:p>
        </p:txBody>
      </p:sp>
      <p:sp>
        <p:nvSpPr>
          <p:cNvPr id="49" name="Up-Down Arrow 54">
            <a:extLst>
              <a:ext uri="{FF2B5EF4-FFF2-40B4-BE49-F238E27FC236}">
                <a16:creationId xmlns:a16="http://schemas.microsoft.com/office/drawing/2014/main" id="{4F0D7510-E55D-E44E-BD91-DB6527132306}"/>
              </a:ext>
            </a:extLst>
          </p:cNvPr>
          <p:cNvSpPr/>
          <p:nvPr/>
        </p:nvSpPr>
        <p:spPr>
          <a:xfrm>
            <a:off x="1298891" y="5382869"/>
            <a:ext cx="96848" cy="314813"/>
          </a:xfrm>
          <a:prstGeom prst="upDownArrow">
            <a:avLst/>
          </a:prstGeom>
          <a:solidFill>
            <a:srgbClr val="7030A0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16">
            <a:extLst>
              <a:ext uri="{FF2B5EF4-FFF2-40B4-BE49-F238E27FC236}">
                <a16:creationId xmlns:a16="http://schemas.microsoft.com/office/drawing/2014/main" id="{7B4B3D9F-210E-6644-92E8-5C1C7A8BB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634" r="30731" b="46297"/>
          <a:stretch/>
        </p:blipFill>
        <p:spPr>
          <a:xfrm>
            <a:off x="227783" y="5994420"/>
            <a:ext cx="3238176" cy="7217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51" name="Picture 16">
            <a:extLst>
              <a:ext uri="{FF2B5EF4-FFF2-40B4-BE49-F238E27FC236}">
                <a16:creationId xmlns:a16="http://schemas.microsoft.com/office/drawing/2014/main" id="{A074C0ED-77B4-334C-B49D-3602B7829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65" r="26028" b="28319"/>
          <a:stretch/>
        </p:blipFill>
        <p:spPr>
          <a:xfrm>
            <a:off x="3137377" y="348733"/>
            <a:ext cx="3039717" cy="10135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A1FB8F0-61CE-304B-B9A5-E18860E35E88}"/>
              </a:ext>
            </a:extLst>
          </p:cNvPr>
          <p:cNvSpPr txBox="1"/>
          <p:nvPr/>
        </p:nvSpPr>
        <p:spPr>
          <a:xfrm>
            <a:off x="4491460" y="5178555"/>
            <a:ext cx="203661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3</a:t>
            </a:r>
            <a:r>
              <a:rPr lang="en-GB" dirty="0"/>
              <a:t>[m1]= {p3}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201DD29-AC6C-F74E-B2D9-37FEA5A7DC37}"/>
              </a:ext>
            </a:extLst>
          </p:cNvPr>
          <p:cNvSpPr txBox="1"/>
          <p:nvPr/>
        </p:nvSpPr>
        <p:spPr>
          <a:xfrm>
            <a:off x="1239165" y="3726176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p3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47B9AA5F-DB5C-2C44-A5CC-0A018A04B185}"/>
              </a:ext>
            </a:extLst>
          </p:cNvPr>
          <p:cNvSpPr txBox="1"/>
          <p:nvPr/>
        </p:nvSpPr>
        <p:spPr>
          <a:xfrm>
            <a:off x="5916498" y="5142340"/>
            <a:ext cx="203661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3</a:t>
            </a:r>
            <a:r>
              <a:rPr lang="en-GB" dirty="0"/>
              <a:t>[m1]= {p3, p2}</a:t>
            </a:r>
          </a:p>
        </p:txBody>
      </p:sp>
      <p:cxnSp>
        <p:nvCxnSpPr>
          <p:cNvPr id="55" name="Connettore 1 54">
            <a:extLst>
              <a:ext uri="{FF2B5EF4-FFF2-40B4-BE49-F238E27FC236}">
                <a16:creationId xmlns:a16="http://schemas.microsoft.com/office/drawing/2014/main" id="{0F1A32A5-A447-0340-A208-B3B0CFBE6000}"/>
              </a:ext>
            </a:extLst>
          </p:cNvPr>
          <p:cNvCxnSpPr>
            <a:cxnSpLocks/>
            <a:stCxn id="54" idx="2"/>
            <a:endCxn id="25" idx="0"/>
          </p:cNvCxnSpPr>
          <p:nvPr/>
        </p:nvCxnSpPr>
        <p:spPr>
          <a:xfrm flipH="1">
            <a:off x="6476304" y="5483972"/>
            <a:ext cx="458503" cy="58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1F3CC0A-8427-1247-9BA2-C8811B566882}"/>
              </a:ext>
            </a:extLst>
          </p:cNvPr>
          <p:cNvSpPr txBox="1"/>
          <p:nvPr/>
        </p:nvSpPr>
        <p:spPr>
          <a:xfrm>
            <a:off x="7850026" y="5620034"/>
            <a:ext cx="204424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3</a:t>
            </a:r>
            <a:r>
              <a:rPr lang="en-GB" dirty="0"/>
              <a:t>[m1]= {p3, p2, p1}</a:t>
            </a:r>
          </a:p>
        </p:txBody>
      </p:sp>
      <p:cxnSp>
        <p:nvCxnSpPr>
          <p:cNvPr id="57" name="Connettore 1 56">
            <a:extLst>
              <a:ext uri="{FF2B5EF4-FFF2-40B4-BE49-F238E27FC236}">
                <a16:creationId xmlns:a16="http://schemas.microsoft.com/office/drawing/2014/main" id="{285D5DC0-AF13-2E4E-AB65-A34AB2ECA8E0}"/>
              </a:ext>
            </a:extLst>
          </p:cNvPr>
          <p:cNvCxnSpPr>
            <a:cxnSpLocks/>
            <a:stCxn id="56" idx="1"/>
            <a:endCxn id="40" idx="3"/>
          </p:cNvCxnSpPr>
          <p:nvPr/>
        </p:nvCxnSpPr>
        <p:spPr>
          <a:xfrm flipH="1" flipV="1">
            <a:off x="7666243" y="5644016"/>
            <a:ext cx="183783" cy="146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1 58">
            <a:extLst>
              <a:ext uri="{FF2B5EF4-FFF2-40B4-BE49-F238E27FC236}">
                <a16:creationId xmlns:a16="http://schemas.microsoft.com/office/drawing/2014/main" id="{1196BBC1-9E8A-AD46-A278-501480C5E5AC}"/>
              </a:ext>
            </a:extLst>
          </p:cNvPr>
          <p:cNvCxnSpPr>
            <a:cxnSpLocks/>
            <a:stCxn id="62" idx="1"/>
            <a:endCxn id="38" idx="3"/>
          </p:cNvCxnSpPr>
          <p:nvPr/>
        </p:nvCxnSpPr>
        <p:spPr>
          <a:xfrm flipH="1" flipV="1">
            <a:off x="6208566" y="4184938"/>
            <a:ext cx="198511" cy="90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797C5DE0-68B2-C24E-9BD0-972DBC2F8CA2}"/>
              </a:ext>
            </a:extLst>
          </p:cNvPr>
          <p:cNvSpPr txBox="1"/>
          <p:nvPr/>
        </p:nvSpPr>
        <p:spPr>
          <a:xfrm>
            <a:off x="6407077" y="4104415"/>
            <a:ext cx="204424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{p3, p2, p1}</a:t>
            </a:r>
          </a:p>
        </p:txBody>
      </p:sp>
      <p:pic>
        <p:nvPicPr>
          <p:cNvPr id="69" name="Picture 16">
            <a:extLst>
              <a:ext uri="{FF2B5EF4-FFF2-40B4-BE49-F238E27FC236}">
                <a16:creationId xmlns:a16="http://schemas.microsoft.com/office/drawing/2014/main" id="{8D6913CC-69FD-4347-B3EB-14D3D705A1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242"/>
          <a:stretch/>
        </p:blipFill>
        <p:spPr>
          <a:xfrm>
            <a:off x="6261874" y="473981"/>
            <a:ext cx="3961772" cy="11027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70" name="Freccia su 69">
            <a:extLst>
              <a:ext uri="{FF2B5EF4-FFF2-40B4-BE49-F238E27FC236}">
                <a16:creationId xmlns:a16="http://schemas.microsoft.com/office/drawing/2014/main" id="{12EEA8FA-8E05-2743-BAE8-0C13BC77FA10}"/>
              </a:ext>
            </a:extLst>
          </p:cNvPr>
          <p:cNvSpPr/>
          <p:nvPr/>
        </p:nvSpPr>
        <p:spPr>
          <a:xfrm>
            <a:off x="7623054" y="5107659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Freccia su 70">
            <a:extLst>
              <a:ext uri="{FF2B5EF4-FFF2-40B4-BE49-F238E27FC236}">
                <a16:creationId xmlns:a16="http://schemas.microsoft.com/office/drawing/2014/main" id="{31B06830-6640-5F4F-812D-1D13410473FC}"/>
              </a:ext>
            </a:extLst>
          </p:cNvPr>
          <p:cNvSpPr/>
          <p:nvPr/>
        </p:nvSpPr>
        <p:spPr>
          <a:xfrm>
            <a:off x="6177094" y="3626163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67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 animBg="1"/>
      <p:bldP spid="19" grpId="0" animBg="1"/>
      <p:bldP spid="20" grpId="0" animBg="1"/>
      <p:bldP spid="21" grpId="0"/>
      <p:bldP spid="23" grpId="0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  <p:bldP spid="43" grpId="0"/>
      <p:bldP spid="48" grpId="0" animBg="1"/>
      <p:bldP spid="49" grpId="0" animBg="1"/>
      <p:bldP spid="52" grpId="0"/>
      <p:bldP spid="53" grpId="0"/>
      <p:bldP spid="54" grpId="0"/>
      <p:bldP spid="56" grpId="0"/>
      <p:bldP spid="62" grpId="0"/>
      <p:bldP spid="70" grpId="0" animBg="1"/>
      <p:bldP spid="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EF96C-BD65-CB4B-9F6D-51F5EC0A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6C168F9-EEE5-2F4C-AC0D-40AD23EAD017}"/>
              </a:ext>
            </a:extLst>
          </p:cNvPr>
          <p:cNvCxnSpPr/>
          <p:nvPr/>
        </p:nvCxnSpPr>
        <p:spPr>
          <a:xfrm>
            <a:off x="925830" y="2691245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565AA6D-84D6-044B-863F-2933FE8070EF}"/>
              </a:ext>
            </a:extLst>
          </p:cNvPr>
          <p:cNvCxnSpPr>
            <a:cxnSpLocks/>
          </p:cNvCxnSpPr>
          <p:nvPr/>
        </p:nvCxnSpPr>
        <p:spPr>
          <a:xfrm>
            <a:off x="925830" y="4059381"/>
            <a:ext cx="9132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42D4E2E-3805-AA43-876A-9FBDA8DFABB0}"/>
              </a:ext>
            </a:extLst>
          </p:cNvPr>
          <p:cNvCxnSpPr/>
          <p:nvPr/>
        </p:nvCxnSpPr>
        <p:spPr>
          <a:xfrm>
            <a:off x="925830" y="5534890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21874F0D-C6E6-1144-9464-4FDAE5F7D901}"/>
              </a:ext>
            </a:extLst>
          </p:cNvPr>
          <p:cNvCxnSpPr/>
          <p:nvPr/>
        </p:nvCxnSpPr>
        <p:spPr>
          <a:xfrm>
            <a:off x="1039091" y="2275609"/>
            <a:ext cx="0" cy="383424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D7F046-0436-1641-ABB7-A468991CE205}"/>
              </a:ext>
            </a:extLst>
          </p:cNvPr>
          <p:cNvSpPr txBox="1"/>
          <p:nvPr/>
        </p:nvSpPr>
        <p:spPr>
          <a:xfrm>
            <a:off x="1039091" y="1737362"/>
            <a:ext cx="216131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Delivered = empty</a:t>
            </a:r>
          </a:p>
          <a:p>
            <a:r>
              <a:rPr lang="en-GB" dirty="0"/>
              <a:t>Pending = empty</a:t>
            </a:r>
          </a:p>
          <a:p>
            <a:r>
              <a:rPr lang="en-GB" dirty="0"/>
              <a:t>Correct = {p1, p2, p3}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8A249DD3-813E-994B-B689-F50E4EB5096F}"/>
              </a:ext>
            </a:extLst>
          </p:cNvPr>
          <p:cNvCxnSpPr>
            <a:stCxn id="9" idx="2"/>
          </p:cNvCxnSpPr>
          <p:nvPr/>
        </p:nvCxnSpPr>
        <p:spPr>
          <a:xfrm flipH="1">
            <a:off x="1039091" y="2577592"/>
            <a:ext cx="1080655" cy="651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A608193-BB3A-CC47-9195-C0E7531FEA0D}"/>
              </a:ext>
            </a:extLst>
          </p:cNvPr>
          <p:cNvCxnSpPr/>
          <p:nvPr/>
        </p:nvCxnSpPr>
        <p:spPr>
          <a:xfrm>
            <a:off x="1454727" y="534092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F66B3BE-99E9-D647-B26A-D953FACF6428}"/>
              </a:ext>
            </a:extLst>
          </p:cNvPr>
          <p:cNvSpPr txBox="1"/>
          <p:nvPr/>
        </p:nvSpPr>
        <p:spPr>
          <a:xfrm>
            <a:off x="1141162" y="5009098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C9A0A8F-85AC-4747-9F52-FD319B56B96B}"/>
              </a:ext>
            </a:extLst>
          </p:cNvPr>
          <p:cNvSpPr txBox="1"/>
          <p:nvPr/>
        </p:nvSpPr>
        <p:spPr>
          <a:xfrm>
            <a:off x="660679" y="5915308"/>
            <a:ext cx="20781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pending</a:t>
            </a:r>
            <a:r>
              <a:rPr lang="en-GB" baseline="-25000" dirty="0"/>
              <a:t>3</a:t>
            </a:r>
            <a:r>
              <a:rPr lang="en-GB" dirty="0"/>
              <a:t> = {&lt;p3, m1&gt;}</a:t>
            </a: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19D4846-C5E3-954C-A746-1915A7205E44}"/>
              </a:ext>
            </a:extLst>
          </p:cNvPr>
          <p:cNvCxnSpPr>
            <a:cxnSpLocks/>
            <a:stCxn id="15" idx="0"/>
            <a:endCxn id="55" idx="6"/>
          </p:cNvCxnSpPr>
          <p:nvPr/>
        </p:nvCxnSpPr>
        <p:spPr>
          <a:xfrm flipH="1" flipV="1">
            <a:off x="1371527" y="5540276"/>
            <a:ext cx="328242" cy="375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ccia su 17">
            <a:extLst>
              <a:ext uri="{FF2B5EF4-FFF2-40B4-BE49-F238E27FC236}">
                <a16:creationId xmlns:a16="http://schemas.microsoft.com/office/drawing/2014/main" id="{681BD8D9-3A55-0846-BAB4-93B8A11EFCAC}"/>
              </a:ext>
            </a:extLst>
          </p:cNvPr>
          <p:cNvSpPr/>
          <p:nvPr/>
        </p:nvSpPr>
        <p:spPr>
          <a:xfrm>
            <a:off x="2072987" y="405938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15B376F3-FB4F-E04A-A17E-41F29A58D2AF}"/>
              </a:ext>
            </a:extLst>
          </p:cNvPr>
          <p:cNvSpPr/>
          <p:nvPr/>
        </p:nvSpPr>
        <p:spPr>
          <a:xfrm>
            <a:off x="5107651" y="2691245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A6DF9BF-5F12-D744-94F0-29E0447563DC}"/>
              </a:ext>
            </a:extLst>
          </p:cNvPr>
          <p:cNvSpPr/>
          <p:nvPr/>
        </p:nvSpPr>
        <p:spPr>
          <a:xfrm>
            <a:off x="5331055" y="5536622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D6510B8-5FA8-1448-A6FE-B6F725AB22FF}"/>
              </a:ext>
            </a:extLst>
          </p:cNvPr>
          <p:cNvSpPr txBox="1"/>
          <p:nvPr/>
        </p:nvSpPr>
        <p:spPr>
          <a:xfrm>
            <a:off x="1309255" y="4511038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AB0B1C7-96EA-AD45-BEBF-983211C1A647}"/>
              </a:ext>
            </a:extLst>
          </p:cNvPr>
          <p:cNvCxnSpPr/>
          <p:nvPr/>
        </p:nvCxnSpPr>
        <p:spPr>
          <a:xfrm>
            <a:off x="2582142" y="381484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447FCE6-CBBE-9946-ADAD-39F77400C309}"/>
              </a:ext>
            </a:extLst>
          </p:cNvPr>
          <p:cNvSpPr txBox="1"/>
          <p:nvPr/>
        </p:nvSpPr>
        <p:spPr>
          <a:xfrm>
            <a:off x="2353821" y="3538187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768111C1-2E7E-E74B-BB2F-D61308C14586}"/>
              </a:ext>
            </a:extLst>
          </p:cNvPr>
          <p:cNvSpPr/>
          <p:nvPr/>
        </p:nvSpPr>
        <p:spPr>
          <a:xfrm>
            <a:off x="6819293" y="2678775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462973AC-034E-F343-9FB9-981CFCD89AA7}"/>
              </a:ext>
            </a:extLst>
          </p:cNvPr>
          <p:cNvSpPr/>
          <p:nvPr/>
        </p:nvSpPr>
        <p:spPr>
          <a:xfrm>
            <a:off x="6364602" y="5542166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ccia su 25">
            <a:extLst>
              <a:ext uri="{FF2B5EF4-FFF2-40B4-BE49-F238E27FC236}">
                <a16:creationId xmlns:a16="http://schemas.microsoft.com/office/drawing/2014/main" id="{86A76A06-2572-2C48-A23B-AC622F645C39}"/>
              </a:ext>
            </a:extLst>
          </p:cNvPr>
          <p:cNvSpPr/>
          <p:nvPr/>
        </p:nvSpPr>
        <p:spPr>
          <a:xfrm>
            <a:off x="3961537" y="405938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D3AABB8-9834-134C-B99C-E5C1D962014D}"/>
              </a:ext>
            </a:extLst>
          </p:cNvPr>
          <p:cNvSpPr txBox="1"/>
          <p:nvPr/>
        </p:nvSpPr>
        <p:spPr>
          <a:xfrm>
            <a:off x="4842164" y="3229493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p3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02C4544-84AD-7242-94CD-4F2BC6276659}"/>
              </a:ext>
            </a:extLst>
          </p:cNvPr>
          <p:cNvSpPr txBox="1"/>
          <p:nvPr/>
        </p:nvSpPr>
        <p:spPr>
          <a:xfrm>
            <a:off x="6551726" y="3223916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2291AFC-C52E-7843-B713-5B99762A7412}"/>
              </a:ext>
            </a:extLst>
          </p:cNvPr>
          <p:cNvSpPr txBox="1"/>
          <p:nvPr/>
        </p:nvSpPr>
        <p:spPr>
          <a:xfrm>
            <a:off x="3582268" y="4511037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66D334-B73D-B64B-9244-BC9E504F917F}"/>
              </a:ext>
            </a:extLst>
          </p:cNvPr>
          <p:cNvSpPr txBox="1"/>
          <p:nvPr/>
        </p:nvSpPr>
        <p:spPr>
          <a:xfrm>
            <a:off x="4998202" y="5967812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p3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FEE8EA7-6EA4-EE44-9816-4A6C1B4503E3}"/>
              </a:ext>
            </a:extLst>
          </p:cNvPr>
          <p:cNvSpPr txBox="1"/>
          <p:nvPr/>
        </p:nvSpPr>
        <p:spPr>
          <a:xfrm>
            <a:off x="6000576" y="5972974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297164D-D664-1144-A431-59A80C7F44B4}"/>
              </a:ext>
            </a:extLst>
          </p:cNvPr>
          <p:cNvSpPr txBox="1"/>
          <p:nvPr/>
        </p:nvSpPr>
        <p:spPr>
          <a:xfrm>
            <a:off x="2914481" y="3437418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{p3, p2}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2B2D58B6-BEBB-134E-B009-4BF06DE323A4}"/>
              </a:ext>
            </a:extLst>
          </p:cNvPr>
          <p:cNvSpPr txBox="1"/>
          <p:nvPr/>
        </p:nvSpPr>
        <p:spPr>
          <a:xfrm>
            <a:off x="4338377" y="1839659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39B49B07-43F8-C44B-9178-101721DB6D84}"/>
              </a:ext>
            </a:extLst>
          </p:cNvPr>
          <p:cNvCxnSpPr/>
          <p:nvPr/>
        </p:nvCxnSpPr>
        <p:spPr>
          <a:xfrm>
            <a:off x="5493414" y="2449291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AD27EF3-4396-444F-A3C7-6152C3DB99BA}"/>
              </a:ext>
            </a:extLst>
          </p:cNvPr>
          <p:cNvSpPr txBox="1"/>
          <p:nvPr/>
        </p:nvSpPr>
        <p:spPr>
          <a:xfrm>
            <a:off x="5289102" y="2768383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6" name="Freccia su 35">
            <a:extLst>
              <a:ext uri="{FF2B5EF4-FFF2-40B4-BE49-F238E27FC236}">
                <a16:creationId xmlns:a16="http://schemas.microsoft.com/office/drawing/2014/main" id="{BD18851C-D73D-284E-8CD7-A6E8A5A42AC9}"/>
              </a:ext>
            </a:extLst>
          </p:cNvPr>
          <p:cNvSpPr/>
          <p:nvPr/>
        </p:nvSpPr>
        <p:spPr>
          <a:xfrm>
            <a:off x="8019356" y="271445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029E01A-10FA-8944-BA29-0ADAFAEA86D0}"/>
              </a:ext>
            </a:extLst>
          </p:cNvPr>
          <p:cNvSpPr txBox="1"/>
          <p:nvPr/>
        </p:nvSpPr>
        <p:spPr>
          <a:xfrm>
            <a:off x="7751789" y="3259592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99B59E3-5DED-1543-9586-FD8039035A78}"/>
              </a:ext>
            </a:extLst>
          </p:cNvPr>
          <p:cNvSpPr txBox="1"/>
          <p:nvPr/>
        </p:nvSpPr>
        <p:spPr>
          <a:xfrm>
            <a:off x="5964209" y="1437186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{p3, p2}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9AB74F9-4BD3-4D4B-AB90-7E15141B7E21}"/>
              </a:ext>
            </a:extLst>
          </p:cNvPr>
          <p:cNvSpPr txBox="1"/>
          <p:nvPr/>
        </p:nvSpPr>
        <p:spPr>
          <a:xfrm>
            <a:off x="7837126" y="1384385"/>
            <a:ext cx="204424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{p3, p2, p1}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cxnSp>
        <p:nvCxnSpPr>
          <p:cNvPr id="45" name="Connettore 1 44">
            <a:extLst>
              <a:ext uri="{FF2B5EF4-FFF2-40B4-BE49-F238E27FC236}">
                <a16:creationId xmlns:a16="http://schemas.microsoft.com/office/drawing/2014/main" id="{80DCB530-13F2-B644-BDE6-CB024BFA22BE}"/>
              </a:ext>
            </a:extLst>
          </p:cNvPr>
          <p:cNvCxnSpPr>
            <a:stCxn id="43" idx="2"/>
            <a:endCxn id="36" idx="0"/>
          </p:cNvCxnSpPr>
          <p:nvPr/>
        </p:nvCxnSpPr>
        <p:spPr>
          <a:xfrm flipH="1">
            <a:off x="8131058" y="1975316"/>
            <a:ext cx="728188" cy="739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1 46">
            <a:extLst>
              <a:ext uri="{FF2B5EF4-FFF2-40B4-BE49-F238E27FC236}">
                <a16:creationId xmlns:a16="http://schemas.microsoft.com/office/drawing/2014/main" id="{BF0167A3-8905-594C-B2BB-1550E9590407}"/>
              </a:ext>
            </a:extLst>
          </p:cNvPr>
          <p:cNvCxnSpPr>
            <a:stCxn id="42" idx="2"/>
            <a:endCxn id="24" idx="0"/>
          </p:cNvCxnSpPr>
          <p:nvPr/>
        </p:nvCxnSpPr>
        <p:spPr>
          <a:xfrm flipH="1">
            <a:off x="6930995" y="2028117"/>
            <a:ext cx="51523" cy="650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ccia su 47">
            <a:extLst>
              <a:ext uri="{FF2B5EF4-FFF2-40B4-BE49-F238E27FC236}">
                <a16:creationId xmlns:a16="http://schemas.microsoft.com/office/drawing/2014/main" id="{CC06D28D-996B-9A48-BC18-6167C2997C18}"/>
              </a:ext>
            </a:extLst>
          </p:cNvPr>
          <p:cNvSpPr/>
          <p:nvPr/>
        </p:nvSpPr>
        <p:spPr>
          <a:xfrm>
            <a:off x="8018054" y="2252832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splosione 1 2">
            <a:extLst>
              <a:ext uri="{FF2B5EF4-FFF2-40B4-BE49-F238E27FC236}">
                <a16:creationId xmlns:a16="http://schemas.microsoft.com/office/drawing/2014/main" id="{BC40A528-631F-BF4F-8B9E-7F22C92CED41}"/>
              </a:ext>
            </a:extLst>
          </p:cNvPr>
          <p:cNvSpPr/>
          <p:nvPr/>
        </p:nvSpPr>
        <p:spPr>
          <a:xfrm>
            <a:off x="8668007" y="2430590"/>
            <a:ext cx="392866" cy="538247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ccia su 6">
            <a:extLst>
              <a:ext uri="{FF2B5EF4-FFF2-40B4-BE49-F238E27FC236}">
                <a16:creationId xmlns:a16="http://schemas.microsoft.com/office/drawing/2014/main" id="{158262AB-8713-E94B-B059-756953047CEC}"/>
              </a:ext>
            </a:extLst>
          </p:cNvPr>
          <p:cNvSpPr/>
          <p:nvPr/>
        </p:nvSpPr>
        <p:spPr>
          <a:xfrm>
            <a:off x="8859246" y="4082586"/>
            <a:ext cx="306708" cy="46632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6129E8C-D53D-6B44-A938-165184F7B3E3}"/>
              </a:ext>
            </a:extLst>
          </p:cNvPr>
          <p:cNvSpPr txBox="1"/>
          <p:nvPr/>
        </p:nvSpPr>
        <p:spPr>
          <a:xfrm>
            <a:off x="8531931" y="4594553"/>
            <a:ext cx="105788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46" name="Freccia su 45">
            <a:extLst>
              <a:ext uri="{FF2B5EF4-FFF2-40B4-BE49-F238E27FC236}">
                <a16:creationId xmlns:a16="http://schemas.microsoft.com/office/drawing/2014/main" id="{FAA86215-D1B5-4C40-B530-76A8685817C0}"/>
              </a:ext>
            </a:extLst>
          </p:cNvPr>
          <p:cNvSpPr/>
          <p:nvPr/>
        </p:nvSpPr>
        <p:spPr>
          <a:xfrm>
            <a:off x="9012600" y="5564966"/>
            <a:ext cx="306708" cy="46632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508716D-8142-6E46-A6D2-EBB68EAEE6C1}"/>
              </a:ext>
            </a:extLst>
          </p:cNvPr>
          <p:cNvSpPr txBox="1"/>
          <p:nvPr/>
        </p:nvSpPr>
        <p:spPr>
          <a:xfrm>
            <a:off x="8685285" y="6076933"/>
            <a:ext cx="105788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Crash(p1)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C11091C-1B5C-2943-AD60-419FB9A0FDEA}"/>
              </a:ext>
            </a:extLst>
          </p:cNvPr>
          <p:cNvSpPr txBox="1"/>
          <p:nvPr/>
        </p:nvSpPr>
        <p:spPr>
          <a:xfrm>
            <a:off x="8437922" y="3718132"/>
            <a:ext cx="156943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correct</a:t>
            </a:r>
            <a:r>
              <a:rPr lang="en-GB" baseline="-25000" dirty="0"/>
              <a:t>2</a:t>
            </a:r>
            <a:r>
              <a:rPr lang="en-GB" dirty="0"/>
              <a:t>={p</a:t>
            </a:r>
            <a:r>
              <a:rPr lang="en-GB" baseline="-25000" dirty="0"/>
              <a:t>2</a:t>
            </a:r>
            <a:r>
              <a:rPr lang="en-GB" dirty="0"/>
              <a:t>, p</a:t>
            </a:r>
            <a:r>
              <a:rPr lang="en-GB" baseline="-25000" dirty="0"/>
              <a:t>3</a:t>
            </a:r>
            <a:r>
              <a:rPr lang="en-GB" dirty="0"/>
              <a:t>}</a:t>
            </a:r>
          </a:p>
        </p:txBody>
      </p:sp>
      <p:sp>
        <p:nvSpPr>
          <p:cNvPr id="50" name="Freccia su 49">
            <a:extLst>
              <a:ext uri="{FF2B5EF4-FFF2-40B4-BE49-F238E27FC236}">
                <a16:creationId xmlns:a16="http://schemas.microsoft.com/office/drawing/2014/main" id="{465D57E6-8132-724F-8817-89AEA14BACE0}"/>
              </a:ext>
            </a:extLst>
          </p:cNvPr>
          <p:cNvSpPr/>
          <p:nvPr/>
        </p:nvSpPr>
        <p:spPr>
          <a:xfrm>
            <a:off x="8895793" y="3299241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ccia su 50">
            <a:extLst>
              <a:ext uri="{FF2B5EF4-FFF2-40B4-BE49-F238E27FC236}">
                <a16:creationId xmlns:a16="http://schemas.microsoft.com/office/drawing/2014/main" id="{AC8B3A4E-E8D4-0F4A-9CDB-520964779BE8}"/>
              </a:ext>
            </a:extLst>
          </p:cNvPr>
          <p:cNvSpPr/>
          <p:nvPr/>
        </p:nvSpPr>
        <p:spPr>
          <a:xfrm>
            <a:off x="9049147" y="5044967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1D14426C-3855-E849-8980-ADA6DF969050}"/>
              </a:ext>
            </a:extLst>
          </p:cNvPr>
          <p:cNvSpPr txBox="1"/>
          <p:nvPr/>
        </p:nvSpPr>
        <p:spPr>
          <a:xfrm>
            <a:off x="502305" y="2489381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1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0606D23-CA17-0245-AE0F-4EB6A67138F6}"/>
              </a:ext>
            </a:extLst>
          </p:cNvPr>
          <p:cNvSpPr txBox="1"/>
          <p:nvPr/>
        </p:nvSpPr>
        <p:spPr>
          <a:xfrm>
            <a:off x="504922" y="3890104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2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E35979FC-F2DF-874B-95D8-E2A7EF6B9581}"/>
              </a:ext>
            </a:extLst>
          </p:cNvPr>
          <p:cNvSpPr txBox="1"/>
          <p:nvPr/>
        </p:nvSpPr>
        <p:spPr>
          <a:xfrm>
            <a:off x="501160" y="5334395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3</a:t>
            </a:r>
          </a:p>
        </p:txBody>
      </p:sp>
      <p:sp>
        <p:nvSpPr>
          <p:cNvPr id="55" name="Up-Down Arrow 54">
            <a:extLst>
              <a:ext uri="{FF2B5EF4-FFF2-40B4-BE49-F238E27FC236}">
                <a16:creationId xmlns:a16="http://schemas.microsoft.com/office/drawing/2014/main" id="{E2CD3C83-84E9-AD4C-87A0-5B1A9F5D6D40}"/>
              </a:ext>
            </a:extLst>
          </p:cNvPr>
          <p:cNvSpPr/>
          <p:nvPr/>
        </p:nvSpPr>
        <p:spPr>
          <a:xfrm>
            <a:off x="1298891" y="5382869"/>
            <a:ext cx="96848" cy="314813"/>
          </a:xfrm>
          <a:prstGeom prst="upDownArrow">
            <a:avLst/>
          </a:prstGeom>
          <a:solidFill>
            <a:srgbClr val="7030A0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16">
            <a:extLst>
              <a:ext uri="{FF2B5EF4-FFF2-40B4-BE49-F238E27FC236}">
                <a16:creationId xmlns:a16="http://schemas.microsoft.com/office/drawing/2014/main" id="{8A39C11D-C78C-8745-8B0C-563C3E305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704"/>
          <a:stretch/>
        </p:blipFill>
        <p:spPr>
          <a:xfrm>
            <a:off x="4793025" y="3911555"/>
            <a:ext cx="3644898" cy="1365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48122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46" grpId="0" animBg="1"/>
      <p:bldP spid="49" grpId="0"/>
      <p:bldP spid="16" grpId="0"/>
      <p:bldP spid="50" grpId="0" animBg="1"/>
      <p:bldP spid="5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EF96C-BD65-CB4B-9F6D-51F5EC0A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6C168F9-EEE5-2F4C-AC0D-40AD23EAD017}"/>
              </a:ext>
            </a:extLst>
          </p:cNvPr>
          <p:cNvCxnSpPr/>
          <p:nvPr/>
        </p:nvCxnSpPr>
        <p:spPr>
          <a:xfrm>
            <a:off x="925830" y="2691245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565AA6D-84D6-044B-863F-2933FE8070EF}"/>
              </a:ext>
            </a:extLst>
          </p:cNvPr>
          <p:cNvCxnSpPr/>
          <p:nvPr/>
        </p:nvCxnSpPr>
        <p:spPr>
          <a:xfrm>
            <a:off x="925830" y="4059381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42D4E2E-3805-AA43-876A-9FBDA8DFABB0}"/>
              </a:ext>
            </a:extLst>
          </p:cNvPr>
          <p:cNvCxnSpPr/>
          <p:nvPr/>
        </p:nvCxnSpPr>
        <p:spPr>
          <a:xfrm>
            <a:off x="925830" y="5534890"/>
            <a:ext cx="8363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21874F0D-C6E6-1144-9464-4FDAE5F7D901}"/>
              </a:ext>
            </a:extLst>
          </p:cNvPr>
          <p:cNvCxnSpPr/>
          <p:nvPr/>
        </p:nvCxnSpPr>
        <p:spPr>
          <a:xfrm>
            <a:off x="1039091" y="2275609"/>
            <a:ext cx="0" cy="383424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D7F046-0436-1641-ABB7-A468991CE205}"/>
              </a:ext>
            </a:extLst>
          </p:cNvPr>
          <p:cNvSpPr txBox="1"/>
          <p:nvPr/>
        </p:nvSpPr>
        <p:spPr>
          <a:xfrm>
            <a:off x="1039091" y="1737362"/>
            <a:ext cx="216131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Delivered = empty</a:t>
            </a:r>
          </a:p>
          <a:p>
            <a:r>
              <a:rPr lang="en-GB" dirty="0"/>
              <a:t>Pending = empty</a:t>
            </a:r>
          </a:p>
          <a:p>
            <a:r>
              <a:rPr lang="en-GB" dirty="0"/>
              <a:t>Correct = {p1, p2, p3}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8A249DD3-813E-994B-B689-F50E4EB5096F}"/>
              </a:ext>
            </a:extLst>
          </p:cNvPr>
          <p:cNvCxnSpPr>
            <a:stCxn id="9" idx="2"/>
          </p:cNvCxnSpPr>
          <p:nvPr/>
        </p:nvCxnSpPr>
        <p:spPr>
          <a:xfrm flipH="1">
            <a:off x="1039091" y="2577592"/>
            <a:ext cx="1080655" cy="651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A608193-BB3A-CC47-9195-C0E7531FEA0D}"/>
              </a:ext>
            </a:extLst>
          </p:cNvPr>
          <p:cNvCxnSpPr/>
          <p:nvPr/>
        </p:nvCxnSpPr>
        <p:spPr>
          <a:xfrm>
            <a:off x="1454727" y="534092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F66B3BE-99E9-D647-B26A-D953FACF6428}"/>
              </a:ext>
            </a:extLst>
          </p:cNvPr>
          <p:cNvSpPr txBox="1"/>
          <p:nvPr/>
        </p:nvSpPr>
        <p:spPr>
          <a:xfrm>
            <a:off x="1184565" y="5051665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C9A0A8F-85AC-4747-9F52-FD319B56B96B}"/>
              </a:ext>
            </a:extLst>
          </p:cNvPr>
          <p:cNvSpPr txBox="1"/>
          <p:nvPr/>
        </p:nvSpPr>
        <p:spPr>
          <a:xfrm>
            <a:off x="664486" y="5937500"/>
            <a:ext cx="222365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pending</a:t>
            </a:r>
            <a:r>
              <a:rPr lang="en-GB" baseline="-25000" dirty="0"/>
              <a:t>3</a:t>
            </a:r>
            <a:r>
              <a:rPr lang="en-GB" dirty="0"/>
              <a:t> = {&lt;p3, m1&gt;}</a:t>
            </a: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19D4846-C5E3-954C-A746-1915A7205E44}"/>
              </a:ext>
            </a:extLst>
          </p:cNvPr>
          <p:cNvCxnSpPr>
            <a:cxnSpLocks/>
            <a:stCxn id="15" idx="0"/>
            <a:endCxn id="77" idx="6"/>
          </p:cNvCxnSpPr>
          <p:nvPr/>
        </p:nvCxnSpPr>
        <p:spPr>
          <a:xfrm flipH="1" flipV="1">
            <a:off x="1371527" y="5540276"/>
            <a:ext cx="404787" cy="397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ccia su 17">
            <a:extLst>
              <a:ext uri="{FF2B5EF4-FFF2-40B4-BE49-F238E27FC236}">
                <a16:creationId xmlns:a16="http://schemas.microsoft.com/office/drawing/2014/main" id="{681BD8D9-3A55-0846-BAB4-93B8A11EFCAC}"/>
              </a:ext>
            </a:extLst>
          </p:cNvPr>
          <p:cNvSpPr/>
          <p:nvPr/>
        </p:nvSpPr>
        <p:spPr>
          <a:xfrm>
            <a:off x="2072987" y="4059381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D6510B8-5FA8-1448-A6FE-B6F725AB22FF}"/>
              </a:ext>
            </a:extLst>
          </p:cNvPr>
          <p:cNvSpPr txBox="1"/>
          <p:nvPr/>
        </p:nvSpPr>
        <p:spPr>
          <a:xfrm>
            <a:off x="1309255" y="4511038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447FCE6-CBBE-9946-ADAD-39F77400C309}"/>
              </a:ext>
            </a:extLst>
          </p:cNvPr>
          <p:cNvSpPr txBox="1"/>
          <p:nvPr/>
        </p:nvSpPr>
        <p:spPr>
          <a:xfrm>
            <a:off x="2244436" y="4243241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" name="Esplosione 1 2">
            <a:extLst>
              <a:ext uri="{FF2B5EF4-FFF2-40B4-BE49-F238E27FC236}">
                <a16:creationId xmlns:a16="http://schemas.microsoft.com/office/drawing/2014/main" id="{755F9D6E-F105-5343-9A65-387BD84ECDEF}"/>
              </a:ext>
            </a:extLst>
          </p:cNvPr>
          <p:cNvSpPr/>
          <p:nvPr/>
        </p:nvSpPr>
        <p:spPr>
          <a:xfrm>
            <a:off x="2857500" y="5263543"/>
            <a:ext cx="498764" cy="519546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C229EC5F-549E-6747-A234-B59C8ADE4302}"/>
              </a:ext>
            </a:extLst>
          </p:cNvPr>
          <p:cNvCxnSpPr/>
          <p:nvPr/>
        </p:nvCxnSpPr>
        <p:spPr>
          <a:xfrm>
            <a:off x="2582142" y="3814847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5721907B-2363-5F40-ABFD-F88B2273470F}"/>
              </a:ext>
            </a:extLst>
          </p:cNvPr>
          <p:cNvSpPr txBox="1"/>
          <p:nvPr/>
        </p:nvSpPr>
        <p:spPr>
          <a:xfrm>
            <a:off x="2582142" y="4042350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9" name="Freccia su 48">
            <a:extLst>
              <a:ext uri="{FF2B5EF4-FFF2-40B4-BE49-F238E27FC236}">
                <a16:creationId xmlns:a16="http://schemas.microsoft.com/office/drawing/2014/main" id="{83489C19-B326-8940-B3DC-8BE81040D14B}"/>
              </a:ext>
            </a:extLst>
          </p:cNvPr>
          <p:cNvSpPr/>
          <p:nvPr/>
        </p:nvSpPr>
        <p:spPr>
          <a:xfrm>
            <a:off x="3369546" y="2725848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D32AE22-C363-7444-894F-B984B8918373}"/>
              </a:ext>
            </a:extLst>
          </p:cNvPr>
          <p:cNvSpPr txBox="1"/>
          <p:nvPr/>
        </p:nvSpPr>
        <p:spPr>
          <a:xfrm>
            <a:off x="3540995" y="2909708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1" name="Freccia su 50">
            <a:extLst>
              <a:ext uri="{FF2B5EF4-FFF2-40B4-BE49-F238E27FC236}">
                <a16:creationId xmlns:a16="http://schemas.microsoft.com/office/drawing/2014/main" id="{D5034A34-7CED-FC4A-8A8F-0B7976EE3070}"/>
              </a:ext>
            </a:extLst>
          </p:cNvPr>
          <p:cNvSpPr/>
          <p:nvPr/>
        </p:nvSpPr>
        <p:spPr>
          <a:xfrm>
            <a:off x="3847232" y="4086324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F31C569F-CD14-BD42-A719-64DE2EEFAECC}"/>
              </a:ext>
            </a:extLst>
          </p:cNvPr>
          <p:cNvSpPr txBox="1"/>
          <p:nvPr/>
        </p:nvSpPr>
        <p:spPr>
          <a:xfrm>
            <a:off x="4018681" y="4270184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383E22A-C6E4-EC4E-8B17-779F8D237400}"/>
              </a:ext>
            </a:extLst>
          </p:cNvPr>
          <p:cNvSpPr txBox="1"/>
          <p:nvPr/>
        </p:nvSpPr>
        <p:spPr>
          <a:xfrm>
            <a:off x="3031840" y="1857532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{p2}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AE8E813-6F3B-4B4F-B616-A3E5EA22F7F6}"/>
              </a:ext>
            </a:extLst>
          </p:cNvPr>
          <p:cNvCxnSpPr/>
          <p:nvPr/>
        </p:nvCxnSpPr>
        <p:spPr>
          <a:xfrm>
            <a:off x="3860224" y="2490685"/>
            <a:ext cx="0" cy="394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1654868A-EA7C-3348-ADFB-4EB008B7BA18}"/>
              </a:ext>
            </a:extLst>
          </p:cNvPr>
          <p:cNvSpPr txBox="1"/>
          <p:nvPr/>
        </p:nvSpPr>
        <p:spPr>
          <a:xfrm>
            <a:off x="3860224" y="2718188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6" name="Freccia su 55">
            <a:extLst>
              <a:ext uri="{FF2B5EF4-FFF2-40B4-BE49-F238E27FC236}">
                <a16:creationId xmlns:a16="http://schemas.microsoft.com/office/drawing/2014/main" id="{C7855AA6-544A-9542-87D7-E5542402895D}"/>
              </a:ext>
            </a:extLst>
          </p:cNvPr>
          <p:cNvSpPr/>
          <p:nvPr/>
        </p:nvSpPr>
        <p:spPr>
          <a:xfrm>
            <a:off x="5294614" y="2722714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C489B72F-0A34-6E47-8089-630CC5E9BD0B}"/>
              </a:ext>
            </a:extLst>
          </p:cNvPr>
          <p:cNvSpPr txBox="1"/>
          <p:nvPr/>
        </p:nvSpPr>
        <p:spPr>
          <a:xfrm>
            <a:off x="5466063" y="2906574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8" name="Freccia su 57">
            <a:extLst>
              <a:ext uri="{FF2B5EF4-FFF2-40B4-BE49-F238E27FC236}">
                <a16:creationId xmlns:a16="http://schemas.microsoft.com/office/drawing/2014/main" id="{A23C64F5-EB91-7743-BAC7-9EEF13CBF2EA}"/>
              </a:ext>
            </a:extLst>
          </p:cNvPr>
          <p:cNvSpPr/>
          <p:nvPr/>
        </p:nvSpPr>
        <p:spPr>
          <a:xfrm>
            <a:off x="5772300" y="4083190"/>
            <a:ext cx="223404" cy="3983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8ACECAEE-17FB-894E-810B-B42363048CD6}"/>
              </a:ext>
            </a:extLst>
          </p:cNvPr>
          <p:cNvSpPr txBox="1"/>
          <p:nvPr/>
        </p:nvSpPr>
        <p:spPr>
          <a:xfrm>
            <a:off x="5943749" y="4267050"/>
            <a:ext cx="5091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688FBA45-085E-674E-9174-AF882637511D}"/>
              </a:ext>
            </a:extLst>
          </p:cNvPr>
          <p:cNvSpPr txBox="1"/>
          <p:nvPr/>
        </p:nvSpPr>
        <p:spPr>
          <a:xfrm>
            <a:off x="3004684" y="3119530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01BD155A-FA01-094D-962A-AEC7874F3D88}"/>
              </a:ext>
            </a:extLst>
          </p:cNvPr>
          <p:cNvSpPr txBox="1"/>
          <p:nvPr/>
        </p:nvSpPr>
        <p:spPr>
          <a:xfrm>
            <a:off x="4923962" y="3127957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6A13AF2C-2ABA-DA4D-BFFB-777A1B5C5C9D}"/>
              </a:ext>
            </a:extLst>
          </p:cNvPr>
          <p:cNvSpPr txBox="1"/>
          <p:nvPr/>
        </p:nvSpPr>
        <p:spPr>
          <a:xfrm>
            <a:off x="3309950" y="4450824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p2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27F11AA4-0DD3-BE4C-89F8-1BFE2584DA7E}"/>
              </a:ext>
            </a:extLst>
          </p:cNvPr>
          <p:cNvSpPr txBox="1"/>
          <p:nvPr/>
        </p:nvSpPr>
        <p:spPr>
          <a:xfrm>
            <a:off x="5414933" y="4428248"/>
            <a:ext cx="9819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&lt;P3, m1&gt; from p1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3374A399-14AC-4746-A2C9-D1D6BB676610}"/>
              </a:ext>
            </a:extLst>
          </p:cNvPr>
          <p:cNvSpPr txBox="1"/>
          <p:nvPr/>
        </p:nvSpPr>
        <p:spPr>
          <a:xfrm>
            <a:off x="4925440" y="1852626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1</a:t>
            </a:r>
            <a:r>
              <a:rPr lang="en-GB" dirty="0"/>
              <a:t>[m1]= {p2, p1}</a:t>
            </a:r>
          </a:p>
          <a:p>
            <a:r>
              <a:rPr lang="en-GB" dirty="0"/>
              <a:t>pending</a:t>
            </a:r>
            <a:r>
              <a:rPr lang="en-GB" baseline="-25000" dirty="0"/>
              <a:t>1</a:t>
            </a:r>
            <a:r>
              <a:rPr lang="en-GB" dirty="0"/>
              <a:t>={&lt;p3, m1&gt;}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56878E6F-610D-824A-8790-B588339FBF74}"/>
              </a:ext>
            </a:extLst>
          </p:cNvPr>
          <p:cNvSpPr txBox="1"/>
          <p:nvPr/>
        </p:nvSpPr>
        <p:spPr>
          <a:xfrm>
            <a:off x="3953076" y="5002403"/>
            <a:ext cx="203661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{p3, p2}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7627CA6E-3445-B847-BF6E-FBF47642361E}"/>
              </a:ext>
            </a:extLst>
          </p:cNvPr>
          <p:cNvCxnSpPr>
            <a:stCxn id="65" idx="0"/>
            <a:endCxn id="51" idx="0"/>
          </p:cNvCxnSpPr>
          <p:nvPr/>
        </p:nvCxnSpPr>
        <p:spPr>
          <a:xfrm flipH="1" flipV="1">
            <a:off x="3958934" y="4086324"/>
            <a:ext cx="1012451" cy="91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2B2DBABE-0939-AC4F-8459-0C4C9EC12F04}"/>
              </a:ext>
            </a:extLst>
          </p:cNvPr>
          <p:cNvSpPr txBox="1"/>
          <p:nvPr/>
        </p:nvSpPr>
        <p:spPr>
          <a:xfrm>
            <a:off x="6196624" y="3293990"/>
            <a:ext cx="220962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  <a:r>
              <a:rPr lang="en-GB" baseline="-25000" dirty="0"/>
              <a:t>2</a:t>
            </a:r>
            <a:r>
              <a:rPr lang="en-GB" dirty="0"/>
              <a:t>[m1]= {p3, p2, p1}</a:t>
            </a:r>
          </a:p>
          <a:p>
            <a:r>
              <a:rPr lang="en-GB" dirty="0"/>
              <a:t>pending</a:t>
            </a:r>
            <a:r>
              <a:rPr lang="en-GB" baseline="-25000" dirty="0"/>
              <a:t>2</a:t>
            </a:r>
            <a:r>
              <a:rPr lang="en-GB" dirty="0"/>
              <a:t>={&lt;p3, m1&gt;}</a:t>
            </a:r>
          </a:p>
        </p:txBody>
      </p:sp>
      <p:cxnSp>
        <p:nvCxnSpPr>
          <p:cNvPr id="67" name="Connettore 1 66">
            <a:extLst>
              <a:ext uri="{FF2B5EF4-FFF2-40B4-BE49-F238E27FC236}">
                <a16:creationId xmlns:a16="http://schemas.microsoft.com/office/drawing/2014/main" id="{B5CE38C6-100D-6C45-AAE7-96E095947560}"/>
              </a:ext>
            </a:extLst>
          </p:cNvPr>
          <p:cNvCxnSpPr>
            <a:stCxn id="66" idx="1"/>
            <a:endCxn id="58" idx="0"/>
          </p:cNvCxnSpPr>
          <p:nvPr/>
        </p:nvCxnSpPr>
        <p:spPr>
          <a:xfrm flipH="1">
            <a:off x="5884002" y="3589456"/>
            <a:ext cx="312622" cy="493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ccia su 67">
            <a:extLst>
              <a:ext uri="{FF2B5EF4-FFF2-40B4-BE49-F238E27FC236}">
                <a16:creationId xmlns:a16="http://schemas.microsoft.com/office/drawing/2014/main" id="{CCB53143-400F-E847-85C0-0C0048B83FAB}"/>
              </a:ext>
            </a:extLst>
          </p:cNvPr>
          <p:cNvSpPr/>
          <p:nvPr/>
        </p:nvSpPr>
        <p:spPr>
          <a:xfrm>
            <a:off x="5748921" y="3580166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Freccia su 68">
            <a:extLst>
              <a:ext uri="{FF2B5EF4-FFF2-40B4-BE49-F238E27FC236}">
                <a16:creationId xmlns:a16="http://schemas.microsoft.com/office/drawing/2014/main" id="{7542753A-3F21-2A4B-834C-74D1A69A274B}"/>
              </a:ext>
            </a:extLst>
          </p:cNvPr>
          <p:cNvSpPr/>
          <p:nvPr/>
        </p:nvSpPr>
        <p:spPr>
          <a:xfrm>
            <a:off x="7279421" y="4071156"/>
            <a:ext cx="306708" cy="46632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63925512-38C1-1C48-8669-473696247526}"/>
              </a:ext>
            </a:extLst>
          </p:cNvPr>
          <p:cNvSpPr txBox="1"/>
          <p:nvPr/>
        </p:nvSpPr>
        <p:spPr>
          <a:xfrm>
            <a:off x="6952106" y="4583123"/>
            <a:ext cx="105788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Crash(p3)</a:t>
            </a:r>
          </a:p>
        </p:txBody>
      </p:sp>
      <p:sp>
        <p:nvSpPr>
          <p:cNvPr id="71" name="Freccia su 70">
            <a:extLst>
              <a:ext uri="{FF2B5EF4-FFF2-40B4-BE49-F238E27FC236}">
                <a16:creationId xmlns:a16="http://schemas.microsoft.com/office/drawing/2014/main" id="{3D360CC9-B835-BB4C-AEF1-E17EA646C01D}"/>
              </a:ext>
            </a:extLst>
          </p:cNvPr>
          <p:cNvSpPr/>
          <p:nvPr/>
        </p:nvSpPr>
        <p:spPr>
          <a:xfrm>
            <a:off x="8651641" y="2725848"/>
            <a:ext cx="306708" cy="46632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3B1EC296-B6A3-D64A-9D2D-B1E83C29A8F5}"/>
              </a:ext>
            </a:extLst>
          </p:cNvPr>
          <p:cNvSpPr txBox="1"/>
          <p:nvPr/>
        </p:nvSpPr>
        <p:spPr>
          <a:xfrm>
            <a:off x="8324326" y="3237815"/>
            <a:ext cx="105788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Crash(p3)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2BA87CB5-6CAD-3B46-BF10-239B2070CF8A}"/>
              </a:ext>
            </a:extLst>
          </p:cNvPr>
          <p:cNvSpPr txBox="1"/>
          <p:nvPr/>
        </p:nvSpPr>
        <p:spPr>
          <a:xfrm>
            <a:off x="8251590" y="1827350"/>
            <a:ext cx="168281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correct</a:t>
            </a:r>
            <a:r>
              <a:rPr lang="en-GB" baseline="-25000" dirty="0"/>
              <a:t>1</a:t>
            </a:r>
            <a:r>
              <a:rPr lang="en-GB" dirty="0"/>
              <a:t>={p</a:t>
            </a:r>
            <a:r>
              <a:rPr lang="en-GB" baseline="-25000" dirty="0"/>
              <a:t>1</a:t>
            </a:r>
            <a:r>
              <a:rPr lang="en-GB" dirty="0"/>
              <a:t>, p</a:t>
            </a:r>
            <a:r>
              <a:rPr lang="en-GB" baseline="-25000" dirty="0"/>
              <a:t>2</a:t>
            </a:r>
            <a:r>
              <a:rPr lang="en-GB" dirty="0"/>
              <a:t>}</a:t>
            </a:r>
          </a:p>
        </p:txBody>
      </p:sp>
      <p:sp>
        <p:nvSpPr>
          <p:cNvPr id="74" name="Freccia su 73">
            <a:extLst>
              <a:ext uri="{FF2B5EF4-FFF2-40B4-BE49-F238E27FC236}">
                <a16:creationId xmlns:a16="http://schemas.microsoft.com/office/drawing/2014/main" id="{42A2E4F1-B1CA-CE49-BD60-473BCC534818}"/>
              </a:ext>
            </a:extLst>
          </p:cNvPr>
          <p:cNvSpPr/>
          <p:nvPr/>
        </p:nvSpPr>
        <p:spPr>
          <a:xfrm>
            <a:off x="8651641" y="2236564"/>
            <a:ext cx="270161" cy="425943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Connettore 1 75">
            <a:extLst>
              <a:ext uri="{FF2B5EF4-FFF2-40B4-BE49-F238E27FC236}">
                <a16:creationId xmlns:a16="http://schemas.microsoft.com/office/drawing/2014/main" id="{7B85E5D7-54DC-A145-BFF5-316BEF8A383A}"/>
              </a:ext>
            </a:extLst>
          </p:cNvPr>
          <p:cNvCxnSpPr>
            <a:stCxn id="73" idx="2"/>
            <a:endCxn id="74" idx="2"/>
          </p:cNvCxnSpPr>
          <p:nvPr/>
        </p:nvCxnSpPr>
        <p:spPr>
          <a:xfrm flipH="1">
            <a:off x="8786722" y="2168982"/>
            <a:ext cx="306274" cy="49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53D174C-EBF1-A546-A743-57BCC518C119}"/>
              </a:ext>
            </a:extLst>
          </p:cNvPr>
          <p:cNvSpPr txBox="1"/>
          <p:nvPr/>
        </p:nvSpPr>
        <p:spPr>
          <a:xfrm>
            <a:off x="502305" y="2489381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1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EF7768E-667D-794E-9634-AA57F85CF001}"/>
              </a:ext>
            </a:extLst>
          </p:cNvPr>
          <p:cNvSpPr txBox="1"/>
          <p:nvPr/>
        </p:nvSpPr>
        <p:spPr>
          <a:xfrm>
            <a:off x="504922" y="3890104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2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B72C253E-E7FB-2643-B6CA-2F742A9CA600}"/>
              </a:ext>
            </a:extLst>
          </p:cNvPr>
          <p:cNvSpPr txBox="1"/>
          <p:nvPr/>
        </p:nvSpPr>
        <p:spPr>
          <a:xfrm>
            <a:off x="501160" y="5334395"/>
            <a:ext cx="49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</a:t>
            </a:r>
            <a:r>
              <a:rPr lang="en-GB" sz="1600" baseline="-25000" dirty="0"/>
              <a:t>3</a:t>
            </a:r>
          </a:p>
        </p:txBody>
      </p:sp>
      <p:sp>
        <p:nvSpPr>
          <p:cNvPr id="77" name="Up-Down Arrow 54">
            <a:extLst>
              <a:ext uri="{FF2B5EF4-FFF2-40B4-BE49-F238E27FC236}">
                <a16:creationId xmlns:a16="http://schemas.microsoft.com/office/drawing/2014/main" id="{3FF47118-2651-CF41-A60E-19913790BCB5}"/>
              </a:ext>
            </a:extLst>
          </p:cNvPr>
          <p:cNvSpPr/>
          <p:nvPr/>
        </p:nvSpPr>
        <p:spPr>
          <a:xfrm>
            <a:off x="1298891" y="5382869"/>
            <a:ext cx="96848" cy="314813"/>
          </a:xfrm>
          <a:prstGeom prst="upDownArrow">
            <a:avLst/>
          </a:prstGeom>
          <a:solidFill>
            <a:srgbClr val="7030A0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/>
      <p:bldP spid="46" grpId="0"/>
      <p:bldP spid="49" grpId="0" animBg="1"/>
      <p:bldP spid="50" grpId="0"/>
      <p:bldP spid="51" grpId="0" animBg="1"/>
      <p:bldP spid="52" grpId="0"/>
      <p:bldP spid="53" grpId="0"/>
      <p:bldP spid="55" grpId="0"/>
      <p:bldP spid="56" grpId="0" animBg="1"/>
      <p:bldP spid="57" grpId="0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8" grpId="0" animBg="1"/>
      <p:bldP spid="69" grpId="0" animBg="1"/>
      <p:bldP spid="70" grpId="0"/>
      <p:bldP spid="71" grpId="0" animBg="1"/>
      <p:bldP spid="72" grpId="0"/>
      <p:bldP spid="73" grpId="0"/>
      <p:bldP spid="7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Uniform Reliable Broadcast (URB) Implementation in Asynchronous System</a:t>
            </a:r>
            <a:endParaRPr lang="en-US" sz="4000" dirty="0"/>
          </a:p>
        </p:txBody>
      </p:sp>
      <p:pic>
        <p:nvPicPr>
          <p:cNvPr id="12185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49" y="2598259"/>
            <a:ext cx="5007976" cy="2881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59" name="Rectangle 10"/>
          <p:cNvSpPr>
            <a:spLocks noChangeArrowheads="1"/>
          </p:cNvSpPr>
          <p:nvPr/>
        </p:nvSpPr>
        <p:spPr bwMode="auto">
          <a:xfrm>
            <a:off x="5548909" y="5092810"/>
            <a:ext cx="4373760" cy="755412"/>
          </a:xfrm>
          <a:prstGeom prst="rect">
            <a:avLst/>
          </a:prstGeom>
          <a:solidFill>
            <a:schemeClr val="accent1">
              <a:alpha val="1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lang="en-GB">
                <a:ea typeface="ＭＳ Ｐゴシック" charset="0"/>
                <a:cs typeface="ＭＳ Ｐゴシック" charset="0"/>
              </a:rPr>
              <a:t>        We need to assume a majority of correct </a:t>
            </a:r>
          </a:p>
          <a:p>
            <a:pPr eaLnBrk="1" hangingPunct="1"/>
            <a:r>
              <a:rPr lang="en-GB">
                <a:ea typeface="ＭＳ Ｐゴシック" charset="0"/>
                <a:cs typeface="ＭＳ Ｐゴシック" charset="0"/>
              </a:rPr>
              <a:t>        processes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8909" y="4924892"/>
            <a:ext cx="4102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!</a:t>
            </a:r>
          </a:p>
        </p:txBody>
      </p:sp>
      <p:sp>
        <p:nvSpPr>
          <p:cNvPr id="7" name="Rettangolo arrotondato 5"/>
          <p:cNvSpPr/>
          <p:nvPr/>
        </p:nvSpPr>
        <p:spPr>
          <a:xfrm>
            <a:off x="7462549" y="2620172"/>
            <a:ext cx="2064687" cy="689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URB</a:t>
            </a:r>
          </a:p>
        </p:txBody>
      </p:sp>
      <p:cxnSp>
        <p:nvCxnSpPr>
          <p:cNvPr id="8" name="Connettore 2 6"/>
          <p:cNvCxnSpPr/>
          <p:nvPr/>
        </p:nvCxnSpPr>
        <p:spPr>
          <a:xfrm flipH="1" flipV="1">
            <a:off x="8990648" y="1997170"/>
            <a:ext cx="2" cy="62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7"/>
          <p:cNvSpPr txBox="1"/>
          <p:nvPr/>
        </p:nvSpPr>
        <p:spPr>
          <a:xfrm>
            <a:off x="7015242" y="2215544"/>
            <a:ext cx="1599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URB_Broadcast</a:t>
            </a:r>
            <a:r>
              <a:rPr lang="en-US" sz="1200" dirty="0"/>
              <a:t> (m)</a:t>
            </a:r>
          </a:p>
        </p:txBody>
      </p:sp>
      <p:cxnSp>
        <p:nvCxnSpPr>
          <p:cNvPr id="10" name="Connettore 2 9"/>
          <p:cNvCxnSpPr/>
          <p:nvPr/>
        </p:nvCxnSpPr>
        <p:spPr>
          <a:xfrm>
            <a:off x="7858081" y="2021798"/>
            <a:ext cx="0" cy="59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2"/>
          <p:cNvSpPr txBox="1"/>
          <p:nvPr/>
        </p:nvSpPr>
        <p:spPr>
          <a:xfrm>
            <a:off x="8628123" y="2225326"/>
            <a:ext cx="118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URB_Deliver</a:t>
            </a:r>
            <a:r>
              <a:rPr lang="en-US" sz="1200" dirty="0"/>
              <a:t>(m)</a:t>
            </a:r>
          </a:p>
        </p:txBody>
      </p:sp>
      <p:sp>
        <p:nvSpPr>
          <p:cNvPr id="12" name="Rettangolo arrotondato 5"/>
          <p:cNvSpPr/>
          <p:nvPr/>
        </p:nvSpPr>
        <p:spPr>
          <a:xfrm>
            <a:off x="7462549" y="4035590"/>
            <a:ext cx="2064687" cy="689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BEB</a:t>
            </a:r>
          </a:p>
        </p:txBody>
      </p:sp>
      <p:cxnSp>
        <p:nvCxnSpPr>
          <p:cNvPr id="13" name="Connettore 2 6"/>
          <p:cNvCxnSpPr/>
          <p:nvPr/>
        </p:nvCxnSpPr>
        <p:spPr>
          <a:xfrm flipH="1" flipV="1">
            <a:off x="8990650" y="3309939"/>
            <a:ext cx="2" cy="803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7"/>
          <p:cNvSpPr txBox="1"/>
          <p:nvPr/>
        </p:nvSpPr>
        <p:spPr>
          <a:xfrm>
            <a:off x="7122489" y="3630962"/>
            <a:ext cx="167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BEB_Broadcast</a:t>
            </a:r>
            <a:r>
              <a:rPr lang="en-US" sz="1200" dirty="0"/>
              <a:t> (m)</a:t>
            </a:r>
          </a:p>
        </p:txBody>
      </p:sp>
      <p:cxnSp>
        <p:nvCxnSpPr>
          <p:cNvPr id="15" name="Connettore 2 9"/>
          <p:cNvCxnSpPr/>
          <p:nvPr/>
        </p:nvCxnSpPr>
        <p:spPr>
          <a:xfrm>
            <a:off x="7858081" y="3309939"/>
            <a:ext cx="0" cy="72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2"/>
          <p:cNvSpPr txBox="1"/>
          <p:nvPr/>
        </p:nvSpPr>
        <p:spPr>
          <a:xfrm>
            <a:off x="8628126" y="3630962"/>
            <a:ext cx="1161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BEB_Deliver</a:t>
            </a:r>
            <a:r>
              <a:rPr lang="en-US" sz="1200" dirty="0"/>
              <a:t>(m)</a:t>
            </a:r>
          </a:p>
        </p:txBody>
      </p:sp>
    </p:spTree>
    <p:extLst>
      <p:ext uri="{BB962C8B-B14F-4D97-AF65-F5344CB8AC3E}">
        <p14:creationId xmlns:p14="http://schemas.microsoft.com/office/powerpoint/2010/main" val="3862561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sz="4000"/>
              <a:t>Uniform Reliable Broadcast</a:t>
            </a:r>
          </a:p>
        </p:txBody>
      </p:sp>
      <p:sp>
        <p:nvSpPr>
          <p:cNvPr id="1239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There exists an algorithm for  synchronous system using Perfect failure detector</a:t>
            </a:r>
          </a:p>
          <a:p>
            <a:pPr algn="just" eaLnBrk="1" hangingPunct="1">
              <a:buFont typeface="Wingdings" charset="2"/>
              <a:buChar char="Ø"/>
            </a:pPr>
            <a:endParaRPr lang="en-GB" dirty="0">
              <a:ea typeface="MS PGothic" charset="0"/>
            </a:endParaRPr>
          </a:p>
          <a:p>
            <a:pPr algn="just"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There exists an algorithm for  asynchronous system when assuming a “majority of correct processes”</a:t>
            </a:r>
          </a:p>
          <a:p>
            <a:pPr marL="0" indent="0" algn="just" eaLnBrk="1" hangingPunct="1">
              <a:buNone/>
            </a:pPr>
            <a:endParaRPr lang="en-GB" dirty="0">
              <a:ea typeface="MS PGothic" charset="0"/>
            </a:endParaRPr>
          </a:p>
          <a:p>
            <a:pPr algn="just"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Can we devise a uniform reliable broadcast algorithm for a partially synchronous system (using an eventually perfect failure detector) but without the assumption of a  majority of correct processes?</a:t>
            </a:r>
          </a:p>
        </p:txBody>
      </p:sp>
    </p:spTree>
    <p:extLst>
      <p:ext uri="{BB962C8B-B14F-4D97-AF65-F5344CB8AC3E}">
        <p14:creationId xmlns:p14="http://schemas.microsoft.com/office/powerpoint/2010/main" val="330665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Probabilistic broadcast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Message delivered 99% of the times</a:t>
            </a:r>
          </a:p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Not fully reliable</a:t>
            </a:r>
          </a:p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Large &amp; dynamic groups</a:t>
            </a:r>
          </a:p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</a:t>
            </a:r>
            <a:r>
              <a:rPr lang="en-GB" dirty="0" err="1">
                <a:ea typeface="MS PGothic" charset="0"/>
              </a:rPr>
              <a:t>Acks</a:t>
            </a:r>
            <a:r>
              <a:rPr lang="en-GB" dirty="0">
                <a:ea typeface="MS PGothic" charset="0"/>
              </a:rPr>
              <a:t> make reliable broadcast not scalable</a:t>
            </a:r>
          </a:p>
        </p:txBody>
      </p:sp>
    </p:spTree>
    <p:extLst>
      <p:ext uri="{BB962C8B-B14F-4D97-AF65-F5344CB8AC3E}">
        <p14:creationId xmlns:p14="http://schemas.microsoft.com/office/powerpoint/2010/main" val="515395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 err="1"/>
              <a:t>Ack</a:t>
            </a:r>
            <a:r>
              <a:rPr lang="en-GB" dirty="0"/>
              <a:t> Implosion and </a:t>
            </a:r>
            <a:r>
              <a:rPr lang="en-GB" dirty="0" err="1"/>
              <a:t>ack</a:t>
            </a:r>
            <a:r>
              <a:rPr lang="en-GB" dirty="0"/>
              <a:t> tree</a:t>
            </a:r>
          </a:p>
        </p:txBody>
      </p:sp>
      <p:sp>
        <p:nvSpPr>
          <p:cNvPr id="126979" name="Text Box 7"/>
          <p:cNvSpPr txBox="1">
            <a:spLocks noChangeArrowheads="1"/>
          </p:cNvSpPr>
          <p:nvPr/>
        </p:nvSpPr>
        <p:spPr bwMode="auto">
          <a:xfrm>
            <a:off x="1321922" y="4321008"/>
            <a:ext cx="610936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MS PGothic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MS PGothic" charset="0"/>
              </a:defRPr>
            </a:lvl9pPr>
          </a:lstStyle>
          <a:p>
            <a:pPr eaLnBrk="1" hangingPunct="1"/>
            <a:r>
              <a:rPr lang="it-IT" sz="2400">
                <a:ea typeface="ＭＳ Ｐゴシック" charset="0"/>
              </a:rPr>
              <a:t>Problems:</a:t>
            </a:r>
          </a:p>
          <a:p>
            <a:pPr eaLnBrk="1" hangingPunct="1"/>
            <a:r>
              <a:rPr lang="it-IT" sz="2400">
                <a:ea typeface="ＭＳ Ｐゴシック" charset="0"/>
              </a:rPr>
              <a:t>Process spends all its time by doing the ack task</a:t>
            </a:r>
          </a:p>
          <a:p>
            <a:pPr eaLnBrk="1" hangingPunct="1"/>
            <a:endParaRPr lang="it-IT" sz="2400">
              <a:ea typeface="ＭＳ Ｐゴシック" charset="0"/>
            </a:endParaRPr>
          </a:p>
          <a:p>
            <a:pPr eaLnBrk="1" hangingPunct="1"/>
            <a:r>
              <a:rPr lang="it-IT" sz="2400">
                <a:ea typeface="ＭＳ Ｐゴシック" charset="0"/>
              </a:rPr>
              <a:t>Maintaining the tree structure</a:t>
            </a:r>
          </a:p>
          <a:p>
            <a:pPr eaLnBrk="1" hangingPunct="1"/>
            <a:endParaRPr lang="it-IT" sz="2400">
              <a:ea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921" y="1898596"/>
            <a:ext cx="5993278" cy="223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11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 err="1"/>
              <a:t>Probabilistic</a:t>
            </a:r>
            <a:r>
              <a:rPr lang="it-IT" dirty="0"/>
              <a:t> Broadcast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29" y="2006865"/>
            <a:ext cx="6440841" cy="4105565"/>
          </a:xfrm>
          <a:prstGeom prst="rect">
            <a:avLst/>
          </a:prstGeom>
        </p:spPr>
      </p:pic>
      <p:sp>
        <p:nvSpPr>
          <p:cNvPr id="5" name="Rettangolo arrotondato 5"/>
          <p:cNvSpPr/>
          <p:nvPr/>
        </p:nvSpPr>
        <p:spPr>
          <a:xfrm>
            <a:off x="7373983" y="3765283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PbB</a:t>
            </a:r>
            <a:endParaRPr lang="en-US" dirty="0"/>
          </a:p>
        </p:txBody>
      </p:sp>
      <p:cxnSp>
        <p:nvCxnSpPr>
          <p:cNvPr id="6" name="Connettore 2 6"/>
          <p:cNvCxnSpPr/>
          <p:nvPr/>
        </p:nvCxnSpPr>
        <p:spPr>
          <a:xfrm flipH="1" flipV="1">
            <a:off x="9245645" y="2886949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7"/>
          <p:cNvSpPr txBox="1"/>
          <p:nvPr/>
        </p:nvSpPr>
        <p:spPr>
          <a:xfrm>
            <a:off x="6627972" y="3245645"/>
            <a:ext cx="215669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Pb_Broadcast</a:t>
            </a:r>
            <a:r>
              <a:rPr lang="en-US" dirty="0"/>
              <a:t> 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cxnSp>
        <p:nvCxnSpPr>
          <p:cNvPr id="8" name="Connettore 2 9"/>
          <p:cNvCxnSpPr/>
          <p:nvPr/>
        </p:nvCxnSpPr>
        <p:spPr>
          <a:xfrm>
            <a:off x="7858442" y="2996829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12"/>
          <p:cNvSpPr txBox="1"/>
          <p:nvPr/>
        </p:nvSpPr>
        <p:spPr>
          <a:xfrm>
            <a:off x="8572621" y="3236980"/>
            <a:ext cx="157175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Pb_Deliver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6596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Gossip Dissemination</a:t>
            </a:r>
          </a:p>
        </p:txBody>
      </p:sp>
      <p:sp>
        <p:nvSpPr>
          <p:cNvPr id="13107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925830" y="4327695"/>
            <a:ext cx="8486775" cy="1977780"/>
          </a:xfrm>
        </p:spPr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A process sends a message to a set of randomly chosen k processes</a:t>
            </a:r>
          </a:p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A process receiving a message for the first time forwards it to a set of k randomly chosen processes (this operation is also called a round)</a:t>
            </a:r>
          </a:p>
          <a:p>
            <a:pPr eaLnBrk="1" hangingPunct="1">
              <a:buFont typeface="Wingdings" charset="2"/>
              <a:buChar char="Ø"/>
            </a:pPr>
            <a:r>
              <a:rPr lang="en-GB" dirty="0">
                <a:ea typeface="MS PGothic" charset="0"/>
              </a:rPr>
              <a:t> The algorithm performs a maximum number of r rounds</a:t>
            </a:r>
          </a:p>
          <a:p>
            <a:pPr eaLnBrk="1" hangingPunct="1">
              <a:buFont typeface="Wingdings" charset="2"/>
              <a:buChar char="Ø"/>
            </a:pPr>
            <a:endParaRPr lang="en-GB" dirty="0">
              <a:ea typeface="MS PGothic" charset="0"/>
            </a:endParaRPr>
          </a:p>
          <a:p>
            <a:pPr eaLnBrk="1" hangingPunct="1">
              <a:buFont typeface="Wingdings" charset="2"/>
              <a:buChar char="Ø"/>
            </a:pPr>
            <a:endParaRPr lang="en-GB" dirty="0">
              <a:ea typeface="MS PGothic" charset="0"/>
            </a:endParaRPr>
          </a:p>
          <a:p>
            <a:pPr eaLnBrk="1" hangingPunct="1">
              <a:buFont typeface="Wingdings" charset="2"/>
              <a:buChar char="Ø"/>
            </a:pPr>
            <a:endParaRPr lang="en-GB" dirty="0">
              <a:ea typeface="MS P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962" y="1737362"/>
            <a:ext cx="5680653" cy="24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87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Eager Probabilistic Broadcast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99" y="1977780"/>
            <a:ext cx="5613319" cy="4143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302" y="3146374"/>
            <a:ext cx="2286000" cy="90170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cxnSp>
        <p:nvCxnSpPr>
          <p:cNvPr id="6" name="Straight Connector 5"/>
          <p:cNvCxnSpPr>
            <a:stCxn id="4" idx="1"/>
          </p:cNvCxnSpPr>
          <p:nvPr/>
        </p:nvCxnSpPr>
        <p:spPr>
          <a:xfrm rot="10800000" flipV="1">
            <a:off x="2452690" y="3597223"/>
            <a:ext cx="2759613" cy="290471"/>
          </a:xfrm>
          <a:prstGeom prst="bentConnector3">
            <a:avLst>
              <a:gd name="adj1" fmla="val 99533"/>
            </a:avLst>
          </a:prstGeom>
          <a:ln>
            <a:solidFill>
              <a:srgbClr val="1CA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234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C. </a:t>
            </a:r>
            <a:r>
              <a:rPr lang="en-GB" dirty="0" err="1"/>
              <a:t>Cachin</a:t>
            </a:r>
            <a:r>
              <a:rPr lang="en-GB" dirty="0"/>
              <a:t>, R. </a:t>
            </a:r>
            <a:r>
              <a:rPr lang="en-GB" dirty="0" err="1"/>
              <a:t>Guerraoui</a:t>
            </a:r>
            <a:r>
              <a:rPr lang="en-GB" dirty="0"/>
              <a:t> and L. Rodrigues. Introduction to Reliable and Secure Distributed Programming, Springer, 2011</a:t>
            </a:r>
          </a:p>
          <a:p>
            <a:pPr lvl="1"/>
            <a:r>
              <a:rPr lang="en-GB" dirty="0"/>
              <a:t>Chapter 3 - from Section 3.9 (except 3.9.6)</a:t>
            </a:r>
          </a:p>
          <a:p>
            <a:pPr lvl="1"/>
            <a:r>
              <a:rPr lang="en-GB" dirty="0"/>
              <a:t>Chapter 6 – Section 6.1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72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1794</TotalTime>
  <Words>1656</Words>
  <Application>Microsoft Macintosh PowerPoint</Application>
  <PresentationFormat>Diapositive 35 mm</PresentationFormat>
  <Paragraphs>419</Paragraphs>
  <Slides>34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1" baseType="lpstr">
      <vt:lpstr>ＭＳ Ｐゴシック</vt:lpstr>
      <vt:lpstr>ＭＳ Ｐゴシック</vt:lpstr>
      <vt:lpstr>Calibri</vt:lpstr>
      <vt:lpstr>Calibri Light</vt:lpstr>
      <vt:lpstr>Times New Roman</vt:lpstr>
      <vt:lpstr>Wingdings</vt:lpstr>
      <vt:lpstr>Retrospettivo</vt:lpstr>
      <vt:lpstr>Dependable Distributed Systems Master of Science in Engineering in Computer Science    AA 2026/2027</vt:lpstr>
      <vt:lpstr>Recap: what we know up to now</vt:lpstr>
      <vt:lpstr>Communication in a group: Broadcast</vt:lpstr>
      <vt:lpstr>Best Effort Broadcast (BEB) Specification</vt:lpstr>
      <vt:lpstr>Best Effort Broadcast (BEB) Implementation</vt:lpstr>
      <vt:lpstr>Correctness</vt:lpstr>
      <vt:lpstr>Observations on Best Effort Broadcast (BEB)</vt:lpstr>
      <vt:lpstr>(Regular) Reliable Broadcast (RB)</vt:lpstr>
      <vt:lpstr>BEB vs RB</vt:lpstr>
      <vt:lpstr>(Regular) Reliable Broadcast (RB) Implementation in Synchronous Systems</vt:lpstr>
      <vt:lpstr>Example</vt:lpstr>
      <vt:lpstr>Example</vt:lpstr>
      <vt:lpstr>Example</vt:lpstr>
      <vt:lpstr>Example</vt:lpstr>
      <vt:lpstr>Example with removal of retransmission</vt:lpstr>
      <vt:lpstr>Performance of Lazy RB Algorithm</vt:lpstr>
      <vt:lpstr>(Regular) Reliable Broadcast (RB) Implementation in Asynchronous Systems</vt:lpstr>
      <vt:lpstr>Performance of Eager RB Algorithm</vt:lpstr>
      <vt:lpstr>BEB vs RB</vt:lpstr>
      <vt:lpstr>Uniform Reliable Broadcast (URB) Specification</vt:lpstr>
      <vt:lpstr>BEB vs RB vs URB</vt:lpstr>
      <vt:lpstr>BEB vs RB vs URB</vt:lpstr>
      <vt:lpstr>Uniform Reliable Broadcast (URB) Implementation in Synchronous System</vt:lpstr>
      <vt:lpstr>Example</vt:lpstr>
      <vt:lpstr>Example</vt:lpstr>
      <vt:lpstr>Example</vt:lpstr>
      <vt:lpstr>Uniform Reliable Broadcast (URB) Implementation in Asynchronous System</vt:lpstr>
      <vt:lpstr>Uniform Reliable Broadcast</vt:lpstr>
      <vt:lpstr>Probabilistic broadcast</vt:lpstr>
      <vt:lpstr>Ack Implosion and ack tree</vt:lpstr>
      <vt:lpstr>Probabilistic Broadcast</vt:lpstr>
      <vt:lpstr>Gossip Dissemination</vt:lpstr>
      <vt:lpstr>Eager Probabilistic Broadcast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Master of Science in Engineering in Computer Science    AA 2017/2018</dc:title>
  <dc:creator>Silvia Bonomi</dc:creator>
  <cp:lastModifiedBy>Silvia Bonomi</cp:lastModifiedBy>
  <cp:revision>172</cp:revision>
  <cp:lastPrinted>2017-10-11T10:30:19Z</cp:lastPrinted>
  <dcterms:created xsi:type="dcterms:W3CDTF">2017-09-15T08:51:14Z</dcterms:created>
  <dcterms:modified xsi:type="dcterms:W3CDTF">2026-10-12T09:28:29Z</dcterms:modified>
</cp:coreProperties>
</file>