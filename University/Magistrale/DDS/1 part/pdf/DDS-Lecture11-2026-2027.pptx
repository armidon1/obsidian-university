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5" r:id="rId1"/>
  </p:sldMasterIdLst>
  <p:notesMasterIdLst>
    <p:notesMasterId r:id="rId39"/>
  </p:notesMasterIdLst>
  <p:sldIdLst>
    <p:sldId id="256" r:id="rId2"/>
    <p:sldId id="286" r:id="rId3"/>
    <p:sldId id="287" r:id="rId4"/>
    <p:sldId id="289" r:id="rId5"/>
    <p:sldId id="311" r:id="rId6"/>
    <p:sldId id="288" r:id="rId7"/>
    <p:sldId id="290" r:id="rId8"/>
    <p:sldId id="312" r:id="rId9"/>
    <p:sldId id="313" r:id="rId10"/>
    <p:sldId id="314" r:id="rId11"/>
    <p:sldId id="292" r:id="rId12"/>
    <p:sldId id="315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16" r:id="rId24"/>
    <p:sldId id="303" r:id="rId25"/>
    <p:sldId id="317" r:id="rId26"/>
    <p:sldId id="304" r:id="rId27"/>
    <p:sldId id="318" r:id="rId28"/>
    <p:sldId id="305" r:id="rId29"/>
    <p:sldId id="319" r:id="rId30"/>
    <p:sldId id="306" r:id="rId31"/>
    <p:sldId id="307" r:id="rId32"/>
    <p:sldId id="320" r:id="rId33"/>
    <p:sldId id="308" r:id="rId34"/>
    <p:sldId id="323" r:id="rId35"/>
    <p:sldId id="309" r:id="rId36"/>
    <p:sldId id="310" r:id="rId37"/>
    <p:sldId id="283" r:id="rId38"/>
  </p:sldIdLst>
  <p:sldSz cx="10287000" cy="6858000" type="35mm"/>
  <p:notesSz cx="6858000" cy="9144000"/>
  <p:defaultTextStyle>
    <a:defPPr>
      <a:defRPr lang="en-US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2"/>
    <p:restoredTop sz="94591"/>
  </p:normalViewPr>
  <p:slideViewPr>
    <p:cSldViewPr snapToGrid="0" snapToObjects="1">
      <p:cViewPr varScale="1">
        <p:scale>
          <a:sx n="118" d="100"/>
          <a:sy n="118" d="100"/>
        </p:scale>
        <p:origin x="928" y="208"/>
      </p:cViewPr>
      <p:guideLst>
        <p:guide orient="horz" pos="21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34F95-BFF0-184C-9CF7-1FBA526794A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66C1B-9924-9649-9BEF-5BF5C1F203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830" y="758952"/>
            <a:ext cx="8486775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168" y="4455621"/>
            <a:ext cx="848677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9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758952"/>
            <a:ext cx="8486775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4453128"/>
            <a:ext cx="8486775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10/19/26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5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830" y="1845736"/>
            <a:ext cx="4166235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1845735"/>
            <a:ext cx="4166235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582335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2582334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4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7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6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4178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408810" y="0"/>
            <a:ext cx="54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594359"/>
            <a:ext cx="2700338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506" y="731520"/>
            <a:ext cx="5477828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762" y="2926080"/>
            <a:ext cx="2700338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2777" y="6459787"/>
            <a:ext cx="2209368" cy="365125"/>
          </a:xfrm>
        </p:spPr>
        <p:txBody>
          <a:bodyPr/>
          <a:lstStyle>
            <a:lvl1pPr algn="l">
              <a:defRPr/>
            </a:lvl1pPr>
          </a:lstStyle>
          <a:p>
            <a:fld id="{DA16AA21-1863-4931-97CB-99D0A168701B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0506" y="6459787"/>
            <a:ext cx="39219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02843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491507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5074920"/>
            <a:ext cx="853821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286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30" y="5907024"/>
            <a:ext cx="853821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412302"/>
            <a:ext cx="2218134" cy="5759898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412302"/>
            <a:ext cx="6525816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6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0287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0287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29" y="1845734"/>
            <a:ext cx="848677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5832" y="6459787"/>
            <a:ext cx="2085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0219" y="6459787"/>
            <a:ext cx="4069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513" y="6459787"/>
            <a:ext cx="1107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07042" y="1737845"/>
            <a:ext cx="84096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80" r:id="rId5"/>
    <p:sldLayoutId id="2147484081" r:id="rId6"/>
    <p:sldLayoutId id="2147484082" r:id="rId7"/>
    <p:sldLayoutId id="2147484083" r:id="rId8"/>
    <p:sldLayoutId id="2147484084" r:id="rId9"/>
    <p:sldLayoutId id="2147484085" r:id="rId10"/>
    <p:sldLayoutId id="2147484086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n-us/research/wp-content/uploads/2016/12/paxos-simple-Copy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000" dirty="0"/>
              <a:t>Dependable Distributed Systems</a:t>
            </a:r>
            <a:br>
              <a:rPr lang="en-GB" sz="4000" dirty="0"/>
            </a:br>
            <a:r>
              <a:rPr lang="en-GB" sz="4000" dirty="0"/>
              <a:t>Master of Science in Engineering in Computer Science  </a:t>
            </a:r>
            <a:br>
              <a:rPr lang="en-GB" sz="4000" dirty="0"/>
            </a:br>
            <a:br>
              <a:rPr lang="en-GB" sz="4000" dirty="0"/>
            </a:br>
            <a:r>
              <a:rPr lang="en-GB" sz="4000" dirty="0"/>
              <a:t>AA 2026/2027</a:t>
            </a:r>
          </a:p>
        </p:txBody>
      </p:sp>
      <p:sp>
        <p:nvSpPr>
          <p:cNvPr id="7" name="Sottotitolo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11: Consensus - Paxos</a:t>
            </a:r>
          </a:p>
        </p:txBody>
      </p:sp>
    </p:spTree>
    <p:extLst>
      <p:ext uri="{BB962C8B-B14F-4D97-AF65-F5344CB8AC3E}">
        <p14:creationId xmlns:p14="http://schemas.microsoft.com/office/powerpoint/2010/main" val="65483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Impossibility Result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3371855" y="2486024"/>
            <a:ext cx="5014913" cy="102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/>
              <a:t>Impossibility of Consensus in asynchronous systems in the presence also of a single crash </a:t>
            </a:r>
            <a:endParaRPr lang="en-GB" sz="2000">
              <a:effectLst/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419355" y="2581274"/>
            <a:ext cx="762000" cy="838200"/>
            <a:chOff x="2688" y="1152"/>
            <a:chExt cx="392" cy="434"/>
          </a:xfrm>
        </p:grpSpPr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88" y="1152"/>
              <a:ext cx="392" cy="434"/>
              <a:chOff x="2688" y="1152"/>
              <a:chExt cx="392" cy="434"/>
            </a:xfrm>
          </p:grpSpPr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2688" y="1152"/>
                <a:ext cx="392" cy="434"/>
              </a:xfrm>
              <a:custGeom>
                <a:avLst/>
                <a:gdLst>
                  <a:gd name="T0" fmla="*/ 0 w 1261"/>
                  <a:gd name="T1" fmla="*/ 367 h 1286"/>
                  <a:gd name="T2" fmla="*/ 385 w 1261"/>
                  <a:gd name="T3" fmla="*/ 0 h 1286"/>
                  <a:gd name="T4" fmla="*/ 876 w 1261"/>
                  <a:gd name="T5" fmla="*/ 0 h 1286"/>
                  <a:gd name="T6" fmla="*/ 1261 w 1261"/>
                  <a:gd name="T7" fmla="*/ 367 h 1286"/>
                  <a:gd name="T8" fmla="*/ 1261 w 1261"/>
                  <a:gd name="T9" fmla="*/ 896 h 1286"/>
                  <a:gd name="T10" fmla="*/ 876 w 1261"/>
                  <a:gd name="T11" fmla="*/ 1286 h 1286"/>
                  <a:gd name="T12" fmla="*/ 385 w 1261"/>
                  <a:gd name="T13" fmla="*/ 1286 h 1286"/>
                  <a:gd name="T14" fmla="*/ 0 w 1261"/>
                  <a:gd name="T15" fmla="*/ 896 h 1286"/>
                  <a:gd name="T16" fmla="*/ 0 w 1261"/>
                  <a:gd name="T17" fmla="*/ 367 h 1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61" h="1286">
                    <a:moveTo>
                      <a:pt x="0" y="367"/>
                    </a:moveTo>
                    <a:lnTo>
                      <a:pt x="385" y="0"/>
                    </a:lnTo>
                    <a:lnTo>
                      <a:pt x="876" y="0"/>
                    </a:lnTo>
                    <a:lnTo>
                      <a:pt x="1261" y="367"/>
                    </a:lnTo>
                    <a:lnTo>
                      <a:pt x="1261" y="896"/>
                    </a:lnTo>
                    <a:lnTo>
                      <a:pt x="876" y="1286"/>
                    </a:lnTo>
                    <a:lnTo>
                      <a:pt x="385" y="1286"/>
                    </a:lnTo>
                    <a:lnTo>
                      <a:pt x="0" y="896"/>
                    </a:lnTo>
                    <a:lnTo>
                      <a:pt x="0" y="367"/>
                    </a:lnTo>
                    <a:close/>
                  </a:path>
                </a:pathLst>
              </a:custGeom>
              <a:solidFill>
                <a:srgbClr val="CC0066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8"/>
              <p:cNvSpPr>
                <a:spLocks/>
              </p:cNvSpPr>
              <p:nvPr/>
            </p:nvSpPr>
            <p:spPr bwMode="auto">
              <a:xfrm>
                <a:off x="2714" y="1182"/>
                <a:ext cx="340" cy="375"/>
              </a:xfrm>
              <a:custGeom>
                <a:avLst/>
                <a:gdLst>
                  <a:gd name="T0" fmla="*/ 0 w 1091"/>
                  <a:gd name="T1" fmla="*/ 317 h 1111"/>
                  <a:gd name="T2" fmla="*/ 332 w 1091"/>
                  <a:gd name="T3" fmla="*/ 0 h 1111"/>
                  <a:gd name="T4" fmla="*/ 757 w 1091"/>
                  <a:gd name="T5" fmla="*/ 0 h 1111"/>
                  <a:gd name="T6" fmla="*/ 1091 w 1091"/>
                  <a:gd name="T7" fmla="*/ 317 h 1111"/>
                  <a:gd name="T8" fmla="*/ 1091 w 1091"/>
                  <a:gd name="T9" fmla="*/ 774 h 1111"/>
                  <a:gd name="T10" fmla="*/ 757 w 1091"/>
                  <a:gd name="T11" fmla="*/ 1111 h 1111"/>
                  <a:gd name="T12" fmla="*/ 332 w 1091"/>
                  <a:gd name="T13" fmla="*/ 1111 h 1111"/>
                  <a:gd name="T14" fmla="*/ 0 w 1091"/>
                  <a:gd name="T15" fmla="*/ 774 h 1111"/>
                  <a:gd name="T16" fmla="*/ 0 w 1091"/>
                  <a:gd name="T17" fmla="*/ 317 h 1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91" h="1111">
                    <a:moveTo>
                      <a:pt x="0" y="317"/>
                    </a:moveTo>
                    <a:lnTo>
                      <a:pt x="332" y="0"/>
                    </a:lnTo>
                    <a:lnTo>
                      <a:pt x="757" y="0"/>
                    </a:lnTo>
                    <a:lnTo>
                      <a:pt x="1091" y="317"/>
                    </a:lnTo>
                    <a:lnTo>
                      <a:pt x="1091" y="774"/>
                    </a:lnTo>
                    <a:lnTo>
                      <a:pt x="757" y="1111"/>
                    </a:lnTo>
                    <a:lnTo>
                      <a:pt x="332" y="1111"/>
                    </a:lnTo>
                    <a:lnTo>
                      <a:pt x="0" y="774"/>
                    </a:lnTo>
                    <a:lnTo>
                      <a:pt x="0" y="317"/>
                    </a:lnTo>
                  </a:path>
                </a:pathLst>
              </a:custGeom>
              <a:solidFill>
                <a:srgbClr val="CC0066"/>
              </a:solidFill>
              <a:ln w="285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" name="Group 9"/>
            <p:cNvGrpSpPr>
              <a:grpSpLocks/>
            </p:cNvGrpSpPr>
            <p:nvPr/>
          </p:nvGrpSpPr>
          <p:grpSpPr bwMode="auto">
            <a:xfrm>
              <a:off x="2734" y="1278"/>
              <a:ext cx="300" cy="182"/>
              <a:chOff x="2397" y="1463"/>
              <a:chExt cx="963" cy="540"/>
            </a:xfrm>
          </p:grpSpPr>
          <p:sp>
            <p:nvSpPr>
              <p:cNvPr id="8" name="Freeform 10"/>
              <p:cNvSpPr>
                <a:spLocks/>
              </p:cNvSpPr>
              <p:nvPr/>
            </p:nvSpPr>
            <p:spPr bwMode="auto">
              <a:xfrm>
                <a:off x="3145" y="1463"/>
                <a:ext cx="215" cy="540"/>
              </a:xfrm>
              <a:custGeom>
                <a:avLst/>
                <a:gdLst>
                  <a:gd name="T0" fmla="*/ 0 w 215"/>
                  <a:gd name="T1" fmla="*/ 0 h 540"/>
                  <a:gd name="T2" fmla="*/ 151 w 215"/>
                  <a:gd name="T3" fmla="*/ 0 h 540"/>
                  <a:gd name="T4" fmla="*/ 215 w 215"/>
                  <a:gd name="T5" fmla="*/ 86 h 540"/>
                  <a:gd name="T6" fmla="*/ 215 w 215"/>
                  <a:gd name="T7" fmla="*/ 284 h 540"/>
                  <a:gd name="T8" fmla="*/ 151 w 215"/>
                  <a:gd name="T9" fmla="*/ 369 h 540"/>
                  <a:gd name="T10" fmla="*/ 88 w 215"/>
                  <a:gd name="T11" fmla="*/ 369 h 540"/>
                  <a:gd name="T12" fmla="*/ 88 w 215"/>
                  <a:gd name="T13" fmla="*/ 540 h 540"/>
                  <a:gd name="T14" fmla="*/ 0 w 215"/>
                  <a:gd name="T15" fmla="*/ 540 h 540"/>
                  <a:gd name="T16" fmla="*/ 0 w 215"/>
                  <a:gd name="T17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5" h="540">
                    <a:moveTo>
                      <a:pt x="0" y="0"/>
                    </a:moveTo>
                    <a:lnTo>
                      <a:pt x="151" y="0"/>
                    </a:lnTo>
                    <a:lnTo>
                      <a:pt x="215" y="86"/>
                    </a:lnTo>
                    <a:lnTo>
                      <a:pt x="215" y="284"/>
                    </a:lnTo>
                    <a:lnTo>
                      <a:pt x="151" y="369"/>
                    </a:lnTo>
                    <a:lnTo>
                      <a:pt x="88" y="369"/>
                    </a:lnTo>
                    <a:lnTo>
                      <a:pt x="88" y="540"/>
                    </a:lnTo>
                    <a:lnTo>
                      <a:pt x="0" y="5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Freeform 11"/>
              <p:cNvSpPr>
                <a:spLocks/>
              </p:cNvSpPr>
              <p:nvPr/>
            </p:nvSpPr>
            <p:spPr bwMode="auto">
              <a:xfrm>
                <a:off x="2874" y="1463"/>
                <a:ext cx="231" cy="540"/>
              </a:xfrm>
              <a:custGeom>
                <a:avLst/>
                <a:gdLst>
                  <a:gd name="T0" fmla="*/ 64 w 231"/>
                  <a:gd name="T1" fmla="*/ 0 h 540"/>
                  <a:gd name="T2" fmla="*/ 167 w 231"/>
                  <a:gd name="T3" fmla="*/ 0 h 540"/>
                  <a:gd name="T4" fmla="*/ 231 w 231"/>
                  <a:gd name="T5" fmla="*/ 86 h 540"/>
                  <a:gd name="T6" fmla="*/ 231 w 231"/>
                  <a:gd name="T7" fmla="*/ 454 h 540"/>
                  <a:gd name="T8" fmla="*/ 167 w 231"/>
                  <a:gd name="T9" fmla="*/ 540 h 540"/>
                  <a:gd name="T10" fmla="*/ 64 w 231"/>
                  <a:gd name="T11" fmla="*/ 540 h 540"/>
                  <a:gd name="T12" fmla="*/ 0 w 231"/>
                  <a:gd name="T13" fmla="*/ 463 h 540"/>
                  <a:gd name="T14" fmla="*/ 0 w 231"/>
                  <a:gd name="T15" fmla="*/ 86 h 540"/>
                  <a:gd name="T16" fmla="*/ 64 w 231"/>
                  <a:gd name="T17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1" h="540">
                    <a:moveTo>
                      <a:pt x="64" y="0"/>
                    </a:moveTo>
                    <a:lnTo>
                      <a:pt x="167" y="0"/>
                    </a:lnTo>
                    <a:lnTo>
                      <a:pt x="231" y="86"/>
                    </a:lnTo>
                    <a:lnTo>
                      <a:pt x="231" y="454"/>
                    </a:lnTo>
                    <a:lnTo>
                      <a:pt x="167" y="540"/>
                    </a:lnTo>
                    <a:lnTo>
                      <a:pt x="64" y="540"/>
                    </a:lnTo>
                    <a:lnTo>
                      <a:pt x="0" y="463"/>
                    </a:lnTo>
                    <a:lnTo>
                      <a:pt x="0" y="86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" name="Freeform 12"/>
              <p:cNvSpPr>
                <a:spLocks/>
              </p:cNvSpPr>
              <p:nvPr/>
            </p:nvSpPr>
            <p:spPr bwMode="auto">
              <a:xfrm>
                <a:off x="2397" y="1463"/>
                <a:ext cx="215" cy="540"/>
              </a:xfrm>
              <a:custGeom>
                <a:avLst/>
                <a:gdLst>
                  <a:gd name="T0" fmla="*/ 55 w 215"/>
                  <a:gd name="T1" fmla="*/ 0 h 540"/>
                  <a:gd name="T2" fmla="*/ 151 w 215"/>
                  <a:gd name="T3" fmla="*/ 0 h 540"/>
                  <a:gd name="T4" fmla="*/ 215 w 215"/>
                  <a:gd name="T5" fmla="*/ 86 h 540"/>
                  <a:gd name="T6" fmla="*/ 215 w 215"/>
                  <a:gd name="T7" fmla="*/ 181 h 540"/>
                  <a:gd name="T8" fmla="*/ 135 w 215"/>
                  <a:gd name="T9" fmla="*/ 181 h 540"/>
                  <a:gd name="T10" fmla="*/ 135 w 215"/>
                  <a:gd name="T11" fmla="*/ 111 h 540"/>
                  <a:gd name="T12" fmla="*/ 79 w 215"/>
                  <a:gd name="T13" fmla="*/ 111 h 540"/>
                  <a:gd name="T14" fmla="*/ 79 w 215"/>
                  <a:gd name="T15" fmla="*/ 232 h 540"/>
                  <a:gd name="T16" fmla="*/ 151 w 215"/>
                  <a:gd name="T17" fmla="*/ 232 h 540"/>
                  <a:gd name="T18" fmla="*/ 215 w 215"/>
                  <a:gd name="T19" fmla="*/ 301 h 540"/>
                  <a:gd name="T20" fmla="*/ 215 w 215"/>
                  <a:gd name="T21" fmla="*/ 463 h 540"/>
                  <a:gd name="T22" fmla="*/ 159 w 215"/>
                  <a:gd name="T23" fmla="*/ 540 h 540"/>
                  <a:gd name="T24" fmla="*/ 55 w 215"/>
                  <a:gd name="T25" fmla="*/ 540 h 540"/>
                  <a:gd name="T26" fmla="*/ 0 w 215"/>
                  <a:gd name="T27" fmla="*/ 463 h 540"/>
                  <a:gd name="T28" fmla="*/ 0 w 215"/>
                  <a:gd name="T29" fmla="*/ 369 h 540"/>
                  <a:gd name="T30" fmla="*/ 79 w 215"/>
                  <a:gd name="T31" fmla="*/ 369 h 540"/>
                  <a:gd name="T32" fmla="*/ 79 w 215"/>
                  <a:gd name="T33" fmla="*/ 437 h 540"/>
                  <a:gd name="T34" fmla="*/ 135 w 215"/>
                  <a:gd name="T35" fmla="*/ 437 h 540"/>
                  <a:gd name="T36" fmla="*/ 135 w 215"/>
                  <a:gd name="T37" fmla="*/ 317 h 540"/>
                  <a:gd name="T38" fmla="*/ 63 w 215"/>
                  <a:gd name="T39" fmla="*/ 317 h 540"/>
                  <a:gd name="T40" fmla="*/ 0 w 215"/>
                  <a:gd name="T41" fmla="*/ 249 h 540"/>
                  <a:gd name="T42" fmla="*/ 0 w 215"/>
                  <a:gd name="T43" fmla="*/ 86 h 540"/>
                  <a:gd name="T44" fmla="*/ 55 w 215"/>
                  <a:gd name="T4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5" h="540">
                    <a:moveTo>
                      <a:pt x="55" y="0"/>
                    </a:moveTo>
                    <a:lnTo>
                      <a:pt x="151" y="0"/>
                    </a:lnTo>
                    <a:lnTo>
                      <a:pt x="215" y="86"/>
                    </a:lnTo>
                    <a:lnTo>
                      <a:pt x="215" y="181"/>
                    </a:lnTo>
                    <a:lnTo>
                      <a:pt x="135" y="181"/>
                    </a:lnTo>
                    <a:lnTo>
                      <a:pt x="135" y="111"/>
                    </a:lnTo>
                    <a:lnTo>
                      <a:pt x="79" y="111"/>
                    </a:lnTo>
                    <a:lnTo>
                      <a:pt x="79" y="232"/>
                    </a:lnTo>
                    <a:lnTo>
                      <a:pt x="151" y="232"/>
                    </a:lnTo>
                    <a:lnTo>
                      <a:pt x="215" y="301"/>
                    </a:lnTo>
                    <a:lnTo>
                      <a:pt x="215" y="463"/>
                    </a:lnTo>
                    <a:lnTo>
                      <a:pt x="159" y="540"/>
                    </a:lnTo>
                    <a:lnTo>
                      <a:pt x="55" y="540"/>
                    </a:lnTo>
                    <a:lnTo>
                      <a:pt x="0" y="463"/>
                    </a:lnTo>
                    <a:lnTo>
                      <a:pt x="0" y="369"/>
                    </a:lnTo>
                    <a:lnTo>
                      <a:pt x="79" y="369"/>
                    </a:lnTo>
                    <a:lnTo>
                      <a:pt x="79" y="437"/>
                    </a:lnTo>
                    <a:lnTo>
                      <a:pt x="135" y="437"/>
                    </a:lnTo>
                    <a:lnTo>
                      <a:pt x="135" y="317"/>
                    </a:lnTo>
                    <a:lnTo>
                      <a:pt x="63" y="317"/>
                    </a:lnTo>
                    <a:lnTo>
                      <a:pt x="0" y="249"/>
                    </a:lnTo>
                    <a:lnTo>
                      <a:pt x="0" y="86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Freeform 13"/>
              <p:cNvSpPr>
                <a:spLocks/>
              </p:cNvSpPr>
              <p:nvPr/>
            </p:nvSpPr>
            <p:spPr bwMode="auto">
              <a:xfrm>
                <a:off x="2652" y="1463"/>
                <a:ext cx="198" cy="540"/>
              </a:xfrm>
              <a:custGeom>
                <a:avLst/>
                <a:gdLst>
                  <a:gd name="T0" fmla="*/ 0 w 198"/>
                  <a:gd name="T1" fmla="*/ 0 h 540"/>
                  <a:gd name="T2" fmla="*/ 198 w 198"/>
                  <a:gd name="T3" fmla="*/ 0 h 540"/>
                  <a:gd name="T4" fmla="*/ 198 w 198"/>
                  <a:gd name="T5" fmla="*/ 111 h 540"/>
                  <a:gd name="T6" fmla="*/ 143 w 198"/>
                  <a:gd name="T7" fmla="*/ 111 h 540"/>
                  <a:gd name="T8" fmla="*/ 143 w 198"/>
                  <a:gd name="T9" fmla="*/ 540 h 540"/>
                  <a:gd name="T10" fmla="*/ 56 w 198"/>
                  <a:gd name="T11" fmla="*/ 540 h 540"/>
                  <a:gd name="T12" fmla="*/ 56 w 198"/>
                  <a:gd name="T13" fmla="*/ 111 h 540"/>
                  <a:gd name="T14" fmla="*/ 0 w 198"/>
                  <a:gd name="T15" fmla="*/ 111 h 540"/>
                  <a:gd name="T16" fmla="*/ 0 w 198"/>
                  <a:gd name="T17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8" h="540">
                    <a:moveTo>
                      <a:pt x="0" y="0"/>
                    </a:moveTo>
                    <a:lnTo>
                      <a:pt x="198" y="0"/>
                    </a:lnTo>
                    <a:lnTo>
                      <a:pt x="198" y="111"/>
                    </a:lnTo>
                    <a:lnTo>
                      <a:pt x="143" y="111"/>
                    </a:lnTo>
                    <a:lnTo>
                      <a:pt x="143" y="540"/>
                    </a:lnTo>
                    <a:lnTo>
                      <a:pt x="56" y="540"/>
                    </a:lnTo>
                    <a:lnTo>
                      <a:pt x="56" y="111"/>
                    </a:lnTo>
                    <a:lnTo>
                      <a:pt x="0" y="1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Rectangle 14"/>
              <p:cNvSpPr>
                <a:spLocks noChangeArrowheads="1"/>
              </p:cNvSpPr>
              <p:nvPr/>
            </p:nvSpPr>
            <p:spPr bwMode="auto">
              <a:xfrm>
                <a:off x="2966" y="1578"/>
                <a:ext cx="48" cy="310"/>
              </a:xfrm>
              <a:prstGeom prst="rect">
                <a:avLst/>
              </a:prstGeom>
              <a:solidFill>
                <a:srgbClr val="CC0066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Rectangle 15"/>
              <p:cNvSpPr>
                <a:spLocks noChangeArrowheads="1"/>
              </p:cNvSpPr>
              <p:nvPr/>
            </p:nvSpPr>
            <p:spPr bwMode="auto">
              <a:xfrm>
                <a:off x="3237" y="1578"/>
                <a:ext cx="40" cy="139"/>
              </a:xfrm>
              <a:prstGeom prst="rect">
                <a:avLst/>
              </a:prstGeom>
              <a:solidFill>
                <a:srgbClr val="CC0066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6" name="CasellaDiTesto 15"/>
          <p:cNvSpPr txBox="1"/>
          <p:nvPr/>
        </p:nvSpPr>
        <p:spPr>
          <a:xfrm>
            <a:off x="1843088" y="4429125"/>
            <a:ext cx="6829425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Fisher, Lynch e </a:t>
            </a:r>
            <a:r>
              <a:rPr lang="it-IT" dirty="0" err="1"/>
              <a:t>Patterson</a:t>
            </a:r>
            <a:r>
              <a:rPr lang="it-IT" dirty="0"/>
              <a:t> (FLP </a:t>
            </a:r>
            <a:r>
              <a:rPr lang="it-IT" dirty="0" err="1"/>
              <a:t>result</a:t>
            </a:r>
            <a:r>
              <a:rPr lang="it-IT" dirty="0"/>
              <a:t>). </a:t>
            </a:r>
          </a:p>
          <a:p>
            <a:pPr algn="ctr"/>
            <a:r>
              <a:rPr lang="it-IT" dirty="0" err="1"/>
              <a:t>Ref</a:t>
            </a:r>
            <a:r>
              <a:rPr lang="it-IT" dirty="0"/>
              <a:t>: Journal of the ACM, Vol. 32, No. 2, April 1985. 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75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/>
            <a:r>
              <a:rPr lang="en-US" altLang="it-IT" dirty="0"/>
              <a:t>The </a:t>
            </a:r>
            <a:r>
              <a:rPr lang="en-US" altLang="it-IT" dirty="0" err="1"/>
              <a:t>Paxos</a:t>
            </a:r>
            <a:r>
              <a:rPr lang="en-US" altLang="it-IT" dirty="0"/>
              <a:t> family of algorithms was introduced in 1999 to provide a viable solution to consensus in asynchronous settings:</a:t>
            </a:r>
          </a:p>
          <a:p>
            <a:pPr marL="482186" lvl="1" algn="just"/>
            <a:r>
              <a:rPr lang="en-US" altLang="it-IT" dirty="0"/>
              <a:t>Safety is </a:t>
            </a:r>
            <a:r>
              <a:rPr lang="en-US" altLang="it-IT" u="sng" dirty="0"/>
              <a:t>always</a:t>
            </a:r>
            <a:r>
              <a:rPr lang="en-US" altLang="it-IT" dirty="0"/>
              <a:t> guaranteed</a:t>
            </a:r>
          </a:p>
          <a:p>
            <a:pPr marL="482186" lvl="1" algn="just"/>
            <a:r>
              <a:rPr lang="en-US" altLang="it-IT" dirty="0"/>
              <a:t>The algorithm makes some progress (</a:t>
            </a:r>
            <a:r>
              <a:rPr lang="en-US" altLang="it-IT" dirty="0" err="1"/>
              <a:t>liveness</a:t>
            </a:r>
            <a:r>
              <a:rPr lang="en-US" altLang="it-IT" dirty="0"/>
              <a:t>) only when the network behaves in a “good way” for long enough periods of time (partial synchrony).</a:t>
            </a:r>
          </a:p>
        </p:txBody>
      </p:sp>
    </p:spTree>
    <p:extLst>
      <p:ext uri="{BB962C8B-B14F-4D97-AF65-F5344CB8AC3E}">
        <p14:creationId xmlns:p14="http://schemas.microsoft.com/office/powerpoint/2010/main" val="118143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 – recap about properties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it-IT"/>
              <a:t>Let us think about what the protocol should do.</a:t>
            </a:r>
          </a:p>
          <a:p>
            <a:pPr marL="482186" lvl="1"/>
            <a:r>
              <a:rPr lang="en-US" altLang="it-IT"/>
              <a:t>Only a value that has been proposed may be chosen</a:t>
            </a:r>
          </a:p>
          <a:p>
            <a:pPr marL="482186" lvl="1"/>
            <a:r>
              <a:rPr lang="en-US" altLang="it-IT"/>
              <a:t>Only a single value is chosen</a:t>
            </a:r>
          </a:p>
          <a:p>
            <a:pPr marL="482186" lvl="1"/>
            <a:r>
              <a:rPr lang="en-US" altLang="it-IT"/>
              <a:t>A process never learns that a value has been chosen unless it actually has been</a:t>
            </a:r>
          </a:p>
        </p:txBody>
      </p:sp>
    </p:spTree>
    <p:extLst>
      <p:ext uri="{BB962C8B-B14F-4D97-AF65-F5344CB8AC3E}">
        <p14:creationId xmlns:p14="http://schemas.microsoft.com/office/powerpoint/2010/main" val="1606393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Paxos</a:t>
            </a:r>
            <a:r>
              <a:rPr lang="en-US" dirty="0"/>
              <a:t> – System model and basic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Agents operate at arbitrary speed, may fail by stopping (and may restart). 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Arial"/>
              <a:buChar char="•"/>
            </a:pPr>
            <a:r>
              <a:rPr lang="en-US" u="sng" dirty="0"/>
              <a:t>Observation:</a:t>
            </a:r>
            <a:r>
              <a:rPr lang="en-US" dirty="0"/>
              <a:t> Since all agents may fail after a value is chosen and then restart, a solution is impossible unless some information can be remembered by an agent that has failed and restarted. </a:t>
            </a:r>
          </a:p>
          <a:p>
            <a:pPr lvl="1">
              <a:buFont typeface="Arial"/>
              <a:buChar char="•"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/>
              <a:t> Messages can take arbitrarily long to be delivered, can be duplicated, and can be lost, but they are not corrupted.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10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 - Actors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it-IT" dirty="0"/>
              <a:t>Actors in the basic </a:t>
            </a:r>
            <a:r>
              <a:rPr lang="en-US" altLang="it-IT" dirty="0" err="1"/>
              <a:t>Paxos</a:t>
            </a:r>
            <a:r>
              <a:rPr lang="en-US" altLang="it-IT" dirty="0"/>
              <a:t> protocol</a:t>
            </a:r>
          </a:p>
          <a:p>
            <a:pPr marL="482186" lvl="1"/>
            <a:r>
              <a:rPr lang="en-US" altLang="it-IT" u="sng" dirty="0"/>
              <a:t>Proposers</a:t>
            </a:r>
            <a:r>
              <a:rPr lang="en-US" altLang="it-IT" dirty="0"/>
              <a:t>: propose a value</a:t>
            </a:r>
          </a:p>
          <a:p>
            <a:pPr marL="482186" lvl="1"/>
            <a:endParaRPr lang="en-US" altLang="it-IT" dirty="0"/>
          </a:p>
          <a:p>
            <a:pPr marL="482186" lvl="1"/>
            <a:r>
              <a:rPr lang="en-US" altLang="it-IT" u="sng" dirty="0"/>
              <a:t>Acceptors</a:t>
            </a:r>
            <a:r>
              <a:rPr lang="en-US" altLang="it-IT" dirty="0"/>
              <a:t>: processes that must commit on a final decided value</a:t>
            </a:r>
          </a:p>
          <a:p>
            <a:pPr marL="482186" lvl="1"/>
            <a:endParaRPr lang="en-US" altLang="it-IT" dirty="0"/>
          </a:p>
          <a:p>
            <a:pPr marL="482186" lvl="1"/>
            <a:r>
              <a:rPr lang="en-US" altLang="it-IT" u="sng" dirty="0"/>
              <a:t>Learners</a:t>
            </a:r>
            <a:r>
              <a:rPr lang="en-US" altLang="it-IT" dirty="0"/>
              <a:t>: passively assist to the decision and obtain the final decided value</a:t>
            </a:r>
          </a:p>
        </p:txBody>
      </p:sp>
    </p:spTree>
    <p:extLst>
      <p:ext uri="{BB962C8B-B14F-4D97-AF65-F5344CB8AC3E}">
        <p14:creationId xmlns:p14="http://schemas.microsoft.com/office/powerpoint/2010/main" val="1364713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altLang="it-IT" sz="2400" dirty="0"/>
              <a:t>The easiest way to solve the problem is to have a single acceptor</a:t>
            </a:r>
          </a:p>
          <a:p>
            <a:pPr marL="482186" lvl="1"/>
            <a:r>
              <a:rPr lang="en-US" altLang="it-IT" sz="2000" dirty="0"/>
              <a:t>A proposer sends a proposal to the acceptor</a:t>
            </a:r>
          </a:p>
          <a:p>
            <a:pPr marL="482186" lvl="1"/>
            <a:r>
              <a:rPr lang="en-US" altLang="it-IT" sz="2000" dirty="0"/>
              <a:t>The acceptor choses the first proposed value it receives and informs everybody about its choice</a:t>
            </a:r>
          </a:p>
          <a:p>
            <a:pPr marL="482186" lvl="1"/>
            <a:endParaRPr lang="en-US" altLang="it-IT" sz="2000" dirty="0"/>
          </a:p>
          <a:p>
            <a:r>
              <a:rPr lang="en-US" altLang="it-IT" sz="2400" dirty="0"/>
              <a:t>What if the only acceptor fails ?</a:t>
            </a:r>
          </a:p>
          <a:p>
            <a:r>
              <a:rPr lang="en-US" altLang="it-IT" sz="2400" dirty="0"/>
              <a:t>=&gt; We must have more than one acceptor</a:t>
            </a:r>
          </a:p>
        </p:txBody>
      </p:sp>
      <p:sp>
        <p:nvSpPr>
          <p:cNvPr id="2" name="Oval 1"/>
          <p:cNvSpPr/>
          <p:nvPr/>
        </p:nvSpPr>
        <p:spPr>
          <a:xfrm>
            <a:off x="8182097" y="3412640"/>
            <a:ext cx="319916" cy="31993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7493793" y="4667550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6" name="Oval 5"/>
          <p:cNvSpPr/>
          <p:nvPr/>
        </p:nvSpPr>
        <p:spPr>
          <a:xfrm>
            <a:off x="8022139" y="4667550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7" name="Oval 6"/>
          <p:cNvSpPr/>
          <p:nvPr/>
        </p:nvSpPr>
        <p:spPr>
          <a:xfrm>
            <a:off x="9252647" y="4667550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4" name="Straight Arrow Connector 3"/>
          <p:cNvCxnSpPr>
            <a:stCxn id="5" idx="0"/>
            <a:endCxn id="2" idx="3"/>
          </p:cNvCxnSpPr>
          <p:nvPr/>
        </p:nvCxnSpPr>
        <p:spPr>
          <a:xfrm flipV="1">
            <a:off x="7653751" y="3685722"/>
            <a:ext cx="575197" cy="981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05281" y="4023425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</a:t>
            </a:r>
            <a:r>
              <a:rPr lang="en-US" sz="1200" baseline="-25000" dirty="0"/>
              <a:t>1</a:t>
            </a:r>
            <a:endParaRPr lang="en-US" sz="1400" baseline="-25000" dirty="0"/>
          </a:p>
        </p:txBody>
      </p:sp>
      <p:cxnSp>
        <p:nvCxnSpPr>
          <p:cNvPr id="10" name="Straight Arrow Connector 9"/>
          <p:cNvCxnSpPr>
            <a:stCxn id="6" idx="0"/>
            <a:endCxn id="2" idx="4"/>
          </p:cNvCxnSpPr>
          <p:nvPr/>
        </p:nvCxnSpPr>
        <p:spPr>
          <a:xfrm flipV="1">
            <a:off x="8182097" y="3732575"/>
            <a:ext cx="159958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0"/>
            <a:endCxn id="2" idx="5"/>
          </p:cNvCxnSpPr>
          <p:nvPr/>
        </p:nvCxnSpPr>
        <p:spPr>
          <a:xfrm flipH="1" flipV="1">
            <a:off x="8455162" y="3685722"/>
            <a:ext cx="957443" cy="981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69176" y="4282470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</a:t>
            </a:r>
            <a:r>
              <a:rPr lang="en-US" sz="1200" baseline="-25000" dirty="0"/>
              <a:t>2</a:t>
            </a:r>
            <a:endParaRPr lang="en-US" sz="1400" baseline="-25000" dirty="0"/>
          </a:p>
        </p:txBody>
      </p:sp>
      <p:sp>
        <p:nvSpPr>
          <p:cNvPr id="16" name="TextBox 15"/>
          <p:cNvSpPr txBox="1"/>
          <p:nvPr/>
        </p:nvSpPr>
        <p:spPr>
          <a:xfrm>
            <a:off x="8966661" y="4023425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</a:t>
            </a:r>
            <a:r>
              <a:rPr lang="en-US" sz="1200" baseline="-25000" dirty="0" err="1"/>
              <a:t>n</a:t>
            </a:r>
            <a:endParaRPr lang="en-US" sz="1400" baseline="-25000" dirty="0"/>
          </a:p>
        </p:txBody>
      </p:sp>
    </p:spTree>
    <p:extLst>
      <p:ext uri="{BB962C8B-B14F-4D97-AF65-F5344CB8AC3E}">
        <p14:creationId xmlns:p14="http://schemas.microsoft.com/office/powerpoint/2010/main" val="49932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5829" y="1845734"/>
            <a:ext cx="6358851" cy="1783291"/>
          </a:xfrm>
          <a:ln/>
        </p:spPr>
        <p:txBody>
          <a:bodyPr>
            <a:normAutofit/>
          </a:bodyPr>
          <a:lstStyle/>
          <a:p>
            <a:r>
              <a:rPr lang="en-US" altLang="it-IT" dirty="0"/>
              <a:t>Having Multiple acceptors</a:t>
            </a:r>
          </a:p>
          <a:p>
            <a:pPr marL="482186" lvl="1"/>
            <a:r>
              <a:rPr lang="en-US" altLang="it-IT" dirty="0"/>
              <a:t>Each proposer sends a proposal to a set of acceptors</a:t>
            </a:r>
          </a:p>
          <a:p>
            <a:pPr marL="482186" lvl="1"/>
            <a:r>
              <a:rPr lang="en-US" altLang="it-IT" dirty="0"/>
              <a:t>Each acceptor needs to chose a value</a:t>
            </a:r>
          </a:p>
          <a:p>
            <a:pPr marL="189578"/>
            <a:endParaRPr lang="en-US" altLang="it-IT" dirty="0"/>
          </a:p>
          <a:p>
            <a:pPr marL="189578"/>
            <a:endParaRPr lang="en-US" altLang="it-IT" dirty="0"/>
          </a:p>
        </p:txBody>
      </p:sp>
      <p:sp>
        <p:nvSpPr>
          <p:cNvPr id="4" name="Oval 3"/>
          <p:cNvSpPr/>
          <p:nvPr/>
        </p:nvSpPr>
        <p:spPr>
          <a:xfrm>
            <a:off x="8182097" y="1845734"/>
            <a:ext cx="319916" cy="31993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7493793" y="3100644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6" name="Oval 5"/>
          <p:cNvSpPr/>
          <p:nvPr/>
        </p:nvSpPr>
        <p:spPr>
          <a:xfrm>
            <a:off x="8022139" y="3100644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7" name="Oval 6"/>
          <p:cNvSpPr/>
          <p:nvPr/>
        </p:nvSpPr>
        <p:spPr>
          <a:xfrm>
            <a:off x="9252647" y="3100644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8" name="Straight Arrow Connector 7"/>
          <p:cNvCxnSpPr>
            <a:stCxn id="5" idx="0"/>
            <a:endCxn id="4" idx="3"/>
          </p:cNvCxnSpPr>
          <p:nvPr/>
        </p:nvCxnSpPr>
        <p:spPr>
          <a:xfrm flipV="1">
            <a:off x="7653751" y="2118816"/>
            <a:ext cx="575197" cy="981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05281" y="2456519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</a:t>
            </a:r>
            <a:r>
              <a:rPr lang="en-US" sz="1200" baseline="-25000" dirty="0"/>
              <a:t>1</a:t>
            </a:r>
            <a:endParaRPr lang="en-US" sz="1400" baseline="-25000" dirty="0"/>
          </a:p>
        </p:txBody>
      </p:sp>
      <p:cxnSp>
        <p:nvCxnSpPr>
          <p:cNvPr id="10" name="Straight Arrow Connector 9"/>
          <p:cNvCxnSpPr>
            <a:stCxn id="6" idx="0"/>
            <a:endCxn id="4" idx="4"/>
          </p:cNvCxnSpPr>
          <p:nvPr/>
        </p:nvCxnSpPr>
        <p:spPr>
          <a:xfrm flipV="1">
            <a:off x="8182097" y="2165669"/>
            <a:ext cx="159958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0"/>
            <a:endCxn id="4" idx="5"/>
          </p:cNvCxnSpPr>
          <p:nvPr/>
        </p:nvCxnSpPr>
        <p:spPr>
          <a:xfrm flipH="1" flipV="1">
            <a:off x="8455162" y="2118816"/>
            <a:ext cx="957443" cy="981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83891" y="2881867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</a:t>
            </a:r>
            <a:r>
              <a:rPr lang="en-US" sz="1200" baseline="-25000" dirty="0"/>
              <a:t>2</a:t>
            </a:r>
            <a:endParaRPr lang="en-US" sz="1400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9044213" y="2786149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</a:t>
            </a:r>
            <a:r>
              <a:rPr lang="en-US" sz="1200" baseline="-25000" dirty="0" err="1"/>
              <a:t>n</a:t>
            </a:r>
            <a:endParaRPr lang="en-US" sz="1400" baseline="-25000" dirty="0"/>
          </a:p>
        </p:txBody>
      </p:sp>
      <p:sp>
        <p:nvSpPr>
          <p:cNvPr id="14" name="Oval 13"/>
          <p:cNvSpPr/>
          <p:nvPr/>
        </p:nvSpPr>
        <p:spPr>
          <a:xfrm>
            <a:off x="8772088" y="1845734"/>
            <a:ext cx="319916" cy="31993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9329517" y="1845734"/>
            <a:ext cx="319916" cy="31993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6" name="Straight Arrow Connector 15"/>
          <p:cNvCxnSpPr>
            <a:endCxn id="14" idx="4"/>
          </p:cNvCxnSpPr>
          <p:nvPr/>
        </p:nvCxnSpPr>
        <p:spPr>
          <a:xfrm flipV="1">
            <a:off x="7653751" y="2165669"/>
            <a:ext cx="1278295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0"/>
            <a:endCxn id="14" idx="4"/>
          </p:cNvCxnSpPr>
          <p:nvPr/>
        </p:nvCxnSpPr>
        <p:spPr>
          <a:xfrm flipV="1">
            <a:off x="8182097" y="2165669"/>
            <a:ext cx="749949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0"/>
            <a:endCxn id="15" idx="4"/>
          </p:cNvCxnSpPr>
          <p:nvPr/>
        </p:nvCxnSpPr>
        <p:spPr>
          <a:xfrm flipV="1">
            <a:off x="9412605" y="2165669"/>
            <a:ext cx="76870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0"/>
            <a:endCxn id="14" idx="4"/>
          </p:cNvCxnSpPr>
          <p:nvPr/>
        </p:nvCxnSpPr>
        <p:spPr>
          <a:xfrm flipH="1" flipV="1">
            <a:off x="8932046" y="2165669"/>
            <a:ext cx="480559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6" idx="0"/>
            <a:endCxn id="15" idx="4"/>
          </p:cNvCxnSpPr>
          <p:nvPr/>
        </p:nvCxnSpPr>
        <p:spPr>
          <a:xfrm flipV="1">
            <a:off x="8182097" y="2165669"/>
            <a:ext cx="1307378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0"/>
            <a:endCxn id="15" idx="4"/>
          </p:cNvCxnSpPr>
          <p:nvPr/>
        </p:nvCxnSpPr>
        <p:spPr>
          <a:xfrm flipV="1">
            <a:off x="7653751" y="2165669"/>
            <a:ext cx="1835724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>
            <a:extLst>
              <a:ext uri="{FF2B5EF4-FFF2-40B4-BE49-F238E27FC236}">
                <a16:creationId xmlns:a16="http://schemas.microsoft.com/office/drawing/2014/main" id="{624144EA-CB4D-C445-BF10-665BDE587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29" y="4077803"/>
            <a:ext cx="810818" cy="63707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2B6213D-FEC2-AB42-8251-B073A747DED5}"/>
              </a:ext>
            </a:extLst>
          </p:cNvPr>
          <p:cNvSpPr txBox="1"/>
          <p:nvPr/>
        </p:nvSpPr>
        <p:spPr>
          <a:xfrm>
            <a:off x="1641556" y="4279260"/>
            <a:ext cx="628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9578" lvl="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altLang="it-IT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Each Acceptor may receive a different set of proposals</a:t>
            </a:r>
          </a:p>
        </p:txBody>
      </p:sp>
    </p:spTree>
    <p:extLst>
      <p:ext uri="{BB962C8B-B14F-4D97-AF65-F5344CB8AC3E}">
        <p14:creationId xmlns:p14="http://schemas.microsoft.com/office/powerpoint/2010/main" val="206531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6369601-9E27-3B43-87CE-072EE92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  <a:endParaRPr lang="en-GB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A5D92CF-3AE9-4746-9BA1-321DD2EA0793}"/>
              </a:ext>
            </a:extLst>
          </p:cNvPr>
          <p:cNvCxnSpPr/>
          <p:nvPr/>
        </p:nvCxnSpPr>
        <p:spPr>
          <a:xfrm>
            <a:off x="1561144" y="2188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C5E204-9DC2-7A4D-871B-46F539B60E34}"/>
              </a:ext>
            </a:extLst>
          </p:cNvPr>
          <p:cNvCxnSpPr/>
          <p:nvPr/>
        </p:nvCxnSpPr>
        <p:spPr>
          <a:xfrm>
            <a:off x="1561144" y="296957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ACB36A1-A77C-E144-8430-E7B4267870EA}"/>
              </a:ext>
            </a:extLst>
          </p:cNvPr>
          <p:cNvCxnSpPr/>
          <p:nvPr/>
        </p:nvCxnSpPr>
        <p:spPr>
          <a:xfrm>
            <a:off x="1561144" y="3712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2753447-C76E-BC4C-9CF7-B3FE9D6147FB}"/>
              </a:ext>
            </a:extLst>
          </p:cNvPr>
          <p:cNvCxnSpPr/>
          <p:nvPr/>
        </p:nvCxnSpPr>
        <p:spPr>
          <a:xfrm>
            <a:off x="1539236" y="4610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99655A-A459-614F-B5AD-8A14E654EF03}"/>
              </a:ext>
            </a:extLst>
          </p:cNvPr>
          <p:cNvCxnSpPr/>
          <p:nvPr/>
        </p:nvCxnSpPr>
        <p:spPr>
          <a:xfrm>
            <a:off x="1539236" y="539115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0ECD95-2CCA-9745-9C69-6AF47B7E34E2}"/>
              </a:ext>
            </a:extLst>
          </p:cNvPr>
          <p:cNvCxnSpPr/>
          <p:nvPr/>
        </p:nvCxnSpPr>
        <p:spPr>
          <a:xfrm>
            <a:off x="1539236" y="6134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FDC47A-DA5B-6545-A792-3B1A32239C9E}"/>
              </a:ext>
            </a:extLst>
          </p:cNvPr>
          <p:cNvSpPr txBox="1"/>
          <p:nvPr/>
        </p:nvSpPr>
        <p:spPr>
          <a:xfrm>
            <a:off x="1156331" y="2005964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2A414E-6DB9-9946-B67D-FC266E572C47}"/>
              </a:ext>
            </a:extLst>
          </p:cNvPr>
          <p:cNvSpPr txBox="1"/>
          <p:nvPr/>
        </p:nvSpPr>
        <p:spPr>
          <a:xfrm>
            <a:off x="1159189" y="2798762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CD38F4-1E36-C646-B33F-FFA45C17C40C}"/>
              </a:ext>
            </a:extLst>
          </p:cNvPr>
          <p:cNvSpPr txBox="1"/>
          <p:nvPr/>
        </p:nvSpPr>
        <p:spPr>
          <a:xfrm>
            <a:off x="1159189" y="3489960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997781-544B-5142-9FEA-76A664D83442}"/>
              </a:ext>
            </a:extLst>
          </p:cNvPr>
          <p:cNvSpPr txBox="1"/>
          <p:nvPr/>
        </p:nvSpPr>
        <p:spPr>
          <a:xfrm>
            <a:off x="1153473" y="4427537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BE10E4-4F2A-714F-8A87-33F94CD178CB}"/>
              </a:ext>
            </a:extLst>
          </p:cNvPr>
          <p:cNvSpPr txBox="1"/>
          <p:nvPr/>
        </p:nvSpPr>
        <p:spPr>
          <a:xfrm>
            <a:off x="1156331" y="5220335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A819786-2C75-154F-B5AA-05DCD0A76A31}"/>
              </a:ext>
            </a:extLst>
          </p:cNvPr>
          <p:cNvSpPr txBox="1"/>
          <p:nvPr/>
        </p:nvSpPr>
        <p:spPr>
          <a:xfrm>
            <a:off x="1156331" y="5911533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3</a:t>
            </a:r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9F4B49B4-9C74-E445-994E-45259F2B7928}"/>
              </a:ext>
            </a:extLst>
          </p:cNvPr>
          <p:cNvSpPr/>
          <p:nvPr/>
        </p:nvSpPr>
        <p:spPr>
          <a:xfrm>
            <a:off x="840102" y="2005964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7169E0-D71B-0647-A388-347EA4110C83}"/>
              </a:ext>
            </a:extLst>
          </p:cNvPr>
          <p:cNvSpPr txBox="1"/>
          <p:nvPr/>
        </p:nvSpPr>
        <p:spPr>
          <a:xfrm>
            <a:off x="339462" y="2154555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PROPOSERS</a:t>
            </a:r>
          </a:p>
        </p:txBody>
      </p: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2006E558-C1F0-AD40-9591-26B9F1E07AD8}"/>
              </a:ext>
            </a:extLst>
          </p:cNvPr>
          <p:cNvSpPr/>
          <p:nvPr/>
        </p:nvSpPr>
        <p:spPr>
          <a:xfrm>
            <a:off x="874387" y="4427537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7935EF-2F4F-AF47-90A8-6734B9B4A302}"/>
              </a:ext>
            </a:extLst>
          </p:cNvPr>
          <p:cNvSpPr txBox="1"/>
          <p:nvPr/>
        </p:nvSpPr>
        <p:spPr>
          <a:xfrm>
            <a:off x="373747" y="4576128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ACCEPTORS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CD0F36F-D14E-034E-A253-671B677E7821}"/>
              </a:ext>
            </a:extLst>
          </p:cNvPr>
          <p:cNvCxnSpPr>
            <a:cxnSpLocks/>
          </p:cNvCxnSpPr>
          <p:nvPr/>
        </p:nvCxnSpPr>
        <p:spPr>
          <a:xfrm>
            <a:off x="1871663" y="2188528"/>
            <a:ext cx="1504822" cy="245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9E9F0E8-5389-F842-A7BE-FCA7189FC640}"/>
              </a:ext>
            </a:extLst>
          </p:cNvPr>
          <p:cNvCxnSpPr/>
          <p:nvPr/>
        </p:nvCxnSpPr>
        <p:spPr>
          <a:xfrm>
            <a:off x="1857375" y="2188528"/>
            <a:ext cx="3314700" cy="320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67B04BE-0F34-B944-AEBB-BC1C54DBC305}"/>
              </a:ext>
            </a:extLst>
          </p:cNvPr>
          <p:cNvCxnSpPr/>
          <p:nvPr/>
        </p:nvCxnSpPr>
        <p:spPr>
          <a:xfrm>
            <a:off x="1871663" y="2188528"/>
            <a:ext cx="1042987" cy="41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losione 1 27">
            <a:extLst>
              <a:ext uri="{FF2B5EF4-FFF2-40B4-BE49-F238E27FC236}">
                <a16:creationId xmlns:a16="http://schemas.microsoft.com/office/drawing/2014/main" id="{AD1EC439-4CF3-D347-B911-D9E437D27260}"/>
              </a:ext>
            </a:extLst>
          </p:cNvPr>
          <p:cNvSpPr/>
          <p:nvPr/>
        </p:nvSpPr>
        <p:spPr>
          <a:xfrm>
            <a:off x="2728907" y="2411096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143577A-C2C5-C44F-85A1-0DF65367C662}"/>
              </a:ext>
            </a:extLst>
          </p:cNvPr>
          <p:cNvSpPr txBox="1"/>
          <p:nvPr/>
        </p:nvSpPr>
        <p:spPr>
          <a:xfrm>
            <a:off x="1630671" y="2200277"/>
            <a:ext cx="58578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V</a:t>
            </a:r>
            <a:r>
              <a:rPr lang="en-GB" baseline="-250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24A95B4-FB4E-A54D-8E42-B18DC5612583}"/>
              </a:ext>
            </a:extLst>
          </p:cNvPr>
          <p:cNvCxnSpPr/>
          <p:nvPr/>
        </p:nvCxnSpPr>
        <p:spPr>
          <a:xfrm>
            <a:off x="1923565" y="2969578"/>
            <a:ext cx="1876910" cy="1628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A9815560-F6A0-964B-B004-A179AB54507E}"/>
              </a:ext>
            </a:extLst>
          </p:cNvPr>
          <p:cNvCxnSpPr>
            <a:cxnSpLocks/>
          </p:cNvCxnSpPr>
          <p:nvPr/>
        </p:nvCxnSpPr>
        <p:spPr>
          <a:xfrm>
            <a:off x="1923565" y="2967038"/>
            <a:ext cx="1403865" cy="2386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D6784BB9-41B2-1043-B917-3464311698FB}"/>
              </a:ext>
            </a:extLst>
          </p:cNvPr>
          <p:cNvCxnSpPr>
            <a:cxnSpLocks/>
          </p:cNvCxnSpPr>
          <p:nvPr/>
        </p:nvCxnSpPr>
        <p:spPr>
          <a:xfrm>
            <a:off x="1919283" y="2969577"/>
            <a:ext cx="809624" cy="2811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FEE115C-35C0-A54D-A23B-630FC189BC40}"/>
              </a:ext>
            </a:extLst>
          </p:cNvPr>
          <p:cNvSpPr txBox="1"/>
          <p:nvPr/>
        </p:nvSpPr>
        <p:spPr>
          <a:xfrm>
            <a:off x="1675444" y="3108798"/>
            <a:ext cx="58578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V</a:t>
            </a:r>
            <a:r>
              <a:rPr lang="en-GB" baseline="-250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BEC58151-F960-144F-8E0F-450F1F1AA417}"/>
              </a:ext>
            </a:extLst>
          </p:cNvPr>
          <p:cNvCxnSpPr>
            <a:cxnSpLocks/>
            <a:stCxn id="51" idx="0"/>
          </p:cNvCxnSpPr>
          <p:nvPr/>
        </p:nvCxnSpPr>
        <p:spPr>
          <a:xfrm>
            <a:off x="2016919" y="3733958"/>
            <a:ext cx="2567700" cy="239760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43465731-093C-294B-807E-741C5D1B727F}"/>
              </a:ext>
            </a:extLst>
          </p:cNvPr>
          <p:cNvCxnSpPr>
            <a:cxnSpLocks/>
            <a:stCxn id="51" idx="0"/>
          </p:cNvCxnSpPr>
          <p:nvPr/>
        </p:nvCxnSpPr>
        <p:spPr>
          <a:xfrm>
            <a:off x="2016919" y="3733958"/>
            <a:ext cx="6290366" cy="83582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FC25B94-E32C-504D-BC11-FB00CBD0E012}"/>
              </a:ext>
            </a:extLst>
          </p:cNvPr>
          <p:cNvCxnSpPr>
            <a:cxnSpLocks/>
            <a:stCxn id="51" idx="0"/>
          </p:cNvCxnSpPr>
          <p:nvPr/>
        </p:nvCxnSpPr>
        <p:spPr>
          <a:xfrm>
            <a:off x="2016919" y="3733958"/>
            <a:ext cx="1835458" cy="141906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splosione 1 46">
            <a:extLst>
              <a:ext uri="{FF2B5EF4-FFF2-40B4-BE49-F238E27FC236}">
                <a16:creationId xmlns:a16="http://schemas.microsoft.com/office/drawing/2014/main" id="{77E4F400-E3B0-F54F-A323-264DE8D53170}"/>
              </a:ext>
            </a:extLst>
          </p:cNvPr>
          <p:cNvSpPr/>
          <p:nvPr/>
        </p:nvSpPr>
        <p:spPr>
          <a:xfrm>
            <a:off x="3677115" y="4869185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Connettore 1 48">
            <a:extLst>
              <a:ext uri="{FF2B5EF4-FFF2-40B4-BE49-F238E27FC236}">
                <a16:creationId xmlns:a16="http://schemas.microsoft.com/office/drawing/2014/main" id="{292919CA-8570-4F4B-9321-F53A7B76E60B}"/>
              </a:ext>
            </a:extLst>
          </p:cNvPr>
          <p:cNvCxnSpPr/>
          <p:nvPr/>
        </p:nvCxnSpPr>
        <p:spPr>
          <a:xfrm>
            <a:off x="8312577" y="1959823"/>
            <a:ext cx="0" cy="42472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Callout 1 49">
            <a:extLst>
              <a:ext uri="{FF2B5EF4-FFF2-40B4-BE49-F238E27FC236}">
                <a16:creationId xmlns:a16="http://schemas.microsoft.com/office/drawing/2014/main" id="{6E3D7A1D-E286-2449-8ACA-655C2D8429B0}"/>
              </a:ext>
            </a:extLst>
          </p:cNvPr>
          <p:cNvSpPr/>
          <p:nvPr/>
        </p:nvSpPr>
        <p:spPr>
          <a:xfrm flipH="1">
            <a:off x="4776488" y="2335263"/>
            <a:ext cx="2278900" cy="1217368"/>
          </a:xfrm>
          <a:prstGeom prst="borderCallout1">
            <a:avLst>
              <a:gd name="adj1" fmla="val 18750"/>
              <a:gd name="adj2" fmla="val -8333"/>
              <a:gd name="adj3" fmla="val 107335"/>
              <a:gd name="adj4" fmla="val -516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So far…</a:t>
            </a:r>
          </a:p>
          <a:p>
            <a:r>
              <a:rPr lang="en-GB" dirty="0"/>
              <a:t>a</a:t>
            </a:r>
            <a:r>
              <a:rPr lang="en-GB" baseline="-25000" dirty="0"/>
              <a:t>1</a:t>
            </a:r>
            <a:r>
              <a:rPr lang="en-GB" dirty="0"/>
              <a:t> received v</a:t>
            </a:r>
            <a:r>
              <a:rPr lang="en-GB" baseline="-25000" dirty="0"/>
              <a:t>1, </a:t>
            </a:r>
            <a:r>
              <a:rPr lang="en-GB" dirty="0"/>
              <a:t>v</a:t>
            </a:r>
            <a:r>
              <a:rPr lang="en-GB" baseline="-25000" dirty="0"/>
              <a:t>2 </a:t>
            </a:r>
            <a:r>
              <a:rPr lang="en-GB" dirty="0"/>
              <a:t>and v</a:t>
            </a:r>
            <a:r>
              <a:rPr lang="en-GB" baseline="-25000" dirty="0"/>
              <a:t>3</a:t>
            </a:r>
          </a:p>
          <a:p>
            <a:r>
              <a:rPr lang="en-GB" dirty="0"/>
              <a:t>a</a:t>
            </a:r>
            <a:r>
              <a:rPr lang="en-GB" baseline="-25000" dirty="0"/>
              <a:t>2</a:t>
            </a:r>
            <a:r>
              <a:rPr lang="en-GB" dirty="0"/>
              <a:t> received v</a:t>
            </a:r>
            <a:r>
              <a:rPr lang="en-GB" baseline="-25000" dirty="0"/>
              <a:t>2</a:t>
            </a:r>
            <a:r>
              <a:rPr lang="en-GB" dirty="0"/>
              <a:t> and v</a:t>
            </a:r>
            <a:r>
              <a:rPr lang="en-GB" baseline="-25000" dirty="0"/>
              <a:t>1</a:t>
            </a:r>
          </a:p>
          <a:p>
            <a:r>
              <a:rPr lang="en-GB" dirty="0"/>
              <a:t>a</a:t>
            </a:r>
            <a:r>
              <a:rPr lang="en-GB" baseline="-25000" dirty="0"/>
              <a:t>3</a:t>
            </a:r>
            <a:r>
              <a:rPr lang="en-GB" dirty="0"/>
              <a:t> received v</a:t>
            </a:r>
            <a:r>
              <a:rPr lang="en-GB" baseline="-25000" dirty="0"/>
              <a:t>3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77424B82-5245-2D48-8102-F99E69DE2467}"/>
              </a:ext>
            </a:extLst>
          </p:cNvPr>
          <p:cNvSpPr txBox="1"/>
          <p:nvPr/>
        </p:nvSpPr>
        <p:spPr>
          <a:xfrm>
            <a:off x="1724025" y="3733958"/>
            <a:ext cx="58578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V</a:t>
            </a:r>
            <a:r>
              <a:rPr lang="en-GB" baseline="-2500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53" name="Esplosione 1 52">
            <a:extLst>
              <a:ext uri="{FF2B5EF4-FFF2-40B4-BE49-F238E27FC236}">
                <a16:creationId xmlns:a16="http://schemas.microsoft.com/office/drawing/2014/main" id="{F1F25C60-ED3E-4D47-8785-AC694B43AF9A}"/>
              </a:ext>
            </a:extLst>
          </p:cNvPr>
          <p:cNvSpPr/>
          <p:nvPr/>
        </p:nvSpPr>
        <p:spPr>
          <a:xfrm>
            <a:off x="2536959" y="5575620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9DF30B7-B946-A148-8138-B37034A2DF0A}"/>
              </a:ext>
            </a:extLst>
          </p:cNvPr>
          <p:cNvSpPr/>
          <p:nvPr/>
        </p:nvSpPr>
        <p:spPr>
          <a:xfrm>
            <a:off x="5536197" y="4610101"/>
            <a:ext cx="45807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How can we guarantee that acceptors do not chose different values?</a:t>
            </a:r>
          </a:p>
        </p:txBody>
      </p:sp>
    </p:spTree>
    <p:extLst>
      <p:ext uri="{BB962C8B-B14F-4D97-AF65-F5344CB8AC3E}">
        <p14:creationId xmlns:p14="http://schemas.microsoft.com/office/powerpoint/2010/main" val="357449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5829" y="1845734"/>
            <a:ext cx="6768071" cy="1896533"/>
          </a:xfrm>
          <a:ln/>
        </p:spPr>
        <p:txBody>
          <a:bodyPr>
            <a:normAutofit/>
          </a:bodyPr>
          <a:lstStyle/>
          <a:p>
            <a:pPr marL="98138" indent="0">
              <a:buNone/>
            </a:pPr>
            <a:endParaRPr lang="en-US" altLang="it-IT" dirty="0"/>
          </a:p>
          <a:p>
            <a:pPr marL="98138" indent="0">
              <a:buNone/>
            </a:pPr>
            <a:r>
              <a:rPr lang="en-US" altLang="it-IT" dirty="0"/>
              <a:t>A possible solution….</a:t>
            </a:r>
          </a:p>
          <a:p>
            <a:pPr marL="482186" lvl="1"/>
            <a:r>
              <a:rPr lang="en-US" altLang="it-IT" dirty="0"/>
              <a:t>An acceptor may accept at most one value </a:t>
            </a:r>
          </a:p>
          <a:p>
            <a:pPr marL="482186" lvl="1"/>
            <a:r>
              <a:rPr lang="en-US" altLang="it-IT" dirty="0"/>
              <a:t>A value is chosen when a majority of acceptors accept it</a:t>
            </a:r>
          </a:p>
          <a:p>
            <a:endParaRPr lang="en-US" altLang="it-IT" dirty="0"/>
          </a:p>
        </p:txBody>
      </p:sp>
      <p:sp>
        <p:nvSpPr>
          <p:cNvPr id="4" name="Oval 3"/>
          <p:cNvSpPr/>
          <p:nvPr/>
        </p:nvSpPr>
        <p:spPr>
          <a:xfrm>
            <a:off x="8182097" y="1845734"/>
            <a:ext cx="319916" cy="31993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7493793" y="3100644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6" name="Oval 5"/>
          <p:cNvSpPr/>
          <p:nvPr/>
        </p:nvSpPr>
        <p:spPr>
          <a:xfrm>
            <a:off x="8022139" y="3100644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7" name="Oval 6"/>
          <p:cNvSpPr/>
          <p:nvPr/>
        </p:nvSpPr>
        <p:spPr>
          <a:xfrm>
            <a:off x="9252647" y="3100644"/>
            <a:ext cx="319916" cy="319935"/>
          </a:xfrm>
          <a:prstGeom prst="ellipse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8" name="Straight Arrow Connector 7"/>
          <p:cNvCxnSpPr>
            <a:stCxn id="5" idx="0"/>
            <a:endCxn id="4" idx="3"/>
          </p:cNvCxnSpPr>
          <p:nvPr/>
        </p:nvCxnSpPr>
        <p:spPr>
          <a:xfrm flipV="1">
            <a:off x="7653751" y="2118816"/>
            <a:ext cx="575197" cy="981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05281" y="2456519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</a:t>
            </a:r>
            <a:r>
              <a:rPr lang="en-US" sz="1200" baseline="-25000" dirty="0"/>
              <a:t>1</a:t>
            </a:r>
            <a:endParaRPr lang="en-US" sz="1400" baseline="-25000" dirty="0"/>
          </a:p>
        </p:txBody>
      </p:sp>
      <p:cxnSp>
        <p:nvCxnSpPr>
          <p:cNvPr id="10" name="Straight Arrow Connector 9"/>
          <p:cNvCxnSpPr>
            <a:stCxn id="6" idx="0"/>
            <a:endCxn id="4" idx="4"/>
          </p:cNvCxnSpPr>
          <p:nvPr/>
        </p:nvCxnSpPr>
        <p:spPr>
          <a:xfrm flipV="1">
            <a:off x="8182097" y="2165669"/>
            <a:ext cx="159958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0"/>
            <a:endCxn id="4" idx="5"/>
          </p:cNvCxnSpPr>
          <p:nvPr/>
        </p:nvCxnSpPr>
        <p:spPr>
          <a:xfrm flipH="1" flipV="1">
            <a:off x="8455162" y="2118816"/>
            <a:ext cx="957443" cy="981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83891" y="2881867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</a:t>
            </a:r>
            <a:r>
              <a:rPr lang="en-US" sz="1200" baseline="-25000" dirty="0"/>
              <a:t>2</a:t>
            </a:r>
            <a:endParaRPr lang="en-US" sz="1400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9044213" y="2786149"/>
            <a:ext cx="31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</a:t>
            </a:r>
            <a:r>
              <a:rPr lang="en-US" sz="1200" baseline="-25000" dirty="0" err="1"/>
              <a:t>n</a:t>
            </a:r>
            <a:endParaRPr lang="en-US" sz="1400" baseline="-25000" dirty="0"/>
          </a:p>
        </p:txBody>
      </p:sp>
      <p:sp>
        <p:nvSpPr>
          <p:cNvPr id="14" name="Oval 13"/>
          <p:cNvSpPr/>
          <p:nvPr/>
        </p:nvSpPr>
        <p:spPr>
          <a:xfrm>
            <a:off x="8772088" y="1845734"/>
            <a:ext cx="319916" cy="31993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9329517" y="1845734"/>
            <a:ext cx="319916" cy="31993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6" name="Straight Arrow Connector 15"/>
          <p:cNvCxnSpPr>
            <a:endCxn id="14" idx="4"/>
          </p:cNvCxnSpPr>
          <p:nvPr/>
        </p:nvCxnSpPr>
        <p:spPr>
          <a:xfrm flipV="1">
            <a:off x="7653751" y="2165669"/>
            <a:ext cx="1278295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0"/>
            <a:endCxn id="14" idx="4"/>
          </p:cNvCxnSpPr>
          <p:nvPr/>
        </p:nvCxnSpPr>
        <p:spPr>
          <a:xfrm flipV="1">
            <a:off x="8182097" y="2165669"/>
            <a:ext cx="749949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0"/>
            <a:endCxn id="15" idx="4"/>
          </p:cNvCxnSpPr>
          <p:nvPr/>
        </p:nvCxnSpPr>
        <p:spPr>
          <a:xfrm flipV="1">
            <a:off x="9412605" y="2165669"/>
            <a:ext cx="76870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0"/>
            <a:endCxn id="14" idx="4"/>
          </p:cNvCxnSpPr>
          <p:nvPr/>
        </p:nvCxnSpPr>
        <p:spPr>
          <a:xfrm flipH="1" flipV="1">
            <a:off x="8932046" y="2165669"/>
            <a:ext cx="480559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6" idx="0"/>
            <a:endCxn id="15" idx="4"/>
          </p:cNvCxnSpPr>
          <p:nvPr/>
        </p:nvCxnSpPr>
        <p:spPr>
          <a:xfrm flipV="1">
            <a:off x="8182097" y="2165669"/>
            <a:ext cx="1307378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0"/>
            <a:endCxn id="15" idx="4"/>
          </p:cNvCxnSpPr>
          <p:nvPr/>
        </p:nvCxnSpPr>
        <p:spPr>
          <a:xfrm flipV="1">
            <a:off x="7653751" y="2165669"/>
            <a:ext cx="1835724" cy="934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Immagine 22">
            <a:extLst>
              <a:ext uri="{FF2B5EF4-FFF2-40B4-BE49-F238E27FC236}">
                <a16:creationId xmlns:a16="http://schemas.microsoft.com/office/drawing/2014/main" id="{263A0039-F153-8D46-811C-609D7D6B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29" y="4164772"/>
            <a:ext cx="810818" cy="63707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07C506-AE63-EC45-8F90-C8A2087B0051}"/>
              </a:ext>
            </a:extLst>
          </p:cNvPr>
          <p:cNvSpPr txBox="1"/>
          <p:nvPr/>
        </p:nvSpPr>
        <p:spPr>
          <a:xfrm>
            <a:off x="1778858" y="4424490"/>
            <a:ext cx="747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lvl="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altLang="it-IT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The majority is needed to guarantee that only a value is accepted</a:t>
            </a:r>
          </a:p>
        </p:txBody>
      </p:sp>
    </p:spTree>
    <p:extLst>
      <p:ext uri="{BB962C8B-B14F-4D97-AF65-F5344CB8AC3E}">
        <p14:creationId xmlns:p14="http://schemas.microsoft.com/office/powerpoint/2010/main" val="356059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5829" y="3083930"/>
            <a:ext cx="8486776" cy="2990427"/>
          </a:xfrm>
          <a:ln/>
        </p:spPr>
        <p:txBody>
          <a:bodyPr>
            <a:normAutofit/>
          </a:bodyPr>
          <a:lstStyle/>
          <a:p>
            <a:pPr marL="6698" indent="0" algn="ctr">
              <a:buNone/>
            </a:pPr>
            <a:endParaRPr lang="en-US" altLang="it-IT" sz="2731" b="1" i="1" dirty="0">
              <a:ea typeface="Gill Sans Light" charset="0"/>
              <a:cs typeface="Gill Sans Light" charset="0"/>
            </a:endParaRPr>
          </a:p>
          <a:p>
            <a:pPr marL="6698" indent="0" algn="ctr">
              <a:buNone/>
            </a:pPr>
            <a:r>
              <a:rPr lang="en-US" altLang="it-IT" sz="2731" b="1" i="1" dirty="0">
                <a:ea typeface="Gill Sans Light" charset="0"/>
                <a:cs typeface="Gill Sans Light" charset="0"/>
              </a:rPr>
              <a:t>P1: An acceptor must accept the first proposal it receives</a:t>
            </a:r>
            <a:endParaRPr lang="en-US" altLang="it-IT" sz="2731" b="1" i="1" dirty="0"/>
          </a:p>
          <a:p>
            <a:pPr algn="just"/>
            <a:endParaRPr lang="en-US" altLang="it-IT" sz="2531" u="sng" dirty="0"/>
          </a:p>
          <a:p>
            <a:pPr algn="just"/>
            <a:r>
              <a:rPr lang="en-US" altLang="it-IT" sz="2531" u="sng" dirty="0">
                <a:solidFill>
                  <a:srgbClr val="FF0000"/>
                </a:solidFill>
              </a:rPr>
              <a:t>Problem</a:t>
            </a:r>
            <a:r>
              <a:rPr lang="en-US" altLang="it-IT" sz="2531" dirty="0">
                <a:solidFill>
                  <a:srgbClr val="FF0000"/>
                </a:solidFill>
              </a:rPr>
              <a:t>:</a:t>
            </a:r>
            <a:r>
              <a:rPr lang="en-US" altLang="it-IT" sz="2531" dirty="0"/>
              <a:t> if several values are concurrently proposed by different proposers, none of them could reach the needed majority. We have a sort of deadlock.</a:t>
            </a:r>
          </a:p>
          <a:p>
            <a:pPr algn="just"/>
            <a:endParaRPr lang="en-US" altLang="it-IT" sz="2531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FAC1221-AD97-0748-856A-4C2E727C5AC8}"/>
              </a:ext>
            </a:extLst>
          </p:cNvPr>
          <p:cNvSpPr/>
          <p:nvPr/>
        </p:nvSpPr>
        <p:spPr>
          <a:xfrm>
            <a:off x="925829" y="1883601"/>
            <a:ext cx="848677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it-IT" sz="3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Which value should be accepted by every acceptor?</a:t>
            </a:r>
            <a:endParaRPr lang="en-GB" sz="36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19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6369601-9E27-3B43-87CE-072EE92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  <a:endParaRPr lang="en-GB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A5D92CF-3AE9-4746-9BA1-321DD2EA0793}"/>
              </a:ext>
            </a:extLst>
          </p:cNvPr>
          <p:cNvCxnSpPr/>
          <p:nvPr/>
        </p:nvCxnSpPr>
        <p:spPr>
          <a:xfrm>
            <a:off x="1561144" y="2188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C5E204-9DC2-7A4D-871B-46F539B60E34}"/>
              </a:ext>
            </a:extLst>
          </p:cNvPr>
          <p:cNvCxnSpPr/>
          <p:nvPr/>
        </p:nvCxnSpPr>
        <p:spPr>
          <a:xfrm>
            <a:off x="1561144" y="296957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ACB36A1-A77C-E144-8430-E7B4267870EA}"/>
              </a:ext>
            </a:extLst>
          </p:cNvPr>
          <p:cNvCxnSpPr/>
          <p:nvPr/>
        </p:nvCxnSpPr>
        <p:spPr>
          <a:xfrm>
            <a:off x="1561144" y="3712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2753447-C76E-BC4C-9CF7-B3FE9D6147FB}"/>
              </a:ext>
            </a:extLst>
          </p:cNvPr>
          <p:cNvCxnSpPr/>
          <p:nvPr/>
        </p:nvCxnSpPr>
        <p:spPr>
          <a:xfrm>
            <a:off x="1539236" y="4610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99655A-A459-614F-B5AD-8A14E654EF03}"/>
              </a:ext>
            </a:extLst>
          </p:cNvPr>
          <p:cNvCxnSpPr/>
          <p:nvPr/>
        </p:nvCxnSpPr>
        <p:spPr>
          <a:xfrm>
            <a:off x="1539236" y="539115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0ECD95-2CCA-9745-9C69-6AF47B7E34E2}"/>
              </a:ext>
            </a:extLst>
          </p:cNvPr>
          <p:cNvCxnSpPr/>
          <p:nvPr/>
        </p:nvCxnSpPr>
        <p:spPr>
          <a:xfrm>
            <a:off x="1539236" y="6134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FDC47A-DA5B-6545-A792-3B1A32239C9E}"/>
              </a:ext>
            </a:extLst>
          </p:cNvPr>
          <p:cNvSpPr txBox="1"/>
          <p:nvPr/>
        </p:nvSpPr>
        <p:spPr>
          <a:xfrm>
            <a:off x="1156331" y="2005964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2A414E-6DB9-9946-B67D-FC266E572C47}"/>
              </a:ext>
            </a:extLst>
          </p:cNvPr>
          <p:cNvSpPr txBox="1"/>
          <p:nvPr/>
        </p:nvSpPr>
        <p:spPr>
          <a:xfrm>
            <a:off x="1159189" y="2798762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CD38F4-1E36-C646-B33F-FFA45C17C40C}"/>
              </a:ext>
            </a:extLst>
          </p:cNvPr>
          <p:cNvSpPr txBox="1"/>
          <p:nvPr/>
        </p:nvSpPr>
        <p:spPr>
          <a:xfrm>
            <a:off x="1159189" y="3489960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997781-544B-5142-9FEA-76A664D83442}"/>
              </a:ext>
            </a:extLst>
          </p:cNvPr>
          <p:cNvSpPr txBox="1"/>
          <p:nvPr/>
        </p:nvSpPr>
        <p:spPr>
          <a:xfrm>
            <a:off x="1153473" y="4427537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BE10E4-4F2A-714F-8A87-33F94CD178CB}"/>
              </a:ext>
            </a:extLst>
          </p:cNvPr>
          <p:cNvSpPr txBox="1"/>
          <p:nvPr/>
        </p:nvSpPr>
        <p:spPr>
          <a:xfrm>
            <a:off x="1156331" y="5220335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A819786-2C75-154F-B5AA-05DCD0A76A31}"/>
              </a:ext>
            </a:extLst>
          </p:cNvPr>
          <p:cNvSpPr txBox="1"/>
          <p:nvPr/>
        </p:nvSpPr>
        <p:spPr>
          <a:xfrm>
            <a:off x="1156331" y="5911533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3</a:t>
            </a:r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9F4B49B4-9C74-E445-994E-45259F2B7928}"/>
              </a:ext>
            </a:extLst>
          </p:cNvPr>
          <p:cNvSpPr/>
          <p:nvPr/>
        </p:nvSpPr>
        <p:spPr>
          <a:xfrm>
            <a:off x="840102" y="2005964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7169E0-D71B-0647-A388-347EA4110C83}"/>
              </a:ext>
            </a:extLst>
          </p:cNvPr>
          <p:cNvSpPr txBox="1"/>
          <p:nvPr/>
        </p:nvSpPr>
        <p:spPr>
          <a:xfrm>
            <a:off x="339462" y="2154555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PROPOSERS</a:t>
            </a:r>
          </a:p>
        </p:txBody>
      </p: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2006E558-C1F0-AD40-9591-26B9F1E07AD8}"/>
              </a:ext>
            </a:extLst>
          </p:cNvPr>
          <p:cNvSpPr/>
          <p:nvPr/>
        </p:nvSpPr>
        <p:spPr>
          <a:xfrm>
            <a:off x="874387" y="4427537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7935EF-2F4F-AF47-90A8-6734B9B4A302}"/>
              </a:ext>
            </a:extLst>
          </p:cNvPr>
          <p:cNvSpPr txBox="1"/>
          <p:nvPr/>
        </p:nvSpPr>
        <p:spPr>
          <a:xfrm>
            <a:off x="373747" y="4576128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ACCEPTORS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CD0F36F-D14E-034E-A253-671B677E7821}"/>
              </a:ext>
            </a:extLst>
          </p:cNvPr>
          <p:cNvCxnSpPr>
            <a:cxnSpLocks/>
          </p:cNvCxnSpPr>
          <p:nvPr/>
        </p:nvCxnSpPr>
        <p:spPr>
          <a:xfrm>
            <a:off x="1871663" y="2188528"/>
            <a:ext cx="1504822" cy="245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9E9F0E8-5389-F842-A7BE-FCA7189FC640}"/>
              </a:ext>
            </a:extLst>
          </p:cNvPr>
          <p:cNvCxnSpPr/>
          <p:nvPr/>
        </p:nvCxnSpPr>
        <p:spPr>
          <a:xfrm>
            <a:off x="1857375" y="2188528"/>
            <a:ext cx="3314700" cy="320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67B04BE-0F34-B944-AEBB-BC1C54DBC305}"/>
              </a:ext>
            </a:extLst>
          </p:cNvPr>
          <p:cNvCxnSpPr/>
          <p:nvPr/>
        </p:nvCxnSpPr>
        <p:spPr>
          <a:xfrm>
            <a:off x="1871663" y="2188528"/>
            <a:ext cx="1042987" cy="41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losione 1 27">
            <a:extLst>
              <a:ext uri="{FF2B5EF4-FFF2-40B4-BE49-F238E27FC236}">
                <a16:creationId xmlns:a16="http://schemas.microsoft.com/office/drawing/2014/main" id="{AD1EC439-4CF3-D347-B911-D9E437D27260}"/>
              </a:ext>
            </a:extLst>
          </p:cNvPr>
          <p:cNvSpPr/>
          <p:nvPr/>
        </p:nvSpPr>
        <p:spPr>
          <a:xfrm>
            <a:off x="2728907" y="2411096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143577A-C2C5-C44F-85A1-0DF65367C662}"/>
              </a:ext>
            </a:extLst>
          </p:cNvPr>
          <p:cNvSpPr txBox="1"/>
          <p:nvPr/>
        </p:nvSpPr>
        <p:spPr>
          <a:xfrm>
            <a:off x="1630671" y="2200277"/>
            <a:ext cx="58578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V</a:t>
            </a:r>
            <a:r>
              <a:rPr lang="en-GB" baseline="-250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24A95B4-FB4E-A54D-8E42-B18DC5612583}"/>
              </a:ext>
            </a:extLst>
          </p:cNvPr>
          <p:cNvCxnSpPr/>
          <p:nvPr/>
        </p:nvCxnSpPr>
        <p:spPr>
          <a:xfrm>
            <a:off x="1923565" y="2969578"/>
            <a:ext cx="1876910" cy="1628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A9815560-F6A0-964B-B004-A179AB54507E}"/>
              </a:ext>
            </a:extLst>
          </p:cNvPr>
          <p:cNvCxnSpPr>
            <a:cxnSpLocks/>
          </p:cNvCxnSpPr>
          <p:nvPr/>
        </p:nvCxnSpPr>
        <p:spPr>
          <a:xfrm>
            <a:off x="1923565" y="2967038"/>
            <a:ext cx="1403865" cy="2386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D6784BB9-41B2-1043-B917-3464311698FB}"/>
              </a:ext>
            </a:extLst>
          </p:cNvPr>
          <p:cNvCxnSpPr>
            <a:cxnSpLocks/>
          </p:cNvCxnSpPr>
          <p:nvPr/>
        </p:nvCxnSpPr>
        <p:spPr>
          <a:xfrm>
            <a:off x="1919283" y="2969577"/>
            <a:ext cx="809624" cy="2811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FEE115C-35C0-A54D-A23B-630FC189BC40}"/>
              </a:ext>
            </a:extLst>
          </p:cNvPr>
          <p:cNvSpPr txBox="1"/>
          <p:nvPr/>
        </p:nvSpPr>
        <p:spPr>
          <a:xfrm>
            <a:off x="1675444" y="3108798"/>
            <a:ext cx="58578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V</a:t>
            </a:r>
            <a:r>
              <a:rPr lang="en-GB" baseline="-250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BEC58151-F960-144F-8E0F-450F1F1AA417}"/>
              </a:ext>
            </a:extLst>
          </p:cNvPr>
          <p:cNvCxnSpPr>
            <a:cxnSpLocks/>
            <a:stCxn id="51" idx="0"/>
          </p:cNvCxnSpPr>
          <p:nvPr/>
        </p:nvCxnSpPr>
        <p:spPr>
          <a:xfrm>
            <a:off x="2016919" y="3733958"/>
            <a:ext cx="2567700" cy="239760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43465731-093C-294B-807E-741C5D1B727F}"/>
              </a:ext>
            </a:extLst>
          </p:cNvPr>
          <p:cNvCxnSpPr>
            <a:cxnSpLocks/>
            <a:stCxn id="51" idx="0"/>
          </p:cNvCxnSpPr>
          <p:nvPr/>
        </p:nvCxnSpPr>
        <p:spPr>
          <a:xfrm>
            <a:off x="2016919" y="3733958"/>
            <a:ext cx="6290366" cy="83582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FC25B94-E32C-504D-BC11-FB00CBD0E012}"/>
              </a:ext>
            </a:extLst>
          </p:cNvPr>
          <p:cNvCxnSpPr>
            <a:cxnSpLocks/>
            <a:stCxn id="51" idx="0"/>
          </p:cNvCxnSpPr>
          <p:nvPr/>
        </p:nvCxnSpPr>
        <p:spPr>
          <a:xfrm>
            <a:off x="2016919" y="3733958"/>
            <a:ext cx="1835458" cy="141906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splosione 1 46">
            <a:extLst>
              <a:ext uri="{FF2B5EF4-FFF2-40B4-BE49-F238E27FC236}">
                <a16:creationId xmlns:a16="http://schemas.microsoft.com/office/drawing/2014/main" id="{77E4F400-E3B0-F54F-A323-264DE8D53170}"/>
              </a:ext>
            </a:extLst>
          </p:cNvPr>
          <p:cNvSpPr/>
          <p:nvPr/>
        </p:nvSpPr>
        <p:spPr>
          <a:xfrm>
            <a:off x="3677115" y="4869185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Connettore 1 48">
            <a:extLst>
              <a:ext uri="{FF2B5EF4-FFF2-40B4-BE49-F238E27FC236}">
                <a16:creationId xmlns:a16="http://schemas.microsoft.com/office/drawing/2014/main" id="{292919CA-8570-4F4B-9321-F53A7B76E60B}"/>
              </a:ext>
            </a:extLst>
          </p:cNvPr>
          <p:cNvCxnSpPr/>
          <p:nvPr/>
        </p:nvCxnSpPr>
        <p:spPr>
          <a:xfrm>
            <a:off x="8335860" y="1951989"/>
            <a:ext cx="0" cy="42472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Callout 1 49">
            <a:extLst>
              <a:ext uri="{FF2B5EF4-FFF2-40B4-BE49-F238E27FC236}">
                <a16:creationId xmlns:a16="http://schemas.microsoft.com/office/drawing/2014/main" id="{6E3D7A1D-E286-2449-8ACA-655C2D8429B0}"/>
              </a:ext>
            </a:extLst>
          </p:cNvPr>
          <p:cNvSpPr/>
          <p:nvPr/>
        </p:nvSpPr>
        <p:spPr>
          <a:xfrm flipH="1">
            <a:off x="4946454" y="2382012"/>
            <a:ext cx="2306954" cy="1217368"/>
          </a:xfrm>
          <a:prstGeom prst="borderCallout1">
            <a:avLst>
              <a:gd name="adj1" fmla="val 18750"/>
              <a:gd name="adj2" fmla="val -8333"/>
              <a:gd name="adj3" fmla="val 75343"/>
              <a:gd name="adj4" fmla="val -450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Given P1</a:t>
            </a:r>
          </a:p>
          <a:p>
            <a:r>
              <a:rPr lang="en-GB" dirty="0"/>
              <a:t>a</a:t>
            </a:r>
            <a:r>
              <a:rPr lang="en-GB" baseline="-25000" dirty="0"/>
              <a:t>1</a:t>
            </a:r>
            <a:r>
              <a:rPr lang="en-GB" dirty="0"/>
              <a:t> received v</a:t>
            </a:r>
            <a:r>
              <a:rPr lang="en-GB" baseline="-25000" dirty="0"/>
              <a:t>1</a:t>
            </a:r>
            <a:r>
              <a:rPr lang="en-GB" dirty="0"/>
              <a:t> first</a:t>
            </a:r>
            <a:endParaRPr lang="en-GB" baseline="-25000" dirty="0"/>
          </a:p>
          <a:p>
            <a:r>
              <a:rPr lang="en-GB" dirty="0"/>
              <a:t>a</a:t>
            </a:r>
            <a:r>
              <a:rPr lang="en-GB" baseline="-25000" dirty="0"/>
              <a:t>2</a:t>
            </a:r>
            <a:r>
              <a:rPr lang="en-GB" dirty="0"/>
              <a:t> received v</a:t>
            </a:r>
            <a:r>
              <a:rPr lang="en-GB" baseline="-25000" dirty="0"/>
              <a:t>2</a:t>
            </a:r>
            <a:r>
              <a:rPr lang="en-GB" dirty="0"/>
              <a:t> first</a:t>
            </a:r>
            <a:endParaRPr lang="en-GB" baseline="-25000" dirty="0"/>
          </a:p>
          <a:p>
            <a:r>
              <a:rPr lang="en-GB" dirty="0"/>
              <a:t>a</a:t>
            </a:r>
            <a:r>
              <a:rPr lang="en-GB" baseline="-25000" dirty="0"/>
              <a:t>3</a:t>
            </a:r>
            <a:r>
              <a:rPr lang="en-GB" dirty="0"/>
              <a:t> received v</a:t>
            </a:r>
            <a:r>
              <a:rPr lang="en-GB" baseline="-25000" dirty="0"/>
              <a:t>3 </a:t>
            </a:r>
            <a:r>
              <a:rPr lang="en-GB" dirty="0"/>
              <a:t>first</a:t>
            </a:r>
            <a:endParaRPr lang="en-GB" baseline="-25000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77424B82-5245-2D48-8102-F99E69DE2467}"/>
              </a:ext>
            </a:extLst>
          </p:cNvPr>
          <p:cNvSpPr txBox="1"/>
          <p:nvPr/>
        </p:nvSpPr>
        <p:spPr>
          <a:xfrm>
            <a:off x="1724025" y="3733958"/>
            <a:ext cx="58578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V</a:t>
            </a:r>
            <a:r>
              <a:rPr lang="en-GB" baseline="-2500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53" name="Esplosione 1 52">
            <a:extLst>
              <a:ext uri="{FF2B5EF4-FFF2-40B4-BE49-F238E27FC236}">
                <a16:creationId xmlns:a16="http://schemas.microsoft.com/office/drawing/2014/main" id="{F1F25C60-ED3E-4D47-8785-AC694B43AF9A}"/>
              </a:ext>
            </a:extLst>
          </p:cNvPr>
          <p:cNvSpPr/>
          <p:nvPr/>
        </p:nvSpPr>
        <p:spPr>
          <a:xfrm>
            <a:off x="2536959" y="5575620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5FB6380-75F9-DE40-9619-371BF9784D24}"/>
              </a:ext>
            </a:extLst>
          </p:cNvPr>
          <p:cNvSpPr/>
          <p:nvPr/>
        </p:nvSpPr>
        <p:spPr>
          <a:xfrm rot="20621056">
            <a:off x="4884082" y="3955010"/>
            <a:ext cx="610384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4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An acceptor should accept multiple proposals!</a:t>
            </a:r>
          </a:p>
        </p:txBody>
      </p:sp>
    </p:spTree>
    <p:extLst>
      <p:ext uri="{BB962C8B-B14F-4D97-AF65-F5344CB8AC3E}">
        <p14:creationId xmlns:p14="http://schemas.microsoft.com/office/powerpoint/2010/main" val="356945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/>
            <a:r>
              <a:rPr lang="en-US" altLang="it-IT" u="sng" dirty="0"/>
              <a:t>Solution</a:t>
            </a:r>
          </a:p>
          <a:p>
            <a:pPr lvl="1" algn="just"/>
            <a:r>
              <a:rPr lang="en-US" altLang="it-IT" dirty="0"/>
              <a:t>We keep track of different proposal assigning them a proposal </a:t>
            </a:r>
            <a:r>
              <a:rPr lang="en-US" altLang="it-IT" u="sng" dirty="0"/>
              <a:t>number that is unique </a:t>
            </a:r>
            <a:r>
              <a:rPr lang="en-US" altLang="it-IT" dirty="0"/>
              <a:t>(total order of proposals)</a:t>
            </a:r>
          </a:p>
          <a:p>
            <a:pPr lvl="1" algn="just"/>
            <a:endParaRPr lang="en-US" altLang="it-IT" dirty="0"/>
          </a:p>
          <a:p>
            <a:pPr lvl="1" algn="just"/>
            <a:r>
              <a:rPr lang="en-US" altLang="it-IT" dirty="0"/>
              <a:t>A value is chosen when a single proposal with that value has been accepted by a majority of the acceptors (chosen proposal).</a:t>
            </a:r>
          </a:p>
          <a:p>
            <a:pPr lvl="1" algn="just"/>
            <a:endParaRPr lang="en-US" altLang="it-IT" dirty="0"/>
          </a:p>
          <a:p>
            <a:pPr lvl="1" algn="just"/>
            <a:r>
              <a:rPr lang="en-US" altLang="it-IT" dirty="0"/>
              <a:t>We can allow multiple proposal to be accepted, but all accepted proposals must have the same value.</a:t>
            </a:r>
          </a:p>
          <a:p>
            <a:pPr lvl="1" algn="just"/>
            <a:endParaRPr lang="en-US" altLang="it-IT" dirty="0"/>
          </a:p>
          <a:p>
            <a:pPr marL="0" algn="ctr">
              <a:buNone/>
            </a:pPr>
            <a:r>
              <a:rPr lang="en-US" altLang="it-IT" b="1" dirty="0"/>
              <a:t>P2: if a proposal with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b="1" dirty="0"/>
              <a:t> is chosen, every higher-numbered proposal that is chosen has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endParaRPr lang="en-US" altLang="it-IT" b="1" dirty="0">
              <a:latin typeface="Gill Sans" charset="0"/>
              <a:ea typeface="ヒラギノ角ゴ ProN W6" charset="-128"/>
              <a:cs typeface="ヒラギノ角ゴ ProN W6" charset="-128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altLang="it-IT" dirty="0"/>
              <a:t>For a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dirty="0"/>
              <a:t> to be chosen, a proposal containing it must have been accepted by at least one acceptor…</a:t>
            </a:r>
          </a:p>
          <a:p>
            <a:r>
              <a:rPr lang="en-US" altLang="it-IT" dirty="0"/>
              <a:t>…thus:</a:t>
            </a:r>
          </a:p>
          <a:p>
            <a:pPr marL="0" indent="0" algn="ctr">
              <a:buNone/>
            </a:pPr>
            <a:r>
              <a:rPr lang="en-US" altLang="it-IT" b="1" dirty="0"/>
              <a:t>P2a: if a proposal with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b="1" dirty="0"/>
              <a:t> is accepted, every higher-numbered proposal that is accepted by any acceptor has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endParaRPr lang="en-US" altLang="it-IT" b="1" dirty="0">
              <a:latin typeface="Gill Sans" charset="0"/>
              <a:ea typeface="ヒラギノ角ゴ ProN W6" charset="-128"/>
              <a:cs typeface="ヒラギノ角ゴ ProN W6" charset="-128"/>
              <a:sym typeface="Gill Sans" charset="0"/>
            </a:endParaRPr>
          </a:p>
          <a:p>
            <a:endParaRPr lang="en-US" altLang="it-IT" dirty="0"/>
          </a:p>
          <a:p>
            <a:r>
              <a:rPr lang="en-US" altLang="it-IT" dirty="0">
                <a:solidFill>
                  <a:srgbClr val="FF0000"/>
                </a:solidFill>
              </a:rPr>
              <a:t>One more problem:</a:t>
            </a:r>
            <a:r>
              <a:rPr lang="en-US" altLang="it-IT" dirty="0"/>
              <a:t> What if a proposal with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dirty="0"/>
              <a:t> is accepted while an acceptor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c</a:t>
            </a:r>
            <a:r>
              <a:rPr lang="en-US" altLang="it-IT" dirty="0"/>
              <a:t> never saw it ? </a:t>
            </a:r>
          </a:p>
          <a:p>
            <a:r>
              <a:rPr lang="en-US" altLang="it-IT" dirty="0"/>
              <a:t>A new proposer could wake up and propose to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c </a:t>
            </a:r>
            <a:r>
              <a:rPr lang="en-US" altLang="it-IT" dirty="0"/>
              <a:t>a different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v’</a:t>
            </a:r>
            <a:r>
              <a:rPr lang="en-US" altLang="it-IT" dirty="0"/>
              <a:t> that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c</a:t>
            </a:r>
            <a:r>
              <a:rPr lang="en-US" altLang="it-IT" dirty="0"/>
              <a:t> must accept due to P1</a:t>
            </a:r>
          </a:p>
        </p:txBody>
      </p:sp>
    </p:spTree>
    <p:extLst>
      <p:ext uri="{BB962C8B-B14F-4D97-AF65-F5344CB8AC3E}">
        <p14:creationId xmlns:p14="http://schemas.microsoft.com/office/powerpoint/2010/main" val="139481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it-IT" dirty="0"/>
              <a:t>We must slightly modify P2a to take into account this case:</a:t>
            </a:r>
          </a:p>
          <a:p>
            <a:endParaRPr lang="en-US" altLang="it-IT" dirty="0"/>
          </a:p>
          <a:p>
            <a:pPr algn="ctr"/>
            <a:r>
              <a:rPr lang="en-US" altLang="it-IT" b="1" dirty="0"/>
              <a:t>P2b: if a proposal with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b="1" dirty="0"/>
              <a:t> is chosen, every higher-numbered proposal issued by any proposer has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endParaRPr lang="en-US" altLang="it-IT" b="1" dirty="0">
              <a:latin typeface="Gill Sans" charset="0"/>
              <a:ea typeface="ヒラギノ角ゴ ProN W6" charset="-128"/>
              <a:cs typeface="ヒラギノ角ゴ ProN W6" charset="-128"/>
              <a:sym typeface="Gill Sans" charset="0"/>
            </a:endParaRPr>
          </a:p>
          <a:p>
            <a:endParaRPr lang="en-US" altLang="it-IT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00A3DE4-63B0-8D4C-A6C8-0629B7441DA7}"/>
              </a:ext>
            </a:extLst>
          </p:cNvPr>
          <p:cNvSpPr/>
          <p:nvPr/>
        </p:nvSpPr>
        <p:spPr>
          <a:xfrm>
            <a:off x="1700799" y="4237335"/>
            <a:ext cx="693683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it-IT" sz="4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How can we guarantee P2b ?</a:t>
            </a:r>
            <a:endParaRPr lang="en-GB" sz="4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829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/>
            <a:r>
              <a:rPr lang="en-US" altLang="it-IT" dirty="0"/>
              <a:t>Assume a proposal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m</a:t>
            </a:r>
            <a:r>
              <a:rPr lang="en-US" altLang="it-IT" dirty="0"/>
              <a:t> with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dirty="0"/>
              <a:t> has been accepted</a:t>
            </a:r>
          </a:p>
          <a:p>
            <a:pPr algn="just"/>
            <a:endParaRPr lang="en-US" altLang="it-IT" dirty="0"/>
          </a:p>
          <a:p>
            <a:pPr algn="just"/>
            <a:r>
              <a:rPr lang="en-US" altLang="it-IT" dirty="0"/>
              <a:t>We should guarantee that any proposal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r>
              <a:rPr lang="en-US" altLang="it-IT" dirty="0"/>
              <a:t>, with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r>
              <a:rPr lang="en-US" altLang="it-IT" dirty="0"/>
              <a:t>&gt;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m</a:t>
            </a:r>
            <a:r>
              <a:rPr lang="en-US" altLang="it-IT" dirty="0"/>
              <a:t> has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</a:p>
          <a:p>
            <a:pPr algn="just"/>
            <a:endParaRPr lang="en-US" altLang="it-IT" b="1" dirty="0">
              <a:latin typeface="Gill Sans" charset="0"/>
              <a:ea typeface="ヒラギノ角ゴ ProN W6" charset="-128"/>
              <a:cs typeface="ヒラギノ角ゴ ProN W6" charset="-128"/>
              <a:sym typeface="Gill Sans" charset="0"/>
            </a:endParaRPr>
          </a:p>
          <a:p>
            <a:pPr algn="just"/>
            <a:r>
              <a:rPr lang="en-US" altLang="it-IT" dirty="0"/>
              <a:t>We could prove it by induction on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r>
              <a:rPr lang="en-US" altLang="it-IT" dirty="0"/>
              <a:t> assuming that every proposal with number in [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m</a:t>
            </a:r>
            <a:r>
              <a:rPr lang="en-US" altLang="it-IT" dirty="0"/>
              <a:t>,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n-1</a:t>
            </a:r>
            <a:r>
              <a:rPr lang="en-US" altLang="it-IT" dirty="0"/>
              <a:t>] has value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</a:p>
          <a:p>
            <a:pPr algn="just"/>
            <a:endParaRPr lang="en-US" altLang="it-IT" b="1" dirty="0">
              <a:latin typeface="Gill Sans" charset="0"/>
              <a:ea typeface="ヒラギノ角ゴ ProN W6" charset="-128"/>
              <a:cs typeface="ヒラギノ角ゴ ProN W6" charset="-128"/>
              <a:sym typeface="Gill Sans" charset="0"/>
            </a:endParaRPr>
          </a:p>
          <a:p>
            <a:pPr algn="just"/>
            <a:r>
              <a:rPr lang="en-US" altLang="it-IT" dirty="0"/>
              <a:t>For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m</a:t>
            </a:r>
            <a:r>
              <a:rPr lang="en-US" altLang="it-IT" dirty="0"/>
              <a:t> to be accepted there is a set C of acceptors (a majority) that accept it</a:t>
            </a:r>
          </a:p>
        </p:txBody>
      </p:sp>
    </p:spTree>
    <p:extLst>
      <p:ext uri="{BB962C8B-B14F-4D97-AF65-F5344CB8AC3E}">
        <p14:creationId xmlns:p14="http://schemas.microsoft.com/office/powerpoint/2010/main" val="130496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pPr algn="just"/>
            <a:r>
              <a:rPr lang="en-US" altLang="it-IT" sz="2400" dirty="0"/>
              <a:t>Therefore, the assumption that </a:t>
            </a:r>
            <a:r>
              <a:rPr lang="en-US" altLang="it-IT" sz="2400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m</a:t>
            </a:r>
            <a:r>
              <a:rPr lang="en-US" altLang="it-IT" sz="2400" dirty="0"/>
              <a:t> has been accepted implies that:</a:t>
            </a:r>
          </a:p>
          <a:p>
            <a:pPr algn="just"/>
            <a:endParaRPr lang="en-US" altLang="it-IT" sz="2400" dirty="0"/>
          </a:p>
          <a:p>
            <a:pPr lvl="1" algn="just"/>
            <a:r>
              <a:rPr lang="en-US" altLang="it-IT" sz="2000" i="0" dirty="0">
                <a:ea typeface="Gill Sans Light" charset="0"/>
                <a:cs typeface="Gill Sans Light" charset="0"/>
              </a:rPr>
              <a:t>Every acceptor in C has accepted a proposal with number in [</a:t>
            </a:r>
            <a:r>
              <a:rPr lang="en-US" altLang="it-IT" sz="2000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m</a:t>
            </a:r>
            <a:r>
              <a:rPr lang="en-US" altLang="it-IT" sz="2000" i="0" dirty="0">
                <a:ea typeface="Gill Sans Light" charset="0"/>
                <a:cs typeface="Gill Sans Light" charset="0"/>
              </a:rPr>
              <a:t>,</a:t>
            </a:r>
            <a:r>
              <a:rPr lang="en-US" altLang="it-IT" sz="2000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n-1</a:t>
            </a:r>
            <a:r>
              <a:rPr lang="en-US" altLang="it-IT" sz="2000" i="0" dirty="0">
                <a:ea typeface="Gill Sans Light" charset="0"/>
                <a:cs typeface="Gill Sans Light" charset="0"/>
              </a:rPr>
              <a:t>] and </a:t>
            </a:r>
          </a:p>
          <a:p>
            <a:pPr lvl="1" algn="just"/>
            <a:endParaRPr lang="en-US" altLang="it-IT" sz="2000" i="0" dirty="0">
              <a:ea typeface="Gill Sans Light" charset="0"/>
              <a:cs typeface="Gill Sans Light" charset="0"/>
            </a:endParaRPr>
          </a:p>
          <a:p>
            <a:pPr lvl="1" algn="just"/>
            <a:r>
              <a:rPr lang="en-US" altLang="it-IT" sz="2000" i="0" dirty="0">
                <a:ea typeface="Gill Sans Light" charset="0"/>
                <a:cs typeface="Gill Sans Light" charset="0"/>
              </a:rPr>
              <a:t>every proposal in this range accepted by an acceptor has value </a:t>
            </a:r>
            <a:r>
              <a:rPr lang="en-US" altLang="it-IT" sz="2000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endParaRPr lang="en-US" altLang="it-IT" sz="2000" b="1" i="0" dirty="0">
              <a:latin typeface="Gill Sans" charset="0"/>
              <a:ea typeface="ヒラギノ角ゴ ProN W6" charset="-128"/>
              <a:cs typeface="ヒラギノ角ゴ ProN W6" charset="-128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96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choosing a value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pPr algn="just"/>
            <a:r>
              <a:rPr lang="en-US" altLang="it-IT" dirty="0"/>
              <a:t>Given the intersection among majorities, we can conclude that a proposal numbered n has value by ensuring that the following invariant is maintained:</a:t>
            </a:r>
          </a:p>
          <a:p>
            <a:pPr algn="just"/>
            <a:endParaRPr lang="en-US" altLang="it-IT" dirty="0"/>
          </a:p>
          <a:p>
            <a:pPr algn="ctr"/>
            <a:r>
              <a:rPr lang="en-US" altLang="it-IT" b="1" i="0" dirty="0">
                <a:ea typeface="Gill Sans Light" charset="0"/>
                <a:cs typeface="Gill Sans Light" charset="0"/>
              </a:rPr>
              <a:t>P2c: For any </a:t>
            </a:r>
            <a:r>
              <a:rPr lang="en-US" altLang="it-IT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b="1" i="0" dirty="0">
                <a:ea typeface="Gill Sans Light" charset="0"/>
                <a:cs typeface="Gill Sans Light" charset="0"/>
              </a:rPr>
              <a:t> and </a:t>
            </a:r>
            <a:r>
              <a:rPr lang="en-US" altLang="it-IT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r>
              <a:rPr lang="en-US" altLang="it-IT" b="1" i="0" dirty="0">
                <a:ea typeface="Gill Sans Light" charset="0"/>
                <a:cs typeface="Gill Sans Light" charset="0"/>
              </a:rPr>
              <a:t>, if a proposal with value </a:t>
            </a:r>
            <a:r>
              <a:rPr lang="en-US" altLang="it-IT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b="1" i="0" dirty="0">
                <a:ea typeface="Gill Sans Light" charset="0"/>
                <a:cs typeface="Gill Sans Light" charset="0"/>
              </a:rPr>
              <a:t> and number </a:t>
            </a:r>
            <a:r>
              <a:rPr lang="en-US" altLang="it-IT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r>
              <a:rPr lang="en-US" altLang="it-IT" b="1" i="0" dirty="0">
                <a:ea typeface="Gill Sans Light" charset="0"/>
                <a:cs typeface="Gill Sans Light" charset="0"/>
              </a:rPr>
              <a:t> is issued, then there is a set S consisting of a majority of acceptors such that either (a) no acceptor in S has accepted any proposal numbered less than </a:t>
            </a:r>
            <a:r>
              <a:rPr lang="en-US" altLang="it-IT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r>
              <a:rPr lang="en-US" altLang="it-IT" b="1" i="0" dirty="0">
                <a:ea typeface="Gill Sans Light" charset="0"/>
                <a:cs typeface="Gill Sans Light" charset="0"/>
              </a:rPr>
              <a:t>, or (b) </a:t>
            </a:r>
            <a:r>
              <a:rPr lang="en-US" altLang="it-IT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v</a:t>
            </a:r>
            <a:r>
              <a:rPr lang="en-US" altLang="it-IT" b="1" i="0" dirty="0">
                <a:ea typeface="Gill Sans Light" charset="0"/>
                <a:cs typeface="Gill Sans Light" charset="0"/>
              </a:rPr>
              <a:t> is the value of the highest-numbered proposal among all proposals numbered less than </a:t>
            </a:r>
            <a:r>
              <a:rPr lang="en-US" altLang="it-IT" b="1" i="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r>
              <a:rPr lang="en-US" altLang="it-IT" b="1" i="0" dirty="0">
                <a:ea typeface="Gill Sans Light" charset="0"/>
                <a:cs typeface="Gill Sans Light" charset="0"/>
              </a:rPr>
              <a:t> accepted by the acceptors in S.</a:t>
            </a:r>
          </a:p>
          <a:p>
            <a:pPr algn="ctr"/>
            <a:endParaRPr lang="en-US" altLang="it-IT" b="1" i="0" dirty="0"/>
          </a:p>
          <a:p>
            <a:pPr algn="just"/>
            <a:r>
              <a:rPr lang="en-US" altLang="it-IT" dirty="0"/>
              <a:t>By maintaining P2c we satisfy P2b.</a:t>
            </a:r>
          </a:p>
        </p:txBody>
      </p:sp>
    </p:spTree>
    <p:extLst>
      <p:ext uri="{BB962C8B-B14F-4D97-AF65-F5344CB8AC3E}">
        <p14:creationId xmlns:p14="http://schemas.microsoft.com/office/powerpoint/2010/main" val="156045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how to ensure to choose a value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/>
            <a:r>
              <a:rPr lang="en-US" altLang="it-IT" dirty="0"/>
              <a:t>P2c can be maintained by asking to a proposer that wants to propose a value numbered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 </a:t>
            </a:r>
            <a:r>
              <a:rPr lang="en-US" altLang="it-IT" dirty="0"/>
              <a:t>to learn the highest-numbered value with number less than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r>
              <a:rPr lang="en-US" altLang="it-IT" dirty="0"/>
              <a:t> that</a:t>
            </a:r>
          </a:p>
          <a:p>
            <a:pPr marL="482186" lvl="1" algn="just"/>
            <a:r>
              <a:rPr lang="en-US" altLang="it-IT" dirty="0"/>
              <a:t>has been accepted</a:t>
            </a:r>
          </a:p>
          <a:p>
            <a:pPr marL="482186" lvl="1" algn="just"/>
            <a:r>
              <a:rPr lang="en-US" altLang="it-IT" dirty="0"/>
              <a:t>or will by accepted</a:t>
            </a:r>
          </a:p>
          <a:p>
            <a:pPr algn="just"/>
            <a:r>
              <a:rPr lang="en-US" altLang="it-IT" dirty="0"/>
              <a:t>by any acceptor in a majority.</a:t>
            </a:r>
          </a:p>
        </p:txBody>
      </p:sp>
    </p:spTree>
    <p:extLst>
      <p:ext uri="{BB962C8B-B14F-4D97-AF65-F5344CB8AC3E}">
        <p14:creationId xmlns:p14="http://schemas.microsoft.com/office/powerpoint/2010/main" val="1569729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learning about proposed values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/>
            <a:r>
              <a:rPr lang="en-US" altLang="it-IT" dirty="0"/>
              <a:t>Learning accepted values is easy</a:t>
            </a:r>
          </a:p>
          <a:p>
            <a:pPr algn="just"/>
            <a:r>
              <a:rPr lang="en-US" altLang="it-IT" dirty="0"/>
              <a:t>Instead of trying to predict the future, ask acceptors to promise they will not accept proposals numbered less than </a:t>
            </a:r>
            <a:r>
              <a:rPr lang="en-US" altLang="it-IT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n</a:t>
            </a:r>
            <a:endParaRPr lang="en-US" altLang="it-IT" b="1" dirty="0">
              <a:latin typeface="Gill Sans" charset="0"/>
              <a:ea typeface="ヒラギノ角ゴ ProN W6" charset="-128"/>
              <a:cs typeface="ヒラギノ角ゴ ProN W6" charset="-128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985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learning about proposed values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it-IT"/>
              <a:t>The protocol has two main phases:</a:t>
            </a:r>
          </a:p>
          <a:p>
            <a:pPr marL="482186" lvl="1"/>
            <a:r>
              <a:rPr lang="en-US" altLang="it-IT"/>
              <a:t>Phase 1: prepare request ↔ response</a:t>
            </a:r>
          </a:p>
          <a:p>
            <a:pPr marL="482186" lvl="1"/>
            <a:r>
              <a:rPr lang="en-US" altLang="it-IT"/>
              <a:t>Phase 2: accept request ↔ response</a:t>
            </a:r>
          </a:p>
        </p:txBody>
      </p:sp>
    </p:spTree>
    <p:extLst>
      <p:ext uri="{BB962C8B-B14F-4D97-AF65-F5344CB8AC3E}">
        <p14:creationId xmlns:p14="http://schemas.microsoft.com/office/powerpoint/2010/main" val="1802419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/>
            <a:r>
              <a:rPr lang="en-US" altLang="it-IT" dirty="0"/>
              <a:t>Phase 1</a:t>
            </a:r>
          </a:p>
          <a:p>
            <a:pPr marL="482186" lvl="1" algn="just"/>
            <a:r>
              <a:rPr lang="en-US" altLang="it-IT" dirty="0"/>
              <a:t>1)  A proposer chooses a new proposal version number n , and sends a prepare request (</a:t>
            </a:r>
            <a:r>
              <a:rPr lang="en-US" altLang="it-IT" dirty="0" err="1"/>
              <a:t>PREPARE,n</a:t>
            </a:r>
            <a:r>
              <a:rPr lang="en-US" altLang="it-IT" dirty="0"/>
              <a:t>) to a majority of acceptors:</a:t>
            </a:r>
          </a:p>
          <a:p>
            <a:pPr marL="750067" lvl="2" algn="just"/>
            <a:r>
              <a:rPr lang="en-US" altLang="it-IT" dirty="0"/>
              <a:t>(a) Can I make a proposal with number n ?</a:t>
            </a:r>
          </a:p>
          <a:p>
            <a:pPr marL="750067" lvl="2" algn="just"/>
            <a:r>
              <a:rPr lang="en-US" altLang="it-IT" dirty="0"/>
              <a:t>(b) if yes, do you suggest some value for my proposal?</a:t>
            </a:r>
          </a:p>
        </p:txBody>
      </p:sp>
    </p:spTree>
    <p:extLst>
      <p:ext uri="{BB962C8B-B14F-4D97-AF65-F5344CB8AC3E}">
        <p14:creationId xmlns:p14="http://schemas.microsoft.com/office/powerpoint/2010/main" val="859590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6369601-9E27-3B43-87CE-072EE92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Phase 1</a:t>
            </a:r>
            <a:endParaRPr lang="en-GB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A5D92CF-3AE9-4746-9BA1-321DD2EA0793}"/>
              </a:ext>
            </a:extLst>
          </p:cNvPr>
          <p:cNvCxnSpPr/>
          <p:nvPr/>
        </p:nvCxnSpPr>
        <p:spPr>
          <a:xfrm>
            <a:off x="1561144" y="2188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C5E204-9DC2-7A4D-871B-46F539B60E34}"/>
              </a:ext>
            </a:extLst>
          </p:cNvPr>
          <p:cNvCxnSpPr/>
          <p:nvPr/>
        </p:nvCxnSpPr>
        <p:spPr>
          <a:xfrm>
            <a:off x="1561144" y="296957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ACB36A1-A77C-E144-8430-E7B4267870EA}"/>
              </a:ext>
            </a:extLst>
          </p:cNvPr>
          <p:cNvCxnSpPr/>
          <p:nvPr/>
        </p:nvCxnSpPr>
        <p:spPr>
          <a:xfrm>
            <a:off x="1561144" y="3712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2753447-C76E-BC4C-9CF7-B3FE9D6147FB}"/>
              </a:ext>
            </a:extLst>
          </p:cNvPr>
          <p:cNvCxnSpPr/>
          <p:nvPr/>
        </p:nvCxnSpPr>
        <p:spPr>
          <a:xfrm>
            <a:off x="1539236" y="4610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99655A-A459-614F-B5AD-8A14E654EF03}"/>
              </a:ext>
            </a:extLst>
          </p:cNvPr>
          <p:cNvCxnSpPr/>
          <p:nvPr/>
        </p:nvCxnSpPr>
        <p:spPr>
          <a:xfrm>
            <a:off x="1539236" y="539115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0ECD95-2CCA-9745-9C69-6AF47B7E34E2}"/>
              </a:ext>
            </a:extLst>
          </p:cNvPr>
          <p:cNvCxnSpPr/>
          <p:nvPr/>
        </p:nvCxnSpPr>
        <p:spPr>
          <a:xfrm>
            <a:off x="1539236" y="6134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FDC47A-DA5B-6545-A792-3B1A32239C9E}"/>
              </a:ext>
            </a:extLst>
          </p:cNvPr>
          <p:cNvSpPr txBox="1"/>
          <p:nvPr/>
        </p:nvSpPr>
        <p:spPr>
          <a:xfrm>
            <a:off x="1156331" y="2005964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2A414E-6DB9-9946-B67D-FC266E572C47}"/>
              </a:ext>
            </a:extLst>
          </p:cNvPr>
          <p:cNvSpPr txBox="1"/>
          <p:nvPr/>
        </p:nvSpPr>
        <p:spPr>
          <a:xfrm>
            <a:off x="1159189" y="2798762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CD38F4-1E36-C646-B33F-FFA45C17C40C}"/>
              </a:ext>
            </a:extLst>
          </p:cNvPr>
          <p:cNvSpPr txBox="1"/>
          <p:nvPr/>
        </p:nvSpPr>
        <p:spPr>
          <a:xfrm>
            <a:off x="1159189" y="3489960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997781-544B-5142-9FEA-76A664D83442}"/>
              </a:ext>
            </a:extLst>
          </p:cNvPr>
          <p:cNvSpPr txBox="1"/>
          <p:nvPr/>
        </p:nvSpPr>
        <p:spPr>
          <a:xfrm>
            <a:off x="1153473" y="4427537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BE10E4-4F2A-714F-8A87-33F94CD178CB}"/>
              </a:ext>
            </a:extLst>
          </p:cNvPr>
          <p:cNvSpPr txBox="1"/>
          <p:nvPr/>
        </p:nvSpPr>
        <p:spPr>
          <a:xfrm>
            <a:off x="1156331" y="5220335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A819786-2C75-154F-B5AA-05DCD0A76A31}"/>
              </a:ext>
            </a:extLst>
          </p:cNvPr>
          <p:cNvSpPr txBox="1"/>
          <p:nvPr/>
        </p:nvSpPr>
        <p:spPr>
          <a:xfrm>
            <a:off x="1156331" y="5911533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3</a:t>
            </a:r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9F4B49B4-9C74-E445-994E-45259F2B7928}"/>
              </a:ext>
            </a:extLst>
          </p:cNvPr>
          <p:cNvSpPr/>
          <p:nvPr/>
        </p:nvSpPr>
        <p:spPr>
          <a:xfrm>
            <a:off x="840102" y="2005964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7169E0-D71B-0647-A388-347EA4110C83}"/>
              </a:ext>
            </a:extLst>
          </p:cNvPr>
          <p:cNvSpPr txBox="1"/>
          <p:nvPr/>
        </p:nvSpPr>
        <p:spPr>
          <a:xfrm>
            <a:off x="339462" y="2154555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PROPOSERS</a:t>
            </a:r>
          </a:p>
        </p:txBody>
      </p: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2006E558-C1F0-AD40-9591-26B9F1E07AD8}"/>
              </a:ext>
            </a:extLst>
          </p:cNvPr>
          <p:cNvSpPr/>
          <p:nvPr/>
        </p:nvSpPr>
        <p:spPr>
          <a:xfrm>
            <a:off x="874387" y="4427537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7935EF-2F4F-AF47-90A8-6734B9B4A302}"/>
              </a:ext>
            </a:extLst>
          </p:cNvPr>
          <p:cNvSpPr txBox="1"/>
          <p:nvPr/>
        </p:nvSpPr>
        <p:spPr>
          <a:xfrm>
            <a:off x="373747" y="4576128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ACCEPTORS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CD0F36F-D14E-034E-A253-671B677E7821}"/>
              </a:ext>
            </a:extLst>
          </p:cNvPr>
          <p:cNvCxnSpPr>
            <a:cxnSpLocks/>
          </p:cNvCxnSpPr>
          <p:nvPr/>
        </p:nvCxnSpPr>
        <p:spPr>
          <a:xfrm>
            <a:off x="1871663" y="2188528"/>
            <a:ext cx="1504822" cy="245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9E9F0E8-5389-F842-A7BE-FCA7189FC640}"/>
              </a:ext>
            </a:extLst>
          </p:cNvPr>
          <p:cNvCxnSpPr/>
          <p:nvPr/>
        </p:nvCxnSpPr>
        <p:spPr>
          <a:xfrm>
            <a:off x="1857375" y="2188528"/>
            <a:ext cx="3314700" cy="320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67B04BE-0F34-B944-AEBB-BC1C54DBC305}"/>
              </a:ext>
            </a:extLst>
          </p:cNvPr>
          <p:cNvCxnSpPr/>
          <p:nvPr/>
        </p:nvCxnSpPr>
        <p:spPr>
          <a:xfrm>
            <a:off x="1871663" y="2188528"/>
            <a:ext cx="1042987" cy="41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losione 1 27">
            <a:extLst>
              <a:ext uri="{FF2B5EF4-FFF2-40B4-BE49-F238E27FC236}">
                <a16:creationId xmlns:a16="http://schemas.microsoft.com/office/drawing/2014/main" id="{AD1EC439-4CF3-D347-B911-D9E437D27260}"/>
              </a:ext>
            </a:extLst>
          </p:cNvPr>
          <p:cNvSpPr/>
          <p:nvPr/>
        </p:nvSpPr>
        <p:spPr>
          <a:xfrm>
            <a:off x="2728907" y="2411096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143577A-C2C5-C44F-85A1-0DF65367C662}"/>
              </a:ext>
            </a:extLst>
          </p:cNvPr>
          <p:cNvSpPr txBox="1"/>
          <p:nvPr/>
        </p:nvSpPr>
        <p:spPr>
          <a:xfrm>
            <a:off x="967255" y="2493645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(PREPARE, 1)</a:t>
            </a:r>
            <a:endParaRPr lang="en-GB" baseline="-25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493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it-IT" dirty="0"/>
              <a:t>Phase 1</a:t>
            </a:r>
          </a:p>
          <a:p>
            <a:pPr marL="482186" lvl="1">
              <a:spcBef>
                <a:spcPts val="1266"/>
              </a:spcBef>
            </a:pPr>
            <a:r>
              <a:rPr lang="en-US" altLang="it-IT" dirty="0">
                <a:ea typeface="Apple Symbols" charset="0"/>
                <a:cs typeface="Apple Symbols" charset="0"/>
              </a:rPr>
              <a:t>2) If an acceptor receives a prepare request (PREPARE, n) and it will answer sending:</a:t>
            </a:r>
            <a:endParaRPr lang="en-US" altLang="it-IT" dirty="0"/>
          </a:p>
          <a:p>
            <a:pPr marL="750067" lvl="2">
              <a:spcBef>
                <a:spcPts val="1266"/>
              </a:spcBef>
            </a:pPr>
            <a:r>
              <a:rPr lang="en-US" altLang="it-IT" dirty="0"/>
              <a:t>(a) responds with a promise not to accept any more proposals numbered less than n.</a:t>
            </a:r>
          </a:p>
          <a:p>
            <a:pPr marL="750067" lvl="2">
              <a:spcBef>
                <a:spcPts val="1266"/>
              </a:spcBef>
            </a:pPr>
            <a:r>
              <a:rPr lang="en-US" altLang="it-IT" dirty="0">
                <a:ea typeface="Apple Symbols" charset="0"/>
                <a:cs typeface="Apple Symbols" charset="0"/>
              </a:rPr>
              <a:t>(b) suggests the value v’ of the highest-number proposal that it has accepted if any, else ⊥</a:t>
            </a:r>
          </a:p>
          <a:p>
            <a:pPr marL="750067" lvl="2">
              <a:spcBef>
                <a:spcPts val="1266"/>
              </a:spcBef>
            </a:pPr>
            <a:endParaRPr lang="en-US" altLang="it-IT" sz="1050" dirty="0">
              <a:ea typeface="Apple Symbols" charset="0"/>
              <a:cs typeface="Apple Symbols" charset="0"/>
            </a:endParaRPr>
          </a:p>
          <a:p>
            <a:pPr marL="880369" indent="-342900">
              <a:spcBef>
                <a:spcPts val="1266"/>
              </a:spcBef>
              <a:buFont typeface="Courier New"/>
              <a:buChar char="o"/>
            </a:pPr>
            <a:r>
              <a:rPr lang="en-US" altLang="it-IT" sz="1800" dirty="0">
                <a:ea typeface="Apple Symbols" charset="0"/>
                <a:cs typeface="Apple Symbols" charset="0"/>
              </a:rPr>
              <a:t>In particular, it will reply with the highest number less than n that is has accepted</a:t>
            </a:r>
          </a:p>
          <a:p>
            <a:pPr marL="921517" lvl="1">
              <a:spcBef>
                <a:spcPts val="1266"/>
              </a:spcBef>
            </a:pPr>
            <a:r>
              <a:rPr lang="en-US" altLang="it-IT" sz="2000" dirty="0">
                <a:ea typeface="Apple Symbols" charset="0"/>
                <a:cs typeface="Apple Symbols" charset="0"/>
              </a:rPr>
              <a:t> (ACK, n, n’, v’) if it exists</a:t>
            </a:r>
          </a:p>
          <a:p>
            <a:pPr marL="921517" lvl="1">
              <a:spcBef>
                <a:spcPts val="1266"/>
              </a:spcBef>
            </a:pPr>
            <a:r>
              <a:rPr lang="en-US" altLang="it-IT" sz="2000" dirty="0">
                <a:ea typeface="Apple Symbols" charset="0"/>
                <a:cs typeface="Apple Symbols" charset="0"/>
              </a:rPr>
              <a:t>or (ACK, n, ⊥ , ⊥) if not</a:t>
            </a:r>
          </a:p>
        </p:txBody>
      </p:sp>
    </p:spTree>
    <p:extLst>
      <p:ext uri="{BB962C8B-B14F-4D97-AF65-F5344CB8AC3E}">
        <p14:creationId xmlns:p14="http://schemas.microsoft.com/office/powerpoint/2010/main" val="1007628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6369601-9E27-3B43-87CE-072EE92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Phase 1</a:t>
            </a:r>
            <a:endParaRPr lang="en-GB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A5D92CF-3AE9-4746-9BA1-321DD2EA0793}"/>
              </a:ext>
            </a:extLst>
          </p:cNvPr>
          <p:cNvCxnSpPr/>
          <p:nvPr/>
        </p:nvCxnSpPr>
        <p:spPr>
          <a:xfrm>
            <a:off x="1561144" y="2188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C5E204-9DC2-7A4D-871B-46F539B60E34}"/>
              </a:ext>
            </a:extLst>
          </p:cNvPr>
          <p:cNvCxnSpPr/>
          <p:nvPr/>
        </p:nvCxnSpPr>
        <p:spPr>
          <a:xfrm>
            <a:off x="1561144" y="296957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ACB36A1-A77C-E144-8430-E7B4267870EA}"/>
              </a:ext>
            </a:extLst>
          </p:cNvPr>
          <p:cNvCxnSpPr/>
          <p:nvPr/>
        </p:nvCxnSpPr>
        <p:spPr>
          <a:xfrm>
            <a:off x="1561144" y="3712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2753447-C76E-BC4C-9CF7-B3FE9D6147FB}"/>
              </a:ext>
            </a:extLst>
          </p:cNvPr>
          <p:cNvCxnSpPr/>
          <p:nvPr/>
        </p:nvCxnSpPr>
        <p:spPr>
          <a:xfrm>
            <a:off x="1539236" y="4610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99655A-A459-614F-B5AD-8A14E654EF03}"/>
              </a:ext>
            </a:extLst>
          </p:cNvPr>
          <p:cNvCxnSpPr/>
          <p:nvPr/>
        </p:nvCxnSpPr>
        <p:spPr>
          <a:xfrm>
            <a:off x="1539236" y="539115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0ECD95-2CCA-9745-9C69-6AF47B7E34E2}"/>
              </a:ext>
            </a:extLst>
          </p:cNvPr>
          <p:cNvCxnSpPr/>
          <p:nvPr/>
        </p:nvCxnSpPr>
        <p:spPr>
          <a:xfrm>
            <a:off x="1539236" y="6134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FDC47A-DA5B-6545-A792-3B1A32239C9E}"/>
              </a:ext>
            </a:extLst>
          </p:cNvPr>
          <p:cNvSpPr txBox="1"/>
          <p:nvPr/>
        </p:nvSpPr>
        <p:spPr>
          <a:xfrm>
            <a:off x="1156331" y="2005964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2A414E-6DB9-9946-B67D-FC266E572C47}"/>
              </a:ext>
            </a:extLst>
          </p:cNvPr>
          <p:cNvSpPr txBox="1"/>
          <p:nvPr/>
        </p:nvSpPr>
        <p:spPr>
          <a:xfrm>
            <a:off x="1159189" y="2798762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CD38F4-1E36-C646-B33F-FFA45C17C40C}"/>
              </a:ext>
            </a:extLst>
          </p:cNvPr>
          <p:cNvSpPr txBox="1"/>
          <p:nvPr/>
        </p:nvSpPr>
        <p:spPr>
          <a:xfrm>
            <a:off x="1159189" y="3489960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997781-544B-5142-9FEA-76A664D83442}"/>
              </a:ext>
            </a:extLst>
          </p:cNvPr>
          <p:cNvSpPr txBox="1"/>
          <p:nvPr/>
        </p:nvSpPr>
        <p:spPr>
          <a:xfrm>
            <a:off x="1153473" y="4427537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BE10E4-4F2A-714F-8A87-33F94CD178CB}"/>
              </a:ext>
            </a:extLst>
          </p:cNvPr>
          <p:cNvSpPr txBox="1"/>
          <p:nvPr/>
        </p:nvSpPr>
        <p:spPr>
          <a:xfrm>
            <a:off x="1156331" y="5220335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A819786-2C75-154F-B5AA-05DCD0A76A31}"/>
              </a:ext>
            </a:extLst>
          </p:cNvPr>
          <p:cNvSpPr txBox="1"/>
          <p:nvPr/>
        </p:nvSpPr>
        <p:spPr>
          <a:xfrm>
            <a:off x="1156331" y="5911533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3</a:t>
            </a:r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9F4B49B4-9C74-E445-994E-45259F2B7928}"/>
              </a:ext>
            </a:extLst>
          </p:cNvPr>
          <p:cNvSpPr/>
          <p:nvPr/>
        </p:nvSpPr>
        <p:spPr>
          <a:xfrm>
            <a:off x="840102" y="2005964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7169E0-D71B-0647-A388-347EA4110C83}"/>
              </a:ext>
            </a:extLst>
          </p:cNvPr>
          <p:cNvSpPr txBox="1"/>
          <p:nvPr/>
        </p:nvSpPr>
        <p:spPr>
          <a:xfrm>
            <a:off x="339462" y="2154555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PROPOSERS</a:t>
            </a:r>
          </a:p>
        </p:txBody>
      </p: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2006E558-C1F0-AD40-9591-26B9F1E07AD8}"/>
              </a:ext>
            </a:extLst>
          </p:cNvPr>
          <p:cNvSpPr/>
          <p:nvPr/>
        </p:nvSpPr>
        <p:spPr>
          <a:xfrm>
            <a:off x="874387" y="4427537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7935EF-2F4F-AF47-90A8-6734B9B4A302}"/>
              </a:ext>
            </a:extLst>
          </p:cNvPr>
          <p:cNvSpPr txBox="1"/>
          <p:nvPr/>
        </p:nvSpPr>
        <p:spPr>
          <a:xfrm>
            <a:off x="373747" y="4576128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ACCEPTORS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CD0F36F-D14E-034E-A253-671B677E7821}"/>
              </a:ext>
            </a:extLst>
          </p:cNvPr>
          <p:cNvCxnSpPr>
            <a:cxnSpLocks/>
          </p:cNvCxnSpPr>
          <p:nvPr/>
        </p:nvCxnSpPr>
        <p:spPr>
          <a:xfrm>
            <a:off x="1871663" y="2188528"/>
            <a:ext cx="1504822" cy="245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9E9F0E8-5389-F842-A7BE-FCA7189FC640}"/>
              </a:ext>
            </a:extLst>
          </p:cNvPr>
          <p:cNvCxnSpPr/>
          <p:nvPr/>
        </p:nvCxnSpPr>
        <p:spPr>
          <a:xfrm>
            <a:off x="1857375" y="2188528"/>
            <a:ext cx="3314700" cy="320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67B04BE-0F34-B944-AEBB-BC1C54DBC305}"/>
              </a:ext>
            </a:extLst>
          </p:cNvPr>
          <p:cNvCxnSpPr/>
          <p:nvPr/>
        </p:nvCxnSpPr>
        <p:spPr>
          <a:xfrm>
            <a:off x="1871663" y="2188528"/>
            <a:ext cx="1042987" cy="41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losione 1 27">
            <a:extLst>
              <a:ext uri="{FF2B5EF4-FFF2-40B4-BE49-F238E27FC236}">
                <a16:creationId xmlns:a16="http://schemas.microsoft.com/office/drawing/2014/main" id="{AD1EC439-4CF3-D347-B911-D9E437D27260}"/>
              </a:ext>
            </a:extLst>
          </p:cNvPr>
          <p:cNvSpPr/>
          <p:nvPr/>
        </p:nvSpPr>
        <p:spPr>
          <a:xfrm>
            <a:off x="2728907" y="2411096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143577A-C2C5-C44F-85A1-0DF65367C662}"/>
              </a:ext>
            </a:extLst>
          </p:cNvPr>
          <p:cNvSpPr txBox="1"/>
          <p:nvPr/>
        </p:nvSpPr>
        <p:spPr>
          <a:xfrm>
            <a:off x="967255" y="2493645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(PREPARE, 1)</a:t>
            </a:r>
            <a:endParaRPr lang="en-GB" baseline="-25000" dirty="0">
              <a:solidFill>
                <a:schemeClr val="accent1"/>
              </a:solidFill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FE5501C1-1238-4A4E-8A2F-D0EA93803122}"/>
              </a:ext>
            </a:extLst>
          </p:cNvPr>
          <p:cNvCxnSpPr/>
          <p:nvPr/>
        </p:nvCxnSpPr>
        <p:spPr>
          <a:xfrm flipV="1">
            <a:off x="3487119" y="2188528"/>
            <a:ext cx="1518834" cy="2421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17571E3-6863-E548-A3D6-B480AD00E9C4}"/>
              </a:ext>
            </a:extLst>
          </p:cNvPr>
          <p:cNvSpPr txBox="1"/>
          <p:nvPr/>
        </p:nvSpPr>
        <p:spPr>
          <a:xfrm>
            <a:off x="4321152" y="3158531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1,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CAF51F7B-28CB-4C46-850F-7CE47FB8D59B}"/>
              </a:ext>
            </a:extLst>
          </p:cNvPr>
          <p:cNvCxnSpPr>
            <a:cxnSpLocks/>
          </p:cNvCxnSpPr>
          <p:nvPr/>
        </p:nvCxnSpPr>
        <p:spPr>
          <a:xfrm flipV="1">
            <a:off x="5282709" y="2188528"/>
            <a:ext cx="1814416" cy="3164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24D7E04-04B5-684E-A058-FEE8DE2E19BD}"/>
              </a:ext>
            </a:extLst>
          </p:cNvPr>
          <p:cNvSpPr txBox="1"/>
          <p:nvPr/>
        </p:nvSpPr>
        <p:spPr>
          <a:xfrm>
            <a:off x="5929907" y="4089720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1,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2937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it-IT"/>
              <a:t>Phase 1</a:t>
            </a:r>
          </a:p>
          <a:p>
            <a:pPr marL="482186" lvl="1">
              <a:spcBef>
                <a:spcPts val="1266"/>
              </a:spcBef>
            </a:pPr>
            <a:r>
              <a:rPr lang="en-US" altLang="it-IT"/>
              <a:t>2) If an acceptor receives a prepare request (PREPARE, n) with n lower than n’ from any prepare request it has already responded, sends out (NACK, n’)</a:t>
            </a:r>
          </a:p>
          <a:p>
            <a:pPr marL="750067" lvl="2">
              <a:spcBef>
                <a:spcPts val="1266"/>
              </a:spcBef>
            </a:pPr>
            <a:r>
              <a:rPr lang="en-US" altLang="it-IT"/>
              <a:t>(a) responds with a denial to proceed with the agreement as the proposal is too old.</a:t>
            </a:r>
          </a:p>
        </p:txBody>
      </p:sp>
    </p:spTree>
    <p:extLst>
      <p:ext uri="{BB962C8B-B14F-4D97-AF65-F5344CB8AC3E}">
        <p14:creationId xmlns:p14="http://schemas.microsoft.com/office/powerpoint/2010/main" val="151856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6369601-9E27-3B43-87CE-072EE92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Phase 1</a:t>
            </a:r>
            <a:endParaRPr lang="en-GB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A5D92CF-3AE9-4746-9BA1-321DD2EA0793}"/>
              </a:ext>
            </a:extLst>
          </p:cNvPr>
          <p:cNvCxnSpPr/>
          <p:nvPr/>
        </p:nvCxnSpPr>
        <p:spPr>
          <a:xfrm>
            <a:off x="1561144" y="2188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C5E204-9DC2-7A4D-871B-46F539B60E34}"/>
              </a:ext>
            </a:extLst>
          </p:cNvPr>
          <p:cNvCxnSpPr/>
          <p:nvPr/>
        </p:nvCxnSpPr>
        <p:spPr>
          <a:xfrm>
            <a:off x="1561144" y="296957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ACB36A1-A77C-E144-8430-E7B4267870EA}"/>
              </a:ext>
            </a:extLst>
          </p:cNvPr>
          <p:cNvCxnSpPr/>
          <p:nvPr/>
        </p:nvCxnSpPr>
        <p:spPr>
          <a:xfrm>
            <a:off x="1561144" y="3712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2753447-C76E-BC4C-9CF7-B3FE9D6147FB}"/>
              </a:ext>
            </a:extLst>
          </p:cNvPr>
          <p:cNvCxnSpPr/>
          <p:nvPr/>
        </p:nvCxnSpPr>
        <p:spPr>
          <a:xfrm>
            <a:off x="1539236" y="4610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99655A-A459-614F-B5AD-8A14E654EF03}"/>
              </a:ext>
            </a:extLst>
          </p:cNvPr>
          <p:cNvCxnSpPr/>
          <p:nvPr/>
        </p:nvCxnSpPr>
        <p:spPr>
          <a:xfrm>
            <a:off x="1539236" y="539115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0ECD95-2CCA-9745-9C69-6AF47B7E34E2}"/>
              </a:ext>
            </a:extLst>
          </p:cNvPr>
          <p:cNvCxnSpPr/>
          <p:nvPr/>
        </p:nvCxnSpPr>
        <p:spPr>
          <a:xfrm>
            <a:off x="1539236" y="6134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FDC47A-DA5B-6545-A792-3B1A32239C9E}"/>
              </a:ext>
            </a:extLst>
          </p:cNvPr>
          <p:cNvSpPr txBox="1"/>
          <p:nvPr/>
        </p:nvSpPr>
        <p:spPr>
          <a:xfrm>
            <a:off x="1156331" y="2005964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2A414E-6DB9-9946-B67D-FC266E572C47}"/>
              </a:ext>
            </a:extLst>
          </p:cNvPr>
          <p:cNvSpPr txBox="1"/>
          <p:nvPr/>
        </p:nvSpPr>
        <p:spPr>
          <a:xfrm>
            <a:off x="1159189" y="2798762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CD38F4-1E36-C646-B33F-FFA45C17C40C}"/>
              </a:ext>
            </a:extLst>
          </p:cNvPr>
          <p:cNvSpPr txBox="1"/>
          <p:nvPr/>
        </p:nvSpPr>
        <p:spPr>
          <a:xfrm>
            <a:off x="1159189" y="3489960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997781-544B-5142-9FEA-76A664D83442}"/>
              </a:ext>
            </a:extLst>
          </p:cNvPr>
          <p:cNvSpPr txBox="1"/>
          <p:nvPr/>
        </p:nvSpPr>
        <p:spPr>
          <a:xfrm>
            <a:off x="1153473" y="4427537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BE10E4-4F2A-714F-8A87-33F94CD178CB}"/>
              </a:ext>
            </a:extLst>
          </p:cNvPr>
          <p:cNvSpPr txBox="1"/>
          <p:nvPr/>
        </p:nvSpPr>
        <p:spPr>
          <a:xfrm>
            <a:off x="1156331" y="5220335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A819786-2C75-154F-B5AA-05DCD0A76A31}"/>
              </a:ext>
            </a:extLst>
          </p:cNvPr>
          <p:cNvSpPr txBox="1"/>
          <p:nvPr/>
        </p:nvSpPr>
        <p:spPr>
          <a:xfrm>
            <a:off x="1156331" y="5911533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3</a:t>
            </a:r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9F4B49B4-9C74-E445-994E-45259F2B7928}"/>
              </a:ext>
            </a:extLst>
          </p:cNvPr>
          <p:cNvSpPr/>
          <p:nvPr/>
        </p:nvSpPr>
        <p:spPr>
          <a:xfrm>
            <a:off x="840102" y="2005964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7169E0-D71B-0647-A388-347EA4110C83}"/>
              </a:ext>
            </a:extLst>
          </p:cNvPr>
          <p:cNvSpPr txBox="1"/>
          <p:nvPr/>
        </p:nvSpPr>
        <p:spPr>
          <a:xfrm>
            <a:off x="339462" y="2154555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PROPOSERS</a:t>
            </a:r>
          </a:p>
        </p:txBody>
      </p: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2006E558-C1F0-AD40-9591-26B9F1E07AD8}"/>
              </a:ext>
            </a:extLst>
          </p:cNvPr>
          <p:cNvSpPr/>
          <p:nvPr/>
        </p:nvSpPr>
        <p:spPr>
          <a:xfrm>
            <a:off x="874387" y="4427537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7935EF-2F4F-AF47-90A8-6734B9B4A302}"/>
              </a:ext>
            </a:extLst>
          </p:cNvPr>
          <p:cNvSpPr txBox="1"/>
          <p:nvPr/>
        </p:nvSpPr>
        <p:spPr>
          <a:xfrm>
            <a:off x="373747" y="4576128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ACCEPTORS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CD0F36F-D14E-034E-A253-671B677E7821}"/>
              </a:ext>
            </a:extLst>
          </p:cNvPr>
          <p:cNvCxnSpPr>
            <a:cxnSpLocks/>
          </p:cNvCxnSpPr>
          <p:nvPr/>
        </p:nvCxnSpPr>
        <p:spPr>
          <a:xfrm>
            <a:off x="1871663" y="2188528"/>
            <a:ext cx="2881988" cy="2409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9E9F0E8-5389-F842-A7BE-FCA7189FC640}"/>
              </a:ext>
            </a:extLst>
          </p:cNvPr>
          <p:cNvCxnSpPr/>
          <p:nvPr/>
        </p:nvCxnSpPr>
        <p:spPr>
          <a:xfrm>
            <a:off x="1857375" y="2188528"/>
            <a:ext cx="3314700" cy="320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67B04BE-0F34-B944-AEBB-BC1C54DBC305}"/>
              </a:ext>
            </a:extLst>
          </p:cNvPr>
          <p:cNvCxnSpPr/>
          <p:nvPr/>
        </p:nvCxnSpPr>
        <p:spPr>
          <a:xfrm>
            <a:off x="1871663" y="2188528"/>
            <a:ext cx="1042987" cy="41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losione 1 27">
            <a:extLst>
              <a:ext uri="{FF2B5EF4-FFF2-40B4-BE49-F238E27FC236}">
                <a16:creationId xmlns:a16="http://schemas.microsoft.com/office/drawing/2014/main" id="{AD1EC439-4CF3-D347-B911-D9E437D27260}"/>
              </a:ext>
            </a:extLst>
          </p:cNvPr>
          <p:cNvSpPr/>
          <p:nvPr/>
        </p:nvSpPr>
        <p:spPr>
          <a:xfrm>
            <a:off x="2728907" y="2411096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143577A-C2C5-C44F-85A1-0DF65367C662}"/>
              </a:ext>
            </a:extLst>
          </p:cNvPr>
          <p:cNvSpPr txBox="1"/>
          <p:nvPr/>
        </p:nvSpPr>
        <p:spPr>
          <a:xfrm>
            <a:off x="967255" y="2493645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(PREPARE, 1)</a:t>
            </a:r>
            <a:endParaRPr lang="en-GB" baseline="-25000" dirty="0">
              <a:solidFill>
                <a:schemeClr val="accent1"/>
              </a:solidFill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FE5501C1-1238-4A4E-8A2F-D0EA93803122}"/>
              </a:ext>
            </a:extLst>
          </p:cNvPr>
          <p:cNvCxnSpPr>
            <a:cxnSpLocks/>
          </p:cNvCxnSpPr>
          <p:nvPr/>
        </p:nvCxnSpPr>
        <p:spPr>
          <a:xfrm flipV="1">
            <a:off x="4753651" y="2200277"/>
            <a:ext cx="1211773" cy="235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17571E3-6863-E548-A3D6-B480AD00E9C4}"/>
              </a:ext>
            </a:extLst>
          </p:cNvPr>
          <p:cNvSpPr txBox="1"/>
          <p:nvPr/>
        </p:nvSpPr>
        <p:spPr>
          <a:xfrm>
            <a:off x="2585336" y="4229022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2,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CAF51F7B-28CB-4C46-850F-7CE47FB8D59B}"/>
              </a:ext>
            </a:extLst>
          </p:cNvPr>
          <p:cNvCxnSpPr>
            <a:cxnSpLocks/>
          </p:cNvCxnSpPr>
          <p:nvPr/>
        </p:nvCxnSpPr>
        <p:spPr>
          <a:xfrm flipV="1">
            <a:off x="5282709" y="2176780"/>
            <a:ext cx="2724302" cy="3176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24D7E04-04B5-684E-A058-FEE8DE2E19BD}"/>
              </a:ext>
            </a:extLst>
          </p:cNvPr>
          <p:cNvSpPr txBox="1"/>
          <p:nvPr/>
        </p:nvSpPr>
        <p:spPr>
          <a:xfrm>
            <a:off x="4943703" y="4065010"/>
            <a:ext cx="14132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(NACK, 2)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9A45BE71-51E9-104D-B7E7-77DB809CA03B}"/>
              </a:ext>
            </a:extLst>
          </p:cNvPr>
          <p:cNvCxnSpPr/>
          <p:nvPr/>
        </p:nvCxnSpPr>
        <p:spPr>
          <a:xfrm>
            <a:off x="1871663" y="3712528"/>
            <a:ext cx="501834" cy="897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854ADFF7-D842-B243-8EFC-179DBE015EF5}"/>
              </a:ext>
            </a:extLst>
          </p:cNvPr>
          <p:cNvCxnSpPr/>
          <p:nvPr/>
        </p:nvCxnSpPr>
        <p:spPr>
          <a:xfrm>
            <a:off x="1857375" y="3712528"/>
            <a:ext cx="684347" cy="2421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6A0F537-87A0-FF43-94B7-28C239DB9DCB}"/>
              </a:ext>
            </a:extLst>
          </p:cNvPr>
          <p:cNvSpPr txBox="1"/>
          <p:nvPr/>
        </p:nvSpPr>
        <p:spPr>
          <a:xfrm>
            <a:off x="752774" y="3885507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(PREPARE, 2)</a:t>
            </a:r>
            <a:endParaRPr lang="en-GB" baseline="-25000" dirty="0">
              <a:solidFill>
                <a:schemeClr val="accent1"/>
              </a:solidFill>
            </a:endParaRP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E2865068-FC46-8C47-9DA8-18258C30272B}"/>
              </a:ext>
            </a:extLst>
          </p:cNvPr>
          <p:cNvCxnSpPr>
            <a:cxnSpLocks/>
          </p:cNvCxnSpPr>
          <p:nvPr/>
        </p:nvCxnSpPr>
        <p:spPr>
          <a:xfrm flipV="1">
            <a:off x="2455247" y="3738880"/>
            <a:ext cx="883726" cy="835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B25A53E1-FCE3-1D41-8173-F1C5A92C7FE2}"/>
              </a:ext>
            </a:extLst>
          </p:cNvPr>
          <p:cNvCxnSpPr/>
          <p:nvPr/>
        </p:nvCxnSpPr>
        <p:spPr>
          <a:xfrm flipV="1">
            <a:off x="2606046" y="3732849"/>
            <a:ext cx="1900293" cy="2391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66B44F8-6EE3-8D40-ABD2-B547C1D42413}"/>
              </a:ext>
            </a:extLst>
          </p:cNvPr>
          <p:cNvSpPr txBox="1"/>
          <p:nvPr/>
        </p:nvSpPr>
        <p:spPr>
          <a:xfrm>
            <a:off x="2941075" y="5666388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2,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9A313E9C-48D9-B54E-8657-A22A08AD821B}"/>
              </a:ext>
            </a:extLst>
          </p:cNvPr>
          <p:cNvSpPr txBox="1"/>
          <p:nvPr/>
        </p:nvSpPr>
        <p:spPr>
          <a:xfrm>
            <a:off x="5493072" y="4965591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1,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7110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1531" y="2232422"/>
            <a:ext cx="8643938" cy="4107656"/>
          </a:xfrm>
          <a:ln/>
        </p:spPr>
        <p:txBody>
          <a:bodyPr/>
          <a:lstStyle/>
          <a:p>
            <a:r>
              <a:rPr lang="en-US" altLang="it-IT"/>
              <a:t>Phase 2</a:t>
            </a:r>
          </a:p>
          <a:p>
            <a:pPr marL="482186" lvl="1">
              <a:spcBef>
                <a:spcPts val="1266"/>
              </a:spcBef>
            </a:pPr>
            <a:r>
              <a:rPr lang="en-US" altLang="it-IT"/>
              <a:t>3) If the proposer receives responses from a majority of the acceptors, then it can issue an accept request (ACCEPT, n , v) with number n and value v:</a:t>
            </a:r>
          </a:p>
          <a:p>
            <a:pPr marL="750067" lvl="2">
              <a:spcBef>
                <a:spcPts val="1266"/>
              </a:spcBef>
            </a:pPr>
            <a:r>
              <a:rPr lang="en-US" altLang="it-IT"/>
              <a:t>(a) n is the number that appears in the prepare request.</a:t>
            </a:r>
          </a:p>
          <a:p>
            <a:pPr marL="750067" lvl="2">
              <a:spcBef>
                <a:spcPts val="1266"/>
              </a:spcBef>
            </a:pPr>
            <a:r>
              <a:rPr lang="en-US" altLang="it-IT"/>
              <a:t>(b) v is the value of the highest-numbered proposal among the responses (or the proposer’s own proposal if none was received).</a:t>
            </a:r>
          </a:p>
        </p:txBody>
      </p:sp>
    </p:spTree>
    <p:extLst>
      <p:ext uri="{BB962C8B-B14F-4D97-AF65-F5344CB8AC3E}">
        <p14:creationId xmlns:p14="http://schemas.microsoft.com/office/powerpoint/2010/main" val="1044412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6369601-9E27-3B43-87CE-072EE92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Phase 2</a:t>
            </a:r>
            <a:endParaRPr lang="en-GB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A5D92CF-3AE9-4746-9BA1-321DD2EA0793}"/>
              </a:ext>
            </a:extLst>
          </p:cNvPr>
          <p:cNvCxnSpPr/>
          <p:nvPr/>
        </p:nvCxnSpPr>
        <p:spPr>
          <a:xfrm>
            <a:off x="1561144" y="2188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C5E204-9DC2-7A4D-871B-46F539B60E34}"/>
              </a:ext>
            </a:extLst>
          </p:cNvPr>
          <p:cNvCxnSpPr/>
          <p:nvPr/>
        </p:nvCxnSpPr>
        <p:spPr>
          <a:xfrm>
            <a:off x="1561144" y="296957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ACB36A1-A77C-E144-8430-E7B4267870EA}"/>
              </a:ext>
            </a:extLst>
          </p:cNvPr>
          <p:cNvCxnSpPr/>
          <p:nvPr/>
        </p:nvCxnSpPr>
        <p:spPr>
          <a:xfrm>
            <a:off x="1561144" y="3712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2753447-C76E-BC4C-9CF7-B3FE9D6147FB}"/>
              </a:ext>
            </a:extLst>
          </p:cNvPr>
          <p:cNvCxnSpPr/>
          <p:nvPr/>
        </p:nvCxnSpPr>
        <p:spPr>
          <a:xfrm>
            <a:off x="1539236" y="4610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99655A-A459-614F-B5AD-8A14E654EF03}"/>
              </a:ext>
            </a:extLst>
          </p:cNvPr>
          <p:cNvCxnSpPr/>
          <p:nvPr/>
        </p:nvCxnSpPr>
        <p:spPr>
          <a:xfrm>
            <a:off x="1539236" y="539115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0ECD95-2CCA-9745-9C69-6AF47B7E34E2}"/>
              </a:ext>
            </a:extLst>
          </p:cNvPr>
          <p:cNvCxnSpPr/>
          <p:nvPr/>
        </p:nvCxnSpPr>
        <p:spPr>
          <a:xfrm>
            <a:off x="1539236" y="6134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FDC47A-DA5B-6545-A792-3B1A32239C9E}"/>
              </a:ext>
            </a:extLst>
          </p:cNvPr>
          <p:cNvSpPr txBox="1"/>
          <p:nvPr/>
        </p:nvSpPr>
        <p:spPr>
          <a:xfrm>
            <a:off x="1156331" y="2005964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2A414E-6DB9-9946-B67D-FC266E572C47}"/>
              </a:ext>
            </a:extLst>
          </p:cNvPr>
          <p:cNvSpPr txBox="1"/>
          <p:nvPr/>
        </p:nvSpPr>
        <p:spPr>
          <a:xfrm>
            <a:off x="1159189" y="2798762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CD38F4-1E36-C646-B33F-FFA45C17C40C}"/>
              </a:ext>
            </a:extLst>
          </p:cNvPr>
          <p:cNvSpPr txBox="1"/>
          <p:nvPr/>
        </p:nvSpPr>
        <p:spPr>
          <a:xfrm>
            <a:off x="1159189" y="3489960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997781-544B-5142-9FEA-76A664D83442}"/>
              </a:ext>
            </a:extLst>
          </p:cNvPr>
          <p:cNvSpPr txBox="1"/>
          <p:nvPr/>
        </p:nvSpPr>
        <p:spPr>
          <a:xfrm>
            <a:off x="1153473" y="4427537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BE10E4-4F2A-714F-8A87-33F94CD178CB}"/>
              </a:ext>
            </a:extLst>
          </p:cNvPr>
          <p:cNvSpPr txBox="1"/>
          <p:nvPr/>
        </p:nvSpPr>
        <p:spPr>
          <a:xfrm>
            <a:off x="1156331" y="5220335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A819786-2C75-154F-B5AA-05DCD0A76A31}"/>
              </a:ext>
            </a:extLst>
          </p:cNvPr>
          <p:cNvSpPr txBox="1"/>
          <p:nvPr/>
        </p:nvSpPr>
        <p:spPr>
          <a:xfrm>
            <a:off x="1156331" y="5911533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3</a:t>
            </a:r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9F4B49B4-9C74-E445-994E-45259F2B7928}"/>
              </a:ext>
            </a:extLst>
          </p:cNvPr>
          <p:cNvSpPr/>
          <p:nvPr/>
        </p:nvSpPr>
        <p:spPr>
          <a:xfrm>
            <a:off x="840102" y="2005964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7169E0-D71B-0647-A388-347EA4110C83}"/>
              </a:ext>
            </a:extLst>
          </p:cNvPr>
          <p:cNvSpPr txBox="1"/>
          <p:nvPr/>
        </p:nvSpPr>
        <p:spPr>
          <a:xfrm>
            <a:off x="339462" y="2154555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PROPOSERS</a:t>
            </a:r>
          </a:p>
        </p:txBody>
      </p: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2006E558-C1F0-AD40-9591-26B9F1E07AD8}"/>
              </a:ext>
            </a:extLst>
          </p:cNvPr>
          <p:cNvSpPr/>
          <p:nvPr/>
        </p:nvSpPr>
        <p:spPr>
          <a:xfrm>
            <a:off x="874387" y="4427537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7935EF-2F4F-AF47-90A8-6734B9B4A302}"/>
              </a:ext>
            </a:extLst>
          </p:cNvPr>
          <p:cNvSpPr txBox="1"/>
          <p:nvPr/>
        </p:nvSpPr>
        <p:spPr>
          <a:xfrm>
            <a:off x="373747" y="4576128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ACCEPTORS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17571E3-6863-E548-A3D6-B480AD00E9C4}"/>
              </a:ext>
            </a:extLst>
          </p:cNvPr>
          <p:cNvSpPr txBox="1"/>
          <p:nvPr/>
        </p:nvSpPr>
        <p:spPr>
          <a:xfrm>
            <a:off x="2585336" y="4229022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2,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9A45BE71-51E9-104D-B7E7-77DB809CA03B}"/>
              </a:ext>
            </a:extLst>
          </p:cNvPr>
          <p:cNvCxnSpPr/>
          <p:nvPr/>
        </p:nvCxnSpPr>
        <p:spPr>
          <a:xfrm>
            <a:off x="1871663" y="3712528"/>
            <a:ext cx="501834" cy="897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854ADFF7-D842-B243-8EFC-179DBE015EF5}"/>
              </a:ext>
            </a:extLst>
          </p:cNvPr>
          <p:cNvCxnSpPr/>
          <p:nvPr/>
        </p:nvCxnSpPr>
        <p:spPr>
          <a:xfrm>
            <a:off x="1857375" y="3712528"/>
            <a:ext cx="684347" cy="2421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6A0F537-87A0-FF43-94B7-28C239DB9DCB}"/>
              </a:ext>
            </a:extLst>
          </p:cNvPr>
          <p:cNvSpPr txBox="1"/>
          <p:nvPr/>
        </p:nvSpPr>
        <p:spPr>
          <a:xfrm>
            <a:off x="752774" y="3885507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(PREPARE, 2)</a:t>
            </a:r>
            <a:endParaRPr lang="en-GB" baseline="-25000" dirty="0">
              <a:solidFill>
                <a:schemeClr val="accent1"/>
              </a:solidFill>
            </a:endParaRP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E2865068-FC46-8C47-9DA8-18258C30272B}"/>
              </a:ext>
            </a:extLst>
          </p:cNvPr>
          <p:cNvCxnSpPr>
            <a:cxnSpLocks/>
          </p:cNvCxnSpPr>
          <p:nvPr/>
        </p:nvCxnSpPr>
        <p:spPr>
          <a:xfrm flipV="1">
            <a:off x="2455247" y="3738880"/>
            <a:ext cx="883726" cy="835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B25A53E1-FCE3-1D41-8173-F1C5A92C7FE2}"/>
              </a:ext>
            </a:extLst>
          </p:cNvPr>
          <p:cNvCxnSpPr/>
          <p:nvPr/>
        </p:nvCxnSpPr>
        <p:spPr>
          <a:xfrm flipV="1">
            <a:off x="2606046" y="3732849"/>
            <a:ext cx="1900293" cy="2391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66B44F8-6EE3-8D40-ABD2-B547C1D42413}"/>
              </a:ext>
            </a:extLst>
          </p:cNvPr>
          <p:cNvSpPr txBox="1"/>
          <p:nvPr/>
        </p:nvSpPr>
        <p:spPr>
          <a:xfrm>
            <a:off x="2941075" y="5666388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2,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79908F2-BDE0-0646-A396-44B00FF3374F}"/>
              </a:ext>
            </a:extLst>
          </p:cNvPr>
          <p:cNvCxnSpPr>
            <a:cxnSpLocks/>
          </p:cNvCxnSpPr>
          <p:nvPr/>
        </p:nvCxnSpPr>
        <p:spPr>
          <a:xfrm>
            <a:off x="4633993" y="3732849"/>
            <a:ext cx="859079" cy="865504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5DF97CA-2D36-1246-BF53-26F38D134563}"/>
              </a:ext>
            </a:extLst>
          </p:cNvPr>
          <p:cNvSpPr txBox="1"/>
          <p:nvPr/>
        </p:nvSpPr>
        <p:spPr>
          <a:xfrm>
            <a:off x="5035397" y="3895093"/>
            <a:ext cx="1570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(ACCEPT 2, v)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C2C5C9E7-7691-834F-8464-97788794C01C}"/>
              </a:ext>
            </a:extLst>
          </p:cNvPr>
          <p:cNvCxnSpPr>
            <a:cxnSpLocks/>
          </p:cNvCxnSpPr>
          <p:nvPr/>
        </p:nvCxnSpPr>
        <p:spPr>
          <a:xfrm>
            <a:off x="4633993" y="3732849"/>
            <a:ext cx="2754334" cy="167846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48549CE2-0CBD-5D48-A7D3-DF911284846A}"/>
              </a:ext>
            </a:extLst>
          </p:cNvPr>
          <p:cNvCxnSpPr/>
          <p:nvPr/>
        </p:nvCxnSpPr>
        <p:spPr>
          <a:xfrm>
            <a:off x="4633993" y="3732849"/>
            <a:ext cx="1148630" cy="24276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D06C7223-9322-114B-9B9A-03E4AC90D508}"/>
              </a:ext>
            </a:extLst>
          </p:cNvPr>
          <p:cNvCxnSpPr/>
          <p:nvPr/>
        </p:nvCxnSpPr>
        <p:spPr>
          <a:xfrm>
            <a:off x="1871663" y="3712528"/>
            <a:ext cx="583584" cy="1384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losione 1 33">
            <a:extLst>
              <a:ext uri="{FF2B5EF4-FFF2-40B4-BE49-F238E27FC236}">
                <a16:creationId xmlns:a16="http://schemas.microsoft.com/office/drawing/2014/main" id="{DB53AAC3-767D-A642-8265-3799DBFE9AC5}"/>
              </a:ext>
            </a:extLst>
          </p:cNvPr>
          <p:cNvSpPr/>
          <p:nvPr/>
        </p:nvSpPr>
        <p:spPr>
          <a:xfrm>
            <a:off x="2288116" y="4794675"/>
            <a:ext cx="357193" cy="38766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769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it-IT"/>
              <a:t>Phase 2</a:t>
            </a:r>
          </a:p>
          <a:p>
            <a:pPr marL="482186" lvl="1">
              <a:spcBef>
                <a:spcPts val="1266"/>
              </a:spcBef>
            </a:pPr>
            <a:r>
              <a:rPr lang="en-US" altLang="it-IT"/>
              <a:t>4)  If the acceptor receives an accept request (ACCEPT, n , v) , it accepts the proposal unless it has already responded to a prepare request having a number greater than n.</a:t>
            </a:r>
          </a:p>
        </p:txBody>
      </p:sp>
    </p:spTree>
    <p:extLst>
      <p:ext uri="{BB962C8B-B14F-4D97-AF65-F5344CB8AC3E}">
        <p14:creationId xmlns:p14="http://schemas.microsoft.com/office/powerpoint/2010/main" val="2062519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/>
            <a:r>
              <a:rPr lang="en-US" altLang="it-IT" dirty="0"/>
              <a:t>Learning the decided value</a:t>
            </a:r>
          </a:p>
          <a:p>
            <a:pPr marL="482186" lvl="1" algn="just">
              <a:spcBef>
                <a:spcPts val="1266"/>
              </a:spcBef>
            </a:pPr>
            <a:r>
              <a:rPr lang="en-US" altLang="it-IT" dirty="0"/>
              <a:t> Whenever acceptor accepts a proposal, respond to all learners (ACCEPT, n, v).</a:t>
            </a:r>
          </a:p>
          <a:p>
            <a:pPr marL="482186" lvl="1" algn="just">
              <a:spcBef>
                <a:spcPts val="1266"/>
              </a:spcBef>
            </a:pPr>
            <a:r>
              <a:rPr lang="en-US" altLang="it-IT" dirty="0"/>
              <a:t>Learner receives (ACCEPT, n, v) from a majority of acceptors, decides v, and sends (DECIDE, v) to all other learners.</a:t>
            </a:r>
          </a:p>
          <a:p>
            <a:pPr marL="482186" lvl="1" algn="just">
              <a:spcBef>
                <a:spcPts val="1266"/>
              </a:spcBef>
            </a:pPr>
            <a:r>
              <a:rPr lang="en-US" altLang="it-IT" dirty="0"/>
              <a:t>Learners receive (DECIDE, v), decide v</a:t>
            </a:r>
          </a:p>
        </p:txBody>
      </p:sp>
    </p:spTree>
    <p:extLst>
      <p:ext uri="{BB962C8B-B14F-4D97-AF65-F5344CB8AC3E}">
        <p14:creationId xmlns:p14="http://schemas.microsoft.com/office/powerpoint/2010/main" val="86744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6369601-9E27-3B43-87CE-072EE92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Phase 2</a:t>
            </a:r>
            <a:endParaRPr lang="en-GB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A5D92CF-3AE9-4746-9BA1-321DD2EA0793}"/>
              </a:ext>
            </a:extLst>
          </p:cNvPr>
          <p:cNvCxnSpPr/>
          <p:nvPr/>
        </p:nvCxnSpPr>
        <p:spPr>
          <a:xfrm>
            <a:off x="1561144" y="2188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C5E204-9DC2-7A4D-871B-46F539B60E34}"/>
              </a:ext>
            </a:extLst>
          </p:cNvPr>
          <p:cNvCxnSpPr/>
          <p:nvPr/>
        </p:nvCxnSpPr>
        <p:spPr>
          <a:xfrm>
            <a:off x="1561144" y="296957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ACB36A1-A77C-E144-8430-E7B4267870EA}"/>
              </a:ext>
            </a:extLst>
          </p:cNvPr>
          <p:cNvCxnSpPr/>
          <p:nvPr/>
        </p:nvCxnSpPr>
        <p:spPr>
          <a:xfrm>
            <a:off x="1561144" y="3712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2753447-C76E-BC4C-9CF7-B3FE9D6147FB}"/>
              </a:ext>
            </a:extLst>
          </p:cNvPr>
          <p:cNvCxnSpPr/>
          <p:nvPr/>
        </p:nvCxnSpPr>
        <p:spPr>
          <a:xfrm>
            <a:off x="1539236" y="4610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99655A-A459-614F-B5AD-8A14E654EF03}"/>
              </a:ext>
            </a:extLst>
          </p:cNvPr>
          <p:cNvCxnSpPr/>
          <p:nvPr/>
        </p:nvCxnSpPr>
        <p:spPr>
          <a:xfrm>
            <a:off x="1539236" y="539115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0ECD95-2CCA-9745-9C69-6AF47B7E34E2}"/>
              </a:ext>
            </a:extLst>
          </p:cNvPr>
          <p:cNvCxnSpPr/>
          <p:nvPr/>
        </p:nvCxnSpPr>
        <p:spPr>
          <a:xfrm>
            <a:off x="1539236" y="6134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FDC47A-DA5B-6545-A792-3B1A32239C9E}"/>
              </a:ext>
            </a:extLst>
          </p:cNvPr>
          <p:cNvSpPr txBox="1"/>
          <p:nvPr/>
        </p:nvSpPr>
        <p:spPr>
          <a:xfrm>
            <a:off x="1156331" y="2005964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2A414E-6DB9-9946-B67D-FC266E572C47}"/>
              </a:ext>
            </a:extLst>
          </p:cNvPr>
          <p:cNvSpPr txBox="1"/>
          <p:nvPr/>
        </p:nvSpPr>
        <p:spPr>
          <a:xfrm>
            <a:off x="1159189" y="2798762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CD38F4-1E36-C646-B33F-FFA45C17C40C}"/>
              </a:ext>
            </a:extLst>
          </p:cNvPr>
          <p:cNvSpPr txBox="1"/>
          <p:nvPr/>
        </p:nvSpPr>
        <p:spPr>
          <a:xfrm>
            <a:off x="1159189" y="3489960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997781-544B-5142-9FEA-76A664D83442}"/>
              </a:ext>
            </a:extLst>
          </p:cNvPr>
          <p:cNvSpPr txBox="1"/>
          <p:nvPr/>
        </p:nvSpPr>
        <p:spPr>
          <a:xfrm>
            <a:off x="1153473" y="4427537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BE10E4-4F2A-714F-8A87-33F94CD178CB}"/>
              </a:ext>
            </a:extLst>
          </p:cNvPr>
          <p:cNvSpPr txBox="1"/>
          <p:nvPr/>
        </p:nvSpPr>
        <p:spPr>
          <a:xfrm>
            <a:off x="1156331" y="5220335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A819786-2C75-154F-B5AA-05DCD0A76A31}"/>
              </a:ext>
            </a:extLst>
          </p:cNvPr>
          <p:cNvSpPr txBox="1"/>
          <p:nvPr/>
        </p:nvSpPr>
        <p:spPr>
          <a:xfrm>
            <a:off x="1156331" y="5911533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3</a:t>
            </a:r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9F4B49B4-9C74-E445-994E-45259F2B7928}"/>
              </a:ext>
            </a:extLst>
          </p:cNvPr>
          <p:cNvSpPr/>
          <p:nvPr/>
        </p:nvSpPr>
        <p:spPr>
          <a:xfrm>
            <a:off x="840102" y="2005964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7169E0-D71B-0647-A388-347EA4110C83}"/>
              </a:ext>
            </a:extLst>
          </p:cNvPr>
          <p:cNvSpPr txBox="1"/>
          <p:nvPr/>
        </p:nvSpPr>
        <p:spPr>
          <a:xfrm>
            <a:off x="339462" y="2154555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PROPOSERS</a:t>
            </a:r>
          </a:p>
        </p:txBody>
      </p: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2006E558-C1F0-AD40-9591-26B9F1E07AD8}"/>
              </a:ext>
            </a:extLst>
          </p:cNvPr>
          <p:cNvSpPr/>
          <p:nvPr/>
        </p:nvSpPr>
        <p:spPr>
          <a:xfrm>
            <a:off x="874387" y="4427537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7935EF-2F4F-AF47-90A8-6734B9B4A302}"/>
              </a:ext>
            </a:extLst>
          </p:cNvPr>
          <p:cNvSpPr txBox="1"/>
          <p:nvPr/>
        </p:nvSpPr>
        <p:spPr>
          <a:xfrm>
            <a:off x="373747" y="4576128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ACCEPTORS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17571E3-6863-E548-A3D6-B480AD00E9C4}"/>
              </a:ext>
            </a:extLst>
          </p:cNvPr>
          <p:cNvSpPr txBox="1"/>
          <p:nvPr/>
        </p:nvSpPr>
        <p:spPr>
          <a:xfrm>
            <a:off x="2585336" y="4229022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2,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9A45BE71-51E9-104D-B7E7-77DB809CA03B}"/>
              </a:ext>
            </a:extLst>
          </p:cNvPr>
          <p:cNvCxnSpPr/>
          <p:nvPr/>
        </p:nvCxnSpPr>
        <p:spPr>
          <a:xfrm>
            <a:off x="1871663" y="3712528"/>
            <a:ext cx="501834" cy="897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854ADFF7-D842-B243-8EFC-179DBE015EF5}"/>
              </a:ext>
            </a:extLst>
          </p:cNvPr>
          <p:cNvCxnSpPr/>
          <p:nvPr/>
        </p:nvCxnSpPr>
        <p:spPr>
          <a:xfrm>
            <a:off x="1857375" y="3712528"/>
            <a:ext cx="684347" cy="2421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6A0F537-87A0-FF43-94B7-28C239DB9DCB}"/>
              </a:ext>
            </a:extLst>
          </p:cNvPr>
          <p:cNvSpPr txBox="1"/>
          <p:nvPr/>
        </p:nvSpPr>
        <p:spPr>
          <a:xfrm>
            <a:off x="752774" y="3885507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(PREPARE, 2)</a:t>
            </a:r>
            <a:endParaRPr lang="en-GB" baseline="-25000" dirty="0">
              <a:solidFill>
                <a:schemeClr val="accent1"/>
              </a:solidFill>
            </a:endParaRP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E2865068-FC46-8C47-9DA8-18258C30272B}"/>
              </a:ext>
            </a:extLst>
          </p:cNvPr>
          <p:cNvCxnSpPr>
            <a:cxnSpLocks/>
          </p:cNvCxnSpPr>
          <p:nvPr/>
        </p:nvCxnSpPr>
        <p:spPr>
          <a:xfrm flipV="1">
            <a:off x="2455247" y="3738880"/>
            <a:ext cx="883726" cy="835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B25A53E1-FCE3-1D41-8173-F1C5A92C7FE2}"/>
              </a:ext>
            </a:extLst>
          </p:cNvPr>
          <p:cNvCxnSpPr/>
          <p:nvPr/>
        </p:nvCxnSpPr>
        <p:spPr>
          <a:xfrm flipV="1">
            <a:off x="2606046" y="3732849"/>
            <a:ext cx="1900293" cy="2391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66B44F8-6EE3-8D40-ABD2-B547C1D42413}"/>
              </a:ext>
            </a:extLst>
          </p:cNvPr>
          <p:cNvSpPr txBox="1"/>
          <p:nvPr/>
        </p:nvSpPr>
        <p:spPr>
          <a:xfrm>
            <a:off x="2941075" y="5666388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2,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79908F2-BDE0-0646-A396-44B00FF3374F}"/>
              </a:ext>
            </a:extLst>
          </p:cNvPr>
          <p:cNvCxnSpPr>
            <a:cxnSpLocks/>
          </p:cNvCxnSpPr>
          <p:nvPr/>
        </p:nvCxnSpPr>
        <p:spPr>
          <a:xfrm>
            <a:off x="4633993" y="3732849"/>
            <a:ext cx="859079" cy="865504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5DF97CA-2D36-1246-BF53-26F38D134563}"/>
              </a:ext>
            </a:extLst>
          </p:cNvPr>
          <p:cNvSpPr txBox="1"/>
          <p:nvPr/>
        </p:nvSpPr>
        <p:spPr>
          <a:xfrm>
            <a:off x="5035397" y="3895093"/>
            <a:ext cx="1570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(ACCEPT 2, v)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C2C5C9E7-7691-834F-8464-97788794C01C}"/>
              </a:ext>
            </a:extLst>
          </p:cNvPr>
          <p:cNvCxnSpPr/>
          <p:nvPr/>
        </p:nvCxnSpPr>
        <p:spPr>
          <a:xfrm>
            <a:off x="4596043" y="3732848"/>
            <a:ext cx="2792284" cy="1678464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48549CE2-0CBD-5D48-A7D3-DF911284846A}"/>
              </a:ext>
            </a:extLst>
          </p:cNvPr>
          <p:cNvCxnSpPr/>
          <p:nvPr/>
        </p:nvCxnSpPr>
        <p:spPr>
          <a:xfrm>
            <a:off x="4633993" y="3732849"/>
            <a:ext cx="1148630" cy="24276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3BBB0A5E-7B9C-4F47-BDAB-B2F3DFD787D7}"/>
              </a:ext>
            </a:extLst>
          </p:cNvPr>
          <p:cNvCxnSpPr/>
          <p:nvPr/>
        </p:nvCxnSpPr>
        <p:spPr>
          <a:xfrm>
            <a:off x="7403825" y="5142845"/>
            <a:ext cx="0" cy="44605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6D22928-5C82-094B-8063-28FDE0EB433D}"/>
              </a:ext>
            </a:extLst>
          </p:cNvPr>
          <p:cNvSpPr txBox="1"/>
          <p:nvPr/>
        </p:nvSpPr>
        <p:spPr>
          <a:xfrm>
            <a:off x="7478031" y="5069680"/>
            <a:ext cx="1570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(ACCEPT 2, v)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ACE3E671-9784-A64E-8E06-FAA354391F15}"/>
              </a:ext>
            </a:extLst>
          </p:cNvPr>
          <p:cNvCxnSpPr/>
          <p:nvPr/>
        </p:nvCxnSpPr>
        <p:spPr>
          <a:xfrm>
            <a:off x="5922256" y="5880343"/>
            <a:ext cx="0" cy="44605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B2D476FE-5CF1-8844-B353-CA9AAD19DCE5}"/>
              </a:ext>
            </a:extLst>
          </p:cNvPr>
          <p:cNvSpPr txBox="1"/>
          <p:nvPr/>
        </p:nvSpPr>
        <p:spPr>
          <a:xfrm>
            <a:off x="5996462" y="5807178"/>
            <a:ext cx="1570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(ACCEPT 2, v)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02859C46-4E3E-B44B-940E-B1E0D2A561E2}"/>
              </a:ext>
            </a:extLst>
          </p:cNvPr>
          <p:cNvCxnSpPr/>
          <p:nvPr/>
        </p:nvCxnSpPr>
        <p:spPr>
          <a:xfrm>
            <a:off x="5574279" y="4379735"/>
            <a:ext cx="0" cy="44605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CE70F880-218A-DE48-8D43-7DD3E7DBB0C5}"/>
              </a:ext>
            </a:extLst>
          </p:cNvPr>
          <p:cNvSpPr txBox="1"/>
          <p:nvPr/>
        </p:nvSpPr>
        <p:spPr>
          <a:xfrm>
            <a:off x="5648485" y="4306570"/>
            <a:ext cx="1570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(ACCEPT 2, v)</a:t>
            </a:r>
          </a:p>
        </p:txBody>
      </p:sp>
      <p:sp>
        <p:nvSpPr>
          <p:cNvPr id="5" name="Figura a mano libera 4">
            <a:extLst>
              <a:ext uri="{FF2B5EF4-FFF2-40B4-BE49-F238E27FC236}">
                <a16:creationId xmlns:a16="http://schemas.microsoft.com/office/drawing/2014/main" id="{14CC980F-F4F7-DC47-B4F8-A885A8F6E726}"/>
              </a:ext>
            </a:extLst>
          </p:cNvPr>
          <p:cNvSpPr/>
          <p:nvPr/>
        </p:nvSpPr>
        <p:spPr>
          <a:xfrm>
            <a:off x="8657661" y="1713713"/>
            <a:ext cx="376607" cy="4539452"/>
          </a:xfrm>
          <a:custGeom>
            <a:avLst/>
            <a:gdLst>
              <a:gd name="connsiteX0" fmla="*/ 159596 w 376607"/>
              <a:gd name="connsiteY0" fmla="*/ 15254 h 1999037"/>
              <a:gd name="connsiteX1" fmla="*/ 113101 w 376607"/>
              <a:gd name="connsiteY1" fmla="*/ 46250 h 1999037"/>
              <a:gd name="connsiteX2" fmla="*/ 4613 w 376607"/>
              <a:gd name="connsiteY2" fmla="*/ 402711 h 1999037"/>
              <a:gd name="connsiteX3" fmla="*/ 283582 w 376607"/>
              <a:gd name="connsiteY3" fmla="*/ 557694 h 1999037"/>
              <a:gd name="connsiteX4" fmla="*/ 82104 w 376607"/>
              <a:gd name="connsiteY4" fmla="*/ 728176 h 1999037"/>
              <a:gd name="connsiteX5" fmla="*/ 314579 w 376607"/>
              <a:gd name="connsiteY5" fmla="*/ 852162 h 1999037"/>
              <a:gd name="connsiteX6" fmla="*/ 66606 w 376607"/>
              <a:gd name="connsiteY6" fmla="*/ 1007145 h 1999037"/>
              <a:gd name="connsiteX7" fmla="*/ 330077 w 376607"/>
              <a:gd name="connsiteY7" fmla="*/ 1100135 h 1999037"/>
              <a:gd name="connsiteX8" fmla="*/ 82104 w 376607"/>
              <a:gd name="connsiteY8" fmla="*/ 1239620 h 1999037"/>
              <a:gd name="connsiteX9" fmla="*/ 299081 w 376607"/>
              <a:gd name="connsiteY9" fmla="*/ 1332609 h 1999037"/>
              <a:gd name="connsiteX10" fmla="*/ 82104 w 376607"/>
              <a:gd name="connsiteY10" fmla="*/ 1441098 h 1999037"/>
              <a:gd name="connsiteX11" fmla="*/ 330077 w 376607"/>
              <a:gd name="connsiteY11" fmla="*/ 1565084 h 1999037"/>
              <a:gd name="connsiteX12" fmla="*/ 82104 w 376607"/>
              <a:gd name="connsiteY12" fmla="*/ 1658074 h 1999037"/>
              <a:gd name="connsiteX13" fmla="*/ 361074 w 376607"/>
              <a:gd name="connsiteY13" fmla="*/ 1751064 h 1999037"/>
              <a:gd name="connsiteX14" fmla="*/ 82104 w 376607"/>
              <a:gd name="connsiteY14" fmla="*/ 1844054 h 1999037"/>
              <a:gd name="connsiteX15" fmla="*/ 376572 w 376607"/>
              <a:gd name="connsiteY15" fmla="*/ 1952542 h 1999037"/>
              <a:gd name="connsiteX16" fmla="*/ 97603 w 376607"/>
              <a:gd name="connsiteY16" fmla="*/ 1999037 h 199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6607" h="1999037">
                <a:moveTo>
                  <a:pt x="159596" y="15254"/>
                </a:moveTo>
                <a:cubicBezTo>
                  <a:pt x="149263" y="-1536"/>
                  <a:pt x="138931" y="-18326"/>
                  <a:pt x="113101" y="46250"/>
                </a:cubicBezTo>
                <a:cubicBezTo>
                  <a:pt x="87270" y="110826"/>
                  <a:pt x="-23800" y="317470"/>
                  <a:pt x="4613" y="402711"/>
                </a:cubicBezTo>
                <a:cubicBezTo>
                  <a:pt x="33026" y="487952"/>
                  <a:pt x="270667" y="503450"/>
                  <a:pt x="283582" y="557694"/>
                </a:cubicBezTo>
                <a:cubicBezTo>
                  <a:pt x="296497" y="611938"/>
                  <a:pt x="76938" y="679098"/>
                  <a:pt x="82104" y="728176"/>
                </a:cubicBezTo>
                <a:cubicBezTo>
                  <a:pt x="87270" y="777254"/>
                  <a:pt x="317162" y="805667"/>
                  <a:pt x="314579" y="852162"/>
                </a:cubicBezTo>
                <a:cubicBezTo>
                  <a:pt x="311996" y="898657"/>
                  <a:pt x="64023" y="965816"/>
                  <a:pt x="66606" y="1007145"/>
                </a:cubicBezTo>
                <a:cubicBezTo>
                  <a:pt x="69189" y="1048474"/>
                  <a:pt x="327494" y="1061389"/>
                  <a:pt x="330077" y="1100135"/>
                </a:cubicBezTo>
                <a:cubicBezTo>
                  <a:pt x="332660" y="1138881"/>
                  <a:pt x="87270" y="1200874"/>
                  <a:pt x="82104" y="1239620"/>
                </a:cubicBezTo>
                <a:cubicBezTo>
                  <a:pt x="76938" y="1278366"/>
                  <a:pt x="299081" y="1299029"/>
                  <a:pt x="299081" y="1332609"/>
                </a:cubicBezTo>
                <a:cubicBezTo>
                  <a:pt x="299081" y="1366189"/>
                  <a:pt x="76938" y="1402352"/>
                  <a:pt x="82104" y="1441098"/>
                </a:cubicBezTo>
                <a:cubicBezTo>
                  <a:pt x="87270" y="1479844"/>
                  <a:pt x="330077" y="1528921"/>
                  <a:pt x="330077" y="1565084"/>
                </a:cubicBezTo>
                <a:cubicBezTo>
                  <a:pt x="330077" y="1601247"/>
                  <a:pt x="76938" y="1627077"/>
                  <a:pt x="82104" y="1658074"/>
                </a:cubicBezTo>
                <a:cubicBezTo>
                  <a:pt x="87270" y="1689071"/>
                  <a:pt x="361074" y="1720067"/>
                  <a:pt x="361074" y="1751064"/>
                </a:cubicBezTo>
                <a:cubicBezTo>
                  <a:pt x="361074" y="1782061"/>
                  <a:pt x="79521" y="1810474"/>
                  <a:pt x="82104" y="1844054"/>
                </a:cubicBezTo>
                <a:cubicBezTo>
                  <a:pt x="84687" y="1877634"/>
                  <a:pt x="373989" y="1926712"/>
                  <a:pt x="376572" y="1952542"/>
                </a:cubicBezTo>
                <a:cubicBezTo>
                  <a:pt x="379155" y="1978372"/>
                  <a:pt x="238379" y="1988704"/>
                  <a:pt x="97603" y="1999037"/>
                </a:cubicBezTo>
              </a:path>
            </a:pathLst>
          </a:cu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66F67CBC-49AD-E644-86E4-752890F8A534}"/>
              </a:ext>
            </a:extLst>
          </p:cNvPr>
          <p:cNvCxnSpPr/>
          <p:nvPr/>
        </p:nvCxnSpPr>
        <p:spPr>
          <a:xfrm>
            <a:off x="8976268" y="4359258"/>
            <a:ext cx="0" cy="44605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4E882BF8-5C6F-DB4D-9F8C-24FF2E5E36BD}"/>
              </a:ext>
            </a:extLst>
          </p:cNvPr>
          <p:cNvSpPr txBox="1"/>
          <p:nvPr/>
        </p:nvSpPr>
        <p:spPr>
          <a:xfrm>
            <a:off x="9050474" y="4286093"/>
            <a:ext cx="1570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(DECIDE v)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39B6538B-0BDF-3942-B3F0-586E45F5B3AC}"/>
              </a:ext>
            </a:extLst>
          </p:cNvPr>
          <p:cNvCxnSpPr/>
          <p:nvPr/>
        </p:nvCxnSpPr>
        <p:spPr>
          <a:xfrm>
            <a:off x="9096852" y="5142845"/>
            <a:ext cx="0" cy="44605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1EA9C54-1720-CD45-813A-2FBD9F7BA79E}"/>
              </a:ext>
            </a:extLst>
          </p:cNvPr>
          <p:cNvSpPr txBox="1"/>
          <p:nvPr/>
        </p:nvSpPr>
        <p:spPr>
          <a:xfrm>
            <a:off x="9171058" y="5069680"/>
            <a:ext cx="1570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(DECIDE v)</a:t>
            </a:r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FCD31E0A-A4E3-344D-93BD-CB76B4D683AC}"/>
              </a:ext>
            </a:extLst>
          </p:cNvPr>
          <p:cNvCxnSpPr/>
          <p:nvPr/>
        </p:nvCxnSpPr>
        <p:spPr>
          <a:xfrm>
            <a:off x="9105534" y="5904570"/>
            <a:ext cx="0" cy="44605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DFAE48A0-5A2C-B240-BA8F-542B9F10C4D2}"/>
              </a:ext>
            </a:extLst>
          </p:cNvPr>
          <p:cNvSpPr txBox="1"/>
          <p:nvPr/>
        </p:nvSpPr>
        <p:spPr>
          <a:xfrm>
            <a:off x="9179740" y="5831405"/>
            <a:ext cx="1570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(DECIDE v)</a:t>
            </a:r>
          </a:p>
        </p:txBody>
      </p:sp>
    </p:spTree>
    <p:extLst>
      <p:ext uri="{BB962C8B-B14F-4D97-AF65-F5344CB8AC3E}">
        <p14:creationId xmlns:p14="http://schemas.microsoft.com/office/powerpoint/2010/main" val="878765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it-IT"/>
              <a:t>Run example:</a:t>
            </a: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66" y="2238454"/>
            <a:ext cx="8331398" cy="4010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613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6369601-9E27-3B43-87CE-072EE92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/>
              <a:t>Paxos</a:t>
            </a:r>
            <a:r>
              <a:rPr lang="en-US" altLang="it-IT" dirty="0"/>
              <a:t>: liveness</a:t>
            </a:r>
            <a:endParaRPr lang="en-GB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A5D92CF-3AE9-4746-9BA1-321DD2EA0793}"/>
              </a:ext>
            </a:extLst>
          </p:cNvPr>
          <p:cNvCxnSpPr/>
          <p:nvPr/>
        </p:nvCxnSpPr>
        <p:spPr>
          <a:xfrm>
            <a:off x="1561144" y="218852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C5E204-9DC2-7A4D-871B-46F539B60E34}"/>
              </a:ext>
            </a:extLst>
          </p:cNvPr>
          <p:cNvCxnSpPr/>
          <p:nvPr/>
        </p:nvCxnSpPr>
        <p:spPr>
          <a:xfrm>
            <a:off x="1561144" y="2969578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2753447-C76E-BC4C-9CF7-B3FE9D6147FB}"/>
              </a:ext>
            </a:extLst>
          </p:cNvPr>
          <p:cNvCxnSpPr/>
          <p:nvPr/>
        </p:nvCxnSpPr>
        <p:spPr>
          <a:xfrm>
            <a:off x="1539236" y="4610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99655A-A459-614F-B5AD-8A14E654EF03}"/>
              </a:ext>
            </a:extLst>
          </p:cNvPr>
          <p:cNvCxnSpPr/>
          <p:nvPr/>
        </p:nvCxnSpPr>
        <p:spPr>
          <a:xfrm>
            <a:off x="1539236" y="539115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0ECD95-2CCA-9745-9C69-6AF47B7E34E2}"/>
              </a:ext>
            </a:extLst>
          </p:cNvPr>
          <p:cNvCxnSpPr/>
          <p:nvPr/>
        </p:nvCxnSpPr>
        <p:spPr>
          <a:xfrm>
            <a:off x="1539236" y="6134101"/>
            <a:ext cx="848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FDC47A-DA5B-6545-A792-3B1A32239C9E}"/>
              </a:ext>
            </a:extLst>
          </p:cNvPr>
          <p:cNvSpPr txBox="1"/>
          <p:nvPr/>
        </p:nvSpPr>
        <p:spPr>
          <a:xfrm>
            <a:off x="1156331" y="2005964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22A414E-6DB9-9946-B67D-FC266E572C47}"/>
              </a:ext>
            </a:extLst>
          </p:cNvPr>
          <p:cNvSpPr txBox="1"/>
          <p:nvPr/>
        </p:nvSpPr>
        <p:spPr>
          <a:xfrm>
            <a:off x="1159189" y="2798762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997781-544B-5142-9FEA-76A664D83442}"/>
              </a:ext>
            </a:extLst>
          </p:cNvPr>
          <p:cNvSpPr txBox="1"/>
          <p:nvPr/>
        </p:nvSpPr>
        <p:spPr>
          <a:xfrm>
            <a:off x="1153473" y="4427537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BE10E4-4F2A-714F-8A87-33F94CD178CB}"/>
              </a:ext>
            </a:extLst>
          </p:cNvPr>
          <p:cNvSpPr txBox="1"/>
          <p:nvPr/>
        </p:nvSpPr>
        <p:spPr>
          <a:xfrm>
            <a:off x="1156331" y="5220335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A819786-2C75-154F-B5AA-05DCD0A76A31}"/>
              </a:ext>
            </a:extLst>
          </p:cNvPr>
          <p:cNvSpPr txBox="1"/>
          <p:nvPr/>
        </p:nvSpPr>
        <p:spPr>
          <a:xfrm>
            <a:off x="1156331" y="5911533"/>
            <a:ext cx="3829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GB" baseline="-25000" dirty="0"/>
              <a:t>3</a:t>
            </a:r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9F4B49B4-9C74-E445-994E-45259F2B7928}"/>
              </a:ext>
            </a:extLst>
          </p:cNvPr>
          <p:cNvSpPr/>
          <p:nvPr/>
        </p:nvSpPr>
        <p:spPr>
          <a:xfrm>
            <a:off x="840103" y="2005964"/>
            <a:ext cx="176394" cy="113443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7169E0-D71B-0647-A388-347EA4110C83}"/>
              </a:ext>
            </a:extLst>
          </p:cNvPr>
          <p:cNvSpPr txBox="1"/>
          <p:nvPr/>
        </p:nvSpPr>
        <p:spPr>
          <a:xfrm>
            <a:off x="370330" y="1689464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PROPOSERS</a:t>
            </a:r>
          </a:p>
        </p:txBody>
      </p: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2006E558-C1F0-AD40-9591-26B9F1E07AD8}"/>
              </a:ext>
            </a:extLst>
          </p:cNvPr>
          <p:cNvSpPr/>
          <p:nvPr/>
        </p:nvSpPr>
        <p:spPr>
          <a:xfrm>
            <a:off x="874387" y="4427537"/>
            <a:ext cx="185737" cy="1825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7935EF-2F4F-AF47-90A8-6734B9B4A302}"/>
              </a:ext>
            </a:extLst>
          </p:cNvPr>
          <p:cNvSpPr txBox="1"/>
          <p:nvPr/>
        </p:nvSpPr>
        <p:spPr>
          <a:xfrm>
            <a:off x="373747" y="4576128"/>
            <a:ext cx="433965" cy="15062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ACCEPTORS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143577A-C2C5-C44F-85A1-0DF65367C662}"/>
              </a:ext>
            </a:extLst>
          </p:cNvPr>
          <p:cNvSpPr txBox="1"/>
          <p:nvPr/>
        </p:nvSpPr>
        <p:spPr>
          <a:xfrm>
            <a:off x="1782305" y="1907129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(PREPARE, 1)</a:t>
            </a:r>
            <a:endParaRPr lang="en-GB" baseline="-25000" dirty="0">
              <a:solidFill>
                <a:schemeClr val="accent1"/>
              </a:solidFill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17571E3-6863-E548-A3D6-B480AD00E9C4}"/>
              </a:ext>
            </a:extLst>
          </p:cNvPr>
          <p:cNvSpPr txBox="1"/>
          <p:nvPr/>
        </p:nvSpPr>
        <p:spPr>
          <a:xfrm>
            <a:off x="4786688" y="5042827"/>
            <a:ext cx="14132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(NACK, 2)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6A0F537-87A0-FF43-94B7-28C239DB9DCB}"/>
              </a:ext>
            </a:extLst>
          </p:cNvPr>
          <p:cNvSpPr txBox="1"/>
          <p:nvPr/>
        </p:nvSpPr>
        <p:spPr>
          <a:xfrm>
            <a:off x="2081219" y="2659816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(PREPARE, 2)</a:t>
            </a:r>
            <a:endParaRPr lang="en-GB" baseline="-25000" dirty="0">
              <a:solidFill>
                <a:schemeClr val="accent4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9A313E9C-48D9-B54E-8657-A22A08AD821B}"/>
              </a:ext>
            </a:extLst>
          </p:cNvPr>
          <p:cNvSpPr txBox="1"/>
          <p:nvPr/>
        </p:nvSpPr>
        <p:spPr>
          <a:xfrm>
            <a:off x="2707269" y="3905559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(ACK, 1,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, </a:t>
            </a:r>
            <a:r>
              <a:rPr lang="en-US" altLang="it-IT" sz="1800" dirty="0">
                <a:ea typeface="Apple Symbols" charset="0"/>
                <a:cs typeface="Apple Symbols" charset="0"/>
              </a:rPr>
              <a:t>⊥</a:t>
            </a:r>
            <a:r>
              <a:rPr lang="en-GB" dirty="0"/>
              <a:t>)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BE85DBD-9876-414E-A648-CA1F61A23FF6}"/>
              </a:ext>
            </a:extLst>
          </p:cNvPr>
          <p:cNvSpPr txBox="1"/>
          <p:nvPr/>
        </p:nvSpPr>
        <p:spPr>
          <a:xfrm>
            <a:off x="4172608" y="4182508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>
                <a:solidFill>
                  <a:schemeClr val="accent4"/>
                </a:solidFill>
              </a:rPr>
              <a:t>(ACK, 2, </a:t>
            </a:r>
            <a:r>
              <a:rPr lang="en-US" altLang="it-IT" sz="1800" dirty="0">
                <a:solidFill>
                  <a:schemeClr val="accent4"/>
                </a:solidFill>
                <a:ea typeface="Apple Symbols" charset="0"/>
                <a:cs typeface="Apple Symbols" charset="0"/>
              </a:rPr>
              <a:t>⊥</a:t>
            </a:r>
            <a:r>
              <a:rPr lang="en-GB" dirty="0">
                <a:solidFill>
                  <a:schemeClr val="accent4"/>
                </a:solidFill>
              </a:rPr>
              <a:t>, </a:t>
            </a:r>
            <a:r>
              <a:rPr lang="en-US" altLang="it-IT" sz="1800" dirty="0">
                <a:solidFill>
                  <a:schemeClr val="accent4"/>
                </a:solidFill>
                <a:ea typeface="Apple Symbols" charset="0"/>
                <a:cs typeface="Apple Symbols" charset="0"/>
              </a:rPr>
              <a:t>⊥</a:t>
            </a:r>
            <a:r>
              <a:rPr lang="en-GB" dirty="0">
                <a:solidFill>
                  <a:schemeClr val="accent4"/>
                </a:solidFill>
              </a:rPr>
              <a:t>)</a:t>
            </a:r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3382BCE6-ED28-8041-BC4B-5038BC37AE24}"/>
              </a:ext>
            </a:extLst>
          </p:cNvPr>
          <p:cNvCxnSpPr/>
          <p:nvPr/>
        </p:nvCxnSpPr>
        <p:spPr>
          <a:xfrm>
            <a:off x="1782305" y="1959470"/>
            <a:ext cx="0" cy="4522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1BB83AB1-4E50-5241-BB28-F811CFEBC46A}"/>
              </a:ext>
            </a:extLst>
          </p:cNvPr>
          <p:cNvCxnSpPr/>
          <p:nvPr/>
        </p:nvCxnSpPr>
        <p:spPr>
          <a:xfrm>
            <a:off x="2105186" y="2743470"/>
            <a:ext cx="0" cy="452215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12D6A2B2-2B6B-7C49-9AC1-51E0F4C7E7B7}"/>
              </a:ext>
            </a:extLst>
          </p:cNvPr>
          <p:cNvCxnSpPr/>
          <p:nvPr/>
        </p:nvCxnSpPr>
        <p:spPr>
          <a:xfrm>
            <a:off x="1909755" y="4253590"/>
            <a:ext cx="271048" cy="367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C62673CB-0ADB-D64C-8EB1-9B95941B07EC}"/>
              </a:ext>
            </a:extLst>
          </p:cNvPr>
          <p:cNvCxnSpPr>
            <a:cxnSpLocks/>
          </p:cNvCxnSpPr>
          <p:nvPr/>
        </p:nvCxnSpPr>
        <p:spPr>
          <a:xfrm>
            <a:off x="3577932" y="4218092"/>
            <a:ext cx="276369" cy="380261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9ADADCBE-81E4-7C40-BDA1-E3FD6C975ECB}"/>
              </a:ext>
            </a:extLst>
          </p:cNvPr>
          <p:cNvCxnSpPr/>
          <p:nvPr/>
        </p:nvCxnSpPr>
        <p:spPr>
          <a:xfrm flipV="1">
            <a:off x="2180803" y="3831592"/>
            <a:ext cx="828703" cy="744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09E91B77-01F4-9241-A9DF-79F2C02F5CAB}"/>
              </a:ext>
            </a:extLst>
          </p:cNvPr>
          <p:cNvCxnSpPr/>
          <p:nvPr/>
        </p:nvCxnSpPr>
        <p:spPr>
          <a:xfrm flipV="1">
            <a:off x="3888526" y="3983516"/>
            <a:ext cx="706611" cy="614837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7209C3FE-7797-9A4B-AE74-5B172417B2CC}"/>
              </a:ext>
            </a:extLst>
          </p:cNvPr>
          <p:cNvSpPr txBox="1"/>
          <p:nvPr/>
        </p:nvSpPr>
        <p:spPr>
          <a:xfrm>
            <a:off x="2930459" y="5033796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>
                <a:solidFill>
                  <a:schemeClr val="accent4"/>
                </a:solidFill>
              </a:rPr>
              <a:t>(ACK, 2, </a:t>
            </a:r>
            <a:r>
              <a:rPr lang="en-US" altLang="it-IT" sz="1800" dirty="0">
                <a:solidFill>
                  <a:schemeClr val="accent4"/>
                </a:solidFill>
                <a:ea typeface="Apple Symbols" charset="0"/>
                <a:cs typeface="Apple Symbols" charset="0"/>
              </a:rPr>
              <a:t>⊥</a:t>
            </a:r>
            <a:r>
              <a:rPr lang="en-GB" dirty="0">
                <a:solidFill>
                  <a:schemeClr val="accent4"/>
                </a:solidFill>
              </a:rPr>
              <a:t>, </a:t>
            </a:r>
            <a:r>
              <a:rPr lang="en-US" altLang="it-IT" sz="1800" dirty="0">
                <a:solidFill>
                  <a:schemeClr val="accent4"/>
                </a:solidFill>
                <a:ea typeface="Apple Symbols" charset="0"/>
                <a:cs typeface="Apple Symbols" charset="0"/>
              </a:rPr>
              <a:t>⊥</a:t>
            </a:r>
            <a:r>
              <a:rPr lang="en-GB" dirty="0">
                <a:solidFill>
                  <a:schemeClr val="accent4"/>
                </a:solidFill>
              </a:rPr>
              <a:t>)</a:t>
            </a:r>
          </a:p>
        </p:txBody>
      </p: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96F577EB-6B25-1A47-9CC7-13BF73A652DB}"/>
              </a:ext>
            </a:extLst>
          </p:cNvPr>
          <p:cNvCxnSpPr>
            <a:cxnSpLocks/>
          </p:cNvCxnSpPr>
          <p:nvPr/>
        </p:nvCxnSpPr>
        <p:spPr>
          <a:xfrm>
            <a:off x="2427751" y="4975919"/>
            <a:ext cx="276369" cy="380261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4152700A-6891-7E43-845D-F88AC4829FFF}"/>
              </a:ext>
            </a:extLst>
          </p:cNvPr>
          <p:cNvCxnSpPr/>
          <p:nvPr/>
        </p:nvCxnSpPr>
        <p:spPr>
          <a:xfrm flipV="1">
            <a:off x="2738345" y="4741343"/>
            <a:ext cx="706611" cy="614837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96256F80-DD5D-2742-8242-2A4DAE7164B3}"/>
              </a:ext>
            </a:extLst>
          </p:cNvPr>
          <p:cNvCxnSpPr/>
          <p:nvPr/>
        </p:nvCxnSpPr>
        <p:spPr>
          <a:xfrm>
            <a:off x="4294190" y="5042827"/>
            <a:ext cx="271048" cy="367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1A14B69D-CD08-B844-8ADD-93129551C2C7}"/>
              </a:ext>
            </a:extLst>
          </p:cNvPr>
          <p:cNvCxnSpPr>
            <a:cxnSpLocks/>
          </p:cNvCxnSpPr>
          <p:nvPr/>
        </p:nvCxnSpPr>
        <p:spPr>
          <a:xfrm flipV="1">
            <a:off x="4565238" y="4870770"/>
            <a:ext cx="370519" cy="494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694F63C4-93A0-0143-9DAF-279B1FEF8E24}"/>
              </a:ext>
            </a:extLst>
          </p:cNvPr>
          <p:cNvCxnSpPr/>
          <p:nvPr/>
        </p:nvCxnSpPr>
        <p:spPr>
          <a:xfrm>
            <a:off x="6969071" y="2757376"/>
            <a:ext cx="0" cy="452215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50E00069-0557-2145-8ED4-FF16A29947FD}"/>
              </a:ext>
            </a:extLst>
          </p:cNvPr>
          <p:cNvSpPr txBox="1"/>
          <p:nvPr/>
        </p:nvSpPr>
        <p:spPr>
          <a:xfrm>
            <a:off x="5136548" y="1902698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</a:rPr>
              <a:t>(PREPARE, 3)</a:t>
            </a:r>
            <a:endParaRPr lang="en-GB" baseline="-25000" dirty="0">
              <a:solidFill>
                <a:srgbClr val="FFC000"/>
              </a:solidFill>
            </a:endParaRPr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9FE71C4F-8791-A340-A94C-639504DE0150}"/>
              </a:ext>
            </a:extLst>
          </p:cNvPr>
          <p:cNvCxnSpPr/>
          <p:nvPr/>
        </p:nvCxnSpPr>
        <p:spPr>
          <a:xfrm>
            <a:off x="5136548" y="1955039"/>
            <a:ext cx="0" cy="452215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E7B94A17-3781-1847-B213-5045682A82F6}"/>
              </a:ext>
            </a:extLst>
          </p:cNvPr>
          <p:cNvSpPr txBox="1"/>
          <p:nvPr/>
        </p:nvSpPr>
        <p:spPr>
          <a:xfrm>
            <a:off x="4896920" y="5816318"/>
            <a:ext cx="141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>
                <a:solidFill>
                  <a:srgbClr val="FFC000"/>
                </a:solidFill>
              </a:rPr>
              <a:t>(ACK, 3, </a:t>
            </a:r>
            <a:r>
              <a:rPr lang="en-US" altLang="it-IT" sz="1800" dirty="0">
                <a:solidFill>
                  <a:srgbClr val="FFC000"/>
                </a:solidFill>
                <a:ea typeface="Apple Symbols" charset="0"/>
                <a:cs typeface="Apple Symbols" charset="0"/>
              </a:rPr>
              <a:t>⊥</a:t>
            </a:r>
            <a:r>
              <a:rPr lang="en-GB" dirty="0">
                <a:solidFill>
                  <a:srgbClr val="FFC000"/>
                </a:solidFill>
              </a:rPr>
              <a:t>, </a:t>
            </a:r>
            <a:r>
              <a:rPr lang="en-US" altLang="it-IT" sz="1800" dirty="0">
                <a:solidFill>
                  <a:srgbClr val="FFC000"/>
                </a:solidFill>
                <a:ea typeface="Apple Symbols" charset="0"/>
                <a:cs typeface="Apple Symbols" charset="0"/>
              </a:rPr>
              <a:t>⊥</a:t>
            </a:r>
            <a:r>
              <a:rPr lang="en-GB" dirty="0">
                <a:solidFill>
                  <a:srgbClr val="FFC000"/>
                </a:solidFill>
              </a:rPr>
              <a:t>)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31A418D7-1B08-9445-9D47-BF402BF88F01}"/>
              </a:ext>
            </a:extLst>
          </p:cNvPr>
          <p:cNvCxnSpPr/>
          <p:nvPr/>
        </p:nvCxnSpPr>
        <p:spPr>
          <a:xfrm>
            <a:off x="4500406" y="5772677"/>
            <a:ext cx="271048" cy="36723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20847A9C-2AD3-F843-AC44-3A16DB393256}"/>
              </a:ext>
            </a:extLst>
          </p:cNvPr>
          <p:cNvCxnSpPr>
            <a:cxnSpLocks/>
          </p:cNvCxnSpPr>
          <p:nvPr/>
        </p:nvCxnSpPr>
        <p:spPr>
          <a:xfrm flipV="1">
            <a:off x="4771454" y="5457943"/>
            <a:ext cx="474964" cy="63727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D8E7A95B-5FA8-344B-8A45-F6DE33205BCB}"/>
              </a:ext>
            </a:extLst>
          </p:cNvPr>
          <p:cNvSpPr txBox="1"/>
          <p:nvPr/>
        </p:nvSpPr>
        <p:spPr>
          <a:xfrm>
            <a:off x="6732021" y="5798762"/>
            <a:ext cx="1413222" cy="341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>
                <a:solidFill>
                  <a:schemeClr val="accent4"/>
                </a:solidFill>
              </a:rPr>
              <a:t>(NACK, 3)</a:t>
            </a:r>
          </a:p>
        </p:txBody>
      </p: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D4075BB5-F89A-9047-9AE0-ED934A778531}"/>
              </a:ext>
            </a:extLst>
          </p:cNvPr>
          <p:cNvCxnSpPr/>
          <p:nvPr/>
        </p:nvCxnSpPr>
        <p:spPr>
          <a:xfrm>
            <a:off x="6239523" y="5798762"/>
            <a:ext cx="271048" cy="36723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04F1510C-BB89-5940-A378-C1BE783DE1E2}"/>
              </a:ext>
            </a:extLst>
          </p:cNvPr>
          <p:cNvCxnSpPr>
            <a:cxnSpLocks/>
          </p:cNvCxnSpPr>
          <p:nvPr/>
        </p:nvCxnSpPr>
        <p:spPr>
          <a:xfrm flipV="1">
            <a:off x="6510571" y="5626705"/>
            <a:ext cx="370519" cy="49459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0BB4A11E-E103-D240-95A0-9CE3B5F7C53B}"/>
              </a:ext>
            </a:extLst>
          </p:cNvPr>
          <p:cNvSpPr txBox="1"/>
          <p:nvPr/>
        </p:nvSpPr>
        <p:spPr>
          <a:xfrm>
            <a:off x="7041026" y="2658168"/>
            <a:ext cx="140624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(PREPARE, 4)</a:t>
            </a:r>
            <a:endParaRPr lang="en-GB" baseline="-25000" dirty="0">
              <a:solidFill>
                <a:srgbClr val="7030A0"/>
              </a:solidFill>
            </a:endParaRPr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F4575AE7-613D-5C46-9676-DD0F1C773974}"/>
              </a:ext>
            </a:extLst>
          </p:cNvPr>
          <p:cNvCxnSpPr/>
          <p:nvPr/>
        </p:nvCxnSpPr>
        <p:spPr>
          <a:xfrm>
            <a:off x="7041026" y="3983516"/>
            <a:ext cx="2583421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ttangolo 13">
            <a:extLst>
              <a:ext uri="{FF2B5EF4-FFF2-40B4-BE49-F238E27FC236}">
                <a16:creationId xmlns:a16="http://schemas.microsoft.com/office/drawing/2014/main" id="{D5F20971-7D5D-8045-95B8-72FECBEB54F5}"/>
              </a:ext>
            </a:extLst>
          </p:cNvPr>
          <p:cNvSpPr/>
          <p:nvPr/>
        </p:nvSpPr>
        <p:spPr>
          <a:xfrm>
            <a:off x="6286618" y="3984339"/>
            <a:ext cx="4023606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2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Competing proposers may prevent </a:t>
            </a:r>
            <a:r>
              <a:rPr lang="en-GB" sz="3200" b="1" cap="none" spc="0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Paxos</a:t>
            </a:r>
            <a:r>
              <a:rPr lang="en-GB" sz="32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from terminating</a:t>
            </a:r>
          </a:p>
        </p:txBody>
      </p:sp>
    </p:spTree>
    <p:extLst>
      <p:ext uri="{BB962C8B-B14F-4D97-AF65-F5344CB8AC3E}">
        <p14:creationId xmlns:p14="http://schemas.microsoft.com/office/powerpoint/2010/main" val="372866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>
              <a:spcBef>
                <a:spcPts val="1266"/>
              </a:spcBef>
            </a:pPr>
            <a:r>
              <a:rPr lang="en-US" altLang="it-IT" dirty="0"/>
              <a:t>Solution: Proposers are “elected” using a leader election protocol</a:t>
            </a:r>
          </a:p>
          <a:p>
            <a:pPr marL="482186" lvl="1" algn="just">
              <a:spcBef>
                <a:spcPts val="1266"/>
              </a:spcBef>
            </a:pPr>
            <a:r>
              <a:rPr lang="en-US" altLang="it-IT" dirty="0"/>
              <a:t>Protocol becomes a 2-phase commit with a 3- phase commit when leader fails</a:t>
            </a:r>
          </a:p>
        </p:txBody>
      </p:sp>
    </p:spTree>
    <p:extLst>
      <p:ext uri="{BB962C8B-B14F-4D97-AF65-F5344CB8AC3E}">
        <p14:creationId xmlns:p14="http://schemas.microsoft.com/office/powerpoint/2010/main" val="917925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it-IT"/>
              <a:t>Paxos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algn="just"/>
            <a:r>
              <a:rPr lang="en-US" altLang="it-IT" dirty="0"/>
              <a:t>Is </a:t>
            </a:r>
            <a:r>
              <a:rPr lang="en-US" altLang="it-IT" dirty="0" err="1"/>
              <a:t>Paxos</a:t>
            </a:r>
            <a:r>
              <a:rPr lang="en-US" altLang="it-IT" dirty="0"/>
              <a:t> just a theoretical exercise ?</a:t>
            </a:r>
          </a:p>
          <a:p>
            <a:pPr marL="482186" lvl="1" algn="just">
              <a:spcBef>
                <a:spcPts val="1266"/>
              </a:spcBef>
            </a:pPr>
            <a:r>
              <a:rPr lang="en-US" altLang="it-IT" dirty="0"/>
              <a:t>Used but not widely. For example, Google uses </a:t>
            </a:r>
            <a:r>
              <a:rPr lang="en-US" altLang="it-IT" dirty="0" err="1"/>
              <a:t>Paxos</a:t>
            </a:r>
            <a:r>
              <a:rPr lang="en-US" altLang="it-IT" dirty="0"/>
              <a:t> in their lock server. Yahoo for </a:t>
            </a:r>
            <a:r>
              <a:rPr lang="en-US" altLang="it-IT" dirty="0" err="1"/>
              <a:t>ZooKeeper</a:t>
            </a:r>
            <a:endParaRPr lang="en-US" altLang="it-IT" dirty="0"/>
          </a:p>
          <a:p>
            <a:pPr marL="482186" lvl="1" algn="just">
              <a:spcBef>
                <a:spcPts val="1266"/>
              </a:spcBef>
            </a:pPr>
            <a:r>
              <a:rPr lang="en-US" altLang="it-IT" dirty="0"/>
              <a:t>One issue is that </a:t>
            </a:r>
            <a:r>
              <a:rPr lang="en-US" altLang="it-IT" dirty="0" err="1"/>
              <a:t>Paxos</a:t>
            </a:r>
            <a:r>
              <a:rPr lang="en-US" altLang="it-IT" dirty="0"/>
              <a:t> gets complex if we need to reconfigure it to change the set of nodes running the protocol</a:t>
            </a:r>
          </a:p>
          <a:p>
            <a:pPr marL="482186" lvl="1" algn="just">
              <a:spcBef>
                <a:spcPts val="1266"/>
              </a:spcBef>
            </a:pPr>
            <a:r>
              <a:rPr lang="en-US" altLang="it-IT" dirty="0"/>
              <a:t>Another problem is that other more scalable alternatives are available</a:t>
            </a:r>
          </a:p>
        </p:txBody>
      </p:sp>
    </p:spTree>
    <p:extLst>
      <p:ext uri="{BB962C8B-B14F-4D97-AF65-F5344CB8AC3E}">
        <p14:creationId xmlns:p14="http://schemas.microsoft.com/office/powerpoint/2010/main" val="555265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[1] L. </a:t>
            </a:r>
            <a:r>
              <a:rPr lang="en-GB" dirty="0" err="1"/>
              <a:t>Lamport</a:t>
            </a:r>
            <a:r>
              <a:rPr lang="en-GB" dirty="0"/>
              <a:t> “</a:t>
            </a:r>
            <a:r>
              <a:rPr lang="en-GB" i="1" dirty="0" err="1"/>
              <a:t>Paxos</a:t>
            </a:r>
            <a:r>
              <a:rPr lang="en-GB" i="1" dirty="0"/>
              <a:t> Made Simple</a:t>
            </a:r>
            <a:r>
              <a:rPr lang="en-GB" dirty="0"/>
              <a:t>”, </a:t>
            </a:r>
            <a:r>
              <a:rPr lang="en-GB" dirty="0">
                <a:hlinkClick r:id="rId2"/>
              </a:rPr>
              <a:t>https://www.microsoft.com/en-us/research/wp-content/uploads/2016/12/paxos-simple-Copy.pdf</a:t>
            </a:r>
            <a:endParaRPr lang="en-GB" dirty="0"/>
          </a:p>
          <a:p>
            <a:endParaRPr lang="en-GB" dirty="0"/>
          </a:p>
          <a:p>
            <a:r>
              <a:rPr lang="en-GB" dirty="0"/>
              <a:t>And for very brave students… </a:t>
            </a:r>
            <a:r>
              <a:rPr lang="en-GB" dirty="0">
                <a:sym typeface="Wingdings"/>
              </a:rPr>
              <a:t> </a:t>
            </a:r>
            <a:endParaRPr lang="en-GB" dirty="0"/>
          </a:p>
          <a:p>
            <a:endParaRPr lang="en-GB" dirty="0"/>
          </a:p>
          <a:p>
            <a:r>
              <a:rPr lang="en-GB" dirty="0"/>
              <a:t>[2] L. </a:t>
            </a:r>
            <a:r>
              <a:rPr lang="en-GB" dirty="0" err="1"/>
              <a:t>Lamport</a:t>
            </a:r>
            <a:r>
              <a:rPr lang="en-GB" dirty="0"/>
              <a:t>. The part-time parliament. ACM Transactions on Computer Systems, 16(2):133–169, May 1998. </a:t>
            </a:r>
          </a:p>
          <a:p>
            <a:endParaRPr lang="en-GB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A547945-F019-674B-AFF8-08549142A129}"/>
              </a:ext>
            </a:extLst>
          </p:cNvPr>
          <p:cNvSpPr txBox="1"/>
          <p:nvPr/>
        </p:nvSpPr>
        <p:spPr>
          <a:xfrm>
            <a:off x="368135" y="3526971"/>
            <a:ext cx="18473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7672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1344</TotalTime>
  <Words>2000</Words>
  <Application>Microsoft Macintosh PowerPoint</Application>
  <PresentationFormat>Diapositive 35 mm</PresentationFormat>
  <Paragraphs>299</Paragraphs>
  <Slides>37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37</vt:i4>
      </vt:variant>
    </vt:vector>
  </HeadingPairs>
  <TitlesOfParts>
    <vt:vector size="46" baseType="lpstr">
      <vt:lpstr>Apple Symbols</vt:lpstr>
      <vt:lpstr>Arial</vt:lpstr>
      <vt:lpstr>Calibri</vt:lpstr>
      <vt:lpstr>Calibri Light</vt:lpstr>
      <vt:lpstr>Courier New</vt:lpstr>
      <vt:lpstr>Gill Sans</vt:lpstr>
      <vt:lpstr>Gill Sans Light</vt:lpstr>
      <vt:lpstr>Wingdings</vt:lpstr>
      <vt:lpstr>Retrospettivo</vt:lpstr>
      <vt:lpstr>Dependable Distributed Systems Master of Science in Engineering in Computer Science    AA 2026/2027</vt:lpstr>
      <vt:lpstr>Impossibility Result</vt:lpstr>
      <vt:lpstr>Paxos</vt:lpstr>
      <vt:lpstr>Paxos – recap about properties</vt:lpstr>
      <vt:lpstr>Paxos – System model and basic assumptions</vt:lpstr>
      <vt:lpstr>Paxos - Actors</vt:lpstr>
      <vt:lpstr>Paxos: choosing a value</vt:lpstr>
      <vt:lpstr>Paxos: choosing a value</vt:lpstr>
      <vt:lpstr>Paxos: choosing a value</vt:lpstr>
      <vt:lpstr>Paxos: choosing a value</vt:lpstr>
      <vt:lpstr>Paxos: choosing a value</vt:lpstr>
      <vt:lpstr>Paxos: choosing a value</vt:lpstr>
      <vt:lpstr>Paxos: choosing a value</vt:lpstr>
      <vt:lpstr>Paxos: choosing a value</vt:lpstr>
      <vt:lpstr>Paxos: choosing a value</vt:lpstr>
      <vt:lpstr>Paxos: choosing a value</vt:lpstr>
      <vt:lpstr>Paxos: choosing a value</vt:lpstr>
      <vt:lpstr>Paxos: choosing a value</vt:lpstr>
      <vt:lpstr>Paxos: how to ensure to choose a value</vt:lpstr>
      <vt:lpstr>Paxos: learning about proposed values</vt:lpstr>
      <vt:lpstr>Paxos: learning about proposed values</vt:lpstr>
      <vt:lpstr>Paxos</vt:lpstr>
      <vt:lpstr>Paxos: Phase 1</vt:lpstr>
      <vt:lpstr>Paxos</vt:lpstr>
      <vt:lpstr>Paxos: Phase 1</vt:lpstr>
      <vt:lpstr>Paxos</vt:lpstr>
      <vt:lpstr>Paxos: Phase 1</vt:lpstr>
      <vt:lpstr>Paxos</vt:lpstr>
      <vt:lpstr>Paxos: Phase 2</vt:lpstr>
      <vt:lpstr>Paxos</vt:lpstr>
      <vt:lpstr>Paxos</vt:lpstr>
      <vt:lpstr>Paxos: Phase 2</vt:lpstr>
      <vt:lpstr>Paxos</vt:lpstr>
      <vt:lpstr>Paxos: liveness</vt:lpstr>
      <vt:lpstr>Paxos</vt:lpstr>
      <vt:lpstr>Paxos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Master of Science in Engineering in Computer Science    AA 2017/2018</dc:title>
  <dc:creator>Silvia Bonomi</dc:creator>
  <cp:lastModifiedBy>Silvia Bonomi</cp:lastModifiedBy>
  <cp:revision>207</cp:revision>
  <cp:lastPrinted>2018-10-22T21:17:51Z</cp:lastPrinted>
  <dcterms:created xsi:type="dcterms:W3CDTF">2017-09-15T08:51:14Z</dcterms:created>
  <dcterms:modified xsi:type="dcterms:W3CDTF">2026-10-19T07:50:43Z</dcterms:modified>
</cp:coreProperties>
</file>