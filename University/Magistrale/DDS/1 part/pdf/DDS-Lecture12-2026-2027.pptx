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5" r:id="rId1"/>
  </p:sldMasterIdLst>
  <p:notesMasterIdLst>
    <p:notesMasterId r:id="rId42"/>
  </p:notesMasterIdLst>
  <p:sldIdLst>
    <p:sldId id="256" r:id="rId2"/>
    <p:sldId id="284" r:id="rId3"/>
    <p:sldId id="285" r:id="rId4"/>
    <p:sldId id="311" r:id="rId5"/>
    <p:sldId id="329" r:id="rId6"/>
    <p:sldId id="330" r:id="rId7"/>
    <p:sldId id="331" r:id="rId8"/>
    <p:sldId id="312" r:id="rId9"/>
    <p:sldId id="344" r:id="rId10"/>
    <p:sldId id="346" r:id="rId11"/>
    <p:sldId id="345" r:id="rId12"/>
    <p:sldId id="314" r:id="rId13"/>
    <p:sldId id="313" r:id="rId14"/>
    <p:sldId id="289" r:id="rId15"/>
    <p:sldId id="335" r:id="rId16"/>
    <p:sldId id="336" r:id="rId17"/>
    <p:sldId id="337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292" r:id="rId29"/>
    <p:sldId id="325" r:id="rId30"/>
    <p:sldId id="293" r:id="rId31"/>
    <p:sldId id="294" r:id="rId32"/>
    <p:sldId id="339" r:id="rId33"/>
    <p:sldId id="341" r:id="rId34"/>
    <p:sldId id="342" r:id="rId35"/>
    <p:sldId id="340" r:id="rId36"/>
    <p:sldId id="343" r:id="rId37"/>
    <p:sldId id="326" r:id="rId38"/>
    <p:sldId id="327" r:id="rId39"/>
    <p:sldId id="328" r:id="rId40"/>
    <p:sldId id="283" r:id="rId41"/>
  </p:sldIdLst>
  <p:sldSz cx="10287000" cy="6858000" type="35mm"/>
  <p:notesSz cx="6858000" cy="9144000"/>
  <p:defaultTextStyle>
    <a:defPPr>
      <a:defRPr lang="en-US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/>
    <p:restoredTop sz="94730"/>
  </p:normalViewPr>
  <p:slideViewPr>
    <p:cSldViewPr snapToGrid="0" snapToObjects="1">
      <p:cViewPr varScale="1">
        <p:scale>
          <a:sx n="119" d="100"/>
          <a:sy n="119" d="100"/>
        </p:scale>
        <p:origin x="1072" y="176"/>
      </p:cViewPr>
      <p:guideLst>
        <p:guide orient="horz" pos="21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171189-2862-9046-B443-D38FC74AC351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B4D8DD34-A4C2-8B47-80B3-C81FE20F40A2}">
      <dgm:prSet/>
      <dgm:spPr/>
      <dgm:t>
        <a:bodyPr/>
        <a:lstStyle/>
        <a:p>
          <a:r>
            <a:rPr lang="en-GB" altLang="it-IT" dirty="0"/>
            <a:t>FIFO Order</a:t>
          </a:r>
        </a:p>
      </dgm:t>
    </dgm:pt>
    <dgm:pt modelId="{2B1A50AD-F498-AD4E-959F-69F986793C54}" type="parTrans" cxnId="{58749BE5-E3D8-0C4C-AE8C-E6D80EADE797}">
      <dgm:prSet/>
      <dgm:spPr/>
      <dgm:t>
        <a:bodyPr/>
        <a:lstStyle/>
        <a:p>
          <a:endParaRPr lang="it-IT"/>
        </a:p>
      </dgm:t>
    </dgm:pt>
    <dgm:pt modelId="{47C38BB1-170C-8A46-858B-FCB31B52628D}" type="sibTrans" cxnId="{58749BE5-E3D8-0C4C-AE8C-E6D80EADE797}">
      <dgm:prSet/>
      <dgm:spPr/>
      <dgm:t>
        <a:bodyPr/>
        <a:lstStyle/>
        <a:p>
          <a:endParaRPr lang="it-IT"/>
        </a:p>
      </dgm:t>
    </dgm:pt>
    <dgm:pt modelId="{34AF0C4E-932B-194C-B910-54DE443ECA2B}">
      <dgm:prSet/>
      <dgm:spPr/>
      <dgm:t>
        <a:bodyPr/>
        <a:lstStyle/>
        <a:p>
          <a:r>
            <a:rPr lang="en-GB" altLang="it-IT" dirty="0"/>
            <a:t>Causal Order</a:t>
          </a:r>
        </a:p>
      </dgm:t>
    </dgm:pt>
    <dgm:pt modelId="{1A166609-1E63-8047-89A0-B7C27AD39379}" type="parTrans" cxnId="{B4077930-8441-0E4D-A3A1-9C14C98B8B77}">
      <dgm:prSet/>
      <dgm:spPr/>
      <dgm:t>
        <a:bodyPr/>
        <a:lstStyle/>
        <a:p>
          <a:endParaRPr lang="it-IT"/>
        </a:p>
      </dgm:t>
    </dgm:pt>
    <dgm:pt modelId="{BF294178-E059-944B-971C-30A88555496F}" type="sibTrans" cxnId="{B4077930-8441-0E4D-A3A1-9C14C98B8B77}">
      <dgm:prSet/>
      <dgm:spPr/>
      <dgm:t>
        <a:bodyPr/>
        <a:lstStyle/>
        <a:p>
          <a:endParaRPr lang="it-IT"/>
        </a:p>
      </dgm:t>
    </dgm:pt>
    <dgm:pt modelId="{3AA1AAF4-2D74-F84D-AE80-F38A69A50408}">
      <dgm:prSet/>
      <dgm:spPr/>
      <dgm:t>
        <a:bodyPr/>
        <a:lstStyle/>
        <a:p>
          <a:r>
            <a:rPr lang="en-GB" altLang="it-IT" dirty="0"/>
            <a:t>Total order (atomic communication) </a:t>
          </a:r>
        </a:p>
      </dgm:t>
    </dgm:pt>
    <dgm:pt modelId="{44F159F4-B135-264C-8B79-A7DBAB0A88F6}" type="parTrans" cxnId="{A9E3C4CA-1DDD-4F45-AE8B-1F3FBC2D1F20}">
      <dgm:prSet/>
      <dgm:spPr/>
      <dgm:t>
        <a:bodyPr/>
        <a:lstStyle/>
        <a:p>
          <a:endParaRPr lang="it-IT"/>
        </a:p>
      </dgm:t>
    </dgm:pt>
    <dgm:pt modelId="{FDEFA909-4802-A84A-8AB4-28E80DCC566B}" type="sibTrans" cxnId="{A9E3C4CA-1DDD-4F45-AE8B-1F3FBC2D1F20}">
      <dgm:prSet/>
      <dgm:spPr/>
      <dgm:t>
        <a:bodyPr/>
        <a:lstStyle/>
        <a:p>
          <a:endParaRPr lang="it-IT"/>
        </a:p>
      </dgm:t>
    </dgm:pt>
    <dgm:pt modelId="{E4010F8C-9EAF-C240-A557-8086C1AFCEDC}" type="pres">
      <dgm:prSet presAssocID="{08171189-2862-9046-B443-D38FC74AC351}" presName="Name0" presStyleCnt="0">
        <dgm:presLayoutVars>
          <dgm:chMax val="7"/>
          <dgm:chPref val="7"/>
          <dgm:dir/>
        </dgm:presLayoutVars>
      </dgm:prSet>
      <dgm:spPr/>
    </dgm:pt>
    <dgm:pt modelId="{321B4E63-9A7E-8A49-9770-BC092015B987}" type="pres">
      <dgm:prSet presAssocID="{08171189-2862-9046-B443-D38FC74AC351}" presName="Name1" presStyleCnt="0"/>
      <dgm:spPr/>
    </dgm:pt>
    <dgm:pt modelId="{A9EA8A15-6D09-9B42-80E3-796015BE519B}" type="pres">
      <dgm:prSet presAssocID="{08171189-2862-9046-B443-D38FC74AC351}" presName="cycle" presStyleCnt="0"/>
      <dgm:spPr/>
    </dgm:pt>
    <dgm:pt modelId="{284782F7-E3CE-F54C-AD7A-4461EC54132A}" type="pres">
      <dgm:prSet presAssocID="{08171189-2862-9046-B443-D38FC74AC351}" presName="srcNode" presStyleLbl="node1" presStyleIdx="0" presStyleCnt="3"/>
      <dgm:spPr/>
    </dgm:pt>
    <dgm:pt modelId="{53D0416E-E82D-5C43-B34B-ADF1FEC0AD93}" type="pres">
      <dgm:prSet presAssocID="{08171189-2862-9046-B443-D38FC74AC351}" presName="conn" presStyleLbl="parChTrans1D2" presStyleIdx="0" presStyleCnt="1"/>
      <dgm:spPr/>
    </dgm:pt>
    <dgm:pt modelId="{DD75F876-4287-EA4B-A40F-44D8B46185F8}" type="pres">
      <dgm:prSet presAssocID="{08171189-2862-9046-B443-D38FC74AC351}" presName="extraNode" presStyleLbl="node1" presStyleIdx="0" presStyleCnt="3"/>
      <dgm:spPr/>
    </dgm:pt>
    <dgm:pt modelId="{88E021FB-694B-0D44-BF47-F0E290FBC192}" type="pres">
      <dgm:prSet presAssocID="{08171189-2862-9046-B443-D38FC74AC351}" presName="dstNode" presStyleLbl="node1" presStyleIdx="0" presStyleCnt="3"/>
      <dgm:spPr/>
    </dgm:pt>
    <dgm:pt modelId="{387271A1-EDB9-9C47-A2FA-718AE385FE73}" type="pres">
      <dgm:prSet presAssocID="{B4D8DD34-A4C2-8B47-80B3-C81FE20F40A2}" presName="text_1" presStyleLbl="node1" presStyleIdx="0" presStyleCnt="3">
        <dgm:presLayoutVars>
          <dgm:bulletEnabled val="1"/>
        </dgm:presLayoutVars>
      </dgm:prSet>
      <dgm:spPr/>
    </dgm:pt>
    <dgm:pt modelId="{8B6268A5-D70F-B641-A424-8C406D4581A5}" type="pres">
      <dgm:prSet presAssocID="{B4D8DD34-A4C2-8B47-80B3-C81FE20F40A2}" presName="accent_1" presStyleCnt="0"/>
      <dgm:spPr/>
    </dgm:pt>
    <dgm:pt modelId="{5850C0DB-AE48-9147-9246-47A932817D87}" type="pres">
      <dgm:prSet presAssocID="{B4D8DD34-A4C2-8B47-80B3-C81FE20F40A2}" presName="accentRepeatNode" presStyleLbl="solidFgAcc1" presStyleIdx="0" presStyleCnt="3"/>
      <dgm:spPr/>
    </dgm:pt>
    <dgm:pt modelId="{C14B3444-8AFA-4145-9059-E72FBD1700F3}" type="pres">
      <dgm:prSet presAssocID="{34AF0C4E-932B-194C-B910-54DE443ECA2B}" presName="text_2" presStyleLbl="node1" presStyleIdx="1" presStyleCnt="3">
        <dgm:presLayoutVars>
          <dgm:bulletEnabled val="1"/>
        </dgm:presLayoutVars>
      </dgm:prSet>
      <dgm:spPr/>
    </dgm:pt>
    <dgm:pt modelId="{0695C2DC-01F7-204C-A761-8D96813E4CDB}" type="pres">
      <dgm:prSet presAssocID="{34AF0C4E-932B-194C-B910-54DE443ECA2B}" presName="accent_2" presStyleCnt="0"/>
      <dgm:spPr/>
    </dgm:pt>
    <dgm:pt modelId="{17E011A4-FE2D-484E-863B-BCB0E40E8BAB}" type="pres">
      <dgm:prSet presAssocID="{34AF0C4E-932B-194C-B910-54DE443ECA2B}" presName="accentRepeatNode" presStyleLbl="solidFgAcc1" presStyleIdx="1" presStyleCnt="3"/>
      <dgm:spPr/>
    </dgm:pt>
    <dgm:pt modelId="{2A4C3AFC-25DD-9B41-B121-51F318B947E8}" type="pres">
      <dgm:prSet presAssocID="{3AA1AAF4-2D74-F84D-AE80-F38A69A50408}" presName="text_3" presStyleLbl="node1" presStyleIdx="2" presStyleCnt="3">
        <dgm:presLayoutVars>
          <dgm:bulletEnabled val="1"/>
        </dgm:presLayoutVars>
      </dgm:prSet>
      <dgm:spPr/>
    </dgm:pt>
    <dgm:pt modelId="{368C3F5C-94C0-AD48-9F20-787A19F19DF7}" type="pres">
      <dgm:prSet presAssocID="{3AA1AAF4-2D74-F84D-AE80-F38A69A50408}" presName="accent_3" presStyleCnt="0"/>
      <dgm:spPr/>
    </dgm:pt>
    <dgm:pt modelId="{DF0B65EF-CA79-5043-9031-F2A05C2C0CC3}" type="pres">
      <dgm:prSet presAssocID="{3AA1AAF4-2D74-F84D-AE80-F38A69A50408}" presName="accentRepeatNode" presStyleLbl="solidFgAcc1" presStyleIdx="2" presStyleCnt="3"/>
      <dgm:spPr/>
    </dgm:pt>
  </dgm:ptLst>
  <dgm:cxnLst>
    <dgm:cxn modelId="{2EE69A02-13FC-1A4D-B3E7-50FAA9C84158}" type="presOf" srcId="{3AA1AAF4-2D74-F84D-AE80-F38A69A50408}" destId="{2A4C3AFC-25DD-9B41-B121-51F318B947E8}" srcOrd="0" destOrd="0" presId="urn:microsoft.com/office/officeart/2008/layout/VerticalCurvedList"/>
    <dgm:cxn modelId="{B4077930-8441-0E4D-A3A1-9C14C98B8B77}" srcId="{08171189-2862-9046-B443-D38FC74AC351}" destId="{34AF0C4E-932B-194C-B910-54DE443ECA2B}" srcOrd="1" destOrd="0" parTransId="{1A166609-1E63-8047-89A0-B7C27AD39379}" sibTransId="{BF294178-E059-944B-971C-30A88555496F}"/>
    <dgm:cxn modelId="{AA772944-3643-ED45-B6E6-04DF58BDE092}" type="presOf" srcId="{34AF0C4E-932B-194C-B910-54DE443ECA2B}" destId="{C14B3444-8AFA-4145-9059-E72FBD1700F3}" srcOrd="0" destOrd="0" presId="urn:microsoft.com/office/officeart/2008/layout/VerticalCurvedList"/>
    <dgm:cxn modelId="{62434446-1544-4A42-8E37-51230973B261}" type="presOf" srcId="{08171189-2862-9046-B443-D38FC74AC351}" destId="{E4010F8C-9EAF-C240-A557-8086C1AFCEDC}" srcOrd="0" destOrd="0" presId="urn:microsoft.com/office/officeart/2008/layout/VerticalCurvedList"/>
    <dgm:cxn modelId="{54B8367F-9D58-B84C-844E-705D9A3B8A3E}" type="presOf" srcId="{47C38BB1-170C-8A46-858B-FCB31B52628D}" destId="{53D0416E-E82D-5C43-B34B-ADF1FEC0AD93}" srcOrd="0" destOrd="0" presId="urn:microsoft.com/office/officeart/2008/layout/VerticalCurvedList"/>
    <dgm:cxn modelId="{A9E3C4CA-1DDD-4F45-AE8B-1F3FBC2D1F20}" srcId="{08171189-2862-9046-B443-D38FC74AC351}" destId="{3AA1AAF4-2D74-F84D-AE80-F38A69A50408}" srcOrd="2" destOrd="0" parTransId="{44F159F4-B135-264C-8B79-A7DBAB0A88F6}" sibTransId="{FDEFA909-4802-A84A-8AB4-28E80DCC566B}"/>
    <dgm:cxn modelId="{58749BE5-E3D8-0C4C-AE8C-E6D80EADE797}" srcId="{08171189-2862-9046-B443-D38FC74AC351}" destId="{B4D8DD34-A4C2-8B47-80B3-C81FE20F40A2}" srcOrd="0" destOrd="0" parTransId="{2B1A50AD-F498-AD4E-959F-69F986793C54}" sibTransId="{47C38BB1-170C-8A46-858B-FCB31B52628D}"/>
    <dgm:cxn modelId="{BD81F4F2-5456-CF48-9905-A3E47941A46E}" type="presOf" srcId="{B4D8DD34-A4C2-8B47-80B3-C81FE20F40A2}" destId="{387271A1-EDB9-9C47-A2FA-718AE385FE73}" srcOrd="0" destOrd="0" presId="urn:microsoft.com/office/officeart/2008/layout/VerticalCurvedList"/>
    <dgm:cxn modelId="{60785649-B9D8-C344-B153-4308A2212426}" type="presParOf" srcId="{E4010F8C-9EAF-C240-A557-8086C1AFCEDC}" destId="{321B4E63-9A7E-8A49-9770-BC092015B987}" srcOrd="0" destOrd="0" presId="urn:microsoft.com/office/officeart/2008/layout/VerticalCurvedList"/>
    <dgm:cxn modelId="{240A4510-77BD-0143-93C7-12E70B77EDBE}" type="presParOf" srcId="{321B4E63-9A7E-8A49-9770-BC092015B987}" destId="{A9EA8A15-6D09-9B42-80E3-796015BE519B}" srcOrd="0" destOrd="0" presId="urn:microsoft.com/office/officeart/2008/layout/VerticalCurvedList"/>
    <dgm:cxn modelId="{70144F0C-4E6D-664A-8E56-6D60F0FBEC01}" type="presParOf" srcId="{A9EA8A15-6D09-9B42-80E3-796015BE519B}" destId="{284782F7-E3CE-F54C-AD7A-4461EC54132A}" srcOrd="0" destOrd="0" presId="urn:microsoft.com/office/officeart/2008/layout/VerticalCurvedList"/>
    <dgm:cxn modelId="{595BE97E-4D59-954C-9D24-4C9D8EA9A059}" type="presParOf" srcId="{A9EA8A15-6D09-9B42-80E3-796015BE519B}" destId="{53D0416E-E82D-5C43-B34B-ADF1FEC0AD93}" srcOrd="1" destOrd="0" presId="urn:microsoft.com/office/officeart/2008/layout/VerticalCurvedList"/>
    <dgm:cxn modelId="{4E1754C2-F406-3241-90A7-C2268F8DCD7D}" type="presParOf" srcId="{A9EA8A15-6D09-9B42-80E3-796015BE519B}" destId="{DD75F876-4287-EA4B-A40F-44D8B46185F8}" srcOrd="2" destOrd="0" presId="urn:microsoft.com/office/officeart/2008/layout/VerticalCurvedList"/>
    <dgm:cxn modelId="{017EC8E3-251A-BF4D-9509-851F0746EC70}" type="presParOf" srcId="{A9EA8A15-6D09-9B42-80E3-796015BE519B}" destId="{88E021FB-694B-0D44-BF47-F0E290FBC192}" srcOrd="3" destOrd="0" presId="urn:microsoft.com/office/officeart/2008/layout/VerticalCurvedList"/>
    <dgm:cxn modelId="{7D78FE08-B4EF-994A-9BF2-BD3EF2963AF4}" type="presParOf" srcId="{321B4E63-9A7E-8A49-9770-BC092015B987}" destId="{387271A1-EDB9-9C47-A2FA-718AE385FE73}" srcOrd="1" destOrd="0" presId="urn:microsoft.com/office/officeart/2008/layout/VerticalCurvedList"/>
    <dgm:cxn modelId="{3BB50C97-5B73-5A43-A7CE-1481BBDED057}" type="presParOf" srcId="{321B4E63-9A7E-8A49-9770-BC092015B987}" destId="{8B6268A5-D70F-B641-A424-8C406D4581A5}" srcOrd="2" destOrd="0" presId="urn:microsoft.com/office/officeart/2008/layout/VerticalCurvedList"/>
    <dgm:cxn modelId="{9063B63B-81E9-A740-90EA-E7EBA458783A}" type="presParOf" srcId="{8B6268A5-D70F-B641-A424-8C406D4581A5}" destId="{5850C0DB-AE48-9147-9246-47A932817D87}" srcOrd="0" destOrd="0" presId="urn:microsoft.com/office/officeart/2008/layout/VerticalCurvedList"/>
    <dgm:cxn modelId="{B780C199-CDB6-BE4E-B557-C55A589A860B}" type="presParOf" srcId="{321B4E63-9A7E-8A49-9770-BC092015B987}" destId="{C14B3444-8AFA-4145-9059-E72FBD1700F3}" srcOrd="3" destOrd="0" presId="urn:microsoft.com/office/officeart/2008/layout/VerticalCurvedList"/>
    <dgm:cxn modelId="{3851B33D-4776-964F-9BCC-1A6696BA4AED}" type="presParOf" srcId="{321B4E63-9A7E-8A49-9770-BC092015B987}" destId="{0695C2DC-01F7-204C-A761-8D96813E4CDB}" srcOrd="4" destOrd="0" presId="urn:microsoft.com/office/officeart/2008/layout/VerticalCurvedList"/>
    <dgm:cxn modelId="{3841BB26-F9AD-814E-9B79-496065E1AEDD}" type="presParOf" srcId="{0695C2DC-01F7-204C-A761-8D96813E4CDB}" destId="{17E011A4-FE2D-484E-863B-BCB0E40E8BAB}" srcOrd="0" destOrd="0" presId="urn:microsoft.com/office/officeart/2008/layout/VerticalCurvedList"/>
    <dgm:cxn modelId="{8110AE0E-BC00-9D4E-A288-6F1E9816E7B5}" type="presParOf" srcId="{321B4E63-9A7E-8A49-9770-BC092015B987}" destId="{2A4C3AFC-25DD-9B41-B121-51F318B947E8}" srcOrd="5" destOrd="0" presId="urn:microsoft.com/office/officeart/2008/layout/VerticalCurvedList"/>
    <dgm:cxn modelId="{ADA633DD-BD59-964E-9607-F2811837EEFF}" type="presParOf" srcId="{321B4E63-9A7E-8A49-9770-BC092015B987}" destId="{368C3F5C-94C0-AD48-9F20-787A19F19DF7}" srcOrd="6" destOrd="0" presId="urn:microsoft.com/office/officeart/2008/layout/VerticalCurvedList"/>
    <dgm:cxn modelId="{12099480-C785-2F4F-AAF8-6818227E1A02}" type="presParOf" srcId="{368C3F5C-94C0-AD48-9F20-787A19F19DF7}" destId="{DF0B65EF-CA79-5043-9031-F2A05C2C0CC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0416E-E82D-5C43-B34B-ADF1FEC0AD93}">
      <dsp:nvSpPr>
        <dsp:cNvPr id="0" name=""/>
        <dsp:cNvSpPr/>
      </dsp:nvSpPr>
      <dsp:spPr>
        <a:xfrm>
          <a:off x="-3802010" y="-583953"/>
          <a:ext cx="4531591" cy="4531591"/>
        </a:xfrm>
        <a:prstGeom prst="blockArc">
          <a:avLst>
            <a:gd name="adj1" fmla="val 18900000"/>
            <a:gd name="adj2" fmla="val 2700000"/>
            <a:gd name="adj3" fmla="val 477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7271A1-EDB9-9C47-A2FA-718AE385FE73}">
      <dsp:nvSpPr>
        <dsp:cNvPr id="0" name=""/>
        <dsp:cNvSpPr/>
      </dsp:nvSpPr>
      <dsp:spPr>
        <a:xfrm>
          <a:off x="469172" y="336368"/>
          <a:ext cx="6344701" cy="6727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98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it-IT" sz="3000" kern="1200" dirty="0"/>
            <a:t>FIFO Order</a:t>
          </a:r>
        </a:p>
      </dsp:txBody>
      <dsp:txXfrm>
        <a:off x="469172" y="336368"/>
        <a:ext cx="6344701" cy="672736"/>
      </dsp:txXfrm>
    </dsp:sp>
    <dsp:sp modelId="{5850C0DB-AE48-9147-9246-47A932817D87}">
      <dsp:nvSpPr>
        <dsp:cNvPr id="0" name=""/>
        <dsp:cNvSpPr/>
      </dsp:nvSpPr>
      <dsp:spPr>
        <a:xfrm>
          <a:off x="48711" y="252276"/>
          <a:ext cx="840921" cy="8409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B3444-8AFA-4145-9059-E72FBD1700F3}">
      <dsp:nvSpPr>
        <dsp:cNvPr id="0" name=""/>
        <dsp:cNvSpPr/>
      </dsp:nvSpPr>
      <dsp:spPr>
        <a:xfrm>
          <a:off x="713712" y="1345473"/>
          <a:ext cx="6100161" cy="6727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98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it-IT" sz="3000" kern="1200" dirty="0"/>
            <a:t>Causal Order</a:t>
          </a:r>
        </a:p>
      </dsp:txBody>
      <dsp:txXfrm>
        <a:off x="713712" y="1345473"/>
        <a:ext cx="6100161" cy="672736"/>
      </dsp:txXfrm>
    </dsp:sp>
    <dsp:sp modelId="{17E011A4-FE2D-484E-863B-BCB0E40E8BAB}">
      <dsp:nvSpPr>
        <dsp:cNvPr id="0" name=""/>
        <dsp:cNvSpPr/>
      </dsp:nvSpPr>
      <dsp:spPr>
        <a:xfrm>
          <a:off x="293251" y="1261381"/>
          <a:ext cx="840921" cy="8409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C3AFC-25DD-9B41-B121-51F318B947E8}">
      <dsp:nvSpPr>
        <dsp:cNvPr id="0" name=""/>
        <dsp:cNvSpPr/>
      </dsp:nvSpPr>
      <dsp:spPr>
        <a:xfrm>
          <a:off x="469172" y="2354578"/>
          <a:ext cx="6344701" cy="6727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98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it-IT" sz="3000" kern="1200" dirty="0"/>
            <a:t>Total order (atomic communication) </a:t>
          </a:r>
        </a:p>
      </dsp:txBody>
      <dsp:txXfrm>
        <a:off x="469172" y="2354578"/>
        <a:ext cx="6344701" cy="672736"/>
      </dsp:txXfrm>
    </dsp:sp>
    <dsp:sp modelId="{DF0B65EF-CA79-5043-9031-F2A05C2C0CC3}">
      <dsp:nvSpPr>
        <dsp:cNvPr id="0" name=""/>
        <dsp:cNvSpPr/>
      </dsp:nvSpPr>
      <dsp:spPr>
        <a:xfrm>
          <a:off x="48711" y="2270486"/>
          <a:ext cx="840921" cy="8409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34F95-BFF0-184C-9CF7-1FBA526794A6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66C1B-9924-9649-9BEF-5BF5C1F203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72D435D-6D8E-ED47-83FF-92988496CF9A}" type="slidenum">
              <a:rPr lang="en-US" altLang="it-IT"/>
              <a:pPr eaLnBrk="1" hangingPunct="1">
                <a:spcBef>
                  <a:spcPct val="0"/>
                </a:spcBef>
              </a:pPr>
              <a:t>2</a:t>
            </a:fld>
            <a:endParaRPr lang="en-US" altLang="it-IT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84664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681FA70-E761-194E-A1C7-D1B3B75417A1}" type="slidenum">
              <a:rPr lang="en-US" altLang="it-IT"/>
              <a:pPr eaLnBrk="1" hangingPunct="1">
                <a:spcBef>
                  <a:spcPct val="0"/>
                </a:spcBef>
              </a:pPr>
              <a:t>3</a:t>
            </a:fld>
            <a:endParaRPr lang="en-US" altLang="it-IT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49802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B469789-AF7C-674D-8245-70F0106736D2}" type="slidenum">
              <a:rPr lang="en-US" altLang="it-IT"/>
              <a:pPr eaLnBrk="1" hangingPunct="1">
                <a:spcBef>
                  <a:spcPct val="0"/>
                </a:spcBef>
              </a:pPr>
              <a:t>14</a:t>
            </a:fld>
            <a:endParaRPr lang="en-US" altLang="it-IT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26341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5DD9B0B-7ACD-F14E-B8BA-90E2F8EA3564}" type="slidenum">
              <a:rPr lang="en-US" altLang="it-IT"/>
              <a:pPr eaLnBrk="1" hangingPunct="1">
                <a:spcBef>
                  <a:spcPct val="0"/>
                </a:spcBef>
              </a:pPr>
              <a:t>28</a:t>
            </a:fld>
            <a:endParaRPr lang="en-US" altLang="it-IT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95742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5B0F24A-2011-2847-A2E8-4E7C583761BF}" type="slidenum">
              <a:rPr lang="en-US" altLang="it-IT"/>
              <a:pPr eaLnBrk="1" hangingPunct="1">
                <a:spcBef>
                  <a:spcPct val="0"/>
                </a:spcBef>
              </a:pPr>
              <a:t>30</a:t>
            </a:fld>
            <a:endParaRPr lang="en-US" altLang="it-IT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5979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D817575-3B73-2443-AC41-BBEBA296496B}" type="slidenum">
              <a:rPr lang="en-US" altLang="it-IT"/>
              <a:pPr eaLnBrk="1" hangingPunct="1">
                <a:spcBef>
                  <a:spcPct val="0"/>
                </a:spcBef>
              </a:pPr>
              <a:t>31</a:t>
            </a:fld>
            <a:endParaRPr lang="en-US" altLang="it-IT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394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9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5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6"/>
            <a:ext cx="4166235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5"/>
            <a:ext cx="4166235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5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7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506" y="731520"/>
            <a:ext cx="5477828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fld id="{DA16AA21-1863-4931-97CB-99D0A168701B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30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5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2302"/>
            <a:ext cx="2218134" cy="5759898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2302"/>
            <a:ext cx="6525816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0287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Dependable Distributed Systems</a:t>
            </a:r>
            <a:br>
              <a:rPr lang="en-GB" sz="4000" dirty="0"/>
            </a:br>
            <a:r>
              <a:rPr lang="en-GB" sz="4000" dirty="0"/>
              <a:t>Master of Science in Engineering in Computer Science  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AA 2026/2027</a:t>
            </a: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Lecture 12: Ordered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65483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Ordered Communication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4"/>
            <a:ext cx="8486776" cy="1063721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GB" altLang="it-IT" sz="2400" dirty="0"/>
              <a:t>Define guarantees about the order of deliveries inside group of processes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GB" altLang="it-IT" sz="2400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5D3F0419-536D-6D44-8713-D37A948132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2794792"/>
              </p:ext>
            </p:extLst>
          </p:nvPr>
        </p:nvGraphicFramePr>
        <p:xfrm>
          <a:off x="1560121" y="2909456"/>
          <a:ext cx="6858000" cy="3363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449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3D0416E-E82D-5C43-B34B-ADF1FEC0AD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53D0416E-E82D-5C43-B34B-ADF1FEC0AD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850C0DB-AE48-9147-9246-47A932817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5850C0DB-AE48-9147-9246-47A932817D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87271A1-EDB9-9C47-A2FA-718AE385FE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graphicEl>
                                              <a:dgm id="{387271A1-EDB9-9C47-A2FA-718AE385FE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7E011A4-FE2D-484E-863B-BCB0E40E8B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17E011A4-FE2D-484E-863B-BCB0E40E8B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14B3444-8AFA-4145-9059-E72FBD170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graphicEl>
                                              <a:dgm id="{C14B3444-8AFA-4145-9059-E72FBD1700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F0B65EF-CA79-5043-9031-F2A05C2C0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DF0B65EF-CA79-5043-9031-F2A05C2C0C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A4C3AFC-25DD-9B41-B121-51F318B94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graphicEl>
                                              <a:dgm id="{2A4C3AFC-25DD-9B41-B121-51F318B947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/>
              <a:t>Advantages of ordered communication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3"/>
            <a:ext cx="8486776" cy="4483629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it-IT" sz="1800" b="1" dirty="0"/>
              <a:t>Orthogonal </a:t>
            </a:r>
            <a:r>
              <a:rPr lang="en-GB" altLang="it-IT" sz="1800" b="1" dirty="0" err="1"/>
              <a:t>wrt</a:t>
            </a:r>
            <a:r>
              <a:rPr lang="en-GB" altLang="it-IT" sz="1800" b="1" dirty="0"/>
              <a:t> reliable communication</a:t>
            </a:r>
            <a:r>
              <a:rPr lang="en-GB" altLang="it-IT" sz="1800" dirty="0"/>
              <a:t>. </a:t>
            </a:r>
          </a:p>
          <a:p>
            <a:pPr lvl="1">
              <a:lnSpc>
                <a:spcPct val="80000"/>
              </a:lnSpc>
            </a:pPr>
            <a:r>
              <a:rPr lang="en-GB" altLang="it-IT" sz="1600" dirty="0"/>
              <a:t>Reliable broadcast does not have any property on ordering deliveries of messages</a:t>
            </a:r>
          </a:p>
          <a:p>
            <a:pPr eaLnBrk="1" hangingPunct="1">
              <a:lnSpc>
                <a:spcPct val="80000"/>
              </a:lnSpc>
            </a:pPr>
            <a:r>
              <a:rPr lang="en-GB" altLang="it-IT" sz="1800" dirty="0"/>
              <a:t>This can cause anomalies in many applicative contexts</a:t>
            </a:r>
          </a:p>
          <a:p>
            <a:pPr eaLnBrk="1" hangingPunct="1">
              <a:lnSpc>
                <a:spcPct val="80000"/>
              </a:lnSpc>
            </a:pPr>
            <a:endParaRPr lang="en-GB" altLang="it-IT" sz="1800" dirty="0"/>
          </a:p>
          <a:p>
            <a:pPr eaLnBrk="1" hangingPunct="1">
              <a:lnSpc>
                <a:spcPct val="80000"/>
              </a:lnSpc>
            </a:pPr>
            <a:endParaRPr lang="en-GB" altLang="it-IT" sz="1800" dirty="0"/>
          </a:p>
          <a:p>
            <a:pPr eaLnBrk="1" hangingPunct="1">
              <a:lnSpc>
                <a:spcPct val="80000"/>
              </a:lnSpc>
            </a:pPr>
            <a:endParaRPr lang="en-GB" altLang="it-IT" sz="1800" dirty="0"/>
          </a:p>
          <a:p>
            <a:pPr eaLnBrk="1" hangingPunct="1">
              <a:lnSpc>
                <a:spcPct val="80000"/>
              </a:lnSpc>
            </a:pPr>
            <a:endParaRPr lang="en-GB" altLang="it-IT" sz="18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it-IT" sz="18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it-IT" sz="18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it-IT" sz="1800" dirty="0"/>
          </a:p>
          <a:p>
            <a:pPr marL="0" indent="0">
              <a:lnSpc>
                <a:spcPct val="80000"/>
              </a:lnSpc>
              <a:buNone/>
            </a:pPr>
            <a:r>
              <a:rPr lang="en-GB" altLang="it-IT" sz="1800" dirty="0"/>
              <a:t>“Reliable ordered communication” are obtained adding one or more ordering properties to reliable communication</a:t>
            </a:r>
          </a:p>
          <a:p>
            <a:pPr eaLnBrk="1" hangingPunct="1">
              <a:lnSpc>
                <a:spcPct val="80000"/>
              </a:lnSpc>
            </a:pPr>
            <a:endParaRPr lang="en-GB" altLang="it-IT" sz="1800" dirty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571501" y="3559021"/>
            <a:ext cx="8964613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800">
              <a:latin typeface="Arial" charset="0"/>
            </a:endParaRP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3060701" y="3673324"/>
            <a:ext cx="425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36000" rIns="72000" bIns="72000" anchor="ctr">
            <a:spAutoFit/>
          </a:bodyPr>
          <a:lstStyle/>
          <a:p>
            <a:endParaRPr lang="en-GB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3233738" y="4770279"/>
            <a:ext cx="425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36000" rIns="72000" bIns="72000" anchor="ctr">
            <a:spAutoFit/>
          </a:bodyPr>
          <a:lstStyle/>
          <a:p>
            <a:endParaRPr lang="en-GB"/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6948500" y="3306466"/>
            <a:ext cx="209526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800">
                <a:latin typeface="Times New Roman" charset="0"/>
              </a:rPr>
              <a:t>t</a:t>
            </a:r>
            <a:endParaRPr lang="it-IT" altLang="it-IT" sz="2400">
              <a:latin typeface="Times New Roman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246996" y="3428397"/>
            <a:ext cx="727297" cy="416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2000" b="1" i="1">
                <a:latin typeface="Times New Roman" charset="0"/>
              </a:rPr>
              <a:t>client</a:t>
            </a:r>
            <a:endParaRPr lang="it-IT" altLang="it-IT" sz="2400">
              <a:latin typeface="Times New Roman" charset="0"/>
            </a:endParaRP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2218142" y="4495197"/>
            <a:ext cx="785005" cy="416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2000" b="1" i="1">
                <a:latin typeface="Times New Roman" charset="0"/>
              </a:rPr>
              <a:t>server</a:t>
            </a:r>
            <a:endParaRPr lang="it-IT" altLang="it-IT" sz="2400">
              <a:latin typeface="Times New Roman" charset="0"/>
            </a:endParaRP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3267476" y="3010797"/>
            <a:ext cx="1002500" cy="66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800" i="1" dirty="0">
                <a:latin typeface="Times New Roman" charset="0"/>
              </a:rPr>
              <a:t>“</a:t>
            </a:r>
            <a:r>
              <a:rPr lang="it-IT" altLang="it-IT" sz="1800" i="1" dirty="0" err="1">
                <a:latin typeface="Times New Roman" charset="0"/>
              </a:rPr>
              <a:t>reserve</a:t>
            </a:r>
            <a:r>
              <a:rPr lang="it-IT" altLang="it-IT" sz="1800" i="1" dirty="0">
                <a:latin typeface="Times New Roman" charset="0"/>
              </a:rPr>
              <a:t> </a:t>
            </a:r>
            <a:br>
              <a:rPr lang="it-IT" altLang="it-IT" sz="1800" i="1" dirty="0">
                <a:latin typeface="Times New Roman" charset="0"/>
              </a:rPr>
            </a:br>
            <a:r>
              <a:rPr lang="it-IT" altLang="it-IT" sz="1800" i="1" dirty="0">
                <a:latin typeface="Times New Roman" charset="0"/>
              </a:rPr>
              <a:t>a </a:t>
            </a:r>
            <a:r>
              <a:rPr lang="it-IT" altLang="it-IT" sz="1800" i="1" dirty="0" err="1">
                <a:latin typeface="Times New Roman" charset="0"/>
              </a:rPr>
              <a:t>seat</a:t>
            </a:r>
            <a:r>
              <a:rPr lang="it-IT" altLang="it-IT" sz="1800" i="1" dirty="0">
                <a:latin typeface="Times New Roman" charset="0"/>
              </a:rPr>
              <a:t>”</a:t>
            </a:r>
            <a:endParaRPr lang="it-IT" altLang="it-IT" sz="2400" dirty="0">
              <a:latin typeface="Times New Roman" charset="0"/>
            </a:endParaRPr>
          </a:p>
        </p:txBody>
      </p:sp>
      <p:sp>
        <p:nvSpPr>
          <p:cNvPr id="4110" name="Text Box 14"/>
          <p:cNvSpPr txBox="1">
            <a:spLocks noChangeArrowheads="1"/>
          </p:cNvSpPr>
          <p:nvPr/>
        </p:nvSpPr>
        <p:spPr bwMode="auto">
          <a:xfrm>
            <a:off x="4386434" y="3013423"/>
            <a:ext cx="1643702" cy="66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800" i="1" dirty="0">
                <a:latin typeface="Times New Roman" charset="0"/>
              </a:rPr>
              <a:t>“</a:t>
            </a:r>
            <a:r>
              <a:rPr lang="it-IT" altLang="it-IT" sz="1800" i="1" dirty="0" err="1">
                <a:latin typeface="Times New Roman" charset="0"/>
              </a:rPr>
              <a:t>cancel</a:t>
            </a:r>
            <a:br>
              <a:rPr lang="it-IT" altLang="it-IT" sz="1800" i="1" dirty="0">
                <a:latin typeface="Times New Roman" charset="0"/>
              </a:rPr>
            </a:br>
            <a:r>
              <a:rPr lang="it-IT" altLang="it-IT" sz="1800" i="1" dirty="0" err="1">
                <a:latin typeface="Times New Roman" charset="0"/>
              </a:rPr>
              <a:t>my</a:t>
            </a:r>
            <a:r>
              <a:rPr lang="it-IT" altLang="it-IT" sz="1800" i="1" dirty="0">
                <a:latin typeface="Times New Roman" charset="0"/>
              </a:rPr>
              <a:t> </a:t>
            </a:r>
            <a:r>
              <a:rPr lang="it-IT" altLang="it-IT" sz="1800" i="1" dirty="0" err="1">
                <a:latin typeface="Times New Roman" charset="0"/>
              </a:rPr>
              <a:t>reservation</a:t>
            </a:r>
            <a:r>
              <a:rPr lang="it-IT" altLang="it-IT" sz="1800" i="1" dirty="0">
                <a:latin typeface="Times New Roman" charset="0"/>
              </a:rPr>
              <a:t>”</a:t>
            </a:r>
            <a:endParaRPr lang="it-IT" altLang="it-IT" sz="2400" dirty="0">
              <a:latin typeface="Times New Roman" charset="0"/>
            </a:endParaRPr>
          </a:p>
        </p:txBody>
      </p:sp>
      <p:sp>
        <p:nvSpPr>
          <p:cNvPr id="4115" name="Text Box 19"/>
          <p:cNvSpPr txBox="1">
            <a:spLocks noChangeArrowheads="1"/>
          </p:cNvSpPr>
          <p:nvPr/>
        </p:nvSpPr>
        <p:spPr bwMode="auto">
          <a:xfrm>
            <a:off x="3596866" y="4757770"/>
            <a:ext cx="1051745" cy="60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Times New Roman" charset="0"/>
              </a:rPr>
              <a:t>“</a:t>
            </a:r>
            <a:r>
              <a:rPr lang="it-IT" altLang="it-IT" sz="1800" dirty="0" err="1">
                <a:latin typeface="Times New Roman" charset="0"/>
              </a:rPr>
              <a:t>Prices</a:t>
            </a:r>
            <a:r>
              <a:rPr lang="it-IT" altLang="it-IT" sz="1800" dirty="0">
                <a:latin typeface="Times New Roman" charset="0"/>
              </a:rPr>
              <a:t> </a:t>
            </a:r>
            <a:endParaRPr lang="it-IT" altLang="it-IT" sz="2400" dirty="0">
              <a:latin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Times New Roman" charset="0"/>
              </a:rPr>
              <a:t> 15% off”</a:t>
            </a:r>
            <a:endParaRPr lang="it-IT" altLang="it-IT" sz="2400" dirty="0">
              <a:latin typeface="Times New Roman" charset="0"/>
            </a:endParaRPr>
          </a:p>
        </p:txBody>
      </p:sp>
      <p:cxnSp>
        <p:nvCxnSpPr>
          <p:cNvPr id="3" name="Connettore 2 2"/>
          <p:cNvCxnSpPr>
            <a:stCxn id="4109" idx="2"/>
          </p:cNvCxnSpPr>
          <p:nvPr/>
        </p:nvCxnSpPr>
        <p:spPr>
          <a:xfrm>
            <a:off x="3768726" y="3673850"/>
            <a:ext cx="2908282" cy="1096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/>
          <p:cNvCxnSpPr>
            <a:stCxn id="4115" idx="0"/>
          </p:cNvCxnSpPr>
          <p:nvPr/>
        </p:nvCxnSpPr>
        <p:spPr>
          <a:xfrm flipV="1">
            <a:off x="4122739" y="4140194"/>
            <a:ext cx="525872" cy="617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/>
          <p:cNvCxnSpPr>
            <a:stCxn id="4110" idx="2"/>
          </p:cNvCxnSpPr>
          <p:nvPr/>
        </p:nvCxnSpPr>
        <p:spPr>
          <a:xfrm>
            <a:off x="5208285" y="3676476"/>
            <a:ext cx="603782" cy="1106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llout 1 13"/>
          <p:cNvSpPr/>
          <p:nvPr/>
        </p:nvSpPr>
        <p:spPr>
          <a:xfrm>
            <a:off x="6969088" y="3786188"/>
            <a:ext cx="2443517" cy="848603"/>
          </a:xfrm>
          <a:prstGeom prst="borderCallout1">
            <a:avLst>
              <a:gd name="adj1" fmla="val 18750"/>
              <a:gd name="adj2" fmla="val -8333"/>
              <a:gd name="adj3" fmla="val 111234"/>
              <a:gd name="adj4" fmla="val -467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server cancelled a reservation that has never been done! </a:t>
            </a:r>
          </a:p>
        </p:txBody>
      </p:sp>
    </p:spTree>
    <p:extLst>
      <p:ext uri="{BB962C8B-B14F-4D97-AF65-F5344CB8AC3E}">
        <p14:creationId xmlns:p14="http://schemas.microsoft.com/office/powerpoint/2010/main" val="114790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animBg="1"/>
      <p:bldP spid="4103" grpId="0" animBg="1"/>
      <p:bldP spid="4104" grpId="0"/>
      <p:bldP spid="4105" grpId="0"/>
      <p:bldP spid="4106" grpId="0"/>
      <p:bldP spid="4109" grpId="0"/>
      <p:bldP spid="4110" grpId="0"/>
      <p:bldP spid="4115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FIFO Broadcast - Specification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13" y="2528891"/>
            <a:ext cx="6431043" cy="3414713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925830" y="1885935"/>
            <a:ext cx="6260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FIFO Broadcast can be </a:t>
            </a:r>
            <a:r>
              <a:rPr lang="it-IT" sz="2000" dirty="0" err="1"/>
              <a:t>uniform</a:t>
            </a:r>
            <a:r>
              <a:rPr lang="it-IT" sz="2000" dirty="0"/>
              <a:t>/non </a:t>
            </a:r>
            <a:r>
              <a:rPr lang="it-IT" sz="2000" dirty="0" err="1"/>
              <a:t>uniform</a:t>
            </a:r>
            <a:endParaRPr lang="it-IT" sz="2000" dirty="0"/>
          </a:p>
        </p:txBody>
      </p:sp>
      <p:sp>
        <p:nvSpPr>
          <p:cNvPr id="6" name="Rettangolo arrotondato 5"/>
          <p:cNvSpPr/>
          <p:nvPr/>
        </p:nvSpPr>
        <p:spPr>
          <a:xfrm>
            <a:off x="7360380" y="2615696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FIFO Broadcast</a:t>
            </a:r>
          </a:p>
        </p:txBody>
      </p:sp>
      <p:cxnSp>
        <p:nvCxnSpPr>
          <p:cNvPr id="7" name="Connettore 2 6"/>
          <p:cNvCxnSpPr/>
          <p:nvPr/>
        </p:nvCxnSpPr>
        <p:spPr>
          <a:xfrm flipH="1" flipV="1">
            <a:off x="9232042" y="1737362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7239000" y="2096058"/>
            <a:ext cx="153205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Broadcast 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cxnSp>
        <p:nvCxnSpPr>
          <p:cNvPr id="9" name="Connettore 2 9"/>
          <p:cNvCxnSpPr/>
          <p:nvPr/>
        </p:nvCxnSpPr>
        <p:spPr>
          <a:xfrm>
            <a:off x="7844839" y="1847242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12"/>
          <p:cNvSpPr txBox="1"/>
          <p:nvPr/>
        </p:nvSpPr>
        <p:spPr>
          <a:xfrm>
            <a:off x="8788012" y="2096058"/>
            <a:ext cx="125181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</p:txBody>
      </p:sp>
      <p:sp>
        <p:nvSpPr>
          <p:cNvPr id="11" name="Right Brace 4"/>
          <p:cNvSpPr/>
          <p:nvPr/>
        </p:nvSpPr>
        <p:spPr>
          <a:xfrm>
            <a:off x="7051830" y="4608224"/>
            <a:ext cx="375051" cy="4570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5"/>
          <p:cNvSpPr txBox="1"/>
          <p:nvPr/>
        </p:nvSpPr>
        <p:spPr>
          <a:xfrm>
            <a:off x="7504438" y="4380666"/>
            <a:ext cx="2535388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as Reliable Broadcast (URB for Uniform </a:t>
            </a:r>
            <a:r>
              <a:rPr lang="en-US"/>
              <a:t>FIFO Broadcast</a:t>
            </a:r>
            <a:endParaRPr lang="en-US" dirty="0"/>
          </a:p>
        </p:txBody>
      </p:sp>
      <p:sp>
        <p:nvSpPr>
          <p:cNvPr id="13" name="Right Brace 6"/>
          <p:cNvSpPr/>
          <p:nvPr/>
        </p:nvSpPr>
        <p:spPr>
          <a:xfrm>
            <a:off x="7051830" y="5400401"/>
            <a:ext cx="375051" cy="436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7"/>
          <p:cNvSpPr txBox="1"/>
          <p:nvPr/>
        </p:nvSpPr>
        <p:spPr>
          <a:xfrm>
            <a:off x="7630465" y="5486129"/>
            <a:ext cx="194858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FIFO Order</a:t>
            </a:r>
            <a:endParaRPr lang="en-US" dirty="0"/>
          </a:p>
        </p:txBody>
      </p:sp>
      <p:sp>
        <p:nvSpPr>
          <p:cNvPr id="15" name="Plus 8"/>
          <p:cNvSpPr/>
          <p:nvPr/>
        </p:nvSpPr>
        <p:spPr>
          <a:xfrm>
            <a:off x="7843742" y="5130720"/>
            <a:ext cx="310222" cy="348898"/>
          </a:xfrm>
          <a:prstGeom prst="mathPlus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8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437A026-02E3-2542-932C-5585D619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163BEEAB-BE23-AB44-9888-660DD9FBD6C3}"/>
              </a:ext>
            </a:extLst>
          </p:cNvPr>
          <p:cNvCxnSpPr/>
          <p:nvPr/>
        </p:nvCxnSpPr>
        <p:spPr>
          <a:xfrm>
            <a:off x="1122218" y="2358736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ED33A39-2C65-C940-8855-C448B89B1099}"/>
              </a:ext>
            </a:extLst>
          </p:cNvPr>
          <p:cNvCxnSpPr/>
          <p:nvPr/>
        </p:nvCxnSpPr>
        <p:spPr>
          <a:xfrm>
            <a:off x="1122218" y="2926772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1A373BE-5854-1544-8BE5-D76489F480C7}"/>
              </a:ext>
            </a:extLst>
          </p:cNvPr>
          <p:cNvCxnSpPr/>
          <p:nvPr/>
        </p:nvCxnSpPr>
        <p:spPr>
          <a:xfrm>
            <a:off x="1122218" y="3622963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6FE2022-8144-1147-8E5A-F9F5AAE78C9A}"/>
              </a:ext>
            </a:extLst>
          </p:cNvPr>
          <p:cNvCxnSpPr/>
          <p:nvPr/>
        </p:nvCxnSpPr>
        <p:spPr>
          <a:xfrm>
            <a:off x="1506682" y="2119745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5E5BBC-6635-694E-8A75-D1244E546FEE}"/>
              </a:ext>
            </a:extLst>
          </p:cNvPr>
          <p:cNvSpPr txBox="1"/>
          <p:nvPr/>
        </p:nvSpPr>
        <p:spPr>
          <a:xfrm>
            <a:off x="1330036" y="17907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8E82F7D-AD72-E04B-964E-C9AC8F1D0380}"/>
              </a:ext>
            </a:extLst>
          </p:cNvPr>
          <p:cNvCxnSpPr/>
          <p:nvPr/>
        </p:nvCxnSpPr>
        <p:spPr>
          <a:xfrm>
            <a:off x="2490354" y="2119745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A027329-BBCC-AA42-8743-19923C22B957}"/>
              </a:ext>
            </a:extLst>
          </p:cNvPr>
          <p:cNvSpPr txBox="1"/>
          <p:nvPr/>
        </p:nvSpPr>
        <p:spPr>
          <a:xfrm>
            <a:off x="2313708" y="17907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96ED371-7070-0342-ABB6-F7A7279E65E2}"/>
              </a:ext>
            </a:extLst>
          </p:cNvPr>
          <p:cNvCxnSpPr/>
          <p:nvPr/>
        </p:nvCxnSpPr>
        <p:spPr>
          <a:xfrm>
            <a:off x="2026228" y="3424784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B23169-E91B-5D47-8E04-EB18A4EFD3DD}"/>
              </a:ext>
            </a:extLst>
          </p:cNvPr>
          <p:cNvSpPr txBox="1"/>
          <p:nvPr/>
        </p:nvSpPr>
        <p:spPr>
          <a:xfrm>
            <a:off x="1849582" y="3095740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4DE36FEF-4547-644D-9BD2-6CAB8BBF2DB8}"/>
              </a:ext>
            </a:extLst>
          </p:cNvPr>
          <p:cNvSpPr/>
          <p:nvPr/>
        </p:nvSpPr>
        <p:spPr>
          <a:xfrm>
            <a:off x="3169227" y="2005445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D2551D40-1B14-F646-A091-4A555AB67D60}"/>
              </a:ext>
            </a:extLst>
          </p:cNvPr>
          <p:cNvSpPr/>
          <p:nvPr/>
        </p:nvSpPr>
        <p:spPr>
          <a:xfrm>
            <a:off x="3640283" y="2001982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8EA1539E-B863-D649-ACDA-214A8F7CBA62}"/>
              </a:ext>
            </a:extLst>
          </p:cNvPr>
          <p:cNvSpPr/>
          <p:nvPr/>
        </p:nvSpPr>
        <p:spPr>
          <a:xfrm>
            <a:off x="4087094" y="2001981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5C4AFEA1-8D57-2B42-9A5F-C0FB04A343B6}"/>
              </a:ext>
            </a:extLst>
          </p:cNvPr>
          <p:cNvSpPr/>
          <p:nvPr/>
        </p:nvSpPr>
        <p:spPr>
          <a:xfrm>
            <a:off x="3169227" y="257347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256FD503-B792-9D42-9C97-E78FAD152E2A}"/>
              </a:ext>
            </a:extLst>
          </p:cNvPr>
          <p:cNvSpPr/>
          <p:nvPr/>
        </p:nvSpPr>
        <p:spPr>
          <a:xfrm>
            <a:off x="3640283" y="257001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ccia su 20">
            <a:extLst>
              <a:ext uri="{FF2B5EF4-FFF2-40B4-BE49-F238E27FC236}">
                <a16:creationId xmlns:a16="http://schemas.microsoft.com/office/drawing/2014/main" id="{15964EC4-977F-AC47-BD51-A2C3B6E10448}"/>
              </a:ext>
            </a:extLst>
          </p:cNvPr>
          <p:cNvSpPr/>
          <p:nvPr/>
        </p:nvSpPr>
        <p:spPr>
          <a:xfrm>
            <a:off x="4087094" y="2570015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3ED11D30-5995-BB4B-B052-3A34946791D9}"/>
              </a:ext>
            </a:extLst>
          </p:cNvPr>
          <p:cNvSpPr/>
          <p:nvPr/>
        </p:nvSpPr>
        <p:spPr>
          <a:xfrm>
            <a:off x="3131130" y="326966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6C374570-72AE-E449-B799-87A8E66CAF3F}"/>
              </a:ext>
            </a:extLst>
          </p:cNvPr>
          <p:cNvSpPr/>
          <p:nvPr/>
        </p:nvSpPr>
        <p:spPr>
          <a:xfrm>
            <a:off x="3602186" y="326620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E4BE4159-9527-5843-9248-5AC53160880B}"/>
              </a:ext>
            </a:extLst>
          </p:cNvPr>
          <p:cNvSpPr/>
          <p:nvPr/>
        </p:nvSpPr>
        <p:spPr>
          <a:xfrm>
            <a:off x="4048997" y="3266205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D544FC7-EAD5-2E47-9F53-D124E27CD497}"/>
              </a:ext>
            </a:extLst>
          </p:cNvPr>
          <p:cNvSpPr txBox="1"/>
          <p:nvPr/>
        </p:nvSpPr>
        <p:spPr>
          <a:xfrm>
            <a:off x="3030686" y="16805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E1D3A91-1F2E-A940-A1CA-8BDF421DC2F5}"/>
              </a:ext>
            </a:extLst>
          </p:cNvPr>
          <p:cNvSpPr txBox="1"/>
          <p:nvPr/>
        </p:nvSpPr>
        <p:spPr>
          <a:xfrm>
            <a:off x="3512124" y="169086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57609DB-6BC2-8245-9DBE-CA349A251887}"/>
              </a:ext>
            </a:extLst>
          </p:cNvPr>
          <p:cNvSpPr txBox="1"/>
          <p:nvPr/>
        </p:nvSpPr>
        <p:spPr>
          <a:xfrm>
            <a:off x="3983186" y="168976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58F0433-7C25-064B-8C43-81EE9A026FF2}"/>
              </a:ext>
            </a:extLst>
          </p:cNvPr>
          <p:cNvSpPr txBox="1"/>
          <p:nvPr/>
        </p:nvSpPr>
        <p:spPr>
          <a:xfrm>
            <a:off x="3056658" y="2309868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F256E70-D045-DB48-A36B-7C65AF973D08}"/>
              </a:ext>
            </a:extLst>
          </p:cNvPr>
          <p:cNvSpPr txBox="1"/>
          <p:nvPr/>
        </p:nvSpPr>
        <p:spPr>
          <a:xfrm>
            <a:off x="3976252" y="228891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B260A58-3CF2-514B-9981-313C5D10EC31}"/>
              </a:ext>
            </a:extLst>
          </p:cNvPr>
          <p:cNvSpPr txBox="1"/>
          <p:nvPr/>
        </p:nvSpPr>
        <p:spPr>
          <a:xfrm>
            <a:off x="3524251" y="228891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0C607FD-0981-364D-940B-2D106FA4AFCD}"/>
              </a:ext>
            </a:extLst>
          </p:cNvPr>
          <p:cNvSpPr txBox="1"/>
          <p:nvPr/>
        </p:nvSpPr>
        <p:spPr>
          <a:xfrm>
            <a:off x="3510392" y="2924576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06B4D3D-4BA5-024C-906A-87459E6F788F}"/>
              </a:ext>
            </a:extLst>
          </p:cNvPr>
          <p:cNvSpPr txBox="1"/>
          <p:nvPr/>
        </p:nvSpPr>
        <p:spPr>
          <a:xfrm>
            <a:off x="3945945" y="2913000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E975D1C-753C-264F-AEE2-DC156E53DC69}"/>
              </a:ext>
            </a:extLst>
          </p:cNvPr>
          <p:cNvSpPr txBox="1"/>
          <p:nvPr/>
        </p:nvSpPr>
        <p:spPr>
          <a:xfrm>
            <a:off x="3002972" y="2953469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4E23D93-3862-FF43-A5DA-DEDCFA1AA9A4}"/>
              </a:ext>
            </a:extLst>
          </p:cNvPr>
          <p:cNvSpPr txBox="1"/>
          <p:nvPr/>
        </p:nvSpPr>
        <p:spPr>
          <a:xfrm>
            <a:off x="5642264" y="2630544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Uniform Reliable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3A78280-E5FB-D042-B598-7CF49AD98D28}"/>
              </a:ext>
            </a:extLst>
          </p:cNvPr>
          <p:cNvCxnSpPr/>
          <p:nvPr/>
        </p:nvCxnSpPr>
        <p:spPr>
          <a:xfrm>
            <a:off x="1082385" y="4735420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8928DE4C-A35D-2641-8ED0-CE0C7BE4363C}"/>
              </a:ext>
            </a:extLst>
          </p:cNvPr>
          <p:cNvCxnSpPr/>
          <p:nvPr/>
        </p:nvCxnSpPr>
        <p:spPr>
          <a:xfrm>
            <a:off x="1082385" y="5303456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803CD58E-C7B7-1F42-8BA1-A3751B7E77F5}"/>
              </a:ext>
            </a:extLst>
          </p:cNvPr>
          <p:cNvCxnSpPr/>
          <p:nvPr/>
        </p:nvCxnSpPr>
        <p:spPr>
          <a:xfrm>
            <a:off x="1082385" y="5999647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35A76920-1C24-E842-99E4-E604D57A2F16}"/>
              </a:ext>
            </a:extLst>
          </p:cNvPr>
          <p:cNvCxnSpPr/>
          <p:nvPr/>
        </p:nvCxnSpPr>
        <p:spPr>
          <a:xfrm>
            <a:off x="1466849" y="4496429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237A448-0330-074F-B9D3-52AF0C581ECE}"/>
              </a:ext>
            </a:extLst>
          </p:cNvPr>
          <p:cNvSpPr txBox="1"/>
          <p:nvPr/>
        </p:nvSpPr>
        <p:spPr>
          <a:xfrm>
            <a:off x="1290203" y="41673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FB24BAC5-FEED-2E45-9415-14EB9FA09B40}"/>
              </a:ext>
            </a:extLst>
          </p:cNvPr>
          <p:cNvCxnSpPr/>
          <p:nvPr/>
        </p:nvCxnSpPr>
        <p:spPr>
          <a:xfrm>
            <a:off x="2450521" y="4496429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DD4C74D-AEB8-2F4C-8265-B28084337592}"/>
              </a:ext>
            </a:extLst>
          </p:cNvPr>
          <p:cNvSpPr txBox="1"/>
          <p:nvPr/>
        </p:nvSpPr>
        <p:spPr>
          <a:xfrm>
            <a:off x="2273875" y="41673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CCC59F15-28D7-1044-82E1-A63159A5E4A1}"/>
              </a:ext>
            </a:extLst>
          </p:cNvPr>
          <p:cNvCxnSpPr/>
          <p:nvPr/>
        </p:nvCxnSpPr>
        <p:spPr>
          <a:xfrm>
            <a:off x="1986395" y="5801468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310C648D-F2D4-834F-9236-B5AFA935A937}"/>
              </a:ext>
            </a:extLst>
          </p:cNvPr>
          <p:cNvSpPr txBox="1"/>
          <p:nvPr/>
        </p:nvSpPr>
        <p:spPr>
          <a:xfrm>
            <a:off x="1809749" y="5472424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44" name="Freccia su 43">
            <a:extLst>
              <a:ext uri="{FF2B5EF4-FFF2-40B4-BE49-F238E27FC236}">
                <a16:creationId xmlns:a16="http://schemas.microsoft.com/office/drawing/2014/main" id="{AFD0802D-6E4F-664E-A608-D87CB6E348CD}"/>
              </a:ext>
            </a:extLst>
          </p:cNvPr>
          <p:cNvSpPr/>
          <p:nvPr/>
        </p:nvSpPr>
        <p:spPr>
          <a:xfrm>
            <a:off x="3129394" y="438212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ccia su 44">
            <a:extLst>
              <a:ext uri="{FF2B5EF4-FFF2-40B4-BE49-F238E27FC236}">
                <a16:creationId xmlns:a16="http://schemas.microsoft.com/office/drawing/2014/main" id="{99040A5C-0107-5844-BCFB-E1EA9DAF2E98}"/>
              </a:ext>
            </a:extLst>
          </p:cNvPr>
          <p:cNvSpPr/>
          <p:nvPr/>
        </p:nvSpPr>
        <p:spPr>
          <a:xfrm>
            <a:off x="3600450" y="437866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ccia su 46">
            <a:extLst>
              <a:ext uri="{FF2B5EF4-FFF2-40B4-BE49-F238E27FC236}">
                <a16:creationId xmlns:a16="http://schemas.microsoft.com/office/drawing/2014/main" id="{C39A3E1F-388C-9B46-B513-853B64EE5EB1}"/>
              </a:ext>
            </a:extLst>
          </p:cNvPr>
          <p:cNvSpPr/>
          <p:nvPr/>
        </p:nvSpPr>
        <p:spPr>
          <a:xfrm>
            <a:off x="3129394" y="4950163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ccia su 48">
            <a:extLst>
              <a:ext uri="{FF2B5EF4-FFF2-40B4-BE49-F238E27FC236}">
                <a16:creationId xmlns:a16="http://schemas.microsoft.com/office/drawing/2014/main" id="{D1F4BA0B-78A7-494E-9AD1-2F0FCCFB3EAC}"/>
              </a:ext>
            </a:extLst>
          </p:cNvPr>
          <p:cNvSpPr/>
          <p:nvPr/>
        </p:nvSpPr>
        <p:spPr>
          <a:xfrm>
            <a:off x="4047261" y="494669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ccia su 49">
            <a:extLst>
              <a:ext uri="{FF2B5EF4-FFF2-40B4-BE49-F238E27FC236}">
                <a16:creationId xmlns:a16="http://schemas.microsoft.com/office/drawing/2014/main" id="{3140E69D-6514-6D4D-8C8C-4F57A0B10917}"/>
              </a:ext>
            </a:extLst>
          </p:cNvPr>
          <p:cNvSpPr/>
          <p:nvPr/>
        </p:nvSpPr>
        <p:spPr>
          <a:xfrm>
            <a:off x="3091297" y="5646353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reccia su 50">
            <a:extLst>
              <a:ext uri="{FF2B5EF4-FFF2-40B4-BE49-F238E27FC236}">
                <a16:creationId xmlns:a16="http://schemas.microsoft.com/office/drawing/2014/main" id="{DAC3CE06-64C0-0C4A-BCF2-BEA2EBA02A2D}"/>
              </a:ext>
            </a:extLst>
          </p:cNvPr>
          <p:cNvSpPr/>
          <p:nvPr/>
        </p:nvSpPr>
        <p:spPr>
          <a:xfrm>
            <a:off x="3562353" y="5642890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reccia su 51">
            <a:extLst>
              <a:ext uri="{FF2B5EF4-FFF2-40B4-BE49-F238E27FC236}">
                <a16:creationId xmlns:a16="http://schemas.microsoft.com/office/drawing/2014/main" id="{3F388895-2C9B-8342-B122-4DFA02B1F258}"/>
              </a:ext>
            </a:extLst>
          </p:cNvPr>
          <p:cNvSpPr/>
          <p:nvPr/>
        </p:nvSpPr>
        <p:spPr>
          <a:xfrm>
            <a:off x="4009164" y="564288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59439D2-0B23-1A40-945E-7C51935EFBEE}"/>
              </a:ext>
            </a:extLst>
          </p:cNvPr>
          <p:cNvSpPr txBox="1"/>
          <p:nvPr/>
        </p:nvSpPr>
        <p:spPr>
          <a:xfrm>
            <a:off x="2990853" y="40571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FB57FDC-E95B-EB49-8C29-81C4C6D44427}"/>
              </a:ext>
            </a:extLst>
          </p:cNvPr>
          <p:cNvSpPr txBox="1"/>
          <p:nvPr/>
        </p:nvSpPr>
        <p:spPr>
          <a:xfrm>
            <a:off x="3472291" y="406754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841ABAD-75E4-4248-A19F-00996C1D1752}"/>
              </a:ext>
            </a:extLst>
          </p:cNvPr>
          <p:cNvSpPr txBox="1"/>
          <p:nvPr/>
        </p:nvSpPr>
        <p:spPr>
          <a:xfrm>
            <a:off x="3016825" y="468655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8DD22FD1-5E4C-AF40-AA5C-997694A829C3}"/>
              </a:ext>
            </a:extLst>
          </p:cNvPr>
          <p:cNvSpPr txBox="1"/>
          <p:nvPr/>
        </p:nvSpPr>
        <p:spPr>
          <a:xfrm>
            <a:off x="3936419" y="4665596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2DA8A14C-8476-3C45-9BD3-BAC4A3423BCD}"/>
              </a:ext>
            </a:extLst>
          </p:cNvPr>
          <p:cNvSpPr txBox="1"/>
          <p:nvPr/>
        </p:nvSpPr>
        <p:spPr>
          <a:xfrm>
            <a:off x="3470559" y="5301260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C4C01119-0811-9D4B-8365-FFF609DF71A6}"/>
              </a:ext>
            </a:extLst>
          </p:cNvPr>
          <p:cNvSpPr txBox="1"/>
          <p:nvPr/>
        </p:nvSpPr>
        <p:spPr>
          <a:xfrm>
            <a:off x="3906112" y="5289684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97257F9-CE67-4F4E-8D93-3EAAF77048E7}"/>
              </a:ext>
            </a:extLst>
          </p:cNvPr>
          <p:cNvSpPr txBox="1"/>
          <p:nvPr/>
        </p:nvSpPr>
        <p:spPr>
          <a:xfrm>
            <a:off x="2963139" y="5330153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62" name="Esplosione 1 61">
            <a:extLst>
              <a:ext uri="{FF2B5EF4-FFF2-40B4-BE49-F238E27FC236}">
                <a16:creationId xmlns:a16="http://schemas.microsoft.com/office/drawing/2014/main" id="{058EFBD8-0296-934C-964A-16BD1CB01855}"/>
              </a:ext>
            </a:extLst>
          </p:cNvPr>
          <p:cNvSpPr/>
          <p:nvPr/>
        </p:nvSpPr>
        <p:spPr>
          <a:xfrm>
            <a:off x="4330847" y="5691164"/>
            <a:ext cx="343769" cy="5764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1EE9836E-0BF3-C34F-8D80-5F754775510D}"/>
              </a:ext>
            </a:extLst>
          </p:cNvPr>
          <p:cNvSpPr txBox="1"/>
          <p:nvPr/>
        </p:nvSpPr>
        <p:spPr>
          <a:xfrm>
            <a:off x="5583380" y="4972677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(Regular) Reliable</a:t>
            </a:r>
          </a:p>
        </p:txBody>
      </p:sp>
    </p:spTree>
    <p:extLst>
      <p:ext uri="{BB962C8B-B14F-4D97-AF65-F5344CB8AC3E}">
        <p14:creationId xmlns:p14="http://schemas.microsoft.com/office/powerpoint/2010/main" val="108422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3" grpId="0"/>
      <p:bldP spid="44" grpId="0" animBg="1"/>
      <p:bldP spid="45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6" grpId="0"/>
      <p:bldP spid="57" grpId="0"/>
      <p:bldP spid="59" grpId="0"/>
      <p:bldP spid="60" grpId="0"/>
      <p:bldP spid="61" grpId="0"/>
      <p:bldP spid="62" grpId="0" animBg="1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437A026-02E3-2542-932C-5585D619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163BEEAB-BE23-AB44-9888-660DD9FBD6C3}"/>
              </a:ext>
            </a:extLst>
          </p:cNvPr>
          <p:cNvCxnSpPr/>
          <p:nvPr/>
        </p:nvCxnSpPr>
        <p:spPr>
          <a:xfrm>
            <a:off x="1122218" y="2358736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ED33A39-2C65-C940-8855-C448B89B1099}"/>
              </a:ext>
            </a:extLst>
          </p:cNvPr>
          <p:cNvCxnSpPr/>
          <p:nvPr/>
        </p:nvCxnSpPr>
        <p:spPr>
          <a:xfrm>
            <a:off x="1122218" y="2926772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1A373BE-5854-1544-8BE5-D76489F480C7}"/>
              </a:ext>
            </a:extLst>
          </p:cNvPr>
          <p:cNvCxnSpPr/>
          <p:nvPr/>
        </p:nvCxnSpPr>
        <p:spPr>
          <a:xfrm>
            <a:off x="1122218" y="3622963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6FE2022-8144-1147-8E5A-F9F5AAE78C9A}"/>
              </a:ext>
            </a:extLst>
          </p:cNvPr>
          <p:cNvCxnSpPr/>
          <p:nvPr/>
        </p:nvCxnSpPr>
        <p:spPr>
          <a:xfrm>
            <a:off x="1506682" y="2119745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5E5BBC-6635-694E-8A75-D1244E546FEE}"/>
              </a:ext>
            </a:extLst>
          </p:cNvPr>
          <p:cNvSpPr txBox="1"/>
          <p:nvPr/>
        </p:nvSpPr>
        <p:spPr>
          <a:xfrm>
            <a:off x="1330036" y="17907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8E82F7D-AD72-E04B-964E-C9AC8F1D0380}"/>
              </a:ext>
            </a:extLst>
          </p:cNvPr>
          <p:cNvCxnSpPr/>
          <p:nvPr/>
        </p:nvCxnSpPr>
        <p:spPr>
          <a:xfrm>
            <a:off x="2490354" y="2119745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A027329-BBCC-AA42-8743-19923C22B957}"/>
              </a:ext>
            </a:extLst>
          </p:cNvPr>
          <p:cNvSpPr txBox="1"/>
          <p:nvPr/>
        </p:nvSpPr>
        <p:spPr>
          <a:xfrm>
            <a:off x="2313708" y="17907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96ED371-7070-0342-ABB6-F7A7279E65E2}"/>
              </a:ext>
            </a:extLst>
          </p:cNvPr>
          <p:cNvCxnSpPr/>
          <p:nvPr/>
        </p:nvCxnSpPr>
        <p:spPr>
          <a:xfrm>
            <a:off x="2026228" y="3424784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B23169-E91B-5D47-8E04-EB18A4EFD3DD}"/>
              </a:ext>
            </a:extLst>
          </p:cNvPr>
          <p:cNvSpPr txBox="1"/>
          <p:nvPr/>
        </p:nvSpPr>
        <p:spPr>
          <a:xfrm>
            <a:off x="1849582" y="3095740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4DE36FEF-4547-644D-9BD2-6CAB8BBF2DB8}"/>
              </a:ext>
            </a:extLst>
          </p:cNvPr>
          <p:cNvSpPr/>
          <p:nvPr/>
        </p:nvSpPr>
        <p:spPr>
          <a:xfrm>
            <a:off x="3169227" y="2005445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D2551D40-1B14-F646-A091-4A555AB67D60}"/>
              </a:ext>
            </a:extLst>
          </p:cNvPr>
          <p:cNvSpPr/>
          <p:nvPr/>
        </p:nvSpPr>
        <p:spPr>
          <a:xfrm>
            <a:off x="3640283" y="2001982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8EA1539E-B863-D649-ACDA-214A8F7CBA62}"/>
              </a:ext>
            </a:extLst>
          </p:cNvPr>
          <p:cNvSpPr/>
          <p:nvPr/>
        </p:nvSpPr>
        <p:spPr>
          <a:xfrm>
            <a:off x="4087094" y="2001981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5C4AFEA1-8D57-2B42-9A5F-C0FB04A343B6}"/>
              </a:ext>
            </a:extLst>
          </p:cNvPr>
          <p:cNvSpPr/>
          <p:nvPr/>
        </p:nvSpPr>
        <p:spPr>
          <a:xfrm>
            <a:off x="3169227" y="257347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256FD503-B792-9D42-9C97-E78FAD152E2A}"/>
              </a:ext>
            </a:extLst>
          </p:cNvPr>
          <p:cNvSpPr/>
          <p:nvPr/>
        </p:nvSpPr>
        <p:spPr>
          <a:xfrm>
            <a:off x="3640283" y="257001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3ED11D30-5995-BB4B-B052-3A34946791D9}"/>
              </a:ext>
            </a:extLst>
          </p:cNvPr>
          <p:cNvSpPr/>
          <p:nvPr/>
        </p:nvSpPr>
        <p:spPr>
          <a:xfrm>
            <a:off x="3131130" y="326966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6C374570-72AE-E449-B799-87A8E66CAF3F}"/>
              </a:ext>
            </a:extLst>
          </p:cNvPr>
          <p:cNvSpPr/>
          <p:nvPr/>
        </p:nvSpPr>
        <p:spPr>
          <a:xfrm>
            <a:off x="3602186" y="326620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D544FC7-EAD5-2E47-9F53-D124E27CD497}"/>
              </a:ext>
            </a:extLst>
          </p:cNvPr>
          <p:cNvSpPr txBox="1"/>
          <p:nvPr/>
        </p:nvSpPr>
        <p:spPr>
          <a:xfrm>
            <a:off x="3030686" y="16805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E1D3A91-1F2E-A940-A1CA-8BDF421DC2F5}"/>
              </a:ext>
            </a:extLst>
          </p:cNvPr>
          <p:cNvSpPr txBox="1"/>
          <p:nvPr/>
        </p:nvSpPr>
        <p:spPr>
          <a:xfrm>
            <a:off x="3512124" y="169086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57609DB-6BC2-8245-9DBE-CA349A251887}"/>
              </a:ext>
            </a:extLst>
          </p:cNvPr>
          <p:cNvSpPr txBox="1"/>
          <p:nvPr/>
        </p:nvSpPr>
        <p:spPr>
          <a:xfrm>
            <a:off x="3983186" y="168976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58F0433-7C25-064B-8C43-81EE9A026FF2}"/>
              </a:ext>
            </a:extLst>
          </p:cNvPr>
          <p:cNvSpPr txBox="1"/>
          <p:nvPr/>
        </p:nvSpPr>
        <p:spPr>
          <a:xfrm>
            <a:off x="3056658" y="2309868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B260A58-3CF2-514B-9981-313C5D10EC31}"/>
              </a:ext>
            </a:extLst>
          </p:cNvPr>
          <p:cNvSpPr txBox="1"/>
          <p:nvPr/>
        </p:nvSpPr>
        <p:spPr>
          <a:xfrm>
            <a:off x="3524251" y="228891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0C607FD-0981-364D-940B-2D106FA4AFCD}"/>
              </a:ext>
            </a:extLst>
          </p:cNvPr>
          <p:cNvSpPr txBox="1"/>
          <p:nvPr/>
        </p:nvSpPr>
        <p:spPr>
          <a:xfrm>
            <a:off x="3510392" y="2924576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E975D1C-753C-264F-AEE2-DC156E53DC69}"/>
              </a:ext>
            </a:extLst>
          </p:cNvPr>
          <p:cNvSpPr txBox="1"/>
          <p:nvPr/>
        </p:nvSpPr>
        <p:spPr>
          <a:xfrm>
            <a:off x="3002972" y="2953469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3A78280-E5FB-D042-B598-7CF49AD98D28}"/>
              </a:ext>
            </a:extLst>
          </p:cNvPr>
          <p:cNvCxnSpPr/>
          <p:nvPr/>
        </p:nvCxnSpPr>
        <p:spPr>
          <a:xfrm>
            <a:off x="1082385" y="4735420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8928DE4C-A35D-2641-8ED0-CE0C7BE4363C}"/>
              </a:ext>
            </a:extLst>
          </p:cNvPr>
          <p:cNvCxnSpPr/>
          <p:nvPr/>
        </p:nvCxnSpPr>
        <p:spPr>
          <a:xfrm>
            <a:off x="1082385" y="5303456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803CD58E-C7B7-1F42-8BA1-A3751B7E77F5}"/>
              </a:ext>
            </a:extLst>
          </p:cNvPr>
          <p:cNvCxnSpPr/>
          <p:nvPr/>
        </p:nvCxnSpPr>
        <p:spPr>
          <a:xfrm>
            <a:off x="1082385" y="5999647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35A76920-1C24-E842-99E4-E604D57A2F16}"/>
              </a:ext>
            </a:extLst>
          </p:cNvPr>
          <p:cNvCxnSpPr/>
          <p:nvPr/>
        </p:nvCxnSpPr>
        <p:spPr>
          <a:xfrm>
            <a:off x="1466849" y="4496429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237A448-0330-074F-B9D3-52AF0C581ECE}"/>
              </a:ext>
            </a:extLst>
          </p:cNvPr>
          <p:cNvSpPr txBox="1"/>
          <p:nvPr/>
        </p:nvSpPr>
        <p:spPr>
          <a:xfrm>
            <a:off x="1290203" y="41673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FB24BAC5-FEED-2E45-9415-14EB9FA09B40}"/>
              </a:ext>
            </a:extLst>
          </p:cNvPr>
          <p:cNvCxnSpPr/>
          <p:nvPr/>
        </p:nvCxnSpPr>
        <p:spPr>
          <a:xfrm>
            <a:off x="2450521" y="4496429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DD4C74D-AEB8-2F4C-8265-B28084337592}"/>
              </a:ext>
            </a:extLst>
          </p:cNvPr>
          <p:cNvSpPr txBox="1"/>
          <p:nvPr/>
        </p:nvSpPr>
        <p:spPr>
          <a:xfrm>
            <a:off x="2273875" y="41673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CCC59F15-28D7-1044-82E1-A63159A5E4A1}"/>
              </a:ext>
            </a:extLst>
          </p:cNvPr>
          <p:cNvCxnSpPr/>
          <p:nvPr/>
        </p:nvCxnSpPr>
        <p:spPr>
          <a:xfrm>
            <a:off x="1986395" y="5801468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310C648D-F2D4-834F-9236-B5AFA935A937}"/>
              </a:ext>
            </a:extLst>
          </p:cNvPr>
          <p:cNvSpPr txBox="1"/>
          <p:nvPr/>
        </p:nvSpPr>
        <p:spPr>
          <a:xfrm>
            <a:off x="1809749" y="5472424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44" name="Freccia su 43">
            <a:extLst>
              <a:ext uri="{FF2B5EF4-FFF2-40B4-BE49-F238E27FC236}">
                <a16:creationId xmlns:a16="http://schemas.microsoft.com/office/drawing/2014/main" id="{AFD0802D-6E4F-664E-A608-D87CB6E348CD}"/>
              </a:ext>
            </a:extLst>
          </p:cNvPr>
          <p:cNvSpPr/>
          <p:nvPr/>
        </p:nvSpPr>
        <p:spPr>
          <a:xfrm>
            <a:off x="3129394" y="438212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ccia su 44">
            <a:extLst>
              <a:ext uri="{FF2B5EF4-FFF2-40B4-BE49-F238E27FC236}">
                <a16:creationId xmlns:a16="http://schemas.microsoft.com/office/drawing/2014/main" id="{99040A5C-0107-5844-BCFB-E1EA9DAF2E98}"/>
              </a:ext>
            </a:extLst>
          </p:cNvPr>
          <p:cNvSpPr/>
          <p:nvPr/>
        </p:nvSpPr>
        <p:spPr>
          <a:xfrm>
            <a:off x="3600450" y="437866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ccia su 46">
            <a:extLst>
              <a:ext uri="{FF2B5EF4-FFF2-40B4-BE49-F238E27FC236}">
                <a16:creationId xmlns:a16="http://schemas.microsoft.com/office/drawing/2014/main" id="{C39A3E1F-388C-9B46-B513-853B64EE5EB1}"/>
              </a:ext>
            </a:extLst>
          </p:cNvPr>
          <p:cNvSpPr/>
          <p:nvPr/>
        </p:nvSpPr>
        <p:spPr>
          <a:xfrm>
            <a:off x="3129394" y="4950163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ccia su 48">
            <a:extLst>
              <a:ext uri="{FF2B5EF4-FFF2-40B4-BE49-F238E27FC236}">
                <a16:creationId xmlns:a16="http://schemas.microsoft.com/office/drawing/2014/main" id="{D1F4BA0B-78A7-494E-9AD1-2F0FCCFB3EAC}"/>
              </a:ext>
            </a:extLst>
          </p:cNvPr>
          <p:cNvSpPr/>
          <p:nvPr/>
        </p:nvSpPr>
        <p:spPr>
          <a:xfrm>
            <a:off x="4047261" y="494669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ccia su 49">
            <a:extLst>
              <a:ext uri="{FF2B5EF4-FFF2-40B4-BE49-F238E27FC236}">
                <a16:creationId xmlns:a16="http://schemas.microsoft.com/office/drawing/2014/main" id="{3140E69D-6514-6D4D-8C8C-4F57A0B10917}"/>
              </a:ext>
            </a:extLst>
          </p:cNvPr>
          <p:cNvSpPr/>
          <p:nvPr/>
        </p:nvSpPr>
        <p:spPr>
          <a:xfrm>
            <a:off x="3091297" y="5646353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reccia su 50">
            <a:extLst>
              <a:ext uri="{FF2B5EF4-FFF2-40B4-BE49-F238E27FC236}">
                <a16:creationId xmlns:a16="http://schemas.microsoft.com/office/drawing/2014/main" id="{DAC3CE06-64C0-0C4A-BCF2-BEA2EBA02A2D}"/>
              </a:ext>
            </a:extLst>
          </p:cNvPr>
          <p:cNvSpPr/>
          <p:nvPr/>
        </p:nvSpPr>
        <p:spPr>
          <a:xfrm>
            <a:off x="3562353" y="5642890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reccia su 51">
            <a:extLst>
              <a:ext uri="{FF2B5EF4-FFF2-40B4-BE49-F238E27FC236}">
                <a16:creationId xmlns:a16="http://schemas.microsoft.com/office/drawing/2014/main" id="{3F388895-2C9B-8342-B122-4DFA02B1F258}"/>
              </a:ext>
            </a:extLst>
          </p:cNvPr>
          <p:cNvSpPr/>
          <p:nvPr/>
        </p:nvSpPr>
        <p:spPr>
          <a:xfrm>
            <a:off x="4009164" y="564288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59439D2-0B23-1A40-945E-7C51935EFBEE}"/>
              </a:ext>
            </a:extLst>
          </p:cNvPr>
          <p:cNvSpPr txBox="1"/>
          <p:nvPr/>
        </p:nvSpPr>
        <p:spPr>
          <a:xfrm>
            <a:off x="2990853" y="40571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FB57FDC-E95B-EB49-8C29-81C4C6D44427}"/>
              </a:ext>
            </a:extLst>
          </p:cNvPr>
          <p:cNvSpPr txBox="1"/>
          <p:nvPr/>
        </p:nvSpPr>
        <p:spPr>
          <a:xfrm>
            <a:off x="3472291" y="406754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841ABAD-75E4-4248-A19F-00996C1D1752}"/>
              </a:ext>
            </a:extLst>
          </p:cNvPr>
          <p:cNvSpPr txBox="1"/>
          <p:nvPr/>
        </p:nvSpPr>
        <p:spPr>
          <a:xfrm>
            <a:off x="3016825" y="468655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8DD22FD1-5E4C-AF40-AA5C-997694A829C3}"/>
              </a:ext>
            </a:extLst>
          </p:cNvPr>
          <p:cNvSpPr txBox="1"/>
          <p:nvPr/>
        </p:nvSpPr>
        <p:spPr>
          <a:xfrm>
            <a:off x="3936419" y="4665596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2DA8A14C-8476-3C45-9BD3-BAC4A3423BCD}"/>
              </a:ext>
            </a:extLst>
          </p:cNvPr>
          <p:cNvSpPr txBox="1"/>
          <p:nvPr/>
        </p:nvSpPr>
        <p:spPr>
          <a:xfrm>
            <a:off x="3470559" y="5301260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C4C01119-0811-9D4B-8365-FFF609DF71A6}"/>
              </a:ext>
            </a:extLst>
          </p:cNvPr>
          <p:cNvSpPr txBox="1"/>
          <p:nvPr/>
        </p:nvSpPr>
        <p:spPr>
          <a:xfrm>
            <a:off x="3906112" y="5289684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97257F9-CE67-4F4E-8D93-3EAAF77048E7}"/>
              </a:ext>
            </a:extLst>
          </p:cNvPr>
          <p:cNvSpPr txBox="1"/>
          <p:nvPr/>
        </p:nvSpPr>
        <p:spPr>
          <a:xfrm>
            <a:off x="2963139" y="5330153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62" name="Esplosione 1 61">
            <a:extLst>
              <a:ext uri="{FF2B5EF4-FFF2-40B4-BE49-F238E27FC236}">
                <a16:creationId xmlns:a16="http://schemas.microsoft.com/office/drawing/2014/main" id="{058EFBD8-0296-934C-964A-16BD1CB01855}"/>
              </a:ext>
            </a:extLst>
          </p:cNvPr>
          <p:cNvSpPr/>
          <p:nvPr/>
        </p:nvSpPr>
        <p:spPr>
          <a:xfrm>
            <a:off x="4350323" y="4383140"/>
            <a:ext cx="343769" cy="5764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1EE9836E-0BF3-C34F-8D80-5F754775510D}"/>
              </a:ext>
            </a:extLst>
          </p:cNvPr>
          <p:cNvSpPr txBox="1"/>
          <p:nvPr/>
        </p:nvSpPr>
        <p:spPr>
          <a:xfrm>
            <a:off x="5910692" y="2723943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(Regular) Reliable</a:t>
            </a:r>
          </a:p>
        </p:txBody>
      </p:sp>
      <p:sp>
        <p:nvSpPr>
          <p:cNvPr id="58" name="Esplosione 1 57">
            <a:extLst>
              <a:ext uri="{FF2B5EF4-FFF2-40B4-BE49-F238E27FC236}">
                <a16:creationId xmlns:a16="http://schemas.microsoft.com/office/drawing/2014/main" id="{75BCF473-6C95-D442-9CB4-09824DDDC736}"/>
              </a:ext>
            </a:extLst>
          </p:cNvPr>
          <p:cNvSpPr/>
          <p:nvPr/>
        </p:nvSpPr>
        <p:spPr>
          <a:xfrm>
            <a:off x="4442544" y="2051629"/>
            <a:ext cx="343769" cy="5764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868A377-8ADC-CD46-8A32-B3179092F4BE}"/>
              </a:ext>
            </a:extLst>
          </p:cNvPr>
          <p:cNvSpPr txBox="1"/>
          <p:nvPr/>
        </p:nvSpPr>
        <p:spPr>
          <a:xfrm>
            <a:off x="5910692" y="4943239"/>
            <a:ext cx="247303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 Reliable but it satisfies FIFO Order</a:t>
            </a:r>
          </a:p>
        </p:txBody>
      </p:sp>
    </p:spTree>
    <p:extLst>
      <p:ext uri="{BB962C8B-B14F-4D97-AF65-F5344CB8AC3E}">
        <p14:creationId xmlns:p14="http://schemas.microsoft.com/office/powerpoint/2010/main" val="346773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3" grpId="0"/>
      <p:bldP spid="44" grpId="0" animBg="1"/>
      <p:bldP spid="45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6" grpId="0"/>
      <p:bldP spid="57" grpId="0"/>
      <p:bldP spid="59" grpId="0"/>
      <p:bldP spid="60" grpId="0"/>
      <p:bldP spid="61" grpId="0"/>
      <p:bldP spid="62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437A026-02E3-2542-932C-5585D619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163BEEAB-BE23-AB44-9888-660DD9FBD6C3}"/>
              </a:ext>
            </a:extLst>
          </p:cNvPr>
          <p:cNvCxnSpPr/>
          <p:nvPr/>
        </p:nvCxnSpPr>
        <p:spPr>
          <a:xfrm>
            <a:off x="1122218" y="2358736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ED33A39-2C65-C940-8855-C448B89B1099}"/>
              </a:ext>
            </a:extLst>
          </p:cNvPr>
          <p:cNvCxnSpPr/>
          <p:nvPr/>
        </p:nvCxnSpPr>
        <p:spPr>
          <a:xfrm>
            <a:off x="1122218" y="2926772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1A373BE-5854-1544-8BE5-D76489F480C7}"/>
              </a:ext>
            </a:extLst>
          </p:cNvPr>
          <p:cNvCxnSpPr/>
          <p:nvPr/>
        </p:nvCxnSpPr>
        <p:spPr>
          <a:xfrm>
            <a:off x="1122218" y="3622963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6FE2022-8144-1147-8E5A-F9F5AAE78C9A}"/>
              </a:ext>
            </a:extLst>
          </p:cNvPr>
          <p:cNvCxnSpPr/>
          <p:nvPr/>
        </p:nvCxnSpPr>
        <p:spPr>
          <a:xfrm>
            <a:off x="1506682" y="2119745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5E5BBC-6635-694E-8A75-D1244E546FEE}"/>
              </a:ext>
            </a:extLst>
          </p:cNvPr>
          <p:cNvSpPr txBox="1"/>
          <p:nvPr/>
        </p:nvSpPr>
        <p:spPr>
          <a:xfrm>
            <a:off x="1330036" y="17907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8E82F7D-AD72-E04B-964E-C9AC8F1D0380}"/>
              </a:ext>
            </a:extLst>
          </p:cNvPr>
          <p:cNvCxnSpPr/>
          <p:nvPr/>
        </p:nvCxnSpPr>
        <p:spPr>
          <a:xfrm>
            <a:off x="2490354" y="2119745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A027329-BBCC-AA42-8743-19923C22B957}"/>
              </a:ext>
            </a:extLst>
          </p:cNvPr>
          <p:cNvSpPr txBox="1"/>
          <p:nvPr/>
        </p:nvSpPr>
        <p:spPr>
          <a:xfrm>
            <a:off x="2313708" y="17907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96ED371-7070-0342-ABB6-F7A7279E65E2}"/>
              </a:ext>
            </a:extLst>
          </p:cNvPr>
          <p:cNvCxnSpPr/>
          <p:nvPr/>
        </p:nvCxnSpPr>
        <p:spPr>
          <a:xfrm>
            <a:off x="2026228" y="3424784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B23169-E91B-5D47-8E04-EB18A4EFD3DD}"/>
              </a:ext>
            </a:extLst>
          </p:cNvPr>
          <p:cNvSpPr txBox="1"/>
          <p:nvPr/>
        </p:nvSpPr>
        <p:spPr>
          <a:xfrm>
            <a:off x="1849582" y="3095740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4DE36FEF-4547-644D-9BD2-6CAB8BBF2DB8}"/>
              </a:ext>
            </a:extLst>
          </p:cNvPr>
          <p:cNvSpPr/>
          <p:nvPr/>
        </p:nvSpPr>
        <p:spPr>
          <a:xfrm>
            <a:off x="3169227" y="2005445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D2551D40-1B14-F646-A091-4A555AB67D60}"/>
              </a:ext>
            </a:extLst>
          </p:cNvPr>
          <p:cNvSpPr/>
          <p:nvPr/>
        </p:nvSpPr>
        <p:spPr>
          <a:xfrm>
            <a:off x="3640283" y="2001982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8EA1539E-B863-D649-ACDA-214A8F7CBA62}"/>
              </a:ext>
            </a:extLst>
          </p:cNvPr>
          <p:cNvSpPr/>
          <p:nvPr/>
        </p:nvSpPr>
        <p:spPr>
          <a:xfrm>
            <a:off x="4087094" y="2001981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5C4AFEA1-8D57-2B42-9A5F-C0FB04A343B6}"/>
              </a:ext>
            </a:extLst>
          </p:cNvPr>
          <p:cNvSpPr/>
          <p:nvPr/>
        </p:nvSpPr>
        <p:spPr>
          <a:xfrm>
            <a:off x="3169227" y="257347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256FD503-B792-9D42-9C97-E78FAD152E2A}"/>
              </a:ext>
            </a:extLst>
          </p:cNvPr>
          <p:cNvSpPr/>
          <p:nvPr/>
        </p:nvSpPr>
        <p:spPr>
          <a:xfrm>
            <a:off x="3640283" y="257001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3ED11D30-5995-BB4B-B052-3A34946791D9}"/>
              </a:ext>
            </a:extLst>
          </p:cNvPr>
          <p:cNvSpPr/>
          <p:nvPr/>
        </p:nvSpPr>
        <p:spPr>
          <a:xfrm>
            <a:off x="3131130" y="326966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6C374570-72AE-E449-B799-87A8E66CAF3F}"/>
              </a:ext>
            </a:extLst>
          </p:cNvPr>
          <p:cNvSpPr/>
          <p:nvPr/>
        </p:nvSpPr>
        <p:spPr>
          <a:xfrm>
            <a:off x="3602186" y="326620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D544FC7-EAD5-2E47-9F53-D124E27CD497}"/>
              </a:ext>
            </a:extLst>
          </p:cNvPr>
          <p:cNvSpPr txBox="1"/>
          <p:nvPr/>
        </p:nvSpPr>
        <p:spPr>
          <a:xfrm>
            <a:off x="3030686" y="168050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E1D3A91-1F2E-A940-A1CA-8BDF421DC2F5}"/>
              </a:ext>
            </a:extLst>
          </p:cNvPr>
          <p:cNvSpPr txBox="1"/>
          <p:nvPr/>
        </p:nvSpPr>
        <p:spPr>
          <a:xfrm>
            <a:off x="3512124" y="169086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57609DB-6BC2-8245-9DBE-CA349A251887}"/>
              </a:ext>
            </a:extLst>
          </p:cNvPr>
          <p:cNvSpPr txBox="1"/>
          <p:nvPr/>
        </p:nvSpPr>
        <p:spPr>
          <a:xfrm>
            <a:off x="3983186" y="1689761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58F0433-7C25-064B-8C43-81EE9A026FF2}"/>
              </a:ext>
            </a:extLst>
          </p:cNvPr>
          <p:cNvSpPr txBox="1"/>
          <p:nvPr/>
        </p:nvSpPr>
        <p:spPr>
          <a:xfrm>
            <a:off x="3056658" y="2309868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B260A58-3CF2-514B-9981-313C5D10EC31}"/>
              </a:ext>
            </a:extLst>
          </p:cNvPr>
          <p:cNvSpPr txBox="1"/>
          <p:nvPr/>
        </p:nvSpPr>
        <p:spPr>
          <a:xfrm>
            <a:off x="3524251" y="228891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0C607FD-0981-364D-940B-2D106FA4AFCD}"/>
              </a:ext>
            </a:extLst>
          </p:cNvPr>
          <p:cNvSpPr txBox="1"/>
          <p:nvPr/>
        </p:nvSpPr>
        <p:spPr>
          <a:xfrm>
            <a:off x="3510392" y="2924576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E975D1C-753C-264F-AEE2-DC156E53DC69}"/>
              </a:ext>
            </a:extLst>
          </p:cNvPr>
          <p:cNvSpPr txBox="1"/>
          <p:nvPr/>
        </p:nvSpPr>
        <p:spPr>
          <a:xfrm>
            <a:off x="3002972" y="2953469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3A78280-E5FB-D042-B598-7CF49AD98D28}"/>
              </a:ext>
            </a:extLst>
          </p:cNvPr>
          <p:cNvCxnSpPr/>
          <p:nvPr/>
        </p:nvCxnSpPr>
        <p:spPr>
          <a:xfrm>
            <a:off x="1082385" y="4735420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8928DE4C-A35D-2641-8ED0-CE0C7BE4363C}"/>
              </a:ext>
            </a:extLst>
          </p:cNvPr>
          <p:cNvCxnSpPr/>
          <p:nvPr/>
        </p:nvCxnSpPr>
        <p:spPr>
          <a:xfrm>
            <a:off x="1082385" y="5303456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803CD58E-C7B7-1F42-8BA1-A3751B7E77F5}"/>
              </a:ext>
            </a:extLst>
          </p:cNvPr>
          <p:cNvCxnSpPr/>
          <p:nvPr/>
        </p:nvCxnSpPr>
        <p:spPr>
          <a:xfrm>
            <a:off x="1082385" y="5999647"/>
            <a:ext cx="3501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35A76920-1C24-E842-99E4-E604D57A2F16}"/>
              </a:ext>
            </a:extLst>
          </p:cNvPr>
          <p:cNvCxnSpPr/>
          <p:nvPr/>
        </p:nvCxnSpPr>
        <p:spPr>
          <a:xfrm>
            <a:off x="1466849" y="4496429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237A448-0330-074F-B9D3-52AF0C581ECE}"/>
              </a:ext>
            </a:extLst>
          </p:cNvPr>
          <p:cNvSpPr txBox="1"/>
          <p:nvPr/>
        </p:nvSpPr>
        <p:spPr>
          <a:xfrm>
            <a:off x="1290203" y="41673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FB24BAC5-FEED-2E45-9415-14EB9FA09B40}"/>
              </a:ext>
            </a:extLst>
          </p:cNvPr>
          <p:cNvCxnSpPr/>
          <p:nvPr/>
        </p:nvCxnSpPr>
        <p:spPr>
          <a:xfrm>
            <a:off x="2450521" y="4496429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DD4C74D-AEB8-2F4C-8265-B28084337592}"/>
              </a:ext>
            </a:extLst>
          </p:cNvPr>
          <p:cNvSpPr txBox="1"/>
          <p:nvPr/>
        </p:nvSpPr>
        <p:spPr>
          <a:xfrm>
            <a:off x="2273875" y="41673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CCC59F15-28D7-1044-82E1-A63159A5E4A1}"/>
              </a:ext>
            </a:extLst>
          </p:cNvPr>
          <p:cNvCxnSpPr/>
          <p:nvPr/>
        </p:nvCxnSpPr>
        <p:spPr>
          <a:xfrm>
            <a:off x="1986395" y="5801468"/>
            <a:ext cx="0" cy="446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310C648D-F2D4-834F-9236-B5AFA935A937}"/>
              </a:ext>
            </a:extLst>
          </p:cNvPr>
          <p:cNvSpPr txBox="1"/>
          <p:nvPr/>
        </p:nvSpPr>
        <p:spPr>
          <a:xfrm>
            <a:off x="1809749" y="5472424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44" name="Freccia su 43">
            <a:extLst>
              <a:ext uri="{FF2B5EF4-FFF2-40B4-BE49-F238E27FC236}">
                <a16:creationId xmlns:a16="http://schemas.microsoft.com/office/drawing/2014/main" id="{AFD0802D-6E4F-664E-A608-D87CB6E348CD}"/>
              </a:ext>
            </a:extLst>
          </p:cNvPr>
          <p:cNvSpPr/>
          <p:nvPr/>
        </p:nvSpPr>
        <p:spPr>
          <a:xfrm>
            <a:off x="3129394" y="438212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ccia su 44">
            <a:extLst>
              <a:ext uri="{FF2B5EF4-FFF2-40B4-BE49-F238E27FC236}">
                <a16:creationId xmlns:a16="http://schemas.microsoft.com/office/drawing/2014/main" id="{99040A5C-0107-5844-BCFB-E1EA9DAF2E98}"/>
              </a:ext>
            </a:extLst>
          </p:cNvPr>
          <p:cNvSpPr/>
          <p:nvPr/>
        </p:nvSpPr>
        <p:spPr>
          <a:xfrm>
            <a:off x="3600450" y="4378666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ccia su 46">
            <a:extLst>
              <a:ext uri="{FF2B5EF4-FFF2-40B4-BE49-F238E27FC236}">
                <a16:creationId xmlns:a16="http://schemas.microsoft.com/office/drawing/2014/main" id="{C39A3E1F-388C-9B46-B513-853B64EE5EB1}"/>
              </a:ext>
            </a:extLst>
          </p:cNvPr>
          <p:cNvSpPr/>
          <p:nvPr/>
        </p:nvSpPr>
        <p:spPr>
          <a:xfrm>
            <a:off x="3129394" y="4950163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ccia su 48">
            <a:extLst>
              <a:ext uri="{FF2B5EF4-FFF2-40B4-BE49-F238E27FC236}">
                <a16:creationId xmlns:a16="http://schemas.microsoft.com/office/drawing/2014/main" id="{D1F4BA0B-78A7-494E-9AD1-2F0FCCFB3EAC}"/>
              </a:ext>
            </a:extLst>
          </p:cNvPr>
          <p:cNvSpPr/>
          <p:nvPr/>
        </p:nvSpPr>
        <p:spPr>
          <a:xfrm>
            <a:off x="4047261" y="494669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ccia su 49">
            <a:extLst>
              <a:ext uri="{FF2B5EF4-FFF2-40B4-BE49-F238E27FC236}">
                <a16:creationId xmlns:a16="http://schemas.microsoft.com/office/drawing/2014/main" id="{3140E69D-6514-6D4D-8C8C-4F57A0B10917}"/>
              </a:ext>
            </a:extLst>
          </p:cNvPr>
          <p:cNvSpPr/>
          <p:nvPr/>
        </p:nvSpPr>
        <p:spPr>
          <a:xfrm>
            <a:off x="3091297" y="5646353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reccia su 51">
            <a:extLst>
              <a:ext uri="{FF2B5EF4-FFF2-40B4-BE49-F238E27FC236}">
                <a16:creationId xmlns:a16="http://schemas.microsoft.com/office/drawing/2014/main" id="{3F388895-2C9B-8342-B122-4DFA02B1F258}"/>
              </a:ext>
            </a:extLst>
          </p:cNvPr>
          <p:cNvSpPr/>
          <p:nvPr/>
        </p:nvSpPr>
        <p:spPr>
          <a:xfrm>
            <a:off x="4009164" y="5642889"/>
            <a:ext cx="187037" cy="3532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59439D2-0B23-1A40-945E-7C51935EFBEE}"/>
              </a:ext>
            </a:extLst>
          </p:cNvPr>
          <p:cNvSpPr txBox="1"/>
          <p:nvPr/>
        </p:nvSpPr>
        <p:spPr>
          <a:xfrm>
            <a:off x="2990853" y="405718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FB57FDC-E95B-EB49-8C29-81C4C6D44427}"/>
              </a:ext>
            </a:extLst>
          </p:cNvPr>
          <p:cNvSpPr txBox="1"/>
          <p:nvPr/>
        </p:nvSpPr>
        <p:spPr>
          <a:xfrm>
            <a:off x="3472291" y="4067545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841ABAD-75E4-4248-A19F-00996C1D1752}"/>
              </a:ext>
            </a:extLst>
          </p:cNvPr>
          <p:cNvSpPr txBox="1"/>
          <p:nvPr/>
        </p:nvSpPr>
        <p:spPr>
          <a:xfrm>
            <a:off x="3016825" y="4686552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8DD22FD1-5E4C-AF40-AA5C-997694A829C3}"/>
              </a:ext>
            </a:extLst>
          </p:cNvPr>
          <p:cNvSpPr txBox="1"/>
          <p:nvPr/>
        </p:nvSpPr>
        <p:spPr>
          <a:xfrm>
            <a:off x="3936419" y="4665596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C4C01119-0811-9D4B-8365-FFF609DF71A6}"/>
              </a:ext>
            </a:extLst>
          </p:cNvPr>
          <p:cNvSpPr txBox="1"/>
          <p:nvPr/>
        </p:nvSpPr>
        <p:spPr>
          <a:xfrm>
            <a:off x="3906112" y="5289684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97257F9-CE67-4F4E-8D93-3EAAF77048E7}"/>
              </a:ext>
            </a:extLst>
          </p:cNvPr>
          <p:cNvSpPr txBox="1"/>
          <p:nvPr/>
        </p:nvSpPr>
        <p:spPr>
          <a:xfrm>
            <a:off x="2963139" y="5330153"/>
            <a:ext cx="51954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62" name="Esplosione 1 61">
            <a:extLst>
              <a:ext uri="{FF2B5EF4-FFF2-40B4-BE49-F238E27FC236}">
                <a16:creationId xmlns:a16="http://schemas.microsoft.com/office/drawing/2014/main" id="{058EFBD8-0296-934C-964A-16BD1CB01855}"/>
              </a:ext>
            </a:extLst>
          </p:cNvPr>
          <p:cNvSpPr/>
          <p:nvPr/>
        </p:nvSpPr>
        <p:spPr>
          <a:xfrm>
            <a:off x="4350323" y="4383140"/>
            <a:ext cx="343769" cy="5764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Esplosione 1 57">
            <a:extLst>
              <a:ext uri="{FF2B5EF4-FFF2-40B4-BE49-F238E27FC236}">
                <a16:creationId xmlns:a16="http://schemas.microsoft.com/office/drawing/2014/main" id="{75BCF473-6C95-D442-9CB4-09824DDDC736}"/>
              </a:ext>
            </a:extLst>
          </p:cNvPr>
          <p:cNvSpPr/>
          <p:nvPr/>
        </p:nvSpPr>
        <p:spPr>
          <a:xfrm>
            <a:off x="4442544" y="2051629"/>
            <a:ext cx="343769" cy="5764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9C2420B9-55D9-BC4D-98AA-CE8A85D29D57}"/>
              </a:ext>
            </a:extLst>
          </p:cNvPr>
          <p:cNvSpPr txBox="1"/>
          <p:nvPr/>
        </p:nvSpPr>
        <p:spPr>
          <a:xfrm>
            <a:off x="5910692" y="2582219"/>
            <a:ext cx="247303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Reliable Broadcast but </a:t>
            </a:r>
            <a:r>
              <a:rPr lang="en-GB" b="1" dirty="0"/>
              <a:t>not</a:t>
            </a:r>
            <a:r>
              <a:rPr lang="en-GB" dirty="0"/>
              <a:t> FIFO Broadcast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F67C5026-3CEC-5C4F-AE0C-5E7FAE3D98FE}"/>
              </a:ext>
            </a:extLst>
          </p:cNvPr>
          <p:cNvSpPr txBox="1"/>
          <p:nvPr/>
        </p:nvSpPr>
        <p:spPr>
          <a:xfrm>
            <a:off x="5792929" y="4739222"/>
            <a:ext cx="247303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Uniform Reliable Broadcast but not FIFO Broadcast</a:t>
            </a:r>
          </a:p>
        </p:txBody>
      </p:sp>
    </p:spTree>
    <p:extLst>
      <p:ext uri="{BB962C8B-B14F-4D97-AF65-F5344CB8AC3E}">
        <p14:creationId xmlns:p14="http://schemas.microsoft.com/office/powerpoint/2010/main" val="11046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3" grpId="0"/>
      <p:bldP spid="44" grpId="0" animBg="1"/>
      <p:bldP spid="45" grpId="0" animBg="1"/>
      <p:bldP spid="47" grpId="0" animBg="1"/>
      <p:bldP spid="49" grpId="0" animBg="1"/>
      <p:bldP spid="50" grpId="0" animBg="1"/>
      <p:bldP spid="52" grpId="0" animBg="1"/>
      <p:bldP spid="53" grpId="0"/>
      <p:bldP spid="54" grpId="0"/>
      <p:bldP spid="56" grpId="0"/>
      <p:bldP spid="57" grpId="0"/>
      <p:bldP spid="60" grpId="0"/>
      <p:bldP spid="61" grpId="0"/>
      <p:bldP spid="62" grpId="0" animBg="1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FIFO Broadcast - Implementation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85" y="1847243"/>
            <a:ext cx="6150157" cy="4479518"/>
          </a:xfrm>
          <a:prstGeom prst="rect">
            <a:avLst/>
          </a:prstGeom>
        </p:spPr>
      </p:pic>
      <p:sp>
        <p:nvSpPr>
          <p:cNvPr id="5" name="Rettangolo arrotondato 4"/>
          <p:cNvSpPr/>
          <p:nvPr/>
        </p:nvSpPr>
        <p:spPr>
          <a:xfrm>
            <a:off x="7023925" y="2987176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FIFO Broadcast</a:t>
            </a:r>
          </a:p>
        </p:txBody>
      </p:sp>
      <p:cxnSp>
        <p:nvCxnSpPr>
          <p:cNvPr id="6" name="Connettore 2 5"/>
          <p:cNvCxnSpPr/>
          <p:nvPr/>
        </p:nvCxnSpPr>
        <p:spPr>
          <a:xfrm flipH="1" flipV="1">
            <a:off x="8895587" y="2108842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6635845" y="2451273"/>
            <a:ext cx="184121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FIFO_Broadcast</a:t>
            </a:r>
            <a:r>
              <a:rPr lang="en-US" dirty="0"/>
              <a:t> (m)</a:t>
            </a:r>
          </a:p>
        </p:txBody>
      </p:sp>
      <p:cxnSp>
        <p:nvCxnSpPr>
          <p:cNvPr id="8" name="Connettore 2 9"/>
          <p:cNvCxnSpPr/>
          <p:nvPr/>
        </p:nvCxnSpPr>
        <p:spPr>
          <a:xfrm>
            <a:off x="7508384" y="2218722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12"/>
          <p:cNvSpPr txBox="1"/>
          <p:nvPr/>
        </p:nvSpPr>
        <p:spPr>
          <a:xfrm>
            <a:off x="8365829" y="2467538"/>
            <a:ext cx="168924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FIFO_Deliver</a:t>
            </a:r>
            <a:r>
              <a:rPr lang="en-US" dirty="0"/>
              <a:t>(</a:t>
            </a:r>
            <a:r>
              <a:rPr lang="en-US" dirty="0" err="1"/>
              <a:t>s,m</a:t>
            </a:r>
            <a:r>
              <a:rPr lang="en-US" dirty="0"/>
              <a:t>)</a:t>
            </a:r>
          </a:p>
        </p:txBody>
      </p:sp>
      <p:sp>
        <p:nvSpPr>
          <p:cNvPr id="10" name="Rettangolo arrotondato 9"/>
          <p:cNvSpPr/>
          <p:nvPr/>
        </p:nvSpPr>
        <p:spPr>
          <a:xfrm>
            <a:off x="7074869" y="4751335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</a:t>
            </a:r>
          </a:p>
        </p:txBody>
      </p:sp>
      <p:cxnSp>
        <p:nvCxnSpPr>
          <p:cNvPr id="11" name="Connettore 2 10"/>
          <p:cNvCxnSpPr/>
          <p:nvPr/>
        </p:nvCxnSpPr>
        <p:spPr>
          <a:xfrm flipH="1" flipV="1">
            <a:off x="8946531" y="3873001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/>
          <p:cNvSpPr txBox="1"/>
          <p:nvPr/>
        </p:nvSpPr>
        <p:spPr>
          <a:xfrm>
            <a:off x="6953489" y="4231697"/>
            <a:ext cx="153205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Broadcast (m)</a:t>
            </a:r>
          </a:p>
        </p:txBody>
      </p:sp>
      <p:cxnSp>
        <p:nvCxnSpPr>
          <p:cNvPr id="13" name="Connettore 2 9"/>
          <p:cNvCxnSpPr/>
          <p:nvPr/>
        </p:nvCxnSpPr>
        <p:spPr>
          <a:xfrm>
            <a:off x="7559328" y="3911441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2"/>
          <p:cNvSpPr txBox="1"/>
          <p:nvPr/>
        </p:nvSpPr>
        <p:spPr>
          <a:xfrm>
            <a:off x="8502501" y="4231697"/>
            <a:ext cx="120372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Deliver(</a:t>
            </a:r>
            <a:r>
              <a:rPr lang="en-US" dirty="0" err="1"/>
              <a:t>s,m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605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9E2EE-D385-ED4A-9965-C23EFCD2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 1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00B9C0DB-4BFE-0B4A-A8CE-AD707724D070}"/>
              </a:ext>
            </a:extLst>
          </p:cNvPr>
          <p:cNvCxnSpPr/>
          <p:nvPr/>
        </p:nvCxnSpPr>
        <p:spPr>
          <a:xfrm>
            <a:off x="1035698" y="2584580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5606183-AB16-CF41-B61C-E155254C0DB6}"/>
              </a:ext>
            </a:extLst>
          </p:cNvPr>
          <p:cNvCxnSpPr/>
          <p:nvPr/>
        </p:nvCxnSpPr>
        <p:spPr>
          <a:xfrm>
            <a:off x="1035698" y="4033935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9250AE2-0400-D149-8589-38194CF43005}"/>
              </a:ext>
            </a:extLst>
          </p:cNvPr>
          <p:cNvCxnSpPr/>
          <p:nvPr/>
        </p:nvCxnSpPr>
        <p:spPr>
          <a:xfrm>
            <a:off x="1035698" y="5427306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3FD228-96B3-6C41-9ECD-0D269F3EF625}"/>
              </a:ext>
            </a:extLst>
          </p:cNvPr>
          <p:cNvSpPr txBox="1"/>
          <p:nvPr/>
        </p:nvSpPr>
        <p:spPr>
          <a:xfrm>
            <a:off x="541175" y="5402424"/>
            <a:ext cx="154888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lsn</a:t>
            </a:r>
            <a:r>
              <a:rPr lang="en-GB" sz="1600" dirty="0"/>
              <a:t>=0</a:t>
            </a:r>
          </a:p>
          <a:p>
            <a:r>
              <a:rPr lang="en-GB" sz="1600" dirty="0"/>
              <a:t>Pending={}</a:t>
            </a:r>
          </a:p>
          <a:p>
            <a:r>
              <a:rPr lang="en-GB" sz="1600" dirty="0"/>
              <a:t>Next =</a:t>
            </a:r>
          </a:p>
        </p:txBody>
      </p:sp>
      <p:graphicFrame>
        <p:nvGraphicFramePr>
          <p:cNvPr id="9" name="Tabella 9">
            <a:extLst>
              <a:ext uri="{FF2B5EF4-FFF2-40B4-BE49-F238E27FC236}">
                <a16:creationId xmlns:a16="http://schemas.microsoft.com/office/drawing/2014/main" id="{5D29D705-0CFD-DC47-9B04-02195208F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87847"/>
              </p:ext>
            </p:extLst>
          </p:nvPr>
        </p:nvGraphicFramePr>
        <p:xfrm>
          <a:off x="1202482" y="5968334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CD570EF7-A912-024A-ADDD-95CD2FB3BC28}"/>
              </a:ext>
            </a:extLst>
          </p:cNvPr>
          <p:cNvCxnSpPr>
            <a:endCxn id="8" idx="0"/>
          </p:cNvCxnSpPr>
          <p:nvPr/>
        </p:nvCxnSpPr>
        <p:spPr>
          <a:xfrm>
            <a:off x="1315615" y="2155371"/>
            <a:ext cx="1" cy="32470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ccia bidirezionale verticale 11">
            <a:extLst>
              <a:ext uri="{FF2B5EF4-FFF2-40B4-BE49-F238E27FC236}">
                <a16:creationId xmlns:a16="http://schemas.microsoft.com/office/drawing/2014/main" id="{48BF577C-8AF1-E84A-87EB-C47D56EE7B98}"/>
              </a:ext>
            </a:extLst>
          </p:cNvPr>
          <p:cNvSpPr/>
          <p:nvPr/>
        </p:nvSpPr>
        <p:spPr>
          <a:xfrm>
            <a:off x="1436908" y="2439260"/>
            <a:ext cx="55983" cy="2906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6EC9B6F-DB41-724D-97F8-E11D303E20B1}"/>
              </a:ext>
            </a:extLst>
          </p:cNvPr>
          <p:cNvSpPr txBox="1"/>
          <p:nvPr/>
        </p:nvSpPr>
        <p:spPr>
          <a:xfrm>
            <a:off x="1529487" y="2225825"/>
            <a:ext cx="784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lsn</a:t>
            </a:r>
            <a:r>
              <a:rPr lang="en-GB" sz="1600" baseline="-25000" dirty="0"/>
              <a:t>1</a:t>
            </a:r>
            <a:r>
              <a:rPr lang="en-GB" sz="1600" dirty="0"/>
              <a:t>=1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B1094B0E-0204-084F-A4E9-FDFD9F5BB3C4}"/>
              </a:ext>
            </a:extLst>
          </p:cNvPr>
          <p:cNvCxnSpPr/>
          <p:nvPr/>
        </p:nvCxnSpPr>
        <p:spPr>
          <a:xfrm>
            <a:off x="1687673" y="2584579"/>
            <a:ext cx="1176825" cy="2842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D952055-9A21-AA44-9B5E-8638E0C25132}"/>
              </a:ext>
            </a:extLst>
          </p:cNvPr>
          <p:cNvCxnSpPr/>
          <p:nvPr/>
        </p:nvCxnSpPr>
        <p:spPr>
          <a:xfrm>
            <a:off x="1687673" y="2584579"/>
            <a:ext cx="6439290" cy="1446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D523BFE5-6DF7-4D42-97A2-F505D7ED3D59}"/>
              </a:ext>
            </a:extLst>
          </p:cNvPr>
          <p:cNvSpPr/>
          <p:nvPr/>
        </p:nvSpPr>
        <p:spPr>
          <a:xfrm>
            <a:off x="1698171" y="2565918"/>
            <a:ext cx="970384" cy="270601"/>
          </a:xfrm>
          <a:custGeom>
            <a:avLst/>
            <a:gdLst>
              <a:gd name="connsiteX0" fmla="*/ 0 w 970384"/>
              <a:gd name="connsiteY0" fmla="*/ 0 h 270601"/>
              <a:gd name="connsiteX1" fmla="*/ 373225 w 970384"/>
              <a:gd name="connsiteY1" fmla="*/ 270588 h 270601"/>
              <a:gd name="connsiteX2" fmla="*/ 970384 w 970384"/>
              <a:gd name="connsiteY2" fmla="*/ 9331 h 2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384" h="270601">
                <a:moveTo>
                  <a:pt x="0" y="0"/>
                </a:moveTo>
                <a:cubicBezTo>
                  <a:pt x="105747" y="134516"/>
                  <a:pt x="211494" y="269033"/>
                  <a:pt x="373225" y="270588"/>
                </a:cubicBezTo>
                <a:cubicBezTo>
                  <a:pt x="534956" y="272143"/>
                  <a:pt x="752670" y="140737"/>
                  <a:pt x="970384" y="93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6CDCC1A-D141-3746-9487-3F72B7628AEA}"/>
              </a:ext>
            </a:extLst>
          </p:cNvPr>
          <p:cNvSpPr txBox="1"/>
          <p:nvPr/>
        </p:nvSpPr>
        <p:spPr>
          <a:xfrm>
            <a:off x="1443325" y="2934969"/>
            <a:ext cx="126557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&lt;P1, m1, 1&gt;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1C4BFBE-7A57-D34A-A2E4-F5C9F7C2A7E3}"/>
              </a:ext>
            </a:extLst>
          </p:cNvPr>
          <p:cNvSpPr txBox="1"/>
          <p:nvPr/>
        </p:nvSpPr>
        <p:spPr>
          <a:xfrm>
            <a:off x="2020633" y="1792379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1</a:t>
            </a:r>
            <a:r>
              <a:rPr lang="en-GB" dirty="0"/>
              <a:t>=</a:t>
            </a:r>
          </a:p>
        </p:txBody>
      </p:sp>
      <p:graphicFrame>
        <p:nvGraphicFramePr>
          <p:cNvPr id="21" name="Tabella 9">
            <a:extLst>
              <a:ext uri="{FF2B5EF4-FFF2-40B4-BE49-F238E27FC236}">
                <a16:creationId xmlns:a16="http://schemas.microsoft.com/office/drawing/2014/main" id="{EAA23FBD-3C8A-F64F-96E9-74948A5AC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880928"/>
              </p:ext>
            </p:extLst>
          </p:nvPr>
        </p:nvGraphicFramePr>
        <p:xfrm>
          <a:off x="2717101" y="1792379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22" name="Freccia su 21">
            <a:extLst>
              <a:ext uri="{FF2B5EF4-FFF2-40B4-BE49-F238E27FC236}">
                <a16:creationId xmlns:a16="http://schemas.microsoft.com/office/drawing/2014/main" id="{E4258FA2-FCE8-664D-81E8-59C9945C0D75}"/>
              </a:ext>
            </a:extLst>
          </p:cNvPr>
          <p:cNvSpPr/>
          <p:nvPr/>
        </p:nvSpPr>
        <p:spPr>
          <a:xfrm>
            <a:off x="2755591" y="2354212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E71A2FEF-FB1E-744D-992F-0C10E347321F}"/>
              </a:ext>
            </a:extLst>
          </p:cNvPr>
          <p:cNvCxnSpPr>
            <a:stCxn id="20" idx="2"/>
            <a:endCxn id="18" idx="2"/>
          </p:cNvCxnSpPr>
          <p:nvPr/>
        </p:nvCxnSpPr>
        <p:spPr>
          <a:xfrm flipH="1">
            <a:off x="2668555" y="2134011"/>
            <a:ext cx="37878" cy="44123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4DB7544-23F5-314C-86CB-9D3170293A6E}"/>
              </a:ext>
            </a:extLst>
          </p:cNvPr>
          <p:cNvSpPr txBox="1"/>
          <p:nvPr/>
        </p:nvSpPr>
        <p:spPr>
          <a:xfrm>
            <a:off x="1213779" y="2153051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3E8E2A3-4C84-EB47-A7F8-292B5EEA2CA0}"/>
              </a:ext>
            </a:extLst>
          </p:cNvPr>
          <p:cNvSpPr txBox="1"/>
          <p:nvPr/>
        </p:nvSpPr>
        <p:spPr>
          <a:xfrm>
            <a:off x="2676592" y="2085510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7" name="Freccia bidirezionale verticale 26">
            <a:extLst>
              <a:ext uri="{FF2B5EF4-FFF2-40B4-BE49-F238E27FC236}">
                <a16:creationId xmlns:a16="http://schemas.microsoft.com/office/drawing/2014/main" id="{3BFC2682-8996-9545-B86E-703C921ECC1F}"/>
              </a:ext>
            </a:extLst>
          </p:cNvPr>
          <p:cNvSpPr/>
          <p:nvPr/>
        </p:nvSpPr>
        <p:spPr>
          <a:xfrm>
            <a:off x="4897382" y="2439260"/>
            <a:ext cx="55983" cy="2906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A726F7E-BDC1-A149-BC42-55998109F1BE}"/>
              </a:ext>
            </a:extLst>
          </p:cNvPr>
          <p:cNvSpPr txBox="1"/>
          <p:nvPr/>
        </p:nvSpPr>
        <p:spPr>
          <a:xfrm>
            <a:off x="4674253" y="2153051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E3DA231-ADAE-A445-9457-7CD0B5F88702}"/>
              </a:ext>
            </a:extLst>
          </p:cNvPr>
          <p:cNvSpPr txBox="1"/>
          <p:nvPr/>
        </p:nvSpPr>
        <p:spPr>
          <a:xfrm>
            <a:off x="2717777" y="5517203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3</a:t>
            </a:r>
            <a:r>
              <a:rPr lang="en-GB" dirty="0"/>
              <a:t>=</a:t>
            </a:r>
          </a:p>
        </p:txBody>
      </p:sp>
      <p:graphicFrame>
        <p:nvGraphicFramePr>
          <p:cNvPr id="30" name="Tabella 9">
            <a:extLst>
              <a:ext uri="{FF2B5EF4-FFF2-40B4-BE49-F238E27FC236}">
                <a16:creationId xmlns:a16="http://schemas.microsoft.com/office/drawing/2014/main" id="{A6660BC7-9585-FF41-80B3-244F4E897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607289"/>
              </p:ext>
            </p:extLst>
          </p:nvPr>
        </p:nvGraphicFramePr>
        <p:xfrm>
          <a:off x="3414245" y="5517203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31" name="Freccia su 30">
            <a:extLst>
              <a:ext uri="{FF2B5EF4-FFF2-40B4-BE49-F238E27FC236}">
                <a16:creationId xmlns:a16="http://schemas.microsoft.com/office/drawing/2014/main" id="{08069BE5-493E-4B4F-8376-7A704620835F}"/>
              </a:ext>
            </a:extLst>
          </p:cNvPr>
          <p:cNvSpPr/>
          <p:nvPr/>
        </p:nvSpPr>
        <p:spPr>
          <a:xfrm>
            <a:off x="2959671" y="5196391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457EA3A2-BD18-724D-80F5-97F7AD892BB3}"/>
              </a:ext>
            </a:extLst>
          </p:cNvPr>
          <p:cNvSpPr txBox="1"/>
          <p:nvPr/>
        </p:nvSpPr>
        <p:spPr>
          <a:xfrm>
            <a:off x="2880672" y="4927689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745DA1C4-6FD1-FF49-9935-EC07900CE3BA}"/>
              </a:ext>
            </a:extLst>
          </p:cNvPr>
          <p:cNvCxnSpPr>
            <a:cxnSpLocks/>
          </p:cNvCxnSpPr>
          <p:nvPr/>
        </p:nvCxnSpPr>
        <p:spPr>
          <a:xfrm>
            <a:off x="5046108" y="2575249"/>
            <a:ext cx="1298708" cy="2842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igura a mano libera 35">
            <a:extLst>
              <a:ext uri="{FF2B5EF4-FFF2-40B4-BE49-F238E27FC236}">
                <a16:creationId xmlns:a16="http://schemas.microsoft.com/office/drawing/2014/main" id="{84A70F7C-D4EC-064F-BA96-F36BA10DB902}"/>
              </a:ext>
            </a:extLst>
          </p:cNvPr>
          <p:cNvSpPr/>
          <p:nvPr/>
        </p:nvSpPr>
        <p:spPr>
          <a:xfrm>
            <a:off x="5046108" y="2596385"/>
            <a:ext cx="970384" cy="270601"/>
          </a:xfrm>
          <a:custGeom>
            <a:avLst/>
            <a:gdLst>
              <a:gd name="connsiteX0" fmla="*/ 0 w 970384"/>
              <a:gd name="connsiteY0" fmla="*/ 0 h 270601"/>
              <a:gd name="connsiteX1" fmla="*/ 373225 w 970384"/>
              <a:gd name="connsiteY1" fmla="*/ 270588 h 270601"/>
              <a:gd name="connsiteX2" fmla="*/ 970384 w 970384"/>
              <a:gd name="connsiteY2" fmla="*/ 9331 h 2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384" h="270601">
                <a:moveTo>
                  <a:pt x="0" y="0"/>
                </a:moveTo>
                <a:cubicBezTo>
                  <a:pt x="105747" y="134516"/>
                  <a:pt x="211494" y="269033"/>
                  <a:pt x="373225" y="270588"/>
                </a:cubicBezTo>
                <a:cubicBezTo>
                  <a:pt x="534956" y="272143"/>
                  <a:pt x="752670" y="140737"/>
                  <a:pt x="970384" y="93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EF5BE4F-640D-7A49-9F76-FCAE62382D8F}"/>
              </a:ext>
            </a:extLst>
          </p:cNvPr>
          <p:cNvCxnSpPr/>
          <p:nvPr/>
        </p:nvCxnSpPr>
        <p:spPr>
          <a:xfrm>
            <a:off x="5046108" y="2592963"/>
            <a:ext cx="1556992" cy="1454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350ED45-3C3C-BF4B-9CC9-368217613F41}"/>
              </a:ext>
            </a:extLst>
          </p:cNvPr>
          <p:cNvSpPr txBox="1"/>
          <p:nvPr/>
        </p:nvSpPr>
        <p:spPr>
          <a:xfrm>
            <a:off x="5093326" y="2240575"/>
            <a:ext cx="704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lsn</a:t>
            </a:r>
            <a:r>
              <a:rPr lang="en-GB" sz="1600" baseline="-25000" dirty="0"/>
              <a:t>1</a:t>
            </a:r>
            <a:r>
              <a:rPr lang="en-GB" sz="1600" dirty="0"/>
              <a:t>=2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0D199CA-61DC-4844-B301-1C75CC6AAE83}"/>
              </a:ext>
            </a:extLst>
          </p:cNvPr>
          <p:cNvSpPr txBox="1"/>
          <p:nvPr/>
        </p:nvSpPr>
        <p:spPr>
          <a:xfrm>
            <a:off x="5412701" y="2796810"/>
            <a:ext cx="126557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&lt;P1, m2, 2&gt;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6DCD2CC-0058-E14D-84E5-C4132C7414B0}"/>
              </a:ext>
            </a:extLst>
          </p:cNvPr>
          <p:cNvSpPr txBox="1"/>
          <p:nvPr/>
        </p:nvSpPr>
        <p:spPr>
          <a:xfrm>
            <a:off x="5346318" y="1786372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1</a:t>
            </a:r>
            <a:r>
              <a:rPr lang="en-GB" dirty="0"/>
              <a:t>=</a:t>
            </a:r>
          </a:p>
        </p:txBody>
      </p:sp>
      <p:sp>
        <p:nvSpPr>
          <p:cNvPr id="42" name="Freccia su 41">
            <a:extLst>
              <a:ext uri="{FF2B5EF4-FFF2-40B4-BE49-F238E27FC236}">
                <a16:creationId xmlns:a16="http://schemas.microsoft.com/office/drawing/2014/main" id="{4533CE28-E0FF-9E49-82E3-66A84D4C2712}"/>
              </a:ext>
            </a:extLst>
          </p:cNvPr>
          <p:cNvSpPr/>
          <p:nvPr/>
        </p:nvSpPr>
        <p:spPr>
          <a:xfrm>
            <a:off x="6081276" y="2348205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589BB75-3627-A34B-B8AB-C0A707C25F06}"/>
              </a:ext>
            </a:extLst>
          </p:cNvPr>
          <p:cNvSpPr txBox="1"/>
          <p:nvPr/>
        </p:nvSpPr>
        <p:spPr>
          <a:xfrm>
            <a:off x="6002277" y="2079503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graphicFrame>
        <p:nvGraphicFramePr>
          <p:cNvPr id="44" name="Tabella 9">
            <a:extLst>
              <a:ext uri="{FF2B5EF4-FFF2-40B4-BE49-F238E27FC236}">
                <a16:creationId xmlns:a16="http://schemas.microsoft.com/office/drawing/2014/main" id="{4D3788C9-9361-0342-A7C1-904608F8F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241216"/>
              </p:ext>
            </p:extLst>
          </p:nvPr>
        </p:nvGraphicFramePr>
        <p:xfrm>
          <a:off x="6100827" y="1812431"/>
          <a:ext cx="835627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21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283453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283453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7BDF6805-42FA-7B42-951D-11A65B1C81D5}"/>
              </a:ext>
            </a:extLst>
          </p:cNvPr>
          <p:cNvSpPr txBox="1"/>
          <p:nvPr/>
        </p:nvSpPr>
        <p:spPr>
          <a:xfrm>
            <a:off x="6189868" y="5538364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3</a:t>
            </a:r>
            <a:r>
              <a:rPr lang="en-GB" dirty="0"/>
              <a:t>=</a:t>
            </a:r>
          </a:p>
        </p:txBody>
      </p:sp>
      <p:graphicFrame>
        <p:nvGraphicFramePr>
          <p:cNvPr id="49" name="Tabella 9">
            <a:extLst>
              <a:ext uri="{FF2B5EF4-FFF2-40B4-BE49-F238E27FC236}">
                <a16:creationId xmlns:a16="http://schemas.microsoft.com/office/drawing/2014/main" id="{F58F51CB-52D7-3E43-A29D-0A99A993F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031777"/>
              </p:ext>
            </p:extLst>
          </p:nvPr>
        </p:nvGraphicFramePr>
        <p:xfrm>
          <a:off x="6886336" y="5538364"/>
          <a:ext cx="919189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593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50" name="Freccia su 49">
            <a:extLst>
              <a:ext uri="{FF2B5EF4-FFF2-40B4-BE49-F238E27FC236}">
                <a16:creationId xmlns:a16="http://schemas.microsoft.com/office/drawing/2014/main" id="{CA844130-1934-524B-BD8D-90C8BE77B47D}"/>
              </a:ext>
            </a:extLst>
          </p:cNvPr>
          <p:cNvSpPr/>
          <p:nvPr/>
        </p:nvSpPr>
        <p:spPr>
          <a:xfrm>
            <a:off x="6431762" y="5217552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2CB06BF-D55C-A34C-A2CB-AC7E5640961F}"/>
              </a:ext>
            </a:extLst>
          </p:cNvPr>
          <p:cNvSpPr txBox="1"/>
          <p:nvPr/>
        </p:nvSpPr>
        <p:spPr>
          <a:xfrm>
            <a:off x="6352763" y="4948850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9DC4593-7F1A-CA40-8CF2-704B5DD37A61}"/>
              </a:ext>
            </a:extLst>
          </p:cNvPr>
          <p:cNvSpPr txBox="1"/>
          <p:nvPr/>
        </p:nvSpPr>
        <p:spPr>
          <a:xfrm>
            <a:off x="5662095" y="4197244"/>
            <a:ext cx="1683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Pending={&lt;p1, m2, 2&gt;}</a:t>
            </a:r>
          </a:p>
        </p:txBody>
      </p:sp>
      <p:cxnSp>
        <p:nvCxnSpPr>
          <p:cNvPr id="54" name="Connettore 1 53">
            <a:extLst>
              <a:ext uri="{FF2B5EF4-FFF2-40B4-BE49-F238E27FC236}">
                <a16:creationId xmlns:a16="http://schemas.microsoft.com/office/drawing/2014/main" id="{19B98A1F-7A40-2E40-906C-5AE9A8204B33}"/>
              </a:ext>
            </a:extLst>
          </p:cNvPr>
          <p:cNvCxnSpPr>
            <a:stCxn id="52" idx="0"/>
          </p:cNvCxnSpPr>
          <p:nvPr/>
        </p:nvCxnSpPr>
        <p:spPr>
          <a:xfrm flipV="1">
            <a:off x="6504013" y="4028053"/>
            <a:ext cx="76950" cy="16919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Freccia su 54">
            <a:extLst>
              <a:ext uri="{FF2B5EF4-FFF2-40B4-BE49-F238E27FC236}">
                <a16:creationId xmlns:a16="http://schemas.microsoft.com/office/drawing/2014/main" id="{C520817F-1DAE-BD44-BE5F-B7A3FBAE9D33}"/>
              </a:ext>
            </a:extLst>
          </p:cNvPr>
          <p:cNvSpPr/>
          <p:nvPr/>
        </p:nvSpPr>
        <p:spPr>
          <a:xfrm>
            <a:off x="8171369" y="3824578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A6DC506-ABF5-7D4B-B9B3-2DAACC5EE899}"/>
              </a:ext>
            </a:extLst>
          </p:cNvPr>
          <p:cNvSpPr txBox="1"/>
          <p:nvPr/>
        </p:nvSpPr>
        <p:spPr>
          <a:xfrm>
            <a:off x="8092370" y="3555876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9CC1952B-0ED7-2B44-B3BC-1D5D931E3BC1}"/>
              </a:ext>
            </a:extLst>
          </p:cNvPr>
          <p:cNvSpPr txBox="1"/>
          <p:nvPr/>
        </p:nvSpPr>
        <p:spPr>
          <a:xfrm>
            <a:off x="7333235" y="3290244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2</a:t>
            </a:r>
            <a:r>
              <a:rPr lang="en-GB" dirty="0"/>
              <a:t>=</a:t>
            </a:r>
          </a:p>
        </p:txBody>
      </p:sp>
      <p:graphicFrame>
        <p:nvGraphicFramePr>
          <p:cNvPr id="58" name="Tabella 9">
            <a:extLst>
              <a:ext uri="{FF2B5EF4-FFF2-40B4-BE49-F238E27FC236}">
                <a16:creationId xmlns:a16="http://schemas.microsoft.com/office/drawing/2014/main" id="{D7D7F743-6852-D548-9316-2DE1C5453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144775"/>
              </p:ext>
            </p:extLst>
          </p:nvPr>
        </p:nvGraphicFramePr>
        <p:xfrm>
          <a:off x="8029703" y="3290244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8F1EA34-6C1C-E449-BE80-6379BA8959C3}"/>
              </a:ext>
            </a:extLst>
          </p:cNvPr>
          <p:cNvSpPr txBox="1"/>
          <p:nvPr/>
        </p:nvSpPr>
        <p:spPr>
          <a:xfrm>
            <a:off x="8442266" y="4134239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2</a:t>
            </a:r>
            <a:r>
              <a:rPr lang="en-GB" dirty="0"/>
              <a:t>=</a:t>
            </a:r>
          </a:p>
        </p:txBody>
      </p:sp>
      <p:graphicFrame>
        <p:nvGraphicFramePr>
          <p:cNvPr id="60" name="Tabella 9">
            <a:extLst>
              <a:ext uri="{FF2B5EF4-FFF2-40B4-BE49-F238E27FC236}">
                <a16:creationId xmlns:a16="http://schemas.microsoft.com/office/drawing/2014/main" id="{988E8745-3D6D-4C41-9470-5B602F4E8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096376"/>
              </p:ext>
            </p:extLst>
          </p:nvPr>
        </p:nvGraphicFramePr>
        <p:xfrm>
          <a:off x="9138734" y="4134239"/>
          <a:ext cx="919189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593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61" name="Freccia su 60">
            <a:extLst>
              <a:ext uri="{FF2B5EF4-FFF2-40B4-BE49-F238E27FC236}">
                <a16:creationId xmlns:a16="http://schemas.microsoft.com/office/drawing/2014/main" id="{4B7A0050-834C-B640-873C-8E9F69751B09}"/>
              </a:ext>
            </a:extLst>
          </p:cNvPr>
          <p:cNvSpPr/>
          <p:nvPr/>
        </p:nvSpPr>
        <p:spPr>
          <a:xfrm>
            <a:off x="8684160" y="3813427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08EDA69-67AA-9949-A5E0-6A08A8F92012}"/>
              </a:ext>
            </a:extLst>
          </p:cNvPr>
          <p:cNvSpPr txBox="1"/>
          <p:nvPr/>
        </p:nvSpPr>
        <p:spPr>
          <a:xfrm>
            <a:off x="8605161" y="3544725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AE2745FA-205C-464C-B1DC-FB7FA6062567}"/>
              </a:ext>
            </a:extLst>
          </p:cNvPr>
          <p:cNvSpPr txBox="1"/>
          <p:nvPr/>
        </p:nvSpPr>
        <p:spPr>
          <a:xfrm>
            <a:off x="8442266" y="4460209"/>
            <a:ext cx="1683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Pending={}</a:t>
            </a: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B3480E18-0407-6F4E-98A3-9B85DC2C1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794" r="30295" b="4425"/>
          <a:stretch/>
        </p:blipFill>
        <p:spPr>
          <a:xfrm>
            <a:off x="3274496" y="231588"/>
            <a:ext cx="4286972" cy="1334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0076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 animBg="1"/>
      <p:bldP spid="19" grpId="0"/>
      <p:bldP spid="20" grpId="0"/>
      <p:bldP spid="22" grpId="0" animBg="1"/>
      <p:bldP spid="26" grpId="0"/>
      <p:bldP spid="27" grpId="0" animBg="1"/>
      <p:bldP spid="28" grpId="0"/>
      <p:bldP spid="29" grpId="0"/>
      <p:bldP spid="31" grpId="0" animBg="1"/>
      <p:bldP spid="32" grpId="0"/>
      <p:bldP spid="36" grpId="0" animBg="1"/>
      <p:bldP spid="39" grpId="0"/>
      <p:bldP spid="40" grpId="0"/>
      <p:bldP spid="41" grpId="0"/>
      <p:bldP spid="42" grpId="0" animBg="1"/>
      <p:bldP spid="43" grpId="0"/>
      <p:bldP spid="48" grpId="0"/>
      <p:bldP spid="50" grpId="0" animBg="1"/>
      <p:bldP spid="51" grpId="0"/>
      <p:bldP spid="52" grpId="0"/>
      <p:bldP spid="55" grpId="0" animBg="1"/>
      <p:bldP spid="56" grpId="0"/>
      <p:bldP spid="57" grpId="0"/>
      <p:bldP spid="59" grpId="0"/>
      <p:bldP spid="61" grpId="0" animBg="1"/>
      <p:bldP spid="62" grpId="0"/>
      <p:bldP spid="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9E2EE-D385-ED4A-9965-C23EFCD2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 2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00B9C0DB-4BFE-0B4A-A8CE-AD707724D070}"/>
              </a:ext>
            </a:extLst>
          </p:cNvPr>
          <p:cNvCxnSpPr/>
          <p:nvPr/>
        </p:nvCxnSpPr>
        <p:spPr>
          <a:xfrm>
            <a:off x="1035698" y="2584580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5606183-AB16-CF41-B61C-E155254C0DB6}"/>
              </a:ext>
            </a:extLst>
          </p:cNvPr>
          <p:cNvCxnSpPr/>
          <p:nvPr/>
        </p:nvCxnSpPr>
        <p:spPr>
          <a:xfrm>
            <a:off x="1035698" y="4033935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9250AE2-0400-D149-8589-38194CF43005}"/>
              </a:ext>
            </a:extLst>
          </p:cNvPr>
          <p:cNvCxnSpPr/>
          <p:nvPr/>
        </p:nvCxnSpPr>
        <p:spPr>
          <a:xfrm>
            <a:off x="1035698" y="5427306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3FD228-96B3-6C41-9ECD-0D269F3EF625}"/>
              </a:ext>
            </a:extLst>
          </p:cNvPr>
          <p:cNvSpPr txBox="1"/>
          <p:nvPr/>
        </p:nvSpPr>
        <p:spPr>
          <a:xfrm>
            <a:off x="541175" y="5402424"/>
            <a:ext cx="154888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lsn</a:t>
            </a:r>
            <a:r>
              <a:rPr lang="en-GB" sz="1600" dirty="0"/>
              <a:t>=0</a:t>
            </a:r>
          </a:p>
          <a:p>
            <a:r>
              <a:rPr lang="en-GB" sz="1600" dirty="0"/>
              <a:t>Pending={}</a:t>
            </a:r>
          </a:p>
          <a:p>
            <a:r>
              <a:rPr lang="en-GB" sz="1600" dirty="0"/>
              <a:t>Next =</a:t>
            </a:r>
          </a:p>
        </p:txBody>
      </p:sp>
      <p:graphicFrame>
        <p:nvGraphicFramePr>
          <p:cNvPr id="9" name="Tabella 9">
            <a:extLst>
              <a:ext uri="{FF2B5EF4-FFF2-40B4-BE49-F238E27FC236}">
                <a16:creationId xmlns:a16="http://schemas.microsoft.com/office/drawing/2014/main" id="{5D29D705-0CFD-DC47-9B04-02195208FBBF}"/>
              </a:ext>
            </a:extLst>
          </p:cNvPr>
          <p:cNvGraphicFramePr>
            <a:graphicFrameLocks noGrp="1"/>
          </p:cNvGraphicFramePr>
          <p:nvPr/>
        </p:nvGraphicFramePr>
        <p:xfrm>
          <a:off x="1202482" y="5968334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CD570EF7-A912-024A-ADDD-95CD2FB3BC28}"/>
              </a:ext>
            </a:extLst>
          </p:cNvPr>
          <p:cNvCxnSpPr>
            <a:endCxn id="8" idx="0"/>
          </p:cNvCxnSpPr>
          <p:nvPr/>
        </p:nvCxnSpPr>
        <p:spPr>
          <a:xfrm>
            <a:off x="1315615" y="2155371"/>
            <a:ext cx="1" cy="32470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ccia bidirezionale verticale 11">
            <a:extLst>
              <a:ext uri="{FF2B5EF4-FFF2-40B4-BE49-F238E27FC236}">
                <a16:creationId xmlns:a16="http://schemas.microsoft.com/office/drawing/2014/main" id="{48BF577C-8AF1-E84A-87EB-C47D56EE7B98}"/>
              </a:ext>
            </a:extLst>
          </p:cNvPr>
          <p:cNvSpPr/>
          <p:nvPr/>
        </p:nvSpPr>
        <p:spPr>
          <a:xfrm>
            <a:off x="1436908" y="2439260"/>
            <a:ext cx="55983" cy="2906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6EC9B6F-DB41-724D-97F8-E11D303E20B1}"/>
              </a:ext>
            </a:extLst>
          </p:cNvPr>
          <p:cNvSpPr txBox="1"/>
          <p:nvPr/>
        </p:nvSpPr>
        <p:spPr>
          <a:xfrm>
            <a:off x="1529487" y="2225825"/>
            <a:ext cx="154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lsn</a:t>
            </a:r>
            <a:r>
              <a:rPr lang="en-GB" sz="1600" baseline="-25000" dirty="0"/>
              <a:t>1</a:t>
            </a:r>
            <a:r>
              <a:rPr lang="en-GB" sz="1600" dirty="0"/>
              <a:t>=1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B1094B0E-0204-084F-A4E9-FDFD9F5BB3C4}"/>
              </a:ext>
            </a:extLst>
          </p:cNvPr>
          <p:cNvCxnSpPr>
            <a:cxnSpLocks/>
          </p:cNvCxnSpPr>
          <p:nvPr/>
        </p:nvCxnSpPr>
        <p:spPr>
          <a:xfrm>
            <a:off x="1687673" y="2584579"/>
            <a:ext cx="887576" cy="2024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D952055-9A21-AA44-9B5E-8638E0C25132}"/>
              </a:ext>
            </a:extLst>
          </p:cNvPr>
          <p:cNvCxnSpPr>
            <a:cxnSpLocks/>
          </p:cNvCxnSpPr>
          <p:nvPr/>
        </p:nvCxnSpPr>
        <p:spPr>
          <a:xfrm>
            <a:off x="1687673" y="2584579"/>
            <a:ext cx="2557756" cy="553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D523BFE5-6DF7-4D42-97A2-F505D7ED3D59}"/>
              </a:ext>
            </a:extLst>
          </p:cNvPr>
          <p:cNvSpPr/>
          <p:nvPr/>
        </p:nvSpPr>
        <p:spPr>
          <a:xfrm>
            <a:off x="1698171" y="2565918"/>
            <a:ext cx="970384" cy="270601"/>
          </a:xfrm>
          <a:custGeom>
            <a:avLst/>
            <a:gdLst>
              <a:gd name="connsiteX0" fmla="*/ 0 w 970384"/>
              <a:gd name="connsiteY0" fmla="*/ 0 h 270601"/>
              <a:gd name="connsiteX1" fmla="*/ 373225 w 970384"/>
              <a:gd name="connsiteY1" fmla="*/ 270588 h 270601"/>
              <a:gd name="connsiteX2" fmla="*/ 970384 w 970384"/>
              <a:gd name="connsiteY2" fmla="*/ 9331 h 2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384" h="270601">
                <a:moveTo>
                  <a:pt x="0" y="0"/>
                </a:moveTo>
                <a:cubicBezTo>
                  <a:pt x="105747" y="134516"/>
                  <a:pt x="211494" y="269033"/>
                  <a:pt x="373225" y="270588"/>
                </a:cubicBezTo>
                <a:cubicBezTo>
                  <a:pt x="534956" y="272143"/>
                  <a:pt x="752670" y="140737"/>
                  <a:pt x="970384" y="93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6CDCC1A-D141-3746-9487-3F72B7628AEA}"/>
              </a:ext>
            </a:extLst>
          </p:cNvPr>
          <p:cNvSpPr txBox="1"/>
          <p:nvPr/>
        </p:nvSpPr>
        <p:spPr>
          <a:xfrm>
            <a:off x="1443325" y="2934969"/>
            <a:ext cx="126557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&lt;P1, m1, 1&gt;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1C4BFBE-7A57-D34A-A2E4-F5C9F7C2A7E3}"/>
              </a:ext>
            </a:extLst>
          </p:cNvPr>
          <p:cNvSpPr txBox="1"/>
          <p:nvPr/>
        </p:nvSpPr>
        <p:spPr>
          <a:xfrm>
            <a:off x="2020633" y="1792379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1</a:t>
            </a:r>
            <a:r>
              <a:rPr lang="en-GB" dirty="0"/>
              <a:t>=</a:t>
            </a:r>
          </a:p>
        </p:txBody>
      </p:sp>
      <p:graphicFrame>
        <p:nvGraphicFramePr>
          <p:cNvPr id="21" name="Tabella 9">
            <a:extLst>
              <a:ext uri="{FF2B5EF4-FFF2-40B4-BE49-F238E27FC236}">
                <a16:creationId xmlns:a16="http://schemas.microsoft.com/office/drawing/2014/main" id="{EAA23FBD-3C8A-F64F-96E9-74948A5ACB5A}"/>
              </a:ext>
            </a:extLst>
          </p:cNvPr>
          <p:cNvGraphicFramePr>
            <a:graphicFrameLocks noGrp="1"/>
          </p:cNvGraphicFramePr>
          <p:nvPr/>
        </p:nvGraphicFramePr>
        <p:xfrm>
          <a:off x="2717101" y="1792379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22" name="Freccia su 21">
            <a:extLst>
              <a:ext uri="{FF2B5EF4-FFF2-40B4-BE49-F238E27FC236}">
                <a16:creationId xmlns:a16="http://schemas.microsoft.com/office/drawing/2014/main" id="{E4258FA2-FCE8-664D-81E8-59C9945C0D75}"/>
              </a:ext>
            </a:extLst>
          </p:cNvPr>
          <p:cNvSpPr/>
          <p:nvPr/>
        </p:nvSpPr>
        <p:spPr>
          <a:xfrm>
            <a:off x="2755591" y="2354212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E71A2FEF-FB1E-744D-992F-0C10E347321F}"/>
              </a:ext>
            </a:extLst>
          </p:cNvPr>
          <p:cNvCxnSpPr>
            <a:stCxn id="20" idx="2"/>
            <a:endCxn id="18" idx="2"/>
          </p:cNvCxnSpPr>
          <p:nvPr/>
        </p:nvCxnSpPr>
        <p:spPr>
          <a:xfrm flipH="1">
            <a:off x="2668555" y="2134011"/>
            <a:ext cx="37878" cy="44123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4DB7544-23F5-314C-86CB-9D3170293A6E}"/>
              </a:ext>
            </a:extLst>
          </p:cNvPr>
          <p:cNvSpPr txBox="1"/>
          <p:nvPr/>
        </p:nvSpPr>
        <p:spPr>
          <a:xfrm>
            <a:off x="1213779" y="2153051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3E8E2A3-4C84-EB47-A7F8-292B5EEA2CA0}"/>
              </a:ext>
            </a:extLst>
          </p:cNvPr>
          <p:cNvSpPr txBox="1"/>
          <p:nvPr/>
        </p:nvSpPr>
        <p:spPr>
          <a:xfrm>
            <a:off x="2676592" y="2085510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7" name="Freccia bidirezionale verticale 26">
            <a:extLst>
              <a:ext uri="{FF2B5EF4-FFF2-40B4-BE49-F238E27FC236}">
                <a16:creationId xmlns:a16="http://schemas.microsoft.com/office/drawing/2014/main" id="{3BFC2682-8996-9545-B86E-703C921ECC1F}"/>
              </a:ext>
            </a:extLst>
          </p:cNvPr>
          <p:cNvSpPr/>
          <p:nvPr/>
        </p:nvSpPr>
        <p:spPr>
          <a:xfrm>
            <a:off x="4897382" y="2439260"/>
            <a:ext cx="55983" cy="2906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A726F7E-BDC1-A149-BC42-55998109F1BE}"/>
              </a:ext>
            </a:extLst>
          </p:cNvPr>
          <p:cNvSpPr txBox="1"/>
          <p:nvPr/>
        </p:nvSpPr>
        <p:spPr>
          <a:xfrm>
            <a:off x="4674253" y="2153051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745DA1C4-6FD1-FF49-9935-EC07900CE3BA}"/>
              </a:ext>
            </a:extLst>
          </p:cNvPr>
          <p:cNvCxnSpPr>
            <a:cxnSpLocks/>
          </p:cNvCxnSpPr>
          <p:nvPr/>
        </p:nvCxnSpPr>
        <p:spPr>
          <a:xfrm>
            <a:off x="5046108" y="2575249"/>
            <a:ext cx="1298708" cy="2842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igura a mano libera 35">
            <a:extLst>
              <a:ext uri="{FF2B5EF4-FFF2-40B4-BE49-F238E27FC236}">
                <a16:creationId xmlns:a16="http://schemas.microsoft.com/office/drawing/2014/main" id="{84A70F7C-D4EC-064F-BA96-F36BA10DB902}"/>
              </a:ext>
            </a:extLst>
          </p:cNvPr>
          <p:cNvSpPr/>
          <p:nvPr/>
        </p:nvSpPr>
        <p:spPr>
          <a:xfrm>
            <a:off x="5046108" y="2596385"/>
            <a:ext cx="970384" cy="270601"/>
          </a:xfrm>
          <a:custGeom>
            <a:avLst/>
            <a:gdLst>
              <a:gd name="connsiteX0" fmla="*/ 0 w 970384"/>
              <a:gd name="connsiteY0" fmla="*/ 0 h 270601"/>
              <a:gd name="connsiteX1" fmla="*/ 373225 w 970384"/>
              <a:gd name="connsiteY1" fmla="*/ 270588 h 270601"/>
              <a:gd name="connsiteX2" fmla="*/ 970384 w 970384"/>
              <a:gd name="connsiteY2" fmla="*/ 9331 h 2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384" h="270601">
                <a:moveTo>
                  <a:pt x="0" y="0"/>
                </a:moveTo>
                <a:cubicBezTo>
                  <a:pt x="105747" y="134516"/>
                  <a:pt x="211494" y="269033"/>
                  <a:pt x="373225" y="270588"/>
                </a:cubicBezTo>
                <a:cubicBezTo>
                  <a:pt x="534956" y="272143"/>
                  <a:pt x="752670" y="140737"/>
                  <a:pt x="970384" y="93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EF5BE4F-640D-7A49-9F76-FCAE62382D8F}"/>
              </a:ext>
            </a:extLst>
          </p:cNvPr>
          <p:cNvCxnSpPr/>
          <p:nvPr/>
        </p:nvCxnSpPr>
        <p:spPr>
          <a:xfrm>
            <a:off x="5046108" y="2592963"/>
            <a:ext cx="1556992" cy="1454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350ED45-3C3C-BF4B-9CC9-368217613F41}"/>
              </a:ext>
            </a:extLst>
          </p:cNvPr>
          <p:cNvSpPr txBox="1"/>
          <p:nvPr/>
        </p:nvSpPr>
        <p:spPr>
          <a:xfrm>
            <a:off x="5093325" y="2240575"/>
            <a:ext cx="154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lsn</a:t>
            </a:r>
            <a:r>
              <a:rPr lang="en-GB" sz="1600" baseline="-25000" dirty="0"/>
              <a:t>1</a:t>
            </a:r>
            <a:r>
              <a:rPr lang="en-GB" sz="1600" dirty="0"/>
              <a:t>=2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0D199CA-61DC-4844-B301-1C75CC6AAE83}"/>
              </a:ext>
            </a:extLst>
          </p:cNvPr>
          <p:cNvSpPr txBox="1"/>
          <p:nvPr/>
        </p:nvSpPr>
        <p:spPr>
          <a:xfrm>
            <a:off x="5412701" y="2796810"/>
            <a:ext cx="126557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&lt;P1, m2, 2&gt;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6DCD2CC-0058-E14D-84E5-C4132C7414B0}"/>
              </a:ext>
            </a:extLst>
          </p:cNvPr>
          <p:cNvSpPr txBox="1"/>
          <p:nvPr/>
        </p:nvSpPr>
        <p:spPr>
          <a:xfrm>
            <a:off x="5346318" y="1786372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1</a:t>
            </a:r>
            <a:r>
              <a:rPr lang="en-GB" dirty="0"/>
              <a:t>=</a:t>
            </a:r>
          </a:p>
        </p:txBody>
      </p:sp>
      <p:sp>
        <p:nvSpPr>
          <p:cNvPr id="42" name="Freccia su 41">
            <a:extLst>
              <a:ext uri="{FF2B5EF4-FFF2-40B4-BE49-F238E27FC236}">
                <a16:creationId xmlns:a16="http://schemas.microsoft.com/office/drawing/2014/main" id="{4533CE28-E0FF-9E49-82E3-66A84D4C2712}"/>
              </a:ext>
            </a:extLst>
          </p:cNvPr>
          <p:cNvSpPr/>
          <p:nvPr/>
        </p:nvSpPr>
        <p:spPr>
          <a:xfrm>
            <a:off x="6081276" y="2348205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589BB75-3627-A34B-B8AB-C0A707C25F06}"/>
              </a:ext>
            </a:extLst>
          </p:cNvPr>
          <p:cNvSpPr txBox="1"/>
          <p:nvPr/>
        </p:nvSpPr>
        <p:spPr>
          <a:xfrm>
            <a:off x="6002277" y="2079503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graphicFrame>
        <p:nvGraphicFramePr>
          <p:cNvPr id="44" name="Tabella 9">
            <a:extLst>
              <a:ext uri="{FF2B5EF4-FFF2-40B4-BE49-F238E27FC236}">
                <a16:creationId xmlns:a16="http://schemas.microsoft.com/office/drawing/2014/main" id="{4D3788C9-9361-0342-A7C1-904608F8F3AF}"/>
              </a:ext>
            </a:extLst>
          </p:cNvPr>
          <p:cNvGraphicFramePr>
            <a:graphicFrameLocks noGrp="1"/>
          </p:cNvGraphicFramePr>
          <p:nvPr/>
        </p:nvGraphicFramePr>
        <p:xfrm>
          <a:off x="6100827" y="1812431"/>
          <a:ext cx="835627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21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283453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283453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cxnSp>
        <p:nvCxnSpPr>
          <p:cNvPr id="45" name="Connettore 1 44">
            <a:extLst>
              <a:ext uri="{FF2B5EF4-FFF2-40B4-BE49-F238E27FC236}">
                <a16:creationId xmlns:a16="http://schemas.microsoft.com/office/drawing/2014/main" id="{84057584-82A2-0149-A1D0-36C158D99EB2}"/>
              </a:ext>
            </a:extLst>
          </p:cNvPr>
          <p:cNvCxnSpPr>
            <a:cxnSpLocks/>
          </p:cNvCxnSpPr>
          <p:nvPr/>
        </p:nvCxnSpPr>
        <p:spPr>
          <a:xfrm>
            <a:off x="6002277" y="2043079"/>
            <a:ext cx="29841" cy="5360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9DC4593-7F1A-CA40-8CF2-704B5DD37A61}"/>
              </a:ext>
            </a:extLst>
          </p:cNvPr>
          <p:cNvSpPr txBox="1"/>
          <p:nvPr/>
        </p:nvSpPr>
        <p:spPr>
          <a:xfrm>
            <a:off x="5662095" y="4197244"/>
            <a:ext cx="1683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Pending={&lt;p1, m2, 2&gt;}</a:t>
            </a:r>
          </a:p>
        </p:txBody>
      </p:sp>
      <p:cxnSp>
        <p:nvCxnSpPr>
          <p:cNvPr id="54" name="Connettore 1 53">
            <a:extLst>
              <a:ext uri="{FF2B5EF4-FFF2-40B4-BE49-F238E27FC236}">
                <a16:creationId xmlns:a16="http://schemas.microsoft.com/office/drawing/2014/main" id="{19B98A1F-7A40-2E40-906C-5AE9A8204B33}"/>
              </a:ext>
            </a:extLst>
          </p:cNvPr>
          <p:cNvCxnSpPr>
            <a:stCxn id="52" idx="0"/>
          </p:cNvCxnSpPr>
          <p:nvPr/>
        </p:nvCxnSpPr>
        <p:spPr>
          <a:xfrm flipV="1">
            <a:off x="6504013" y="4028053"/>
            <a:ext cx="76950" cy="16919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Esplosione 1 2">
            <a:extLst>
              <a:ext uri="{FF2B5EF4-FFF2-40B4-BE49-F238E27FC236}">
                <a16:creationId xmlns:a16="http://schemas.microsoft.com/office/drawing/2014/main" id="{CD428DBB-CF60-1745-88E1-AA72D4D450AF}"/>
              </a:ext>
            </a:extLst>
          </p:cNvPr>
          <p:cNvSpPr/>
          <p:nvPr/>
        </p:nvSpPr>
        <p:spPr>
          <a:xfrm>
            <a:off x="7442505" y="2333222"/>
            <a:ext cx="618550" cy="518781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Esplosione 1 63">
            <a:extLst>
              <a:ext uri="{FF2B5EF4-FFF2-40B4-BE49-F238E27FC236}">
                <a16:creationId xmlns:a16="http://schemas.microsoft.com/office/drawing/2014/main" id="{B0EFBB59-1F91-2541-AD78-7C9EB4EF946F}"/>
              </a:ext>
            </a:extLst>
          </p:cNvPr>
          <p:cNvSpPr/>
          <p:nvPr/>
        </p:nvSpPr>
        <p:spPr>
          <a:xfrm>
            <a:off x="4088524" y="3013508"/>
            <a:ext cx="286047" cy="1975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Esplosione 1 64">
            <a:extLst>
              <a:ext uri="{FF2B5EF4-FFF2-40B4-BE49-F238E27FC236}">
                <a16:creationId xmlns:a16="http://schemas.microsoft.com/office/drawing/2014/main" id="{A2C9ABF4-A7A3-BF4E-AD0C-E6919D937466}"/>
              </a:ext>
            </a:extLst>
          </p:cNvPr>
          <p:cNvSpPr/>
          <p:nvPr/>
        </p:nvSpPr>
        <p:spPr>
          <a:xfrm>
            <a:off x="2420386" y="4472378"/>
            <a:ext cx="286047" cy="19759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99C351F1-AAD3-3945-A71A-0BF52F0DC0EB}"/>
              </a:ext>
            </a:extLst>
          </p:cNvPr>
          <p:cNvSpPr txBox="1"/>
          <p:nvPr/>
        </p:nvSpPr>
        <p:spPr>
          <a:xfrm>
            <a:off x="5616759" y="5474344"/>
            <a:ext cx="1683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Pending={&lt;p1, m2, 2&gt;}</a:t>
            </a:r>
          </a:p>
        </p:txBody>
      </p:sp>
    </p:spTree>
    <p:extLst>
      <p:ext uri="{BB962C8B-B14F-4D97-AF65-F5344CB8AC3E}">
        <p14:creationId xmlns:p14="http://schemas.microsoft.com/office/powerpoint/2010/main" val="634762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9E2EE-D385-ED4A-9965-C23EFCD2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Example 3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00B9C0DB-4BFE-0B4A-A8CE-AD707724D070}"/>
              </a:ext>
            </a:extLst>
          </p:cNvPr>
          <p:cNvCxnSpPr/>
          <p:nvPr/>
        </p:nvCxnSpPr>
        <p:spPr>
          <a:xfrm>
            <a:off x="1035698" y="2584580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05606183-AB16-CF41-B61C-E155254C0DB6}"/>
              </a:ext>
            </a:extLst>
          </p:cNvPr>
          <p:cNvCxnSpPr/>
          <p:nvPr/>
        </p:nvCxnSpPr>
        <p:spPr>
          <a:xfrm>
            <a:off x="1035698" y="4033935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9250AE2-0400-D149-8589-38194CF43005}"/>
              </a:ext>
            </a:extLst>
          </p:cNvPr>
          <p:cNvCxnSpPr/>
          <p:nvPr/>
        </p:nvCxnSpPr>
        <p:spPr>
          <a:xfrm>
            <a:off x="1035698" y="5427306"/>
            <a:ext cx="8376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3FD228-96B3-6C41-9ECD-0D269F3EF625}"/>
              </a:ext>
            </a:extLst>
          </p:cNvPr>
          <p:cNvSpPr txBox="1"/>
          <p:nvPr/>
        </p:nvSpPr>
        <p:spPr>
          <a:xfrm>
            <a:off x="541175" y="5402424"/>
            <a:ext cx="154888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lsn</a:t>
            </a:r>
            <a:r>
              <a:rPr lang="en-GB" sz="1600" dirty="0"/>
              <a:t>=0</a:t>
            </a:r>
          </a:p>
          <a:p>
            <a:r>
              <a:rPr lang="en-GB" sz="1600" dirty="0"/>
              <a:t>Pending={}</a:t>
            </a:r>
          </a:p>
          <a:p>
            <a:r>
              <a:rPr lang="en-GB" sz="1600" dirty="0"/>
              <a:t>Next =</a:t>
            </a:r>
          </a:p>
        </p:txBody>
      </p:sp>
      <p:graphicFrame>
        <p:nvGraphicFramePr>
          <p:cNvPr id="9" name="Tabella 9">
            <a:extLst>
              <a:ext uri="{FF2B5EF4-FFF2-40B4-BE49-F238E27FC236}">
                <a16:creationId xmlns:a16="http://schemas.microsoft.com/office/drawing/2014/main" id="{5D29D705-0CFD-DC47-9B04-02195208FBBF}"/>
              </a:ext>
            </a:extLst>
          </p:cNvPr>
          <p:cNvGraphicFramePr>
            <a:graphicFrameLocks noGrp="1"/>
          </p:cNvGraphicFramePr>
          <p:nvPr/>
        </p:nvGraphicFramePr>
        <p:xfrm>
          <a:off x="1202482" y="5968334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CD570EF7-A912-024A-ADDD-95CD2FB3BC28}"/>
              </a:ext>
            </a:extLst>
          </p:cNvPr>
          <p:cNvCxnSpPr>
            <a:endCxn id="8" idx="0"/>
          </p:cNvCxnSpPr>
          <p:nvPr/>
        </p:nvCxnSpPr>
        <p:spPr>
          <a:xfrm>
            <a:off x="1315615" y="2155371"/>
            <a:ext cx="1" cy="32470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ccia bidirezionale verticale 11">
            <a:extLst>
              <a:ext uri="{FF2B5EF4-FFF2-40B4-BE49-F238E27FC236}">
                <a16:creationId xmlns:a16="http://schemas.microsoft.com/office/drawing/2014/main" id="{48BF577C-8AF1-E84A-87EB-C47D56EE7B98}"/>
              </a:ext>
            </a:extLst>
          </p:cNvPr>
          <p:cNvSpPr/>
          <p:nvPr/>
        </p:nvSpPr>
        <p:spPr>
          <a:xfrm>
            <a:off x="1436908" y="2439260"/>
            <a:ext cx="55983" cy="2906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6EC9B6F-DB41-724D-97F8-E11D303E20B1}"/>
              </a:ext>
            </a:extLst>
          </p:cNvPr>
          <p:cNvSpPr txBox="1"/>
          <p:nvPr/>
        </p:nvSpPr>
        <p:spPr>
          <a:xfrm>
            <a:off x="1529487" y="2225825"/>
            <a:ext cx="154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lsn</a:t>
            </a:r>
            <a:r>
              <a:rPr lang="en-GB" sz="1600" baseline="-25000" dirty="0"/>
              <a:t>1</a:t>
            </a:r>
            <a:r>
              <a:rPr lang="en-GB" sz="1600" dirty="0"/>
              <a:t>=1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B1094B0E-0204-084F-A4E9-FDFD9F5BB3C4}"/>
              </a:ext>
            </a:extLst>
          </p:cNvPr>
          <p:cNvCxnSpPr/>
          <p:nvPr/>
        </p:nvCxnSpPr>
        <p:spPr>
          <a:xfrm>
            <a:off x="1687673" y="2584579"/>
            <a:ext cx="1176825" cy="2842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D952055-9A21-AA44-9B5E-8638E0C25132}"/>
              </a:ext>
            </a:extLst>
          </p:cNvPr>
          <p:cNvCxnSpPr/>
          <p:nvPr/>
        </p:nvCxnSpPr>
        <p:spPr>
          <a:xfrm>
            <a:off x="1687673" y="2584579"/>
            <a:ext cx="6439290" cy="1446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D523BFE5-6DF7-4D42-97A2-F505D7ED3D59}"/>
              </a:ext>
            </a:extLst>
          </p:cNvPr>
          <p:cNvSpPr/>
          <p:nvPr/>
        </p:nvSpPr>
        <p:spPr>
          <a:xfrm>
            <a:off x="1698171" y="2565918"/>
            <a:ext cx="970384" cy="270601"/>
          </a:xfrm>
          <a:custGeom>
            <a:avLst/>
            <a:gdLst>
              <a:gd name="connsiteX0" fmla="*/ 0 w 970384"/>
              <a:gd name="connsiteY0" fmla="*/ 0 h 270601"/>
              <a:gd name="connsiteX1" fmla="*/ 373225 w 970384"/>
              <a:gd name="connsiteY1" fmla="*/ 270588 h 270601"/>
              <a:gd name="connsiteX2" fmla="*/ 970384 w 970384"/>
              <a:gd name="connsiteY2" fmla="*/ 9331 h 2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384" h="270601">
                <a:moveTo>
                  <a:pt x="0" y="0"/>
                </a:moveTo>
                <a:cubicBezTo>
                  <a:pt x="105747" y="134516"/>
                  <a:pt x="211494" y="269033"/>
                  <a:pt x="373225" y="270588"/>
                </a:cubicBezTo>
                <a:cubicBezTo>
                  <a:pt x="534956" y="272143"/>
                  <a:pt x="752670" y="140737"/>
                  <a:pt x="970384" y="93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6CDCC1A-D141-3746-9487-3F72B7628AEA}"/>
              </a:ext>
            </a:extLst>
          </p:cNvPr>
          <p:cNvSpPr txBox="1"/>
          <p:nvPr/>
        </p:nvSpPr>
        <p:spPr>
          <a:xfrm>
            <a:off x="1443325" y="2934969"/>
            <a:ext cx="126557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&lt;P1, m1, 1&gt;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1C4BFBE-7A57-D34A-A2E4-F5C9F7C2A7E3}"/>
              </a:ext>
            </a:extLst>
          </p:cNvPr>
          <p:cNvSpPr txBox="1"/>
          <p:nvPr/>
        </p:nvSpPr>
        <p:spPr>
          <a:xfrm>
            <a:off x="2020633" y="1792379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1</a:t>
            </a:r>
            <a:r>
              <a:rPr lang="en-GB" dirty="0"/>
              <a:t>=</a:t>
            </a:r>
          </a:p>
        </p:txBody>
      </p:sp>
      <p:graphicFrame>
        <p:nvGraphicFramePr>
          <p:cNvPr id="21" name="Tabella 9">
            <a:extLst>
              <a:ext uri="{FF2B5EF4-FFF2-40B4-BE49-F238E27FC236}">
                <a16:creationId xmlns:a16="http://schemas.microsoft.com/office/drawing/2014/main" id="{EAA23FBD-3C8A-F64F-96E9-74948A5ACB5A}"/>
              </a:ext>
            </a:extLst>
          </p:cNvPr>
          <p:cNvGraphicFramePr>
            <a:graphicFrameLocks noGrp="1"/>
          </p:cNvGraphicFramePr>
          <p:nvPr/>
        </p:nvGraphicFramePr>
        <p:xfrm>
          <a:off x="2717101" y="1792379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22" name="Freccia su 21">
            <a:extLst>
              <a:ext uri="{FF2B5EF4-FFF2-40B4-BE49-F238E27FC236}">
                <a16:creationId xmlns:a16="http://schemas.microsoft.com/office/drawing/2014/main" id="{E4258FA2-FCE8-664D-81E8-59C9945C0D75}"/>
              </a:ext>
            </a:extLst>
          </p:cNvPr>
          <p:cNvSpPr/>
          <p:nvPr/>
        </p:nvSpPr>
        <p:spPr>
          <a:xfrm>
            <a:off x="2755591" y="2354212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E71A2FEF-FB1E-744D-992F-0C10E347321F}"/>
              </a:ext>
            </a:extLst>
          </p:cNvPr>
          <p:cNvCxnSpPr>
            <a:stCxn id="20" idx="2"/>
            <a:endCxn id="18" idx="2"/>
          </p:cNvCxnSpPr>
          <p:nvPr/>
        </p:nvCxnSpPr>
        <p:spPr>
          <a:xfrm flipH="1">
            <a:off x="2668555" y="2134011"/>
            <a:ext cx="37878" cy="44123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4DB7544-23F5-314C-86CB-9D3170293A6E}"/>
              </a:ext>
            </a:extLst>
          </p:cNvPr>
          <p:cNvSpPr txBox="1"/>
          <p:nvPr/>
        </p:nvSpPr>
        <p:spPr>
          <a:xfrm>
            <a:off x="1213779" y="2153051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3E8E2A3-4C84-EB47-A7F8-292B5EEA2CA0}"/>
              </a:ext>
            </a:extLst>
          </p:cNvPr>
          <p:cNvSpPr txBox="1"/>
          <p:nvPr/>
        </p:nvSpPr>
        <p:spPr>
          <a:xfrm>
            <a:off x="2676592" y="2085510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7" name="Freccia bidirezionale verticale 26">
            <a:extLst>
              <a:ext uri="{FF2B5EF4-FFF2-40B4-BE49-F238E27FC236}">
                <a16:creationId xmlns:a16="http://schemas.microsoft.com/office/drawing/2014/main" id="{3BFC2682-8996-9545-B86E-703C921ECC1F}"/>
              </a:ext>
            </a:extLst>
          </p:cNvPr>
          <p:cNvSpPr/>
          <p:nvPr/>
        </p:nvSpPr>
        <p:spPr>
          <a:xfrm>
            <a:off x="4897382" y="2439260"/>
            <a:ext cx="55983" cy="29063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A726F7E-BDC1-A149-BC42-55998109F1BE}"/>
              </a:ext>
            </a:extLst>
          </p:cNvPr>
          <p:cNvSpPr txBox="1"/>
          <p:nvPr/>
        </p:nvSpPr>
        <p:spPr>
          <a:xfrm>
            <a:off x="4674253" y="2153051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E3DA231-ADAE-A445-9457-7CD0B5F88702}"/>
              </a:ext>
            </a:extLst>
          </p:cNvPr>
          <p:cNvSpPr txBox="1"/>
          <p:nvPr/>
        </p:nvSpPr>
        <p:spPr>
          <a:xfrm>
            <a:off x="2717777" y="5517203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3</a:t>
            </a:r>
            <a:r>
              <a:rPr lang="en-GB" dirty="0"/>
              <a:t>=</a:t>
            </a:r>
          </a:p>
        </p:txBody>
      </p:sp>
      <p:graphicFrame>
        <p:nvGraphicFramePr>
          <p:cNvPr id="30" name="Tabella 9">
            <a:extLst>
              <a:ext uri="{FF2B5EF4-FFF2-40B4-BE49-F238E27FC236}">
                <a16:creationId xmlns:a16="http://schemas.microsoft.com/office/drawing/2014/main" id="{A6660BC7-9585-FF41-80B3-244F4E897ABC}"/>
              </a:ext>
            </a:extLst>
          </p:cNvPr>
          <p:cNvGraphicFramePr>
            <a:graphicFrameLocks noGrp="1"/>
          </p:cNvGraphicFramePr>
          <p:nvPr/>
        </p:nvGraphicFramePr>
        <p:xfrm>
          <a:off x="3414245" y="5517203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31" name="Freccia su 30">
            <a:extLst>
              <a:ext uri="{FF2B5EF4-FFF2-40B4-BE49-F238E27FC236}">
                <a16:creationId xmlns:a16="http://schemas.microsoft.com/office/drawing/2014/main" id="{08069BE5-493E-4B4F-8376-7A704620835F}"/>
              </a:ext>
            </a:extLst>
          </p:cNvPr>
          <p:cNvSpPr/>
          <p:nvPr/>
        </p:nvSpPr>
        <p:spPr>
          <a:xfrm>
            <a:off x="2959671" y="5196391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457EA3A2-BD18-724D-80F5-97F7AD892BB3}"/>
              </a:ext>
            </a:extLst>
          </p:cNvPr>
          <p:cNvSpPr txBox="1"/>
          <p:nvPr/>
        </p:nvSpPr>
        <p:spPr>
          <a:xfrm>
            <a:off x="2880672" y="4927689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745DA1C4-6FD1-FF49-9935-EC07900CE3BA}"/>
              </a:ext>
            </a:extLst>
          </p:cNvPr>
          <p:cNvCxnSpPr>
            <a:cxnSpLocks/>
          </p:cNvCxnSpPr>
          <p:nvPr/>
        </p:nvCxnSpPr>
        <p:spPr>
          <a:xfrm>
            <a:off x="5046108" y="2575249"/>
            <a:ext cx="615987" cy="1238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igura a mano libera 35">
            <a:extLst>
              <a:ext uri="{FF2B5EF4-FFF2-40B4-BE49-F238E27FC236}">
                <a16:creationId xmlns:a16="http://schemas.microsoft.com/office/drawing/2014/main" id="{84A70F7C-D4EC-064F-BA96-F36BA10DB902}"/>
              </a:ext>
            </a:extLst>
          </p:cNvPr>
          <p:cNvSpPr/>
          <p:nvPr/>
        </p:nvSpPr>
        <p:spPr>
          <a:xfrm>
            <a:off x="5046108" y="2596385"/>
            <a:ext cx="970384" cy="270601"/>
          </a:xfrm>
          <a:custGeom>
            <a:avLst/>
            <a:gdLst>
              <a:gd name="connsiteX0" fmla="*/ 0 w 970384"/>
              <a:gd name="connsiteY0" fmla="*/ 0 h 270601"/>
              <a:gd name="connsiteX1" fmla="*/ 373225 w 970384"/>
              <a:gd name="connsiteY1" fmla="*/ 270588 h 270601"/>
              <a:gd name="connsiteX2" fmla="*/ 970384 w 970384"/>
              <a:gd name="connsiteY2" fmla="*/ 9331 h 2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384" h="270601">
                <a:moveTo>
                  <a:pt x="0" y="0"/>
                </a:moveTo>
                <a:cubicBezTo>
                  <a:pt x="105747" y="134516"/>
                  <a:pt x="211494" y="269033"/>
                  <a:pt x="373225" y="270588"/>
                </a:cubicBezTo>
                <a:cubicBezTo>
                  <a:pt x="534956" y="272143"/>
                  <a:pt x="752670" y="140737"/>
                  <a:pt x="970384" y="93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EF5BE4F-640D-7A49-9F76-FCAE62382D8F}"/>
              </a:ext>
            </a:extLst>
          </p:cNvPr>
          <p:cNvCxnSpPr>
            <a:cxnSpLocks/>
          </p:cNvCxnSpPr>
          <p:nvPr/>
        </p:nvCxnSpPr>
        <p:spPr>
          <a:xfrm>
            <a:off x="5065386" y="2612321"/>
            <a:ext cx="815431" cy="656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350ED45-3C3C-BF4B-9CC9-368217613F41}"/>
              </a:ext>
            </a:extLst>
          </p:cNvPr>
          <p:cNvSpPr txBox="1"/>
          <p:nvPr/>
        </p:nvSpPr>
        <p:spPr>
          <a:xfrm>
            <a:off x="5093325" y="2240575"/>
            <a:ext cx="1548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lsn</a:t>
            </a:r>
            <a:r>
              <a:rPr lang="en-GB" sz="1600" baseline="-25000" dirty="0"/>
              <a:t>1</a:t>
            </a:r>
            <a:r>
              <a:rPr lang="en-GB" sz="1600" dirty="0"/>
              <a:t>=2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0D199CA-61DC-4844-B301-1C75CC6AAE83}"/>
              </a:ext>
            </a:extLst>
          </p:cNvPr>
          <p:cNvSpPr txBox="1"/>
          <p:nvPr/>
        </p:nvSpPr>
        <p:spPr>
          <a:xfrm>
            <a:off x="5412701" y="2796810"/>
            <a:ext cx="126557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&lt;P1, m2, 2&gt;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6DCD2CC-0058-E14D-84E5-C4132C7414B0}"/>
              </a:ext>
            </a:extLst>
          </p:cNvPr>
          <p:cNvSpPr txBox="1"/>
          <p:nvPr/>
        </p:nvSpPr>
        <p:spPr>
          <a:xfrm>
            <a:off x="5346318" y="1786372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1</a:t>
            </a:r>
            <a:r>
              <a:rPr lang="en-GB" dirty="0"/>
              <a:t>=</a:t>
            </a:r>
          </a:p>
        </p:txBody>
      </p:sp>
      <p:sp>
        <p:nvSpPr>
          <p:cNvPr id="42" name="Freccia su 41">
            <a:extLst>
              <a:ext uri="{FF2B5EF4-FFF2-40B4-BE49-F238E27FC236}">
                <a16:creationId xmlns:a16="http://schemas.microsoft.com/office/drawing/2014/main" id="{4533CE28-E0FF-9E49-82E3-66A84D4C2712}"/>
              </a:ext>
            </a:extLst>
          </p:cNvPr>
          <p:cNvSpPr/>
          <p:nvPr/>
        </p:nvSpPr>
        <p:spPr>
          <a:xfrm>
            <a:off x="6081276" y="2348205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589BB75-3627-A34B-B8AB-C0A707C25F06}"/>
              </a:ext>
            </a:extLst>
          </p:cNvPr>
          <p:cNvSpPr txBox="1"/>
          <p:nvPr/>
        </p:nvSpPr>
        <p:spPr>
          <a:xfrm>
            <a:off x="6002277" y="2079503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graphicFrame>
        <p:nvGraphicFramePr>
          <p:cNvPr id="44" name="Tabella 9">
            <a:extLst>
              <a:ext uri="{FF2B5EF4-FFF2-40B4-BE49-F238E27FC236}">
                <a16:creationId xmlns:a16="http://schemas.microsoft.com/office/drawing/2014/main" id="{4D3788C9-9361-0342-A7C1-904608F8F3AF}"/>
              </a:ext>
            </a:extLst>
          </p:cNvPr>
          <p:cNvGraphicFramePr>
            <a:graphicFrameLocks noGrp="1"/>
          </p:cNvGraphicFramePr>
          <p:nvPr/>
        </p:nvGraphicFramePr>
        <p:xfrm>
          <a:off x="6100827" y="1812431"/>
          <a:ext cx="835627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21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283453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283453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cxnSp>
        <p:nvCxnSpPr>
          <p:cNvPr id="45" name="Connettore 1 44">
            <a:extLst>
              <a:ext uri="{FF2B5EF4-FFF2-40B4-BE49-F238E27FC236}">
                <a16:creationId xmlns:a16="http://schemas.microsoft.com/office/drawing/2014/main" id="{84057584-82A2-0149-A1D0-36C158D99EB2}"/>
              </a:ext>
            </a:extLst>
          </p:cNvPr>
          <p:cNvCxnSpPr>
            <a:cxnSpLocks/>
          </p:cNvCxnSpPr>
          <p:nvPr/>
        </p:nvCxnSpPr>
        <p:spPr>
          <a:xfrm>
            <a:off x="6002277" y="2043079"/>
            <a:ext cx="29841" cy="5360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Freccia su 54">
            <a:extLst>
              <a:ext uri="{FF2B5EF4-FFF2-40B4-BE49-F238E27FC236}">
                <a16:creationId xmlns:a16="http://schemas.microsoft.com/office/drawing/2014/main" id="{C520817F-1DAE-BD44-BE5F-B7A3FBAE9D33}"/>
              </a:ext>
            </a:extLst>
          </p:cNvPr>
          <p:cNvSpPr/>
          <p:nvPr/>
        </p:nvSpPr>
        <p:spPr>
          <a:xfrm>
            <a:off x="8171369" y="3824578"/>
            <a:ext cx="173321" cy="22253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A6DC506-ABF5-7D4B-B9B3-2DAACC5EE899}"/>
              </a:ext>
            </a:extLst>
          </p:cNvPr>
          <p:cNvSpPr txBox="1"/>
          <p:nvPr/>
        </p:nvSpPr>
        <p:spPr>
          <a:xfrm>
            <a:off x="8092370" y="3555876"/>
            <a:ext cx="4564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9CC1952B-0ED7-2B44-B3BC-1D5D931E3BC1}"/>
              </a:ext>
            </a:extLst>
          </p:cNvPr>
          <p:cNvSpPr txBox="1"/>
          <p:nvPr/>
        </p:nvSpPr>
        <p:spPr>
          <a:xfrm>
            <a:off x="7333235" y="3290244"/>
            <a:ext cx="1371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</a:t>
            </a:r>
            <a:r>
              <a:rPr lang="en-GB" baseline="-25000" dirty="0"/>
              <a:t>2</a:t>
            </a:r>
            <a:r>
              <a:rPr lang="en-GB" dirty="0"/>
              <a:t>=</a:t>
            </a:r>
          </a:p>
        </p:txBody>
      </p:sp>
      <p:graphicFrame>
        <p:nvGraphicFramePr>
          <p:cNvPr id="58" name="Tabella 9">
            <a:extLst>
              <a:ext uri="{FF2B5EF4-FFF2-40B4-BE49-F238E27FC236}">
                <a16:creationId xmlns:a16="http://schemas.microsoft.com/office/drawing/2014/main" id="{D7D7F743-6852-D548-9316-2DE1C5453049}"/>
              </a:ext>
            </a:extLst>
          </p:cNvPr>
          <p:cNvGraphicFramePr>
            <a:graphicFrameLocks noGrp="1"/>
          </p:cNvGraphicFramePr>
          <p:nvPr/>
        </p:nvGraphicFramePr>
        <p:xfrm>
          <a:off x="8029703" y="3290244"/>
          <a:ext cx="935394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798">
                  <a:extLst>
                    <a:ext uri="{9D8B030D-6E8A-4147-A177-3AD203B41FA5}">
                      <a16:colId xmlns:a16="http://schemas.microsoft.com/office/drawing/2014/main" val="1442529090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162944806"/>
                    </a:ext>
                  </a:extLst>
                </a:gridCol>
                <a:gridCol w="311798">
                  <a:extLst>
                    <a:ext uri="{9D8B030D-6E8A-4147-A177-3AD203B41FA5}">
                      <a16:colId xmlns:a16="http://schemas.microsoft.com/office/drawing/2014/main" val="2953071768"/>
                    </a:ext>
                  </a:extLst>
                </a:gridCol>
              </a:tblGrid>
              <a:tr h="200764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33406"/>
                  </a:ext>
                </a:extLst>
              </a:tr>
            </a:tbl>
          </a:graphicData>
        </a:graphic>
      </p:graphicFrame>
      <p:sp>
        <p:nvSpPr>
          <p:cNvPr id="3" name="Esplosione 1 2">
            <a:extLst>
              <a:ext uri="{FF2B5EF4-FFF2-40B4-BE49-F238E27FC236}">
                <a16:creationId xmlns:a16="http://schemas.microsoft.com/office/drawing/2014/main" id="{CD428DBB-CF60-1745-88E1-AA72D4D450AF}"/>
              </a:ext>
            </a:extLst>
          </p:cNvPr>
          <p:cNvSpPr/>
          <p:nvPr/>
        </p:nvSpPr>
        <p:spPr>
          <a:xfrm>
            <a:off x="7442505" y="2333222"/>
            <a:ext cx="618550" cy="518781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Esplosione 1 63">
            <a:extLst>
              <a:ext uri="{FF2B5EF4-FFF2-40B4-BE49-F238E27FC236}">
                <a16:creationId xmlns:a16="http://schemas.microsoft.com/office/drawing/2014/main" id="{68FAEA3F-72B3-4D48-8360-4D8DE2D19C4E}"/>
              </a:ext>
            </a:extLst>
          </p:cNvPr>
          <p:cNvSpPr/>
          <p:nvPr/>
        </p:nvSpPr>
        <p:spPr>
          <a:xfrm>
            <a:off x="5747788" y="3123676"/>
            <a:ext cx="418159" cy="27432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Esplosione 1 64">
            <a:extLst>
              <a:ext uri="{FF2B5EF4-FFF2-40B4-BE49-F238E27FC236}">
                <a16:creationId xmlns:a16="http://schemas.microsoft.com/office/drawing/2014/main" id="{E471FAB8-1BA8-9946-A8FE-1C21F560D65F}"/>
              </a:ext>
            </a:extLst>
          </p:cNvPr>
          <p:cNvSpPr/>
          <p:nvPr/>
        </p:nvSpPr>
        <p:spPr>
          <a:xfrm>
            <a:off x="5461376" y="3695746"/>
            <a:ext cx="418159" cy="27432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0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Order Broadcast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25829" y="1845734"/>
            <a:ext cx="8486776" cy="2497664"/>
          </a:xfrm>
        </p:spPr>
        <p:txBody>
          <a:bodyPr/>
          <a:lstStyle/>
          <a:p>
            <a:r>
              <a:rPr lang="en-GB" dirty="0"/>
              <a:t> Ensures that messages are delivered according to the cause–effect relationships</a:t>
            </a:r>
          </a:p>
          <a:p>
            <a:pPr lvl="1"/>
            <a:r>
              <a:rPr lang="en-GB" dirty="0"/>
              <a:t> Causal order is an extension of the happened-before relation</a:t>
            </a:r>
          </a:p>
          <a:p>
            <a:r>
              <a:rPr lang="en-GB" dirty="0"/>
              <a:t> A message m</a:t>
            </a:r>
            <a:r>
              <a:rPr lang="en-GB" baseline="-25000" dirty="0"/>
              <a:t>1</a:t>
            </a:r>
            <a:r>
              <a:rPr lang="en-GB" dirty="0"/>
              <a:t> may have </a:t>
            </a:r>
            <a:r>
              <a:rPr lang="en-GB" i="1" dirty="0"/>
              <a:t>potentially caused </a:t>
            </a:r>
            <a:r>
              <a:rPr lang="en-GB" dirty="0"/>
              <a:t>another message m</a:t>
            </a:r>
            <a:r>
              <a:rPr lang="en-GB" baseline="-25000" dirty="0"/>
              <a:t>2</a:t>
            </a:r>
            <a:r>
              <a:rPr lang="en-GB" dirty="0"/>
              <a:t> (denoted as m</a:t>
            </a:r>
            <a:r>
              <a:rPr lang="en-GB" baseline="-25000" dirty="0"/>
              <a:t>1</a:t>
            </a:r>
            <a:r>
              <a:rPr lang="en-GB" dirty="0"/>
              <a:t> → m</a:t>
            </a:r>
            <a:r>
              <a:rPr lang="en-GB" baseline="-25000" dirty="0"/>
              <a:t>2</a:t>
            </a:r>
            <a:r>
              <a:rPr lang="en-GB" dirty="0"/>
              <a:t>) if any of the following holds:</a:t>
            </a:r>
          </a:p>
          <a:p>
            <a:pPr marL="544068" lvl="1" indent="-342900">
              <a:buFont typeface="+mj-lt"/>
              <a:buAutoNum type="alphaLcParenR"/>
            </a:pPr>
            <a:r>
              <a:rPr lang="en-GB" dirty="0"/>
              <a:t>some process p broadcasts m</a:t>
            </a:r>
            <a:r>
              <a:rPr lang="en-GB" baseline="-25000" dirty="0"/>
              <a:t>1</a:t>
            </a:r>
            <a:r>
              <a:rPr lang="en-GB" dirty="0"/>
              <a:t> before it broadcasts m</a:t>
            </a:r>
            <a:r>
              <a:rPr lang="en-GB" baseline="-25000" dirty="0"/>
              <a:t>2</a:t>
            </a:r>
          </a:p>
          <a:p>
            <a:pPr marL="544068" lvl="1" indent="-342900">
              <a:buFont typeface="+mj-lt"/>
              <a:buAutoNum type="alphaLcParenR"/>
            </a:pPr>
            <a:r>
              <a:rPr lang="en-GB" dirty="0"/>
              <a:t>some process p delivers m</a:t>
            </a:r>
            <a:r>
              <a:rPr lang="en-GB" baseline="-25000" dirty="0"/>
              <a:t>1</a:t>
            </a:r>
            <a:r>
              <a:rPr lang="en-GB" dirty="0"/>
              <a:t> and subsequently broadcasts m</a:t>
            </a:r>
            <a:r>
              <a:rPr lang="en-GB" baseline="-25000" dirty="0"/>
              <a:t>2</a:t>
            </a:r>
          </a:p>
          <a:p>
            <a:pPr marL="544068" lvl="1" indent="-342900">
              <a:buFont typeface="+mj-lt"/>
              <a:buAutoNum type="alphaLcParenR"/>
            </a:pPr>
            <a:r>
              <a:rPr lang="en-GB" dirty="0"/>
              <a:t>there exists some message m′ such that m</a:t>
            </a:r>
            <a:r>
              <a:rPr lang="en-GB" baseline="-25000" dirty="0"/>
              <a:t>1</a:t>
            </a:r>
            <a:r>
              <a:rPr lang="en-GB" dirty="0"/>
              <a:t> → m′ and m′ → m</a:t>
            </a:r>
            <a:r>
              <a:rPr lang="en-GB" baseline="-25000" dirty="0"/>
              <a:t>2</a:t>
            </a:r>
            <a:r>
              <a:rPr lang="en-GB" dirty="0"/>
              <a:t> </a:t>
            </a:r>
          </a:p>
          <a:p>
            <a:pPr marL="201168" lvl="1" indent="0">
              <a:buNone/>
            </a:pPr>
            <a:endParaRPr lang="en-GB" dirty="0"/>
          </a:p>
          <a:p>
            <a:pPr>
              <a:buFont typeface="Wingdings" charset="2"/>
              <a:buChar char="Ø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 rotWithShape="1">
          <a:blip r:embed="rId2"/>
          <a:srcRect r="66506" b="17949"/>
          <a:stretch/>
        </p:blipFill>
        <p:spPr>
          <a:xfrm>
            <a:off x="1320428" y="4343399"/>
            <a:ext cx="1909659" cy="170114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AC680E3-54FD-1C49-955D-2DE6FC09B4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488" r="38144" b="17949"/>
          <a:stretch/>
        </p:blipFill>
        <p:spPr>
          <a:xfrm>
            <a:off x="3930724" y="4343399"/>
            <a:ext cx="1674421" cy="170114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55BF58E-3106-C74E-84FD-FA49C50F48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82" r="-423" b="17949"/>
          <a:stretch/>
        </p:blipFill>
        <p:spPr>
          <a:xfrm>
            <a:off x="6449709" y="4343398"/>
            <a:ext cx="2208810" cy="17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Order Broadcast Specification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0" y="2318738"/>
            <a:ext cx="6833082" cy="3567715"/>
          </a:xfrm>
          <a:prstGeom prst="rect">
            <a:avLst/>
          </a:prstGeom>
        </p:spPr>
      </p:pic>
      <p:sp>
        <p:nvSpPr>
          <p:cNvPr id="5" name="Rettangolo arrotondato 4"/>
          <p:cNvSpPr/>
          <p:nvPr/>
        </p:nvSpPr>
        <p:spPr>
          <a:xfrm>
            <a:off x="7360380" y="2987176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Causal Order Broadcast</a:t>
            </a:r>
          </a:p>
        </p:txBody>
      </p:sp>
      <p:cxnSp>
        <p:nvCxnSpPr>
          <p:cNvPr id="6" name="Connettore 2 5"/>
          <p:cNvCxnSpPr/>
          <p:nvPr/>
        </p:nvCxnSpPr>
        <p:spPr>
          <a:xfrm flipH="1" flipV="1">
            <a:off x="9232042" y="2108842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6972300" y="2451273"/>
            <a:ext cx="170655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CO_Broadcast</a:t>
            </a:r>
            <a:r>
              <a:rPr lang="en-US" dirty="0"/>
              <a:t> (m)</a:t>
            </a:r>
          </a:p>
        </p:txBody>
      </p:sp>
      <p:cxnSp>
        <p:nvCxnSpPr>
          <p:cNvPr id="8" name="Connettore 2 9"/>
          <p:cNvCxnSpPr/>
          <p:nvPr/>
        </p:nvCxnSpPr>
        <p:spPr>
          <a:xfrm>
            <a:off x="7844839" y="2218722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12"/>
          <p:cNvSpPr txBox="1"/>
          <p:nvPr/>
        </p:nvSpPr>
        <p:spPr>
          <a:xfrm>
            <a:off x="8702284" y="2467538"/>
            <a:ext cx="142186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CO_Deliver</a:t>
            </a:r>
            <a:r>
              <a:rPr lang="en-US" dirty="0"/>
              <a:t>(m)</a:t>
            </a:r>
          </a:p>
        </p:txBody>
      </p:sp>
      <p:sp>
        <p:nvSpPr>
          <p:cNvPr id="15" name="Right Brace 4"/>
          <p:cNvSpPr/>
          <p:nvPr/>
        </p:nvSpPr>
        <p:spPr>
          <a:xfrm>
            <a:off x="7051830" y="4608224"/>
            <a:ext cx="375051" cy="45705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5"/>
          <p:cNvSpPr txBox="1"/>
          <p:nvPr/>
        </p:nvSpPr>
        <p:spPr>
          <a:xfrm>
            <a:off x="7504438" y="4380666"/>
            <a:ext cx="2535388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as Reliable Broadcast (URB for Uniform </a:t>
            </a:r>
            <a:r>
              <a:rPr lang="en-US"/>
              <a:t>FIFO Broadcast</a:t>
            </a:r>
            <a:endParaRPr lang="en-US" dirty="0"/>
          </a:p>
        </p:txBody>
      </p:sp>
      <p:sp>
        <p:nvSpPr>
          <p:cNvPr id="17" name="Right Brace 6"/>
          <p:cNvSpPr/>
          <p:nvPr/>
        </p:nvSpPr>
        <p:spPr>
          <a:xfrm>
            <a:off x="7051830" y="5400401"/>
            <a:ext cx="375051" cy="436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7"/>
          <p:cNvSpPr txBox="1"/>
          <p:nvPr/>
        </p:nvSpPr>
        <p:spPr>
          <a:xfrm>
            <a:off x="7630465" y="5486129"/>
            <a:ext cx="194858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Causal Order</a:t>
            </a:r>
          </a:p>
        </p:txBody>
      </p:sp>
      <p:sp>
        <p:nvSpPr>
          <p:cNvPr id="19" name="Plus 8"/>
          <p:cNvSpPr/>
          <p:nvPr/>
        </p:nvSpPr>
        <p:spPr>
          <a:xfrm>
            <a:off x="7843742" y="5130720"/>
            <a:ext cx="310222" cy="348898"/>
          </a:xfrm>
          <a:prstGeom prst="mathPlus">
            <a:avLst/>
          </a:prstGeom>
          <a:solidFill>
            <a:srgbClr val="2683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sellaDiTesto 19"/>
          <p:cNvSpPr txBox="1"/>
          <p:nvPr/>
        </p:nvSpPr>
        <p:spPr>
          <a:xfrm>
            <a:off x="925830" y="1828783"/>
            <a:ext cx="6260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/>
              <a:t>Causal</a:t>
            </a:r>
            <a:r>
              <a:rPr lang="it-IT" sz="2000" dirty="0"/>
              <a:t> Order Broadcast can be </a:t>
            </a:r>
            <a:r>
              <a:rPr lang="it-IT" sz="2000" dirty="0" err="1"/>
              <a:t>uniform</a:t>
            </a:r>
            <a:r>
              <a:rPr lang="it-IT" sz="2000" dirty="0"/>
              <a:t>/non </a:t>
            </a:r>
            <a:r>
              <a:rPr lang="it-IT" sz="2000" dirty="0" err="1"/>
              <a:t>uniform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224851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altLang="it-IT" dirty="0"/>
              <a:t>Causal Order Broadcast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GB" sz="2800" i="1" dirty="0">
                <a:solidFill>
                  <a:schemeClr val="accent2"/>
                </a:solidFill>
              </a:rPr>
              <a:t>Observation</a:t>
            </a:r>
          </a:p>
          <a:p>
            <a:pPr lvl="1">
              <a:lnSpc>
                <a:spcPct val="80000"/>
              </a:lnSpc>
              <a:defRPr/>
            </a:pPr>
            <a:r>
              <a:rPr lang="en-GB" altLang="it-IT" sz="2400" dirty="0">
                <a:latin typeface="Arial" charset="0"/>
              </a:rPr>
              <a:t> Causal Broadcast = Reliable Broadcast + Causal Order</a:t>
            </a:r>
            <a:endParaRPr lang="en-GB" altLang="it-IT" sz="2200" dirty="0">
              <a:latin typeface="Arial" charset="0"/>
            </a:endParaRPr>
          </a:p>
          <a:p>
            <a:pPr lvl="2">
              <a:lnSpc>
                <a:spcPct val="80000"/>
              </a:lnSpc>
              <a:defRPr/>
            </a:pPr>
            <a:r>
              <a:rPr lang="en-GB" altLang="it-IT" sz="1800" dirty="0">
                <a:latin typeface="Arial" charset="0"/>
              </a:rPr>
              <a:t>Causal Order ⟹ FIFO Order</a:t>
            </a:r>
          </a:p>
          <a:p>
            <a:pPr lvl="2">
              <a:lnSpc>
                <a:spcPct val="80000"/>
              </a:lnSpc>
              <a:defRPr/>
            </a:pPr>
            <a:r>
              <a:rPr lang="en-GB" altLang="it-IT" sz="1800" dirty="0">
                <a:latin typeface="Arial" charset="0"/>
              </a:rPr>
              <a:t> But FIFO Order ⇏ Causal Order</a:t>
            </a:r>
          </a:p>
          <a:p>
            <a:pPr marL="384048" lvl="2" indent="0">
              <a:lnSpc>
                <a:spcPct val="80000"/>
              </a:lnSpc>
              <a:buNone/>
              <a:defRPr/>
            </a:pPr>
            <a:endParaRPr lang="en-GB" altLang="it-IT" sz="2400" dirty="0">
              <a:latin typeface="Arial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GB" altLang="it-IT" sz="2400" dirty="0">
                <a:latin typeface="Arial" charset="0"/>
              </a:rPr>
              <a:t> Causal Order  = FIFO Order + Local Order</a:t>
            </a:r>
          </a:p>
          <a:p>
            <a:pPr lvl="2">
              <a:lnSpc>
                <a:spcPct val="150000"/>
              </a:lnSpc>
            </a:pPr>
            <a:r>
              <a:rPr lang="en-GB" altLang="it-IT" sz="1900" dirty="0">
                <a:solidFill>
                  <a:schemeClr val="accent2"/>
                </a:solidFill>
                <a:latin typeface="Arial" charset="0"/>
              </a:rPr>
              <a:t>Local Order:</a:t>
            </a:r>
            <a:r>
              <a:rPr lang="en-GB" altLang="it-IT" sz="1900" dirty="0">
                <a:latin typeface="Arial" charset="0"/>
              </a:rPr>
              <a:t>  if a process delivers a message </a:t>
            </a:r>
            <a:r>
              <a:rPr lang="en-GB" altLang="it-IT" sz="1900" dirty="0" err="1">
                <a:latin typeface="Arial" charset="0"/>
              </a:rPr>
              <a:t>m_a</a:t>
            </a:r>
            <a:r>
              <a:rPr lang="en-GB" altLang="it-IT" sz="1900" dirty="0">
                <a:latin typeface="Arial" charset="0"/>
              </a:rPr>
              <a:t> before sending a message </a:t>
            </a:r>
            <a:r>
              <a:rPr lang="en-GB" altLang="it-IT" sz="1900" dirty="0" err="1">
                <a:latin typeface="Arial" charset="0"/>
              </a:rPr>
              <a:t>m_b</a:t>
            </a:r>
            <a:r>
              <a:rPr lang="en-GB" altLang="it-IT" sz="1900" dirty="0">
                <a:latin typeface="Arial" charset="0"/>
              </a:rPr>
              <a:t>, then no correct process deliver </a:t>
            </a:r>
            <a:r>
              <a:rPr lang="en-GB" altLang="it-IT" sz="1900" dirty="0" err="1">
                <a:latin typeface="Arial" charset="0"/>
              </a:rPr>
              <a:t>m_b</a:t>
            </a:r>
            <a:r>
              <a:rPr lang="en-GB" altLang="it-IT" sz="1900" dirty="0">
                <a:latin typeface="Arial" charset="0"/>
              </a:rPr>
              <a:t> if it has not already delivered </a:t>
            </a:r>
            <a:r>
              <a:rPr lang="en-GB" altLang="it-IT" sz="1900" dirty="0" err="1">
                <a:latin typeface="Arial" charset="0"/>
              </a:rPr>
              <a:t>m_a</a:t>
            </a:r>
            <a:endParaRPr lang="en-GB" altLang="it-IT" sz="1900" dirty="0">
              <a:latin typeface="Arial" charset="0"/>
            </a:endParaRPr>
          </a:p>
          <a:p>
            <a:pPr lvl="2">
              <a:lnSpc>
                <a:spcPct val="80000"/>
              </a:lnSpc>
              <a:buFont typeface="Wingdings" charset="2"/>
              <a:buChar char="Ø"/>
              <a:defRPr/>
            </a:pPr>
            <a:endParaRPr lang="en-GB" altLang="it-IT" sz="1800" dirty="0">
              <a:latin typeface="Arial" charset="0"/>
            </a:endParaRPr>
          </a:p>
          <a:p>
            <a:pPr lvl="1">
              <a:lnSpc>
                <a:spcPct val="80000"/>
              </a:lnSpc>
              <a:buFont typeface="Wingdings" charset="2"/>
              <a:buChar char="Ø"/>
              <a:defRPr/>
            </a:pPr>
            <a:endParaRPr lang="en-GB" altLang="it-IT" sz="2400" dirty="0">
              <a:latin typeface="Arial" charset="0"/>
            </a:endParaRPr>
          </a:p>
          <a:p>
            <a:pPr lvl="1">
              <a:lnSpc>
                <a:spcPct val="80000"/>
              </a:lnSpc>
              <a:buFont typeface="Wingdings" charset="2"/>
              <a:buChar char="Ø"/>
              <a:defRPr/>
            </a:pP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187837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FA2107-C9C7-8043-8760-3B06A9A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E7146E6-D127-8B40-AB7F-F98FF5971E37}"/>
              </a:ext>
            </a:extLst>
          </p:cNvPr>
          <p:cNvCxnSpPr/>
          <p:nvPr/>
        </p:nvCxnSpPr>
        <p:spPr>
          <a:xfrm>
            <a:off x="925830" y="315883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FFD1CFF-C0C6-934E-9C65-A4B8DEA49FA0}"/>
              </a:ext>
            </a:extLst>
          </p:cNvPr>
          <p:cNvCxnSpPr/>
          <p:nvPr/>
        </p:nvCxnSpPr>
        <p:spPr>
          <a:xfrm>
            <a:off x="925830" y="3799612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5E9CA3-3C8D-0F46-92AC-2C02630436EF}"/>
              </a:ext>
            </a:extLst>
          </p:cNvPr>
          <p:cNvCxnSpPr/>
          <p:nvPr/>
        </p:nvCxnSpPr>
        <p:spPr>
          <a:xfrm>
            <a:off x="925830" y="4537367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EC68A0B-BDAD-B645-A3C0-CC3D44AEF82C}"/>
              </a:ext>
            </a:extLst>
          </p:cNvPr>
          <p:cNvCxnSpPr/>
          <p:nvPr/>
        </p:nvCxnSpPr>
        <p:spPr>
          <a:xfrm>
            <a:off x="1070264" y="290945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AA59DA0-DFAE-B040-B462-43D846BE39F1}"/>
              </a:ext>
            </a:extLst>
          </p:cNvPr>
          <p:cNvCxnSpPr/>
          <p:nvPr/>
        </p:nvCxnSpPr>
        <p:spPr>
          <a:xfrm>
            <a:off x="1565564" y="2919848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28F29B8-1EB9-804B-BCBF-37ABB8C81071}"/>
              </a:ext>
            </a:extLst>
          </p:cNvPr>
          <p:cNvCxnSpPr/>
          <p:nvPr/>
        </p:nvCxnSpPr>
        <p:spPr>
          <a:xfrm>
            <a:off x="2240974" y="4298376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ccia su 12">
            <a:extLst>
              <a:ext uri="{FF2B5EF4-FFF2-40B4-BE49-F238E27FC236}">
                <a16:creationId xmlns:a16="http://schemas.microsoft.com/office/drawing/2014/main" id="{0F24A4C5-6EAF-504E-99F1-59866300DB37}"/>
              </a:ext>
            </a:extLst>
          </p:cNvPr>
          <p:cNvSpPr/>
          <p:nvPr/>
        </p:nvSpPr>
        <p:spPr>
          <a:xfrm>
            <a:off x="1714500" y="410094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D1D4C74-03F9-D846-B2D8-E6D93E640D6E}"/>
              </a:ext>
            </a:extLst>
          </p:cNvPr>
          <p:cNvSpPr txBox="1"/>
          <p:nvPr/>
        </p:nvSpPr>
        <p:spPr>
          <a:xfrm>
            <a:off x="1580632" y="379961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EAA763-ADC8-1A49-905E-601E0923EB09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41E0C6-16EC-C947-9871-6120035522C2}"/>
              </a:ext>
            </a:extLst>
          </p:cNvPr>
          <p:cNvSpPr txBox="1"/>
          <p:nvPr/>
        </p:nvSpPr>
        <p:spPr>
          <a:xfrm>
            <a:off x="1334018" y="257821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C671B5-DBEB-0E48-B7BC-9B308A4D815B}"/>
              </a:ext>
            </a:extLst>
          </p:cNvPr>
          <p:cNvSpPr txBox="1"/>
          <p:nvPr/>
        </p:nvSpPr>
        <p:spPr>
          <a:xfrm>
            <a:off x="2045796" y="386368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794F327A-83ED-4546-8A98-DD9C081C0D88}"/>
              </a:ext>
            </a:extLst>
          </p:cNvPr>
          <p:cNvSpPr/>
          <p:nvPr/>
        </p:nvSpPr>
        <p:spPr>
          <a:xfrm>
            <a:off x="3046267" y="4097485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84638696-66D0-6642-A0A5-F8603553C47F}"/>
              </a:ext>
            </a:extLst>
          </p:cNvPr>
          <p:cNvSpPr/>
          <p:nvPr/>
        </p:nvSpPr>
        <p:spPr>
          <a:xfrm>
            <a:off x="3905071" y="4107876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BA1CA609-8476-D54F-B4CA-B60FB3E51311}"/>
              </a:ext>
            </a:extLst>
          </p:cNvPr>
          <p:cNvSpPr/>
          <p:nvPr/>
        </p:nvSpPr>
        <p:spPr>
          <a:xfrm>
            <a:off x="3027738" y="336319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ccia su 20">
            <a:extLst>
              <a:ext uri="{FF2B5EF4-FFF2-40B4-BE49-F238E27FC236}">
                <a16:creationId xmlns:a16="http://schemas.microsoft.com/office/drawing/2014/main" id="{D7623AD7-EE27-114A-935A-96659D6A5967}"/>
              </a:ext>
            </a:extLst>
          </p:cNvPr>
          <p:cNvSpPr/>
          <p:nvPr/>
        </p:nvSpPr>
        <p:spPr>
          <a:xfrm>
            <a:off x="3905070" y="335280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2A8D652E-E5F2-144E-BB41-B85D47133FAD}"/>
              </a:ext>
            </a:extLst>
          </p:cNvPr>
          <p:cNvSpPr/>
          <p:nvPr/>
        </p:nvSpPr>
        <p:spPr>
          <a:xfrm>
            <a:off x="4479520" y="335280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5EF9C261-5E76-1B4D-B91E-D424AB6FDE6C}"/>
              </a:ext>
            </a:extLst>
          </p:cNvPr>
          <p:cNvSpPr/>
          <p:nvPr/>
        </p:nvSpPr>
        <p:spPr>
          <a:xfrm>
            <a:off x="3027738" y="271410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E320E37C-B242-A14F-8863-DD961377AE78}"/>
              </a:ext>
            </a:extLst>
          </p:cNvPr>
          <p:cNvSpPr/>
          <p:nvPr/>
        </p:nvSpPr>
        <p:spPr>
          <a:xfrm>
            <a:off x="3905070" y="270371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9EA158F0-3857-7247-BC0A-7A45205561E0}"/>
              </a:ext>
            </a:extLst>
          </p:cNvPr>
          <p:cNvSpPr/>
          <p:nvPr/>
        </p:nvSpPr>
        <p:spPr>
          <a:xfrm>
            <a:off x="4479520" y="270371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BEC7671-7DF6-4A44-905B-905F263090F3}"/>
              </a:ext>
            </a:extLst>
          </p:cNvPr>
          <p:cNvSpPr txBox="1"/>
          <p:nvPr/>
        </p:nvSpPr>
        <p:spPr>
          <a:xfrm>
            <a:off x="2929363" y="379961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A6BF551-58D6-6B49-87FD-DA4BD94FEC97}"/>
              </a:ext>
            </a:extLst>
          </p:cNvPr>
          <p:cNvSpPr txBox="1"/>
          <p:nvPr/>
        </p:nvSpPr>
        <p:spPr>
          <a:xfrm>
            <a:off x="3815975" y="237247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871B4C8-0558-1C42-B547-CC820A05CD38}"/>
              </a:ext>
            </a:extLst>
          </p:cNvPr>
          <p:cNvSpPr txBox="1"/>
          <p:nvPr/>
        </p:nvSpPr>
        <p:spPr>
          <a:xfrm>
            <a:off x="2929363" y="308448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BBB43C2-9677-E140-A7B2-D23B4F610A83}"/>
              </a:ext>
            </a:extLst>
          </p:cNvPr>
          <p:cNvSpPr txBox="1"/>
          <p:nvPr/>
        </p:nvSpPr>
        <p:spPr>
          <a:xfrm>
            <a:off x="4416530" y="235169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ED83D0-A08C-C446-BF2E-BF7018C5B461}"/>
              </a:ext>
            </a:extLst>
          </p:cNvPr>
          <p:cNvSpPr txBox="1"/>
          <p:nvPr/>
        </p:nvSpPr>
        <p:spPr>
          <a:xfrm>
            <a:off x="3811190" y="308910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9798787-2A7D-894D-92A0-6CC022D18905}"/>
              </a:ext>
            </a:extLst>
          </p:cNvPr>
          <p:cNvSpPr txBox="1"/>
          <p:nvPr/>
        </p:nvSpPr>
        <p:spPr>
          <a:xfrm>
            <a:off x="2902008" y="2352331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C40C375-EB4B-D341-B2EF-7C03C8AF8E0F}"/>
              </a:ext>
            </a:extLst>
          </p:cNvPr>
          <p:cNvSpPr txBox="1"/>
          <p:nvPr/>
        </p:nvSpPr>
        <p:spPr>
          <a:xfrm>
            <a:off x="3815975" y="380734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698B433-075C-7C40-BF6A-D43CB21622A3}"/>
              </a:ext>
            </a:extLst>
          </p:cNvPr>
          <p:cNvSpPr txBox="1"/>
          <p:nvPr/>
        </p:nvSpPr>
        <p:spPr>
          <a:xfrm>
            <a:off x="4391536" y="308107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404A06C-7190-574D-B839-6EBF53B308F3}"/>
              </a:ext>
            </a:extLst>
          </p:cNvPr>
          <p:cNvSpPr txBox="1"/>
          <p:nvPr/>
        </p:nvSpPr>
        <p:spPr>
          <a:xfrm>
            <a:off x="6172200" y="2586873"/>
            <a:ext cx="247303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Reliable but Not Causal</a:t>
            </a:r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F7CF5BBE-E6D7-C94F-9387-B29BA5BAF87F}"/>
              </a:ext>
            </a:extLst>
          </p:cNvPr>
          <p:cNvSpPr/>
          <p:nvPr/>
        </p:nvSpPr>
        <p:spPr>
          <a:xfrm>
            <a:off x="2680855" y="2372478"/>
            <a:ext cx="1735675" cy="8794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3D5AE2F-966F-1643-B59E-2819C700E6BB}"/>
              </a:ext>
            </a:extLst>
          </p:cNvPr>
          <p:cNvSpPr txBox="1"/>
          <p:nvPr/>
        </p:nvSpPr>
        <p:spPr>
          <a:xfrm>
            <a:off x="6390409" y="3879273"/>
            <a:ext cx="255616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have causal we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 (FIFO)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m3 (local Order)</a:t>
            </a:r>
          </a:p>
        </p:txBody>
      </p:sp>
    </p:spTree>
    <p:extLst>
      <p:ext uri="{BB962C8B-B14F-4D97-AF65-F5344CB8AC3E}">
        <p14:creationId xmlns:p14="http://schemas.microsoft.com/office/powerpoint/2010/main" val="214266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FA2107-C9C7-8043-8760-3B06A9A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E7146E6-D127-8B40-AB7F-F98FF5971E37}"/>
              </a:ext>
            </a:extLst>
          </p:cNvPr>
          <p:cNvCxnSpPr/>
          <p:nvPr/>
        </p:nvCxnSpPr>
        <p:spPr>
          <a:xfrm>
            <a:off x="925830" y="315883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FFD1CFF-C0C6-934E-9C65-A4B8DEA49FA0}"/>
              </a:ext>
            </a:extLst>
          </p:cNvPr>
          <p:cNvCxnSpPr/>
          <p:nvPr/>
        </p:nvCxnSpPr>
        <p:spPr>
          <a:xfrm>
            <a:off x="925830" y="3799612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5E9CA3-3C8D-0F46-92AC-2C02630436EF}"/>
              </a:ext>
            </a:extLst>
          </p:cNvPr>
          <p:cNvCxnSpPr/>
          <p:nvPr/>
        </p:nvCxnSpPr>
        <p:spPr>
          <a:xfrm>
            <a:off x="925830" y="4537367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EC68A0B-BDAD-B645-A3C0-CC3D44AEF82C}"/>
              </a:ext>
            </a:extLst>
          </p:cNvPr>
          <p:cNvCxnSpPr/>
          <p:nvPr/>
        </p:nvCxnSpPr>
        <p:spPr>
          <a:xfrm>
            <a:off x="1070264" y="290945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AA59DA0-DFAE-B040-B462-43D846BE39F1}"/>
              </a:ext>
            </a:extLst>
          </p:cNvPr>
          <p:cNvCxnSpPr/>
          <p:nvPr/>
        </p:nvCxnSpPr>
        <p:spPr>
          <a:xfrm>
            <a:off x="1565564" y="2919848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28F29B8-1EB9-804B-BCBF-37ABB8C81071}"/>
              </a:ext>
            </a:extLst>
          </p:cNvPr>
          <p:cNvCxnSpPr/>
          <p:nvPr/>
        </p:nvCxnSpPr>
        <p:spPr>
          <a:xfrm>
            <a:off x="2240974" y="4298376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ccia su 12">
            <a:extLst>
              <a:ext uri="{FF2B5EF4-FFF2-40B4-BE49-F238E27FC236}">
                <a16:creationId xmlns:a16="http://schemas.microsoft.com/office/drawing/2014/main" id="{0F24A4C5-6EAF-504E-99F1-59866300DB37}"/>
              </a:ext>
            </a:extLst>
          </p:cNvPr>
          <p:cNvSpPr/>
          <p:nvPr/>
        </p:nvSpPr>
        <p:spPr>
          <a:xfrm>
            <a:off x="1714500" y="410094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D1D4C74-03F9-D846-B2D8-E6D93E640D6E}"/>
              </a:ext>
            </a:extLst>
          </p:cNvPr>
          <p:cNvSpPr txBox="1"/>
          <p:nvPr/>
        </p:nvSpPr>
        <p:spPr>
          <a:xfrm>
            <a:off x="1580632" y="379961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EAA763-ADC8-1A49-905E-601E0923EB09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41E0C6-16EC-C947-9871-6120035522C2}"/>
              </a:ext>
            </a:extLst>
          </p:cNvPr>
          <p:cNvSpPr txBox="1"/>
          <p:nvPr/>
        </p:nvSpPr>
        <p:spPr>
          <a:xfrm>
            <a:off x="1334018" y="257821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C671B5-DBEB-0E48-B7BC-9B308A4D815B}"/>
              </a:ext>
            </a:extLst>
          </p:cNvPr>
          <p:cNvSpPr txBox="1"/>
          <p:nvPr/>
        </p:nvSpPr>
        <p:spPr>
          <a:xfrm>
            <a:off x="2045796" y="386368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794F327A-83ED-4546-8A98-DD9C081C0D88}"/>
              </a:ext>
            </a:extLst>
          </p:cNvPr>
          <p:cNvSpPr/>
          <p:nvPr/>
        </p:nvSpPr>
        <p:spPr>
          <a:xfrm>
            <a:off x="3046267" y="4097485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84638696-66D0-6642-A0A5-F8603553C47F}"/>
              </a:ext>
            </a:extLst>
          </p:cNvPr>
          <p:cNvSpPr/>
          <p:nvPr/>
        </p:nvSpPr>
        <p:spPr>
          <a:xfrm>
            <a:off x="3905071" y="4107876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BA1CA609-8476-D54F-B4CA-B60FB3E51311}"/>
              </a:ext>
            </a:extLst>
          </p:cNvPr>
          <p:cNvSpPr/>
          <p:nvPr/>
        </p:nvSpPr>
        <p:spPr>
          <a:xfrm>
            <a:off x="3027738" y="336319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ccia su 20">
            <a:extLst>
              <a:ext uri="{FF2B5EF4-FFF2-40B4-BE49-F238E27FC236}">
                <a16:creationId xmlns:a16="http://schemas.microsoft.com/office/drawing/2014/main" id="{D7623AD7-EE27-114A-935A-96659D6A5967}"/>
              </a:ext>
            </a:extLst>
          </p:cNvPr>
          <p:cNvSpPr/>
          <p:nvPr/>
        </p:nvSpPr>
        <p:spPr>
          <a:xfrm>
            <a:off x="3905070" y="335280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2A8D652E-E5F2-144E-BB41-B85D47133FAD}"/>
              </a:ext>
            </a:extLst>
          </p:cNvPr>
          <p:cNvSpPr/>
          <p:nvPr/>
        </p:nvSpPr>
        <p:spPr>
          <a:xfrm>
            <a:off x="4479520" y="335280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5EF9C261-5E76-1B4D-B91E-D424AB6FDE6C}"/>
              </a:ext>
            </a:extLst>
          </p:cNvPr>
          <p:cNvSpPr/>
          <p:nvPr/>
        </p:nvSpPr>
        <p:spPr>
          <a:xfrm>
            <a:off x="3027738" y="271410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E320E37C-B242-A14F-8863-DD961377AE78}"/>
              </a:ext>
            </a:extLst>
          </p:cNvPr>
          <p:cNvSpPr/>
          <p:nvPr/>
        </p:nvSpPr>
        <p:spPr>
          <a:xfrm>
            <a:off x="3905070" y="270371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9EA158F0-3857-7247-BC0A-7A45205561E0}"/>
              </a:ext>
            </a:extLst>
          </p:cNvPr>
          <p:cNvSpPr/>
          <p:nvPr/>
        </p:nvSpPr>
        <p:spPr>
          <a:xfrm>
            <a:off x="4479520" y="270371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BEC7671-7DF6-4A44-905B-905F263090F3}"/>
              </a:ext>
            </a:extLst>
          </p:cNvPr>
          <p:cNvSpPr txBox="1"/>
          <p:nvPr/>
        </p:nvSpPr>
        <p:spPr>
          <a:xfrm>
            <a:off x="2929363" y="379961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A6BF551-58D6-6B49-87FD-DA4BD94FEC97}"/>
              </a:ext>
            </a:extLst>
          </p:cNvPr>
          <p:cNvSpPr txBox="1"/>
          <p:nvPr/>
        </p:nvSpPr>
        <p:spPr>
          <a:xfrm>
            <a:off x="2873362" y="231053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871B4C8-0558-1C42-B547-CC820A05CD38}"/>
              </a:ext>
            </a:extLst>
          </p:cNvPr>
          <p:cNvSpPr txBox="1"/>
          <p:nvPr/>
        </p:nvSpPr>
        <p:spPr>
          <a:xfrm>
            <a:off x="2929363" y="308448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BBB43C2-9677-E140-A7B2-D23B4F610A83}"/>
              </a:ext>
            </a:extLst>
          </p:cNvPr>
          <p:cNvSpPr txBox="1"/>
          <p:nvPr/>
        </p:nvSpPr>
        <p:spPr>
          <a:xfrm>
            <a:off x="4416530" y="235169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ED83D0-A08C-C446-BF2E-BF7018C5B461}"/>
              </a:ext>
            </a:extLst>
          </p:cNvPr>
          <p:cNvSpPr txBox="1"/>
          <p:nvPr/>
        </p:nvSpPr>
        <p:spPr>
          <a:xfrm>
            <a:off x="3811190" y="308910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9798787-2A7D-894D-92A0-6CC022D18905}"/>
              </a:ext>
            </a:extLst>
          </p:cNvPr>
          <p:cNvSpPr txBox="1"/>
          <p:nvPr/>
        </p:nvSpPr>
        <p:spPr>
          <a:xfrm>
            <a:off x="3751197" y="226903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C40C375-EB4B-D341-B2EF-7C03C8AF8E0F}"/>
              </a:ext>
            </a:extLst>
          </p:cNvPr>
          <p:cNvSpPr txBox="1"/>
          <p:nvPr/>
        </p:nvSpPr>
        <p:spPr>
          <a:xfrm>
            <a:off x="3815975" y="380734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698B433-075C-7C40-BF6A-D43CB21622A3}"/>
              </a:ext>
            </a:extLst>
          </p:cNvPr>
          <p:cNvSpPr txBox="1"/>
          <p:nvPr/>
        </p:nvSpPr>
        <p:spPr>
          <a:xfrm>
            <a:off x="4391536" y="308107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404A06C-7190-574D-B839-6EBF53B308F3}"/>
              </a:ext>
            </a:extLst>
          </p:cNvPr>
          <p:cNvSpPr txBox="1"/>
          <p:nvPr/>
        </p:nvSpPr>
        <p:spPr>
          <a:xfrm>
            <a:off x="6172200" y="2586873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Causal Reliable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3D5AE2F-966F-1643-B59E-2819C700E6BB}"/>
              </a:ext>
            </a:extLst>
          </p:cNvPr>
          <p:cNvSpPr txBox="1"/>
          <p:nvPr/>
        </p:nvSpPr>
        <p:spPr>
          <a:xfrm>
            <a:off x="6390409" y="3879273"/>
            <a:ext cx="255616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have causal we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 (FIFO)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m3 (local Order)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09EE908-FB1D-DC45-A2AD-A1923D167DB6}"/>
              </a:ext>
            </a:extLst>
          </p:cNvPr>
          <p:cNvSpPr txBox="1"/>
          <p:nvPr/>
        </p:nvSpPr>
        <p:spPr>
          <a:xfrm>
            <a:off x="6774873" y="5205845"/>
            <a:ext cx="21717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m1, m2, m3</a:t>
            </a:r>
          </a:p>
          <a:p>
            <a:r>
              <a:rPr lang="en-GB" dirty="0"/>
              <a:t>m1, m3, m2</a:t>
            </a:r>
          </a:p>
        </p:txBody>
      </p:sp>
      <p:sp>
        <p:nvSpPr>
          <p:cNvPr id="3" name="Freccia giù 2">
            <a:extLst>
              <a:ext uri="{FF2B5EF4-FFF2-40B4-BE49-F238E27FC236}">
                <a16:creationId xmlns:a16="http://schemas.microsoft.com/office/drawing/2014/main" id="{00231E31-0329-C847-B511-5D2E077160BC}"/>
              </a:ext>
            </a:extLst>
          </p:cNvPr>
          <p:cNvSpPr/>
          <p:nvPr/>
        </p:nvSpPr>
        <p:spPr>
          <a:xfrm>
            <a:off x="7533409" y="4719503"/>
            <a:ext cx="228600" cy="3509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31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6" grpId="0"/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FA2107-C9C7-8043-8760-3B06A9A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E7146E6-D127-8B40-AB7F-F98FF5971E37}"/>
              </a:ext>
            </a:extLst>
          </p:cNvPr>
          <p:cNvCxnSpPr/>
          <p:nvPr/>
        </p:nvCxnSpPr>
        <p:spPr>
          <a:xfrm>
            <a:off x="925830" y="315883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FFD1CFF-C0C6-934E-9C65-A4B8DEA49FA0}"/>
              </a:ext>
            </a:extLst>
          </p:cNvPr>
          <p:cNvCxnSpPr/>
          <p:nvPr/>
        </p:nvCxnSpPr>
        <p:spPr>
          <a:xfrm>
            <a:off x="925830" y="3799612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5E9CA3-3C8D-0F46-92AC-2C02630436EF}"/>
              </a:ext>
            </a:extLst>
          </p:cNvPr>
          <p:cNvCxnSpPr/>
          <p:nvPr/>
        </p:nvCxnSpPr>
        <p:spPr>
          <a:xfrm>
            <a:off x="925830" y="4537367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EC68A0B-BDAD-B645-A3C0-CC3D44AEF82C}"/>
              </a:ext>
            </a:extLst>
          </p:cNvPr>
          <p:cNvCxnSpPr/>
          <p:nvPr/>
        </p:nvCxnSpPr>
        <p:spPr>
          <a:xfrm>
            <a:off x="1070264" y="290945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AA59DA0-DFAE-B040-B462-43D846BE39F1}"/>
              </a:ext>
            </a:extLst>
          </p:cNvPr>
          <p:cNvCxnSpPr/>
          <p:nvPr/>
        </p:nvCxnSpPr>
        <p:spPr>
          <a:xfrm>
            <a:off x="1565564" y="2919848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28F29B8-1EB9-804B-BCBF-37ABB8C81071}"/>
              </a:ext>
            </a:extLst>
          </p:cNvPr>
          <p:cNvCxnSpPr/>
          <p:nvPr/>
        </p:nvCxnSpPr>
        <p:spPr>
          <a:xfrm>
            <a:off x="2240974" y="4298376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ccia su 12">
            <a:extLst>
              <a:ext uri="{FF2B5EF4-FFF2-40B4-BE49-F238E27FC236}">
                <a16:creationId xmlns:a16="http://schemas.microsoft.com/office/drawing/2014/main" id="{0F24A4C5-6EAF-504E-99F1-59866300DB37}"/>
              </a:ext>
            </a:extLst>
          </p:cNvPr>
          <p:cNvSpPr/>
          <p:nvPr/>
        </p:nvSpPr>
        <p:spPr>
          <a:xfrm>
            <a:off x="1714500" y="410094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D1D4C74-03F9-D846-B2D8-E6D93E640D6E}"/>
              </a:ext>
            </a:extLst>
          </p:cNvPr>
          <p:cNvSpPr txBox="1"/>
          <p:nvPr/>
        </p:nvSpPr>
        <p:spPr>
          <a:xfrm>
            <a:off x="1580632" y="379961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EAA763-ADC8-1A49-905E-601E0923EB09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41E0C6-16EC-C947-9871-6120035522C2}"/>
              </a:ext>
            </a:extLst>
          </p:cNvPr>
          <p:cNvSpPr txBox="1"/>
          <p:nvPr/>
        </p:nvSpPr>
        <p:spPr>
          <a:xfrm>
            <a:off x="1334018" y="257821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C671B5-DBEB-0E48-B7BC-9B308A4D815B}"/>
              </a:ext>
            </a:extLst>
          </p:cNvPr>
          <p:cNvSpPr txBox="1"/>
          <p:nvPr/>
        </p:nvSpPr>
        <p:spPr>
          <a:xfrm>
            <a:off x="2045796" y="386368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84638696-66D0-6642-A0A5-F8603553C47F}"/>
              </a:ext>
            </a:extLst>
          </p:cNvPr>
          <p:cNvSpPr/>
          <p:nvPr/>
        </p:nvSpPr>
        <p:spPr>
          <a:xfrm>
            <a:off x="3905071" y="4107876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BA1CA609-8476-D54F-B4CA-B60FB3E51311}"/>
              </a:ext>
            </a:extLst>
          </p:cNvPr>
          <p:cNvSpPr/>
          <p:nvPr/>
        </p:nvSpPr>
        <p:spPr>
          <a:xfrm>
            <a:off x="3027738" y="336319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ccia su 20">
            <a:extLst>
              <a:ext uri="{FF2B5EF4-FFF2-40B4-BE49-F238E27FC236}">
                <a16:creationId xmlns:a16="http://schemas.microsoft.com/office/drawing/2014/main" id="{D7623AD7-EE27-114A-935A-96659D6A5967}"/>
              </a:ext>
            </a:extLst>
          </p:cNvPr>
          <p:cNvSpPr/>
          <p:nvPr/>
        </p:nvSpPr>
        <p:spPr>
          <a:xfrm>
            <a:off x="3905070" y="335280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2A8D652E-E5F2-144E-BB41-B85D47133FAD}"/>
              </a:ext>
            </a:extLst>
          </p:cNvPr>
          <p:cNvSpPr/>
          <p:nvPr/>
        </p:nvSpPr>
        <p:spPr>
          <a:xfrm>
            <a:off x="4479520" y="3352804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5EF9C261-5E76-1B4D-B91E-D424AB6FDE6C}"/>
              </a:ext>
            </a:extLst>
          </p:cNvPr>
          <p:cNvSpPr/>
          <p:nvPr/>
        </p:nvSpPr>
        <p:spPr>
          <a:xfrm>
            <a:off x="3027738" y="271410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E320E37C-B242-A14F-8863-DD961377AE78}"/>
              </a:ext>
            </a:extLst>
          </p:cNvPr>
          <p:cNvSpPr/>
          <p:nvPr/>
        </p:nvSpPr>
        <p:spPr>
          <a:xfrm>
            <a:off x="3905070" y="270371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9EA158F0-3857-7247-BC0A-7A45205561E0}"/>
              </a:ext>
            </a:extLst>
          </p:cNvPr>
          <p:cNvSpPr/>
          <p:nvPr/>
        </p:nvSpPr>
        <p:spPr>
          <a:xfrm>
            <a:off x="4479520" y="270371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A6BF551-58D6-6B49-87FD-DA4BD94FEC97}"/>
              </a:ext>
            </a:extLst>
          </p:cNvPr>
          <p:cNvSpPr txBox="1"/>
          <p:nvPr/>
        </p:nvSpPr>
        <p:spPr>
          <a:xfrm>
            <a:off x="2873362" y="231053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871B4C8-0558-1C42-B547-CC820A05CD38}"/>
              </a:ext>
            </a:extLst>
          </p:cNvPr>
          <p:cNvSpPr txBox="1"/>
          <p:nvPr/>
        </p:nvSpPr>
        <p:spPr>
          <a:xfrm>
            <a:off x="2929363" y="308448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BBB43C2-9677-E140-A7B2-D23B4F610A83}"/>
              </a:ext>
            </a:extLst>
          </p:cNvPr>
          <p:cNvSpPr txBox="1"/>
          <p:nvPr/>
        </p:nvSpPr>
        <p:spPr>
          <a:xfrm>
            <a:off x="3760811" y="232018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ED83D0-A08C-C446-BF2E-BF7018C5B461}"/>
              </a:ext>
            </a:extLst>
          </p:cNvPr>
          <p:cNvSpPr txBox="1"/>
          <p:nvPr/>
        </p:nvSpPr>
        <p:spPr>
          <a:xfrm>
            <a:off x="3811190" y="308910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9798787-2A7D-894D-92A0-6CC022D18905}"/>
              </a:ext>
            </a:extLst>
          </p:cNvPr>
          <p:cNvSpPr txBox="1"/>
          <p:nvPr/>
        </p:nvSpPr>
        <p:spPr>
          <a:xfrm>
            <a:off x="4366869" y="2320182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C40C375-EB4B-D341-B2EF-7C03C8AF8E0F}"/>
              </a:ext>
            </a:extLst>
          </p:cNvPr>
          <p:cNvSpPr txBox="1"/>
          <p:nvPr/>
        </p:nvSpPr>
        <p:spPr>
          <a:xfrm>
            <a:off x="3815975" y="380734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698B433-075C-7C40-BF6A-D43CB21622A3}"/>
              </a:ext>
            </a:extLst>
          </p:cNvPr>
          <p:cNvSpPr txBox="1"/>
          <p:nvPr/>
        </p:nvSpPr>
        <p:spPr>
          <a:xfrm>
            <a:off x="4391536" y="308107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404A06C-7190-574D-B839-6EBF53B308F3}"/>
              </a:ext>
            </a:extLst>
          </p:cNvPr>
          <p:cNvSpPr txBox="1"/>
          <p:nvPr/>
        </p:nvSpPr>
        <p:spPr>
          <a:xfrm>
            <a:off x="6172200" y="2586873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Causal Reliable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3D5AE2F-966F-1643-B59E-2819C700E6BB}"/>
              </a:ext>
            </a:extLst>
          </p:cNvPr>
          <p:cNvSpPr txBox="1"/>
          <p:nvPr/>
        </p:nvSpPr>
        <p:spPr>
          <a:xfrm>
            <a:off x="6390409" y="3879273"/>
            <a:ext cx="255616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have causal we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 (FIFO)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m2 -&gt; m3 (local Order)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09EE908-FB1D-DC45-A2AD-A1923D167DB6}"/>
              </a:ext>
            </a:extLst>
          </p:cNvPr>
          <p:cNvSpPr txBox="1"/>
          <p:nvPr/>
        </p:nvSpPr>
        <p:spPr>
          <a:xfrm>
            <a:off x="6774873" y="5205845"/>
            <a:ext cx="21717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m1, m2, m3</a:t>
            </a:r>
          </a:p>
        </p:txBody>
      </p:sp>
      <p:sp>
        <p:nvSpPr>
          <p:cNvPr id="3" name="Freccia giù 2">
            <a:extLst>
              <a:ext uri="{FF2B5EF4-FFF2-40B4-BE49-F238E27FC236}">
                <a16:creationId xmlns:a16="http://schemas.microsoft.com/office/drawing/2014/main" id="{00231E31-0329-C847-B511-5D2E077160BC}"/>
              </a:ext>
            </a:extLst>
          </p:cNvPr>
          <p:cNvSpPr/>
          <p:nvPr/>
        </p:nvSpPr>
        <p:spPr>
          <a:xfrm>
            <a:off x="7533409" y="4719503"/>
            <a:ext cx="228600" cy="3509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ccia su 37">
            <a:extLst>
              <a:ext uri="{FF2B5EF4-FFF2-40B4-BE49-F238E27FC236}">
                <a16:creationId xmlns:a16="http://schemas.microsoft.com/office/drawing/2014/main" id="{45CBE0A5-4A82-0F4C-9D1E-9CA2CA7A74BA}"/>
              </a:ext>
            </a:extLst>
          </p:cNvPr>
          <p:cNvSpPr/>
          <p:nvPr/>
        </p:nvSpPr>
        <p:spPr>
          <a:xfrm>
            <a:off x="1080657" y="4116759"/>
            <a:ext cx="238991" cy="43641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A32D60C-2849-2B43-B8BC-956066AC6F69}"/>
              </a:ext>
            </a:extLst>
          </p:cNvPr>
          <p:cNvSpPr txBox="1"/>
          <p:nvPr/>
        </p:nvSpPr>
        <p:spPr>
          <a:xfrm>
            <a:off x="926281" y="371318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</p:spTree>
    <p:extLst>
      <p:ext uri="{BB962C8B-B14F-4D97-AF65-F5344CB8AC3E}">
        <p14:creationId xmlns:p14="http://schemas.microsoft.com/office/powerpoint/2010/main" val="261219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6" grpId="0"/>
      <p:bldP spid="2" grpId="0"/>
      <p:bldP spid="3" grpId="0" animBg="1"/>
      <p:bldP spid="38" grpId="0" animBg="1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Order Broadcast Implementation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779778"/>
            <a:ext cx="5998671" cy="4671531"/>
          </a:xfrm>
          <a:prstGeom prst="rect">
            <a:avLst/>
          </a:prstGeom>
        </p:spPr>
      </p:pic>
      <p:sp>
        <p:nvSpPr>
          <p:cNvPr id="5" name="Rectangle 24"/>
          <p:cNvSpPr/>
          <p:nvPr/>
        </p:nvSpPr>
        <p:spPr>
          <a:xfrm>
            <a:off x="1929190" y="1850992"/>
            <a:ext cx="1728409" cy="17783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arrotondato 5"/>
          <p:cNvSpPr/>
          <p:nvPr/>
        </p:nvSpPr>
        <p:spPr>
          <a:xfrm>
            <a:off x="7360380" y="2987176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Causal Order Broadcast</a:t>
            </a:r>
          </a:p>
        </p:txBody>
      </p:sp>
      <p:cxnSp>
        <p:nvCxnSpPr>
          <p:cNvPr id="7" name="Connettore 2 6"/>
          <p:cNvCxnSpPr/>
          <p:nvPr/>
        </p:nvCxnSpPr>
        <p:spPr>
          <a:xfrm flipH="1" flipV="1">
            <a:off x="9232042" y="2108842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972300" y="2451273"/>
            <a:ext cx="170655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CO_Broadcast</a:t>
            </a:r>
            <a:r>
              <a:rPr lang="en-US" dirty="0"/>
              <a:t> (m)</a:t>
            </a:r>
          </a:p>
        </p:txBody>
      </p:sp>
      <p:cxnSp>
        <p:nvCxnSpPr>
          <p:cNvPr id="9" name="Connettore 2 9"/>
          <p:cNvCxnSpPr/>
          <p:nvPr/>
        </p:nvCxnSpPr>
        <p:spPr>
          <a:xfrm>
            <a:off x="7844839" y="2218722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12"/>
          <p:cNvSpPr txBox="1"/>
          <p:nvPr/>
        </p:nvSpPr>
        <p:spPr>
          <a:xfrm>
            <a:off x="8702284" y="2467538"/>
            <a:ext cx="155459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CO_Deliver</a:t>
            </a:r>
            <a:r>
              <a:rPr lang="en-US" dirty="0"/>
              <a:t>(</a:t>
            </a:r>
            <a:r>
              <a:rPr lang="en-US" dirty="0" err="1"/>
              <a:t>s,m</a:t>
            </a:r>
            <a:r>
              <a:rPr lang="en-US" dirty="0"/>
              <a:t>)</a:t>
            </a:r>
          </a:p>
        </p:txBody>
      </p:sp>
      <p:sp>
        <p:nvSpPr>
          <p:cNvPr id="11" name="Rettangolo arrotondato 10"/>
          <p:cNvSpPr/>
          <p:nvPr/>
        </p:nvSpPr>
        <p:spPr>
          <a:xfrm>
            <a:off x="7411324" y="4751335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</a:t>
            </a:r>
          </a:p>
        </p:txBody>
      </p:sp>
      <p:cxnSp>
        <p:nvCxnSpPr>
          <p:cNvPr id="12" name="Connettore 2 11"/>
          <p:cNvCxnSpPr/>
          <p:nvPr/>
        </p:nvCxnSpPr>
        <p:spPr>
          <a:xfrm flipH="1" flipV="1">
            <a:off x="9282986" y="3873001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7289944" y="4231697"/>
            <a:ext cx="153205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Broadcast (m)</a:t>
            </a:r>
          </a:p>
        </p:txBody>
      </p:sp>
      <p:cxnSp>
        <p:nvCxnSpPr>
          <p:cNvPr id="14" name="Connettore 2 13"/>
          <p:cNvCxnSpPr/>
          <p:nvPr/>
        </p:nvCxnSpPr>
        <p:spPr>
          <a:xfrm>
            <a:off x="7895783" y="3911441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2"/>
          <p:cNvSpPr txBox="1"/>
          <p:nvPr/>
        </p:nvSpPr>
        <p:spPr>
          <a:xfrm>
            <a:off x="8838956" y="4231697"/>
            <a:ext cx="120372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Deliver(</a:t>
            </a:r>
            <a:r>
              <a:rPr lang="en-US" dirty="0" err="1"/>
              <a:t>s,m</a:t>
            </a:r>
            <a:r>
              <a:rPr lang="en-US" dirty="0"/>
              <a:t>)</a:t>
            </a:r>
          </a:p>
        </p:txBody>
      </p:sp>
      <p:sp>
        <p:nvSpPr>
          <p:cNvPr id="16" name="Callout 2 15"/>
          <p:cNvSpPr/>
          <p:nvPr/>
        </p:nvSpPr>
        <p:spPr>
          <a:xfrm>
            <a:off x="4326126" y="3883282"/>
            <a:ext cx="2471739" cy="824772"/>
          </a:xfrm>
          <a:prstGeom prst="borderCallout2">
            <a:avLst>
              <a:gd name="adj1" fmla="val 27412"/>
              <a:gd name="adj2" fmla="val -5443"/>
              <a:gd name="adj3" fmla="val 27412"/>
              <a:gd name="adj4" fmla="val -16667"/>
              <a:gd name="adj5" fmla="val 62263"/>
              <a:gd name="adj6" fmla="val -975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function rank() associates an entry of the vector to each process</a:t>
            </a:r>
          </a:p>
        </p:txBody>
      </p:sp>
    </p:spTree>
    <p:extLst>
      <p:ext uri="{BB962C8B-B14F-4D97-AF65-F5344CB8AC3E}">
        <p14:creationId xmlns:p14="http://schemas.microsoft.com/office/powerpoint/2010/main" val="514245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Waiting Causal Broadcast example</a:t>
            </a:r>
          </a:p>
        </p:txBody>
      </p: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1441472" y="2074866"/>
            <a:ext cx="360362" cy="1046162"/>
            <a:chOff x="748" y="2387"/>
            <a:chExt cx="272" cy="753"/>
          </a:xfrm>
        </p:grpSpPr>
        <p:grpSp>
          <p:nvGrpSpPr>
            <p:cNvPr id="5" name="Group 58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9" name="Rectangle 59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Line 60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Line 61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" name="Text Box 62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7" name="Text Box 63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8" name="Text Box 64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sp>
        <p:nvSpPr>
          <p:cNvPr id="12" name="Line 177"/>
          <p:cNvSpPr>
            <a:spLocks noChangeShapeType="1"/>
          </p:cNvSpPr>
          <p:nvPr/>
        </p:nvSpPr>
        <p:spPr bwMode="auto">
          <a:xfrm>
            <a:off x="1441472" y="3082928"/>
            <a:ext cx="7488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3" name="Line 178"/>
          <p:cNvSpPr>
            <a:spLocks noChangeShapeType="1"/>
          </p:cNvSpPr>
          <p:nvPr/>
        </p:nvSpPr>
        <p:spPr bwMode="auto">
          <a:xfrm>
            <a:off x="1441472" y="4522791"/>
            <a:ext cx="7488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4" name="Line 179"/>
          <p:cNvSpPr>
            <a:spLocks noChangeShapeType="1"/>
          </p:cNvSpPr>
          <p:nvPr/>
        </p:nvSpPr>
        <p:spPr bwMode="auto">
          <a:xfrm>
            <a:off x="1441472" y="5891216"/>
            <a:ext cx="7488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15" name="Group 180"/>
          <p:cNvGrpSpPr>
            <a:grpSpLocks/>
          </p:cNvGrpSpPr>
          <p:nvPr/>
        </p:nvGrpSpPr>
        <p:grpSpPr bwMode="auto">
          <a:xfrm>
            <a:off x="1441472" y="3476628"/>
            <a:ext cx="360362" cy="1046163"/>
            <a:chOff x="748" y="2387"/>
            <a:chExt cx="272" cy="753"/>
          </a:xfrm>
        </p:grpSpPr>
        <p:grpSp>
          <p:nvGrpSpPr>
            <p:cNvPr id="16" name="Group 181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20" name="Rectangle 182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" name="Line 183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Line 184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7" name="Text Box 185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" name="Text Box 186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9" name="Text Box 187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23" name="Group 188"/>
          <p:cNvGrpSpPr>
            <a:grpSpLocks/>
          </p:cNvGrpSpPr>
          <p:nvPr/>
        </p:nvGrpSpPr>
        <p:grpSpPr bwMode="auto">
          <a:xfrm>
            <a:off x="1441472" y="4883153"/>
            <a:ext cx="360362" cy="1046163"/>
            <a:chOff x="748" y="2387"/>
            <a:chExt cx="272" cy="753"/>
          </a:xfrm>
        </p:grpSpPr>
        <p:grpSp>
          <p:nvGrpSpPr>
            <p:cNvPr id="24" name="Group 189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28" name="Rectangle 190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9" name="Line 191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Line 192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5" name="Text Box 193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6" name="Text Box 194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" name="Text Box 195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sp>
        <p:nvSpPr>
          <p:cNvPr id="31" name="Line 196"/>
          <p:cNvSpPr>
            <a:spLocks noChangeShapeType="1"/>
          </p:cNvSpPr>
          <p:nvPr/>
        </p:nvSpPr>
        <p:spPr bwMode="auto">
          <a:xfrm>
            <a:off x="2233634" y="3082928"/>
            <a:ext cx="720725" cy="2808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2" name="Line 197"/>
          <p:cNvSpPr>
            <a:spLocks noChangeShapeType="1"/>
          </p:cNvSpPr>
          <p:nvPr/>
        </p:nvSpPr>
        <p:spPr bwMode="auto">
          <a:xfrm>
            <a:off x="2233634" y="3082928"/>
            <a:ext cx="424815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3" name="Freeform 198"/>
          <p:cNvSpPr>
            <a:spLocks/>
          </p:cNvSpPr>
          <p:nvPr/>
        </p:nvSpPr>
        <p:spPr bwMode="auto">
          <a:xfrm>
            <a:off x="2233634" y="2794003"/>
            <a:ext cx="1008063" cy="288925"/>
          </a:xfrm>
          <a:custGeom>
            <a:avLst/>
            <a:gdLst>
              <a:gd name="T0" fmla="*/ 0 w 635"/>
              <a:gd name="T1" fmla="*/ 2147483647 h 182"/>
              <a:gd name="T2" fmla="*/ 2147483647 w 635"/>
              <a:gd name="T3" fmla="*/ 0 h 182"/>
              <a:gd name="T4" fmla="*/ 2147483647 w 635"/>
              <a:gd name="T5" fmla="*/ 2147483647 h 182"/>
              <a:gd name="T6" fmla="*/ 0 60000 65536"/>
              <a:gd name="T7" fmla="*/ 0 60000 65536"/>
              <a:gd name="T8" fmla="*/ 0 60000 65536"/>
              <a:gd name="T9" fmla="*/ 0 w 635"/>
              <a:gd name="T10" fmla="*/ 0 h 182"/>
              <a:gd name="T11" fmla="*/ 635 w 635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182">
                <a:moveTo>
                  <a:pt x="0" y="182"/>
                </a:moveTo>
                <a:cubicBezTo>
                  <a:pt x="15" y="91"/>
                  <a:pt x="30" y="0"/>
                  <a:pt x="136" y="0"/>
                </a:cubicBezTo>
                <a:cubicBezTo>
                  <a:pt x="242" y="0"/>
                  <a:pt x="438" y="91"/>
                  <a:pt x="635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34" name="Group 199"/>
          <p:cNvGrpSpPr>
            <a:grpSpLocks/>
          </p:cNvGrpSpPr>
          <p:nvPr/>
        </p:nvGrpSpPr>
        <p:grpSpPr bwMode="auto">
          <a:xfrm>
            <a:off x="3313134" y="2074866"/>
            <a:ext cx="360363" cy="1046162"/>
            <a:chOff x="748" y="2387"/>
            <a:chExt cx="272" cy="753"/>
          </a:xfrm>
        </p:grpSpPr>
        <p:grpSp>
          <p:nvGrpSpPr>
            <p:cNvPr id="35" name="Group 200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39" name="Rectangle 201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" name="Line 202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Line 203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6" name="Text Box 204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37" name="Text Box 205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38" name="Text Box 206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42" name="Group 207"/>
          <p:cNvGrpSpPr>
            <a:grpSpLocks/>
          </p:cNvGrpSpPr>
          <p:nvPr/>
        </p:nvGrpSpPr>
        <p:grpSpPr bwMode="auto">
          <a:xfrm>
            <a:off x="3025797" y="4883153"/>
            <a:ext cx="360362" cy="1046163"/>
            <a:chOff x="748" y="2387"/>
            <a:chExt cx="272" cy="753"/>
          </a:xfrm>
        </p:grpSpPr>
        <p:grpSp>
          <p:nvGrpSpPr>
            <p:cNvPr id="43" name="Group 208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47" name="Rectangle 209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" name="Line 210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9" name="Line 211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4" name="Text Box 212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45" name="Text Box 213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46" name="Text Box 214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sp>
        <p:nvSpPr>
          <p:cNvPr id="50" name="Line 215"/>
          <p:cNvSpPr>
            <a:spLocks noChangeShapeType="1"/>
          </p:cNvSpPr>
          <p:nvPr/>
        </p:nvSpPr>
        <p:spPr bwMode="auto">
          <a:xfrm flipV="1">
            <a:off x="4249759" y="3009903"/>
            <a:ext cx="504825" cy="288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" name="Line 216"/>
          <p:cNvSpPr>
            <a:spLocks noChangeShapeType="1"/>
          </p:cNvSpPr>
          <p:nvPr/>
        </p:nvSpPr>
        <p:spPr bwMode="auto">
          <a:xfrm flipV="1">
            <a:off x="4249759" y="4522791"/>
            <a:ext cx="7207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2" name="Freeform 217"/>
          <p:cNvSpPr>
            <a:spLocks/>
          </p:cNvSpPr>
          <p:nvPr/>
        </p:nvSpPr>
        <p:spPr bwMode="auto">
          <a:xfrm>
            <a:off x="4249759" y="5602291"/>
            <a:ext cx="1008063" cy="288925"/>
          </a:xfrm>
          <a:custGeom>
            <a:avLst/>
            <a:gdLst>
              <a:gd name="T0" fmla="*/ 0 w 635"/>
              <a:gd name="T1" fmla="*/ 2147483647 h 182"/>
              <a:gd name="T2" fmla="*/ 2147483647 w 635"/>
              <a:gd name="T3" fmla="*/ 0 h 182"/>
              <a:gd name="T4" fmla="*/ 2147483647 w 635"/>
              <a:gd name="T5" fmla="*/ 2147483647 h 182"/>
              <a:gd name="T6" fmla="*/ 0 60000 65536"/>
              <a:gd name="T7" fmla="*/ 0 60000 65536"/>
              <a:gd name="T8" fmla="*/ 0 60000 65536"/>
              <a:gd name="T9" fmla="*/ 0 w 635"/>
              <a:gd name="T10" fmla="*/ 0 h 182"/>
              <a:gd name="T11" fmla="*/ 635 w 635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182">
                <a:moveTo>
                  <a:pt x="0" y="182"/>
                </a:moveTo>
                <a:cubicBezTo>
                  <a:pt x="15" y="91"/>
                  <a:pt x="30" y="0"/>
                  <a:pt x="136" y="0"/>
                </a:cubicBezTo>
                <a:cubicBezTo>
                  <a:pt x="242" y="0"/>
                  <a:pt x="438" y="91"/>
                  <a:pt x="635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53" name="Group 218"/>
          <p:cNvGrpSpPr>
            <a:grpSpLocks/>
          </p:cNvGrpSpPr>
          <p:nvPr/>
        </p:nvGrpSpPr>
        <p:grpSpPr bwMode="auto">
          <a:xfrm>
            <a:off x="4754584" y="2074866"/>
            <a:ext cx="360363" cy="1046162"/>
            <a:chOff x="748" y="2387"/>
            <a:chExt cx="272" cy="753"/>
          </a:xfrm>
        </p:grpSpPr>
        <p:grpSp>
          <p:nvGrpSpPr>
            <p:cNvPr id="54" name="Group 219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58" name="Rectangle 220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9" name="Line 221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Line 222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55" name="Text Box 223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56" name="Text Box 224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57" name="Text Box 225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61" name="Group 226"/>
          <p:cNvGrpSpPr>
            <a:grpSpLocks/>
          </p:cNvGrpSpPr>
          <p:nvPr/>
        </p:nvGrpSpPr>
        <p:grpSpPr bwMode="auto">
          <a:xfrm>
            <a:off x="5257822" y="4883153"/>
            <a:ext cx="360362" cy="1046163"/>
            <a:chOff x="748" y="2387"/>
            <a:chExt cx="272" cy="753"/>
          </a:xfrm>
        </p:grpSpPr>
        <p:grpSp>
          <p:nvGrpSpPr>
            <p:cNvPr id="62" name="Group 227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66" name="Rectangle 228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7" name="Line 229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8" name="Line 230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3" name="Text Box 231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64" name="Text Box 232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65" name="Text Box 233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69" name="Group 234"/>
          <p:cNvGrpSpPr>
            <a:grpSpLocks/>
          </p:cNvGrpSpPr>
          <p:nvPr/>
        </p:nvGrpSpPr>
        <p:grpSpPr bwMode="auto">
          <a:xfrm>
            <a:off x="6554809" y="3476628"/>
            <a:ext cx="360363" cy="1046163"/>
            <a:chOff x="748" y="2387"/>
            <a:chExt cx="272" cy="753"/>
          </a:xfrm>
        </p:grpSpPr>
        <p:grpSp>
          <p:nvGrpSpPr>
            <p:cNvPr id="70" name="Group 235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74" name="Rectangle 236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5" name="Line 237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6" name="Line 238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71" name="Text Box 239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 dirty="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2" name="Text Box 240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73" name="Text Box 241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sp>
        <p:nvSpPr>
          <p:cNvPr id="77" name="Freeform 242"/>
          <p:cNvSpPr>
            <a:spLocks/>
          </p:cNvSpPr>
          <p:nvPr/>
        </p:nvSpPr>
        <p:spPr bwMode="auto">
          <a:xfrm>
            <a:off x="4970484" y="4522791"/>
            <a:ext cx="2376488" cy="287337"/>
          </a:xfrm>
          <a:custGeom>
            <a:avLst/>
            <a:gdLst>
              <a:gd name="T0" fmla="*/ 0 w 1406"/>
              <a:gd name="T1" fmla="*/ 0 h 181"/>
              <a:gd name="T2" fmla="*/ 2147483647 w 1406"/>
              <a:gd name="T3" fmla="*/ 2147483647 h 181"/>
              <a:gd name="T4" fmla="*/ 2147483647 w 1406"/>
              <a:gd name="T5" fmla="*/ 0 h 181"/>
              <a:gd name="T6" fmla="*/ 0 60000 65536"/>
              <a:gd name="T7" fmla="*/ 0 60000 65536"/>
              <a:gd name="T8" fmla="*/ 0 60000 65536"/>
              <a:gd name="T9" fmla="*/ 0 w 1406"/>
              <a:gd name="T10" fmla="*/ 0 h 181"/>
              <a:gd name="T11" fmla="*/ 1406 w 1406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6" h="181">
                <a:moveTo>
                  <a:pt x="0" y="0"/>
                </a:moveTo>
                <a:cubicBezTo>
                  <a:pt x="450" y="90"/>
                  <a:pt x="900" y="181"/>
                  <a:pt x="1134" y="181"/>
                </a:cubicBezTo>
                <a:cubicBezTo>
                  <a:pt x="1368" y="181"/>
                  <a:pt x="1387" y="90"/>
                  <a:pt x="140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78" name="Group 243"/>
          <p:cNvGrpSpPr>
            <a:grpSpLocks/>
          </p:cNvGrpSpPr>
          <p:nvPr/>
        </p:nvGrpSpPr>
        <p:grpSpPr bwMode="auto">
          <a:xfrm>
            <a:off x="4826022" y="3476628"/>
            <a:ext cx="360362" cy="1055688"/>
            <a:chOff x="748" y="2387"/>
            <a:chExt cx="272" cy="760"/>
          </a:xfrm>
        </p:grpSpPr>
        <p:grpSp>
          <p:nvGrpSpPr>
            <p:cNvPr id="79" name="Group 244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83" name="Rectangle 245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84" name="Line 246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Line 247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0" name="Text Box 248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81" name="Text Box 249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82" name="Text Box 250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86" name="Group 251"/>
          <p:cNvGrpSpPr>
            <a:grpSpLocks/>
          </p:cNvGrpSpPr>
          <p:nvPr/>
        </p:nvGrpSpPr>
        <p:grpSpPr bwMode="auto">
          <a:xfrm>
            <a:off x="7489847" y="3476628"/>
            <a:ext cx="360362" cy="1046163"/>
            <a:chOff x="748" y="2387"/>
            <a:chExt cx="272" cy="753"/>
          </a:xfrm>
        </p:grpSpPr>
        <p:grpSp>
          <p:nvGrpSpPr>
            <p:cNvPr id="87" name="Group 252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91" name="Rectangle 253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" name="Line 254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3" name="Line 255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88" name="Text Box 256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89" name="Text Box 257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90" name="Text Box 258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400">
                  <a:solidFill>
                    <a:srgbClr val="FF3300"/>
                  </a:solidFill>
                </a:rPr>
                <a:t>1</a:t>
              </a:r>
            </a:p>
          </p:txBody>
        </p:sp>
      </p:grpSp>
      <p:sp>
        <p:nvSpPr>
          <p:cNvPr id="94" name="AutoShape 260"/>
          <p:cNvSpPr>
            <a:spLocks noChangeArrowheads="1"/>
          </p:cNvSpPr>
          <p:nvPr/>
        </p:nvSpPr>
        <p:spPr bwMode="auto">
          <a:xfrm>
            <a:off x="5186384" y="2651128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" name="AutoShape 261"/>
          <p:cNvSpPr>
            <a:spLocks noChangeArrowheads="1"/>
          </p:cNvSpPr>
          <p:nvPr/>
        </p:nvSpPr>
        <p:spPr bwMode="auto">
          <a:xfrm>
            <a:off x="3675084" y="2651128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6" name="AutoShape 262"/>
          <p:cNvSpPr>
            <a:spLocks noChangeArrowheads="1"/>
          </p:cNvSpPr>
          <p:nvPr/>
        </p:nvSpPr>
        <p:spPr bwMode="auto">
          <a:xfrm>
            <a:off x="3457597" y="5459416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7" name="AutoShape 263"/>
          <p:cNvSpPr>
            <a:spLocks noChangeArrowheads="1"/>
          </p:cNvSpPr>
          <p:nvPr/>
        </p:nvSpPr>
        <p:spPr bwMode="auto">
          <a:xfrm>
            <a:off x="5762647" y="5459416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8" name="AutoShape 264"/>
          <p:cNvSpPr>
            <a:spLocks noChangeArrowheads="1"/>
          </p:cNvSpPr>
          <p:nvPr/>
        </p:nvSpPr>
        <p:spPr bwMode="auto">
          <a:xfrm>
            <a:off x="6986609" y="4090991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9" name="AutoShape 265"/>
          <p:cNvSpPr>
            <a:spLocks noChangeArrowheads="1"/>
          </p:cNvSpPr>
          <p:nvPr/>
        </p:nvSpPr>
        <p:spPr bwMode="auto">
          <a:xfrm>
            <a:off x="7994672" y="4090991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0" name="AutoShape 266"/>
          <p:cNvSpPr>
            <a:spLocks noChangeArrowheads="1"/>
          </p:cNvSpPr>
          <p:nvPr/>
        </p:nvSpPr>
        <p:spPr bwMode="auto">
          <a:xfrm>
            <a:off x="6915172" y="4883153"/>
            <a:ext cx="2969492" cy="792163"/>
          </a:xfrm>
          <a:prstGeom prst="wedgeRoundRectCallout">
            <a:avLst>
              <a:gd name="adj1" fmla="val -67574"/>
              <a:gd name="adj2" fmla="val -5941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it-IT" sz="1600" dirty="0" err="1"/>
              <a:t>When</a:t>
            </a:r>
            <a:r>
              <a:rPr lang="it-IT" sz="1600" dirty="0"/>
              <a:t> m</a:t>
            </a:r>
            <a:r>
              <a:rPr lang="it-IT" sz="1600" baseline="-25000" dirty="0"/>
              <a:t>2</a:t>
            </a:r>
            <a:r>
              <a:rPr lang="it-IT" sz="1600" dirty="0"/>
              <a:t> </a:t>
            </a:r>
            <a:r>
              <a:rPr lang="it-IT" sz="1600" dirty="0" err="1"/>
              <a:t>arrives</a:t>
            </a:r>
            <a:r>
              <a:rPr lang="it-IT" sz="1600" dirty="0"/>
              <a:t> </a:t>
            </a:r>
          </a:p>
          <a:p>
            <a:pPr algn="ctr"/>
            <a:r>
              <a:rPr lang="it-IT" sz="1600" dirty="0"/>
              <a:t>V</a:t>
            </a:r>
            <a:r>
              <a:rPr lang="it-IT" sz="1600" baseline="-25000" dirty="0"/>
              <a:t>2</a:t>
            </a:r>
            <a:r>
              <a:rPr lang="it-IT" sz="1600" dirty="0"/>
              <a:t> &gt; m.VC </a:t>
            </a:r>
          </a:p>
          <a:p>
            <a:pPr algn="ctr"/>
            <a:r>
              <a:rPr lang="it-IT" sz="1600" dirty="0" err="1"/>
              <a:t>then</a:t>
            </a:r>
            <a:r>
              <a:rPr lang="it-IT" sz="1600" dirty="0"/>
              <a:t> p</a:t>
            </a:r>
            <a:r>
              <a:rPr lang="it-IT" sz="1600" baseline="-25000" dirty="0"/>
              <a:t>2</a:t>
            </a:r>
            <a:r>
              <a:rPr lang="it-IT" sz="1600" dirty="0"/>
              <a:t> delays  the delivery</a:t>
            </a:r>
          </a:p>
        </p:txBody>
      </p:sp>
      <p:sp>
        <p:nvSpPr>
          <p:cNvPr id="101" name="Text Box 267"/>
          <p:cNvSpPr txBox="1">
            <a:spLocks noChangeArrowheads="1"/>
          </p:cNvSpPr>
          <p:nvPr/>
        </p:nvSpPr>
        <p:spPr bwMode="auto">
          <a:xfrm>
            <a:off x="1009672" y="2787653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</a:t>
            </a:r>
            <a:r>
              <a:rPr lang="it-IT" baseline="-25000"/>
              <a:t>1</a:t>
            </a:r>
          </a:p>
        </p:txBody>
      </p:sp>
      <p:sp>
        <p:nvSpPr>
          <p:cNvPr id="102" name="Text Box 268"/>
          <p:cNvSpPr txBox="1">
            <a:spLocks noChangeArrowheads="1"/>
          </p:cNvSpPr>
          <p:nvPr/>
        </p:nvSpPr>
        <p:spPr bwMode="auto">
          <a:xfrm>
            <a:off x="1009672" y="5595941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</a:t>
            </a:r>
            <a:r>
              <a:rPr lang="it-IT" baseline="-25000"/>
              <a:t>3</a:t>
            </a:r>
          </a:p>
        </p:txBody>
      </p:sp>
      <p:sp>
        <p:nvSpPr>
          <p:cNvPr id="103" name="Text Box 269"/>
          <p:cNvSpPr txBox="1">
            <a:spLocks noChangeArrowheads="1"/>
          </p:cNvSpPr>
          <p:nvPr/>
        </p:nvSpPr>
        <p:spPr bwMode="auto">
          <a:xfrm>
            <a:off x="1009672" y="4227516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</a:t>
            </a:r>
            <a:r>
              <a:rPr lang="it-IT" baseline="-25000"/>
              <a:t>2</a:t>
            </a:r>
          </a:p>
        </p:txBody>
      </p:sp>
      <p:sp>
        <p:nvSpPr>
          <p:cNvPr id="104" name="CasellaDiTesto 103"/>
          <p:cNvSpPr txBox="1"/>
          <p:nvPr/>
        </p:nvSpPr>
        <p:spPr>
          <a:xfrm>
            <a:off x="1918691" y="2718215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5" name="CasellaDiTesto 104"/>
          <p:cNvSpPr txBox="1"/>
          <p:nvPr/>
        </p:nvSpPr>
        <p:spPr>
          <a:xfrm>
            <a:off x="3386159" y="5117197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6" name="CasellaDiTesto 105"/>
          <p:cNvSpPr txBox="1"/>
          <p:nvPr/>
        </p:nvSpPr>
        <p:spPr>
          <a:xfrm>
            <a:off x="3614759" y="2312658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7" name="CasellaDiTesto 106"/>
          <p:cNvSpPr txBox="1"/>
          <p:nvPr/>
        </p:nvSpPr>
        <p:spPr>
          <a:xfrm>
            <a:off x="6913584" y="3787094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8" name="CasellaDiTesto 107"/>
          <p:cNvSpPr txBox="1"/>
          <p:nvPr/>
        </p:nvSpPr>
        <p:spPr>
          <a:xfrm>
            <a:off x="3864790" y="5557351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09" name="CasellaDiTesto 108"/>
          <p:cNvSpPr txBox="1"/>
          <p:nvPr/>
        </p:nvSpPr>
        <p:spPr>
          <a:xfrm>
            <a:off x="5701528" y="5099053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10" name="CasellaDiTesto 109"/>
          <p:cNvSpPr txBox="1"/>
          <p:nvPr/>
        </p:nvSpPr>
        <p:spPr>
          <a:xfrm>
            <a:off x="7927844" y="3751430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11" name="CasellaDiTesto 110"/>
          <p:cNvSpPr txBox="1"/>
          <p:nvPr/>
        </p:nvSpPr>
        <p:spPr>
          <a:xfrm>
            <a:off x="5100041" y="2250758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660E124-1374-284B-5530-46D9A75751EB}"/>
              </a:ext>
            </a:extLst>
          </p:cNvPr>
          <p:cNvSpPr txBox="1"/>
          <p:nvPr/>
        </p:nvSpPr>
        <p:spPr>
          <a:xfrm>
            <a:off x="1370306" y="5935809"/>
            <a:ext cx="43152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V[]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69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50" grpId="0" animBg="1"/>
      <p:bldP spid="51" grpId="0" animBg="1"/>
      <p:bldP spid="52" grpId="0" animBg="1"/>
      <p:bldP spid="77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3600" dirty="0" err="1"/>
              <a:t>Causal</a:t>
            </a:r>
            <a:r>
              <a:rPr lang="it-IT" sz="3600" dirty="0"/>
              <a:t> Order Broadcast: </a:t>
            </a:r>
            <a:r>
              <a:rPr lang="it-IT" sz="3600" dirty="0" err="1"/>
              <a:t>Safety</a:t>
            </a:r>
            <a:endParaRPr lang="it-IT" sz="36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830" y="1844676"/>
            <a:ext cx="8480108" cy="4608513"/>
          </a:xfrm>
        </p:spPr>
        <p:txBody>
          <a:bodyPr/>
          <a:lstStyle/>
          <a:p>
            <a:pPr algn="just" eaLnBrk="1" hangingPunct="1"/>
            <a:r>
              <a:rPr lang="en-GB" b="1" dirty="0"/>
              <a:t>Property</a:t>
            </a:r>
            <a:r>
              <a:rPr lang="en-GB" dirty="0"/>
              <a:t>: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sz="1600" dirty="0"/>
              <a:t>Let two broadcast messages </a:t>
            </a:r>
            <a:r>
              <a:rPr lang="en-GB" sz="1600" i="1" dirty="0"/>
              <a:t>m</a:t>
            </a:r>
            <a:r>
              <a:rPr lang="en-GB" sz="1600" dirty="0"/>
              <a:t> and </a:t>
            </a:r>
            <a:r>
              <a:rPr lang="en-GB" sz="1600" i="1" dirty="0"/>
              <a:t>m’</a:t>
            </a:r>
            <a:r>
              <a:rPr lang="en-GB" sz="1600" dirty="0"/>
              <a:t> such that </a:t>
            </a:r>
            <a:r>
              <a:rPr lang="en-GB" sz="1600" i="1" dirty="0"/>
              <a:t>broadcast(m)</a:t>
            </a:r>
            <a:r>
              <a:rPr lang="en-GB" sz="1600" dirty="0"/>
              <a:t> </a:t>
            </a:r>
            <a:r>
              <a:rPr lang="en-GB" sz="1600" dirty="0">
                <a:sym typeface="Symbol" pitchFamily="18" charset="2"/>
              </a:rPr>
              <a:t> </a:t>
            </a:r>
            <a:r>
              <a:rPr lang="en-GB" sz="1600" i="1" dirty="0">
                <a:sym typeface="Symbol" pitchFamily="18" charset="2"/>
              </a:rPr>
              <a:t>broadcast(m’)</a:t>
            </a:r>
            <a:r>
              <a:rPr lang="en-GB" sz="1600" dirty="0">
                <a:sym typeface="Symbol" pitchFamily="18" charset="2"/>
              </a:rPr>
              <a:t> then each process have to </a:t>
            </a:r>
            <a:r>
              <a:rPr lang="en-GB" sz="1600" u="sng" dirty="0">
                <a:sym typeface="Symbol" pitchFamily="18" charset="2"/>
              </a:rPr>
              <a:t>deliver</a:t>
            </a:r>
            <a:r>
              <a:rPr lang="en-GB" sz="1600" dirty="0">
                <a:sym typeface="Symbol" pitchFamily="18" charset="2"/>
              </a:rPr>
              <a:t> </a:t>
            </a:r>
            <a:r>
              <a:rPr lang="en-GB" sz="1600" i="1" dirty="0">
                <a:sym typeface="Symbol" pitchFamily="18" charset="2"/>
              </a:rPr>
              <a:t>m</a:t>
            </a:r>
            <a:r>
              <a:rPr lang="en-GB" sz="1600" dirty="0">
                <a:sym typeface="Symbol" pitchFamily="18" charset="2"/>
              </a:rPr>
              <a:t> before </a:t>
            </a:r>
            <a:r>
              <a:rPr lang="en-GB" sz="1600" i="1" dirty="0">
                <a:sym typeface="Symbol" pitchFamily="18" charset="2"/>
              </a:rPr>
              <a:t>m’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sz="1800" b="1" dirty="0">
                <a:sym typeface="Symbol" pitchFamily="18" charset="2"/>
              </a:rPr>
              <a:t>Observation: 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sz="1600" b="1" dirty="0">
                <a:sym typeface="Symbol" pitchFamily="18" charset="2"/>
              </a:rPr>
              <a:t>if m is the k-</a:t>
            </a:r>
            <a:r>
              <a:rPr lang="en-GB" sz="1600" b="1" dirty="0" err="1">
                <a:sym typeface="Symbol" pitchFamily="18" charset="2"/>
              </a:rPr>
              <a:t>th</a:t>
            </a:r>
            <a:r>
              <a:rPr lang="en-GB" sz="1600" b="1" dirty="0">
                <a:sym typeface="Symbol" pitchFamily="18" charset="2"/>
              </a:rPr>
              <a:t> message sent by p</a:t>
            </a:r>
            <a:r>
              <a:rPr lang="en-GB" sz="1600" b="1" baseline="-25000" dirty="0">
                <a:sym typeface="Symbol" pitchFamily="18" charset="2"/>
              </a:rPr>
              <a:t>i</a:t>
            </a:r>
            <a:r>
              <a:rPr lang="en-GB" sz="1600" b="1" dirty="0">
                <a:sym typeface="Symbol" pitchFamily="18" charset="2"/>
              </a:rPr>
              <a:t> then </a:t>
            </a:r>
            <a:r>
              <a:rPr lang="en-GB" sz="1600" b="1" dirty="0" err="1">
                <a:sym typeface="Symbol" pitchFamily="18" charset="2"/>
              </a:rPr>
              <a:t>m.Vc</a:t>
            </a:r>
            <a:r>
              <a:rPr lang="en-GB" sz="1600" b="1" dirty="0">
                <a:sym typeface="Symbol" pitchFamily="18" charset="2"/>
              </a:rPr>
              <a:t>[ </a:t>
            </a:r>
            <a:r>
              <a:rPr lang="en-GB" sz="1600" b="1" dirty="0" err="1">
                <a:sym typeface="Symbol" pitchFamily="18" charset="2"/>
              </a:rPr>
              <a:t>i</a:t>
            </a:r>
            <a:r>
              <a:rPr lang="en-GB" sz="1600" b="1" dirty="0">
                <a:sym typeface="Symbol" pitchFamily="18" charset="2"/>
              </a:rPr>
              <a:t> ]= k-1</a:t>
            </a:r>
          </a:p>
          <a:p>
            <a:pPr algn="just" eaLnBrk="1" hangingPunct="1"/>
            <a:r>
              <a:rPr lang="en-GB" sz="1800" dirty="0"/>
              <a:t>Safety property can be proved by induction using the causal ordering relation among broadcast messages</a:t>
            </a:r>
          </a:p>
          <a:p>
            <a:pPr algn="just" eaLnBrk="1" hangingPunct="1"/>
            <a:r>
              <a:rPr lang="en-GB" sz="1800" b="1" dirty="0"/>
              <a:t>Definition</a:t>
            </a:r>
            <a:r>
              <a:rPr lang="en-GB" sz="1800" dirty="0"/>
              <a:t>:</a:t>
            </a:r>
          </a:p>
          <a:p>
            <a:pPr lvl="1" algn="just" eaLnBrk="1" hangingPunct="1"/>
            <a:r>
              <a:rPr lang="en-GB" sz="1600" dirty="0"/>
              <a:t>Let two broadcast events b and b’ with b </a:t>
            </a:r>
            <a:r>
              <a:rPr lang="en-GB" sz="1600" dirty="0">
                <a:sym typeface="Symbol" pitchFamily="18" charset="2"/>
              </a:rPr>
              <a:t> b’. These events have a </a:t>
            </a:r>
            <a:r>
              <a:rPr lang="en-GB" sz="1600" b="1" dirty="0">
                <a:sym typeface="Symbol" pitchFamily="18" charset="2"/>
              </a:rPr>
              <a:t>causal distance </a:t>
            </a:r>
            <a:r>
              <a:rPr lang="en-GB" sz="1600" dirty="0">
                <a:sym typeface="Symbol" pitchFamily="18" charset="2"/>
              </a:rPr>
              <a:t>k                       if </a:t>
            </a:r>
            <a:r>
              <a:rPr lang="en-GB" sz="1600" dirty="0">
                <a:cs typeface="Arial" charset="0"/>
                <a:sym typeface="Symbol" pitchFamily="18" charset="2"/>
              </a:rPr>
              <a:t>  a sequence of k broadcast events b</a:t>
            </a:r>
            <a:r>
              <a:rPr lang="en-GB" sz="1600" baseline="-25000" dirty="0">
                <a:cs typeface="Arial" charset="0"/>
                <a:sym typeface="Symbol" pitchFamily="18" charset="2"/>
              </a:rPr>
              <a:t>1</a:t>
            </a:r>
            <a:r>
              <a:rPr lang="en-GB" sz="1600" dirty="0">
                <a:cs typeface="Arial" charset="0"/>
                <a:sym typeface="Symbol" pitchFamily="18" charset="2"/>
              </a:rPr>
              <a:t> … b</a:t>
            </a:r>
            <a:r>
              <a:rPr lang="en-GB" sz="1600" baseline="-25000" dirty="0">
                <a:cs typeface="Arial" charset="0"/>
                <a:sym typeface="Symbol" pitchFamily="18" charset="2"/>
              </a:rPr>
              <a:t>k</a:t>
            </a:r>
            <a:r>
              <a:rPr lang="en-GB" sz="1600" dirty="0">
                <a:cs typeface="Arial" charset="0"/>
                <a:sym typeface="Symbol" pitchFamily="18" charset="2"/>
              </a:rPr>
              <a:t> such that</a:t>
            </a:r>
          </a:p>
          <a:p>
            <a:pPr lvl="2" algn="just" eaLnBrk="1" hangingPunct="1"/>
            <a:r>
              <a:rPr lang="en-GB" dirty="0">
                <a:cs typeface="Arial" charset="0"/>
                <a:sym typeface="Symbol" pitchFamily="18" charset="2"/>
              </a:rPr>
              <a:t> I  {1… k } b</a:t>
            </a:r>
            <a:r>
              <a:rPr lang="en-GB" baseline="-25000" dirty="0">
                <a:cs typeface="Arial" charset="0"/>
                <a:sym typeface="Symbol" pitchFamily="18" charset="2"/>
              </a:rPr>
              <a:t>i </a:t>
            </a:r>
            <a:r>
              <a:rPr lang="en-GB" dirty="0">
                <a:cs typeface="Arial" charset="0"/>
                <a:sym typeface="Symbol" pitchFamily="18" charset="2"/>
              </a:rPr>
              <a:t> b</a:t>
            </a:r>
            <a:r>
              <a:rPr lang="en-GB" baseline="-25000" dirty="0">
                <a:cs typeface="Arial" charset="0"/>
                <a:sym typeface="Symbol" pitchFamily="18" charset="2"/>
              </a:rPr>
              <a:t>i+1</a:t>
            </a:r>
            <a:r>
              <a:rPr lang="en-GB" dirty="0">
                <a:cs typeface="Arial" charset="0"/>
                <a:sym typeface="Symbol" pitchFamily="18" charset="2"/>
              </a:rPr>
              <a:t>  () m* | b</a:t>
            </a:r>
            <a:r>
              <a:rPr lang="en-GB" baseline="-25000" dirty="0">
                <a:cs typeface="Arial" charset="0"/>
                <a:sym typeface="Symbol" pitchFamily="18" charset="2"/>
              </a:rPr>
              <a:t>i </a:t>
            </a:r>
            <a:r>
              <a:rPr lang="en-GB" dirty="0">
                <a:cs typeface="Arial" charset="0"/>
                <a:sym typeface="Symbol" pitchFamily="18" charset="2"/>
              </a:rPr>
              <a:t> m*  b</a:t>
            </a:r>
            <a:r>
              <a:rPr lang="en-GB" baseline="-25000" dirty="0">
                <a:cs typeface="Arial" charset="0"/>
                <a:sym typeface="Symbol" pitchFamily="18" charset="2"/>
              </a:rPr>
              <a:t>i+1</a:t>
            </a:r>
            <a:r>
              <a:rPr lang="en-GB" dirty="0">
                <a:cs typeface="Arial" charset="0"/>
                <a:sym typeface="Symbol" pitchFamily="18" charset="2"/>
              </a:rPr>
              <a:t> </a:t>
            </a:r>
          </a:p>
          <a:p>
            <a:pPr lvl="2" algn="just" eaLnBrk="1" hangingPunct="1"/>
            <a:r>
              <a:rPr lang="en-GB" dirty="0">
                <a:cs typeface="Arial" charset="0"/>
                <a:sym typeface="Symbol" pitchFamily="18" charset="2"/>
              </a:rPr>
              <a:t>b  b</a:t>
            </a:r>
            <a:r>
              <a:rPr lang="en-GB" baseline="-25000" dirty="0">
                <a:cs typeface="Arial" charset="0"/>
                <a:sym typeface="Symbol" pitchFamily="18" charset="2"/>
              </a:rPr>
              <a:t>1</a:t>
            </a:r>
          </a:p>
          <a:p>
            <a:pPr lvl="2" algn="just" eaLnBrk="1" hangingPunct="1"/>
            <a:r>
              <a:rPr lang="en-GB" dirty="0" err="1">
                <a:cs typeface="Arial" charset="0"/>
                <a:sym typeface="Symbol" pitchFamily="18" charset="2"/>
              </a:rPr>
              <a:t>b</a:t>
            </a:r>
            <a:r>
              <a:rPr lang="en-GB" baseline="-25000" dirty="0" err="1">
                <a:cs typeface="Arial" charset="0"/>
                <a:sym typeface="Symbol" pitchFamily="18" charset="2"/>
              </a:rPr>
              <a:t>k</a:t>
            </a:r>
            <a:r>
              <a:rPr lang="en-GB" dirty="0">
                <a:cs typeface="Arial" charset="0"/>
                <a:sym typeface="Symbol" pitchFamily="18" charset="2"/>
              </a:rPr>
              <a:t>  b’</a:t>
            </a:r>
          </a:p>
        </p:txBody>
      </p:sp>
    </p:spTree>
    <p:extLst>
      <p:ext uri="{BB962C8B-B14F-4D97-AF65-F5344CB8AC3E}">
        <p14:creationId xmlns:p14="http://schemas.microsoft.com/office/powerpoint/2010/main" val="17121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3600"/>
              <a:t>Proof – basic case (K=0)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7150" y="1844675"/>
            <a:ext cx="8007350" cy="4191000"/>
          </a:xfrm>
        </p:spPr>
        <p:txBody>
          <a:bodyPr/>
          <a:lstStyle/>
          <a:p>
            <a:pPr eaLnBrk="1" hangingPunct="1"/>
            <a:r>
              <a:rPr lang="it-IT" sz="1800" dirty="0"/>
              <a:t>Given </a:t>
            </a:r>
            <a:r>
              <a:rPr lang="it-IT" sz="1800" dirty="0" err="1"/>
              <a:t>two</a:t>
            </a:r>
            <a:r>
              <a:rPr lang="it-IT" sz="1800" dirty="0"/>
              <a:t> </a:t>
            </a:r>
            <a:r>
              <a:rPr lang="it-IT" sz="1800" dirty="0" err="1"/>
              <a:t>messages</a:t>
            </a:r>
            <a:r>
              <a:rPr lang="it-IT" sz="1800" dirty="0"/>
              <a:t> m, m’ </a:t>
            </a:r>
            <a:r>
              <a:rPr lang="it-IT" sz="1800" dirty="0" err="1"/>
              <a:t>such</a:t>
            </a:r>
            <a:r>
              <a:rPr lang="it-IT" sz="1800" dirty="0"/>
              <a:t> </a:t>
            </a:r>
            <a:r>
              <a:rPr lang="it-IT" sz="1800" dirty="0" err="1"/>
              <a:t>that</a:t>
            </a:r>
            <a:endParaRPr lang="it-IT" sz="1800" dirty="0"/>
          </a:p>
          <a:p>
            <a:pPr marL="762000" lvl="1" indent="-304800"/>
            <a:r>
              <a:rPr lang="it-IT" sz="1600" dirty="0"/>
              <a:t>broadcast(m) </a:t>
            </a:r>
            <a:r>
              <a:rPr lang="it-IT" sz="1600" dirty="0">
                <a:sym typeface="Symbol" pitchFamily="18" charset="2"/>
              </a:rPr>
              <a:t> </a:t>
            </a:r>
            <a:r>
              <a:rPr lang="it-IT" sz="1600" dirty="0"/>
              <a:t>broadcast(m’)</a:t>
            </a:r>
          </a:p>
          <a:p>
            <a:pPr marL="762000" lvl="1" indent="-304800"/>
            <a:r>
              <a:rPr lang="it-IT" sz="1600" dirty="0" err="1"/>
              <a:t>There</a:t>
            </a:r>
            <a:r>
              <a:rPr lang="it-IT" sz="1600" dirty="0"/>
              <a:t> </a:t>
            </a:r>
            <a:r>
              <a:rPr lang="it-IT" sz="1600" dirty="0" err="1"/>
              <a:t>does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exists</a:t>
            </a:r>
            <a:r>
              <a:rPr lang="it-IT" sz="1600" dirty="0"/>
              <a:t> broadcast(m’’) </a:t>
            </a:r>
            <a:r>
              <a:rPr lang="it-IT" sz="1600" dirty="0" err="1"/>
              <a:t>such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br>
              <a:rPr lang="it-IT" sz="1600" dirty="0"/>
            </a:br>
            <a:r>
              <a:rPr lang="it-IT" sz="1600" dirty="0"/>
              <a:t>broadcast(m) </a:t>
            </a:r>
            <a:r>
              <a:rPr lang="it-IT" sz="1600" dirty="0">
                <a:sym typeface="Symbol" pitchFamily="18" charset="2"/>
              </a:rPr>
              <a:t></a:t>
            </a:r>
            <a:r>
              <a:rPr lang="it-IT" sz="1600" dirty="0"/>
              <a:t> broadcast(m’’) </a:t>
            </a:r>
            <a:r>
              <a:rPr lang="it-IT" sz="1600" dirty="0">
                <a:sym typeface="Symbol" pitchFamily="18" charset="2"/>
              </a:rPr>
              <a:t></a:t>
            </a:r>
            <a:r>
              <a:rPr lang="it-IT" sz="1600" dirty="0"/>
              <a:t> broadcast(m’’) </a:t>
            </a:r>
            <a:r>
              <a:rPr lang="it-IT" sz="1600" dirty="0">
                <a:sym typeface="Symbol" pitchFamily="18" charset="2"/>
              </a:rPr>
              <a:t></a:t>
            </a:r>
            <a:r>
              <a:rPr lang="it-IT" sz="1600" dirty="0"/>
              <a:t> broadcast(m’).</a:t>
            </a:r>
          </a:p>
          <a:p>
            <a:pPr marL="762000" lvl="1" indent="-304800"/>
            <a:endParaRPr lang="it-IT" sz="1600" dirty="0"/>
          </a:p>
          <a:p>
            <a:pPr eaLnBrk="1" hangingPunct="1"/>
            <a:r>
              <a:rPr lang="it-IT" sz="1800" dirty="0" err="1"/>
              <a:t>We</a:t>
            </a:r>
            <a:r>
              <a:rPr lang="it-IT" sz="1800" dirty="0"/>
              <a:t> can </a:t>
            </a:r>
            <a:r>
              <a:rPr lang="it-IT" sz="1800" dirty="0" err="1"/>
              <a:t>have</a:t>
            </a:r>
            <a:r>
              <a:rPr lang="it-IT" sz="1800" dirty="0"/>
              <a:t> </a:t>
            </a:r>
            <a:r>
              <a:rPr lang="it-IT" sz="1800" dirty="0" err="1"/>
              <a:t>two</a:t>
            </a:r>
            <a:r>
              <a:rPr lang="it-IT" sz="1800" dirty="0"/>
              <a:t> </a:t>
            </a:r>
            <a:r>
              <a:rPr lang="it-IT" sz="1800" dirty="0" err="1"/>
              <a:t>distinct</a:t>
            </a:r>
            <a:r>
              <a:rPr lang="it-IT" sz="1800" dirty="0"/>
              <a:t> </a:t>
            </a:r>
            <a:r>
              <a:rPr lang="it-IT" sz="1800" dirty="0" err="1"/>
              <a:t>cases</a:t>
            </a:r>
            <a:endParaRPr lang="it-IT" sz="1800" dirty="0"/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m and m’ </a:t>
            </a:r>
            <a:r>
              <a:rPr lang="it-IT" sz="1600" dirty="0" err="1"/>
              <a:t>have</a:t>
            </a:r>
            <a:r>
              <a:rPr lang="it-IT" sz="1600" dirty="0"/>
              <a:t> </a:t>
            </a:r>
            <a:r>
              <a:rPr lang="it-IT" sz="1600" dirty="0" err="1"/>
              <a:t>been</a:t>
            </a:r>
            <a:r>
              <a:rPr lang="it-IT" sz="1600" dirty="0"/>
              <a:t> </a:t>
            </a:r>
            <a:r>
              <a:rPr lang="it-IT" sz="1600" dirty="0" err="1"/>
              <a:t>issued</a:t>
            </a:r>
            <a:r>
              <a:rPr lang="it-IT" sz="1600" dirty="0"/>
              <a:t> by the </a:t>
            </a:r>
            <a:r>
              <a:rPr lang="it-IT" sz="1600" dirty="0" err="1"/>
              <a:t>same</a:t>
            </a:r>
            <a:r>
              <a:rPr lang="it-IT" sz="1600" dirty="0"/>
              <a:t> </a:t>
            </a:r>
            <a:r>
              <a:rPr lang="it-IT" sz="1600" dirty="0" err="1"/>
              <a:t>process</a:t>
            </a:r>
            <a:endParaRPr lang="it-IT" sz="1600" dirty="0"/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m and m’ </a:t>
            </a:r>
            <a:r>
              <a:rPr lang="it-IT" sz="1600" dirty="0" err="1"/>
              <a:t>have</a:t>
            </a:r>
            <a:r>
              <a:rPr lang="it-IT" sz="1600" dirty="0"/>
              <a:t> </a:t>
            </a:r>
            <a:r>
              <a:rPr lang="it-IT" sz="1600" dirty="0" err="1"/>
              <a:t>been</a:t>
            </a:r>
            <a:r>
              <a:rPr lang="it-IT" sz="1600" dirty="0"/>
              <a:t> </a:t>
            </a:r>
            <a:r>
              <a:rPr lang="it-IT" sz="1600" dirty="0" err="1"/>
              <a:t>issued</a:t>
            </a:r>
            <a:r>
              <a:rPr lang="it-IT" sz="1600" dirty="0"/>
              <a:t> by </a:t>
            </a:r>
            <a:r>
              <a:rPr lang="it-IT" sz="1600" dirty="0" err="1"/>
              <a:t>distinct</a:t>
            </a:r>
            <a:r>
              <a:rPr lang="it-IT" sz="1600" dirty="0"/>
              <a:t> </a:t>
            </a:r>
            <a:r>
              <a:rPr lang="it-IT" sz="1600" dirty="0" err="1"/>
              <a:t>processes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147355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it-IT" sz="3600"/>
              <a:t>Case 1 – brodacast produced by the same process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8588" y="1844675"/>
            <a:ext cx="8007350" cy="4191000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800" dirty="0" err="1"/>
              <a:t>p</a:t>
            </a:r>
            <a:r>
              <a:rPr lang="en-GB" sz="1800" baseline="-25000" dirty="0" err="1"/>
              <a:t>j</a:t>
            </a:r>
            <a:r>
              <a:rPr lang="en-GB" sz="1800" dirty="0"/>
              <a:t> is the receiver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For line 3 in broadcast procedure</a:t>
            </a:r>
          </a:p>
          <a:p>
            <a:pPr marL="990600" lvl="1" indent="-5334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600" dirty="0" err="1"/>
              <a:t>m’.VC</a:t>
            </a:r>
            <a:r>
              <a:rPr lang="en-GB" sz="1600" dirty="0"/>
              <a:t>[</a:t>
            </a:r>
            <a:r>
              <a:rPr lang="en-GB" sz="1600" dirty="0" err="1"/>
              <a:t>i</a:t>
            </a:r>
            <a:r>
              <a:rPr lang="en-GB" sz="1600" dirty="0"/>
              <a:t>]:= m.VC[</a:t>
            </a:r>
            <a:r>
              <a:rPr lang="en-GB" sz="1600" dirty="0" err="1"/>
              <a:t>i</a:t>
            </a:r>
            <a:r>
              <a:rPr lang="en-GB" sz="1600" dirty="0"/>
              <a:t>]+1. </a:t>
            </a:r>
            <a:br>
              <a:rPr lang="en-GB" sz="1600" dirty="0"/>
            </a:br>
            <a:r>
              <a:rPr lang="en-GB" sz="1600" dirty="0"/>
              <a:t>if m is the h-</a:t>
            </a:r>
            <a:r>
              <a:rPr lang="en-GB" sz="1600" dirty="0" err="1"/>
              <a:t>th</a:t>
            </a:r>
            <a:r>
              <a:rPr lang="en-GB" sz="1600" dirty="0"/>
              <a:t> message sent by p</a:t>
            </a:r>
            <a:r>
              <a:rPr lang="en-GB" sz="1600" baseline="-25000" dirty="0"/>
              <a:t>i</a:t>
            </a:r>
            <a:r>
              <a:rPr lang="en-GB" sz="1600" dirty="0"/>
              <a:t>, m.VC[</a:t>
            </a:r>
            <a:r>
              <a:rPr lang="en-GB" sz="1600" dirty="0" err="1"/>
              <a:t>i</a:t>
            </a:r>
            <a:r>
              <a:rPr lang="en-GB" sz="1600" dirty="0"/>
              <a:t>]=h-1 and </a:t>
            </a:r>
            <a:r>
              <a:rPr lang="en-GB" sz="1600" dirty="0" err="1"/>
              <a:t>m’.VC</a:t>
            </a:r>
            <a:r>
              <a:rPr lang="en-GB" sz="1600" dirty="0"/>
              <a:t>[</a:t>
            </a:r>
            <a:r>
              <a:rPr lang="en-GB" sz="1600" dirty="0" err="1"/>
              <a:t>i</a:t>
            </a:r>
            <a:r>
              <a:rPr lang="en-GB" sz="1600" dirty="0"/>
              <a:t>]=h.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 process </a:t>
            </a:r>
            <a:r>
              <a:rPr lang="en-GB" sz="1800" dirty="0" err="1"/>
              <a:t>p</a:t>
            </a:r>
            <a:r>
              <a:rPr lang="en-GB" sz="1800" baseline="-25000" dirty="0" err="1"/>
              <a:t>j</a:t>
            </a:r>
            <a:r>
              <a:rPr lang="en-GB" sz="1800" dirty="0"/>
              <a:t> that receives m’ verifies the following delivery condition: </a:t>
            </a:r>
          </a:p>
          <a:p>
            <a:pPr marL="990600" lvl="1" indent="-5334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ym typeface="Symbol" pitchFamily="18" charset="2"/>
              </a:rPr>
              <a:t> </a:t>
            </a:r>
            <a:r>
              <a:rPr lang="en-GB" sz="1600" dirty="0"/>
              <a:t>x </a:t>
            </a:r>
            <a:r>
              <a:rPr lang="en-GB" sz="1600" dirty="0">
                <a:sym typeface="Symbol" pitchFamily="18" charset="2"/>
              </a:rPr>
              <a:t> </a:t>
            </a:r>
            <a:r>
              <a:rPr lang="en-GB" sz="1600" dirty="0"/>
              <a:t>{1,…,n} </a:t>
            </a:r>
            <a:r>
              <a:rPr lang="en-GB" sz="1600" dirty="0" err="1"/>
              <a:t>m’.VC</a:t>
            </a:r>
            <a:r>
              <a:rPr lang="en-GB" sz="1600" dirty="0"/>
              <a:t>[x] </a:t>
            </a:r>
            <a:r>
              <a:rPr lang="en-GB" sz="1600" dirty="0">
                <a:cs typeface="Arial" charset="0"/>
              </a:rPr>
              <a:t>≤ </a:t>
            </a:r>
            <a:r>
              <a:rPr lang="en-GB" sz="1600" dirty="0" err="1"/>
              <a:t>V</a:t>
            </a:r>
            <a:r>
              <a:rPr lang="en-GB" sz="1600" baseline="-25000" dirty="0" err="1"/>
              <a:t>j</a:t>
            </a:r>
            <a:r>
              <a:rPr lang="en-GB" sz="1600" dirty="0"/>
              <a:t>[x] and </a:t>
            </a:r>
            <a:r>
              <a:rPr lang="en-GB" sz="1600" dirty="0" err="1"/>
              <a:t>m’.VC</a:t>
            </a:r>
            <a:r>
              <a:rPr lang="en-GB" sz="1600" dirty="0"/>
              <a:t>[</a:t>
            </a:r>
            <a:r>
              <a:rPr lang="en-GB" sz="1600" dirty="0" err="1"/>
              <a:t>i</a:t>
            </a:r>
            <a:r>
              <a:rPr lang="en-GB" sz="1600" dirty="0"/>
              <a:t>] </a:t>
            </a:r>
            <a:r>
              <a:rPr lang="en-GB" sz="1600" dirty="0">
                <a:cs typeface="Arial" charset="0"/>
              </a:rPr>
              <a:t>≤</a:t>
            </a:r>
            <a:r>
              <a:rPr lang="en-GB" sz="1600" dirty="0"/>
              <a:t> </a:t>
            </a:r>
            <a:r>
              <a:rPr lang="en-GB" sz="1600" dirty="0" err="1"/>
              <a:t>V</a:t>
            </a:r>
            <a:r>
              <a:rPr lang="en-GB" sz="1600" baseline="-25000" dirty="0" err="1"/>
              <a:t>j</a:t>
            </a:r>
            <a:r>
              <a:rPr lang="en-GB" sz="1600" dirty="0"/>
              <a:t>[</a:t>
            </a:r>
            <a:r>
              <a:rPr lang="en-GB" sz="1600" dirty="0" err="1"/>
              <a:t>i</a:t>
            </a:r>
            <a:r>
              <a:rPr lang="en-GB" sz="1600" dirty="0"/>
              <a:t>]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V</a:t>
            </a:r>
            <a:r>
              <a:rPr lang="en-GB" sz="1800" baseline="-25000" dirty="0"/>
              <a:t>i</a:t>
            </a:r>
            <a:r>
              <a:rPr lang="en-GB" sz="1800" dirty="0"/>
              <a:t>[x] is equals to h if and only if the h-</a:t>
            </a:r>
            <a:r>
              <a:rPr lang="en-GB" sz="1800" dirty="0" err="1"/>
              <a:t>th</a:t>
            </a:r>
            <a:r>
              <a:rPr lang="en-GB" sz="1800" dirty="0"/>
              <a:t> message sent by </a:t>
            </a:r>
            <a:r>
              <a:rPr lang="en-GB" sz="1800" dirty="0" err="1"/>
              <a:t>p</a:t>
            </a:r>
            <a:r>
              <a:rPr lang="en-GB" sz="1800" baseline="-25000" dirty="0" err="1"/>
              <a:t>x</a:t>
            </a:r>
            <a:r>
              <a:rPr lang="en-GB" sz="1800" dirty="0"/>
              <a:t> was delivered by p</a:t>
            </a:r>
            <a:r>
              <a:rPr lang="en-GB" sz="1800" baseline="-25000" dirty="0"/>
              <a:t>i</a:t>
            </a:r>
            <a:r>
              <a:rPr lang="en-GB" sz="1800" dirty="0"/>
              <a:t>. (line 3 receive thread).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Consequently from 2,3,4, m’ can be delivered only after the deliver of m.</a:t>
            </a:r>
          </a:p>
        </p:txBody>
      </p:sp>
    </p:spTree>
    <p:extLst>
      <p:ext uri="{BB962C8B-B14F-4D97-AF65-F5344CB8AC3E}">
        <p14:creationId xmlns:p14="http://schemas.microsoft.com/office/powerpoint/2010/main" val="2145032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it-IT" sz="3600" dirty="0"/>
              <a:t>Case 2 – </a:t>
            </a:r>
            <a:r>
              <a:rPr lang="it-IT" sz="3600" dirty="0" err="1"/>
              <a:t>brodacast</a:t>
            </a:r>
            <a:r>
              <a:rPr lang="it-IT" sz="3600" dirty="0"/>
              <a:t> </a:t>
            </a:r>
            <a:r>
              <a:rPr lang="it-IT" sz="3600" dirty="0" err="1"/>
              <a:t>produced</a:t>
            </a:r>
            <a:r>
              <a:rPr lang="it-IT" sz="3600" dirty="0"/>
              <a:t> by </a:t>
            </a:r>
            <a:r>
              <a:rPr lang="it-IT" sz="3600" dirty="0" err="1"/>
              <a:t>distinct</a:t>
            </a:r>
            <a:r>
              <a:rPr lang="it-IT" sz="3600" dirty="0"/>
              <a:t> </a:t>
            </a:r>
            <a:r>
              <a:rPr lang="it-IT" sz="3600" dirty="0" err="1"/>
              <a:t>processes</a:t>
            </a:r>
            <a:endParaRPr lang="it-IT" sz="36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9700" y="1905000"/>
            <a:ext cx="8007350" cy="4692650"/>
          </a:xfrm>
        </p:spPr>
        <p:txBody>
          <a:bodyPr/>
          <a:lstStyle/>
          <a:p>
            <a:pPr eaLnBrk="1" hangingPunct="1"/>
            <a:r>
              <a:rPr lang="en-GB" sz="1800" dirty="0"/>
              <a:t>m and m’ was been sent by distinct processes, respectively p</a:t>
            </a:r>
            <a:r>
              <a:rPr lang="en-GB" sz="1800" baseline="-25000" dirty="0"/>
              <a:t>i</a:t>
            </a:r>
            <a:r>
              <a:rPr lang="en-GB" sz="1800" dirty="0"/>
              <a:t> e </a:t>
            </a:r>
            <a:r>
              <a:rPr lang="en-GB" sz="1800" dirty="0" err="1"/>
              <a:t>p</a:t>
            </a:r>
            <a:r>
              <a:rPr lang="en-GB" sz="1800" baseline="-25000" dirty="0" err="1"/>
              <a:t>j</a:t>
            </a:r>
            <a:r>
              <a:rPr lang="en-GB" sz="1800" dirty="0"/>
              <a:t>. p</a:t>
            </a:r>
            <a:r>
              <a:rPr lang="en-GB" sz="1800" baseline="-25000" dirty="0"/>
              <a:t>k</a:t>
            </a:r>
            <a:r>
              <a:rPr lang="en-GB" sz="1800" dirty="0"/>
              <a:t> is the receiver.</a:t>
            </a:r>
          </a:p>
          <a:p>
            <a:pPr eaLnBrk="1" hangingPunct="1"/>
            <a:r>
              <a:rPr lang="en-GB" sz="1800" dirty="0"/>
              <a:t>broadcast(m) </a:t>
            </a:r>
            <a:r>
              <a:rPr lang="en-GB" sz="1800" dirty="0">
                <a:sym typeface="Symbol" pitchFamily="18" charset="2"/>
              </a:rPr>
              <a:t> </a:t>
            </a:r>
            <a:r>
              <a:rPr lang="en-GB" sz="1800" dirty="0"/>
              <a:t>broadcast(m´), m’ was broadcasted by </a:t>
            </a:r>
            <a:r>
              <a:rPr lang="en-GB" sz="1800" dirty="0" err="1"/>
              <a:t>p</a:t>
            </a:r>
            <a:r>
              <a:rPr lang="en-GB" sz="1800" baseline="-25000" dirty="0" err="1"/>
              <a:t>j</a:t>
            </a:r>
            <a:r>
              <a:rPr lang="en-GB" sz="1800" dirty="0"/>
              <a:t> after the deliver of m. </a:t>
            </a:r>
            <a:br>
              <a:rPr lang="en-GB" sz="1800" dirty="0"/>
            </a:br>
            <a:r>
              <a:rPr lang="en-GB" sz="1800" dirty="0"/>
              <a:t>Without loss of generality m.VC[</a:t>
            </a:r>
            <a:r>
              <a:rPr lang="en-GB" sz="1800" dirty="0" err="1"/>
              <a:t>i</a:t>
            </a:r>
            <a:r>
              <a:rPr lang="en-GB" sz="1800" dirty="0"/>
              <a:t>]=h-1</a:t>
            </a:r>
          </a:p>
          <a:p>
            <a:pPr lvl="1" eaLnBrk="1" hangingPunct="1"/>
            <a:r>
              <a:rPr lang="en-GB" sz="1600" dirty="0"/>
              <a:t>For line 3 of reception thread e for assumption of k=0 we have </a:t>
            </a:r>
            <a:r>
              <a:rPr lang="en-GB" sz="1600" dirty="0" err="1"/>
              <a:t>m’.VC</a:t>
            </a:r>
            <a:r>
              <a:rPr lang="en-GB" sz="1600" dirty="0"/>
              <a:t>[</a:t>
            </a:r>
            <a:r>
              <a:rPr lang="en-GB" sz="1600" dirty="0" err="1"/>
              <a:t>i</a:t>
            </a:r>
            <a:r>
              <a:rPr lang="en-GB" sz="1600" dirty="0"/>
              <a:t>]=h.</a:t>
            </a:r>
          </a:p>
          <a:p>
            <a:pPr eaLnBrk="1" hangingPunct="1"/>
            <a:r>
              <a:rPr lang="en-GB" sz="1800" dirty="0"/>
              <a:t>The receiver process p</a:t>
            </a:r>
            <a:r>
              <a:rPr lang="en-GB" sz="1800" baseline="-25000" dirty="0"/>
              <a:t>k</a:t>
            </a:r>
            <a:r>
              <a:rPr lang="en-GB" sz="1800" dirty="0"/>
              <a:t> respects the following delivery condition:</a:t>
            </a:r>
          </a:p>
          <a:p>
            <a:pPr lvl="1" eaLnBrk="1" hangingPunct="1">
              <a:lnSpc>
                <a:spcPct val="125000"/>
              </a:lnSpc>
            </a:pPr>
            <a:r>
              <a:rPr lang="en-GB" sz="1400" dirty="0">
                <a:sym typeface="Symbol" pitchFamily="18" charset="2"/>
              </a:rPr>
              <a:t> </a:t>
            </a:r>
            <a:r>
              <a:rPr lang="en-GB" sz="1400" dirty="0"/>
              <a:t>x </a:t>
            </a:r>
            <a:r>
              <a:rPr lang="en-GB" sz="1400" dirty="0">
                <a:sym typeface="Symbol" pitchFamily="18" charset="2"/>
              </a:rPr>
              <a:t> </a:t>
            </a:r>
            <a:r>
              <a:rPr lang="en-GB" sz="1400" dirty="0"/>
              <a:t>{1,…,n} </a:t>
            </a:r>
            <a:r>
              <a:rPr lang="en-GB" sz="1400" dirty="0" err="1"/>
              <a:t>m’.VC</a:t>
            </a:r>
            <a:r>
              <a:rPr lang="en-GB" sz="1400" dirty="0"/>
              <a:t>[x] </a:t>
            </a:r>
            <a:r>
              <a:rPr lang="en-GB" sz="1400" dirty="0">
                <a:cs typeface="Arial" charset="0"/>
              </a:rPr>
              <a:t>≤ </a:t>
            </a:r>
            <a:r>
              <a:rPr lang="en-GB" sz="1400" dirty="0" err="1"/>
              <a:t>V</a:t>
            </a:r>
            <a:r>
              <a:rPr lang="en-GB" sz="1400" baseline="-25000" dirty="0" err="1"/>
              <a:t>k</a:t>
            </a:r>
            <a:r>
              <a:rPr lang="en-GB" sz="1400" dirty="0"/>
              <a:t>[x] and </a:t>
            </a:r>
            <a:r>
              <a:rPr lang="en-GB" sz="1400" dirty="0" err="1"/>
              <a:t>m’.VC</a:t>
            </a:r>
            <a:r>
              <a:rPr lang="en-GB" sz="1400" dirty="0"/>
              <a:t>[</a:t>
            </a:r>
            <a:r>
              <a:rPr lang="en-GB" sz="1400" dirty="0" err="1"/>
              <a:t>i</a:t>
            </a:r>
            <a:r>
              <a:rPr lang="en-GB" sz="1400" dirty="0"/>
              <a:t>] </a:t>
            </a:r>
            <a:r>
              <a:rPr lang="en-GB" sz="1400" dirty="0">
                <a:cs typeface="Arial" charset="0"/>
              </a:rPr>
              <a:t>≤</a:t>
            </a:r>
            <a:r>
              <a:rPr lang="en-GB" sz="1400" dirty="0"/>
              <a:t> </a:t>
            </a:r>
            <a:r>
              <a:rPr lang="en-GB" sz="1400" dirty="0" err="1"/>
              <a:t>V</a:t>
            </a:r>
            <a:r>
              <a:rPr lang="en-GB" sz="1400" baseline="-25000" dirty="0" err="1"/>
              <a:t>k</a:t>
            </a:r>
            <a:r>
              <a:rPr lang="en-GB" sz="1400" dirty="0"/>
              <a:t>[</a:t>
            </a:r>
            <a:r>
              <a:rPr lang="en-GB" sz="1400" dirty="0" err="1"/>
              <a:t>i</a:t>
            </a:r>
            <a:r>
              <a:rPr lang="en-GB" sz="1400" dirty="0"/>
              <a:t>]</a:t>
            </a:r>
          </a:p>
          <a:p>
            <a:pPr eaLnBrk="1" hangingPunct="1">
              <a:lnSpc>
                <a:spcPct val="125000"/>
              </a:lnSpc>
            </a:pPr>
            <a:r>
              <a:rPr lang="en-GB" sz="1800" dirty="0"/>
              <a:t>To deliver the message, </a:t>
            </a:r>
            <a:r>
              <a:rPr lang="en-GB" sz="1800" dirty="0" err="1"/>
              <a:t>m’.VC</a:t>
            </a:r>
            <a:r>
              <a:rPr lang="en-GB" sz="1800" dirty="0"/>
              <a:t>[</a:t>
            </a:r>
            <a:r>
              <a:rPr lang="en-GB" sz="1800" dirty="0" err="1"/>
              <a:t>i</a:t>
            </a:r>
            <a:r>
              <a:rPr lang="en-GB" sz="1800" dirty="0"/>
              <a:t>] </a:t>
            </a:r>
            <a:r>
              <a:rPr lang="en-GB" sz="1600" dirty="0">
                <a:cs typeface="Arial" charset="0"/>
              </a:rPr>
              <a:t>≤  </a:t>
            </a:r>
            <a:r>
              <a:rPr lang="en-GB" sz="1800" dirty="0" err="1"/>
              <a:t>V</a:t>
            </a:r>
            <a:r>
              <a:rPr lang="en-GB" sz="1800" baseline="-25000" dirty="0" err="1"/>
              <a:t>k</a:t>
            </a:r>
            <a:r>
              <a:rPr lang="en-GB" sz="1800" dirty="0"/>
              <a:t>[</a:t>
            </a:r>
            <a:r>
              <a:rPr lang="en-GB" sz="1800" dirty="0" err="1"/>
              <a:t>i</a:t>
            </a:r>
            <a:r>
              <a:rPr lang="en-GB" sz="1800" dirty="0"/>
              <a:t>], that is </a:t>
            </a:r>
            <a:r>
              <a:rPr lang="en-GB" sz="1800" dirty="0" err="1"/>
              <a:t>V</a:t>
            </a:r>
            <a:r>
              <a:rPr lang="en-GB" sz="1800" baseline="-25000" dirty="0" err="1"/>
              <a:t>k</a:t>
            </a:r>
            <a:r>
              <a:rPr lang="en-GB" sz="1800" dirty="0"/>
              <a:t>[</a:t>
            </a:r>
            <a:r>
              <a:rPr lang="en-GB" sz="1800" dirty="0" err="1"/>
              <a:t>i</a:t>
            </a:r>
            <a:r>
              <a:rPr lang="en-GB" sz="1800" dirty="0"/>
              <a:t>] </a:t>
            </a:r>
            <a:r>
              <a:rPr lang="en-GB" sz="1800" dirty="0">
                <a:cs typeface="Arial" charset="0"/>
              </a:rPr>
              <a:t>≥ </a:t>
            </a:r>
            <a:r>
              <a:rPr lang="en-GB" sz="1800" dirty="0"/>
              <a:t>h</a:t>
            </a:r>
          </a:p>
          <a:p>
            <a:pPr eaLnBrk="1" hangingPunct="1">
              <a:lnSpc>
                <a:spcPct val="125000"/>
              </a:lnSpc>
            </a:pPr>
            <a:r>
              <a:rPr lang="en-GB" sz="1800" dirty="0" err="1"/>
              <a:t>V</a:t>
            </a:r>
            <a:r>
              <a:rPr lang="en-GB" sz="1800" baseline="-25000" dirty="0" err="1"/>
              <a:t>k</a:t>
            </a:r>
            <a:r>
              <a:rPr lang="en-GB" sz="1800" dirty="0"/>
              <a:t>[</a:t>
            </a:r>
            <a:r>
              <a:rPr lang="en-GB" sz="1800" dirty="0" err="1"/>
              <a:t>i</a:t>
            </a:r>
            <a:r>
              <a:rPr lang="en-GB" sz="1800" dirty="0"/>
              <a:t>] is equals to h if and only if the h-</a:t>
            </a:r>
            <a:r>
              <a:rPr lang="en-GB" sz="1800" dirty="0" err="1"/>
              <a:t>th</a:t>
            </a:r>
            <a:r>
              <a:rPr lang="en-GB" sz="1800" dirty="0"/>
              <a:t> message sent by p</a:t>
            </a:r>
            <a:r>
              <a:rPr lang="en-GB" sz="1800" baseline="-25000" dirty="0"/>
              <a:t>i </a:t>
            </a:r>
            <a:r>
              <a:rPr lang="en-GB" sz="1800" dirty="0"/>
              <a:t>has been delivered by p</a:t>
            </a:r>
            <a:r>
              <a:rPr lang="en-GB" sz="1800" baseline="-25000" dirty="0"/>
              <a:t>k</a:t>
            </a:r>
            <a:r>
              <a:rPr lang="en-GB" sz="1800" dirty="0"/>
              <a:t>. (line 3 of reception thread thread).</a:t>
            </a:r>
          </a:p>
          <a:p>
            <a:pPr eaLnBrk="1" hangingPunct="1">
              <a:lnSpc>
                <a:spcPct val="125000"/>
              </a:lnSpc>
            </a:pPr>
            <a:r>
              <a:rPr lang="en-GB" sz="1800" dirty="0"/>
              <a:t>For 2,3,4, p</a:t>
            </a:r>
            <a:r>
              <a:rPr lang="en-GB" sz="1800" baseline="-25000" dirty="0"/>
              <a:t>k</a:t>
            </a:r>
            <a:r>
              <a:rPr lang="en-GB" sz="1800" dirty="0"/>
              <a:t> can deliver m’ only after the deliver of m</a:t>
            </a:r>
          </a:p>
        </p:txBody>
      </p:sp>
    </p:spTree>
    <p:extLst>
      <p:ext uri="{BB962C8B-B14F-4D97-AF65-F5344CB8AC3E}">
        <p14:creationId xmlns:p14="http://schemas.microsoft.com/office/powerpoint/2010/main" val="1755951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3200"/>
              <a:t>Proof  – Inductive step(k&gt;0)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GB">
                <a:sym typeface="Symbol" pitchFamily="18" charset="2"/>
              </a:rPr>
              <a:t></a:t>
            </a:r>
            <a:r>
              <a:rPr lang="en-GB"/>
              <a:t> a sequence of k broadcast events b</a:t>
            </a:r>
            <a:r>
              <a:rPr lang="en-GB" baseline="-25000"/>
              <a:t>1</a:t>
            </a:r>
            <a:r>
              <a:rPr lang="en-GB"/>
              <a:t>, b</a:t>
            </a:r>
            <a:r>
              <a:rPr lang="en-GB" baseline="-25000"/>
              <a:t>2</a:t>
            </a:r>
            <a:r>
              <a:rPr lang="en-GB"/>
              <a:t> … b</a:t>
            </a:r>
            <a:r>
              <a:rPr lang="en-GB" baseline="-25000"/>
              <a:t>k</a:t>
            </a:r>
            <a:r>
              <a:rPr lang="en-GB"/>
              <a:t> such that</a:t>
            </a:r>
          </a:p>
          <a:p>
            <a:pPr lvl="1"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GB"/>
              <a:t>b </a:t>
            </a:r>
            <a:r>
              <a:rPr lang="en-GB">
                <a:sym typeface="Symbol" pitchFamily="18" charset="2"/>
              </a:rPr>
              <a:t> </a:t>
            </a:r>
            <a:r>
              <a:rPr lang="en-GB"/>
              <a:t>b</a:t>
            </a:r>
            <a:r>
              <a:rPr lang="en-GB" baseline="-25000"/>
              <a:t>1</a:t>
            </a:r>
            <a:r>
              <a:rPr lang="en-GB"/>
              <a:t> </a:t>
            </a:r>
            <a:r>
              <a:rPr lang="en-GB">
                <a:sym typeface="Symbol" pitchFamily="18" charset="2"/>
              </a:rPr>
              <a:t></a:t>
            </a:r>
            <a:r>
              <a:rPr lang="en-GB"/>
              <a:t> b</a:t>
            </a:r>
            <a:r>
              <a:rPr lang="en-GB" baseline="-25000"/>
              <a:t>2</a:t>
            </a:r>
            <a:r>
              <a:rPr lang="en-GB"/>
              <a:t> </a:t>
            </a:r>
            <a:r>
              <a:rPr lang="en-GB">
                <a:sym typeface="Symbol" pitchFamily="18" charset="2"/>
              </a:rPr>
              <a:t></a:t>
            </a:r>
            <a:r>
              <a:rPr lang="en-GB"/>
              <a:t> … </a:t>
            </a:r>
            <a:r>
              <a:rPr lang="en-GB">
                <a:sym typeface="Symbol" pitchFamily="18" charset="2"/>
              </a:rPr>
              <a:t></a:t>
            </a:r>
            <a:r>
              <a:rPr lang="en-GB"/>
              <a:t> b</a:t>
            </a:r>
            <a:r>
              <a:rPr lang="en-GB" baseline="-25000"/>
              <a:t>k</a:t>
            </a:r>
            <a:r>
              <a:rPr lang="en-GB"/>
              <a:t> </a:t>
            </a:r>
            <a:r>
              <a:rPr lang="en-GB">
                <a:sym typeface="Symbol" pitchFamily="18" charset="2"/>
              </a:rPr>
              <a:t></a:t>
            </a:r>
            <a:r>
              <a:rPr lang="en-GB"/>
              <a:t> b’</a:t>
            </a:r>
          </a:p>
          <a:p>
            <a:pPr eaLnBrk="1" hangingPunct="1">
              <a:lnSpc>
                <a:spcPct val="125000"/>
              </a:lnSpc>
            </a:pPr>
            <a:r>
              <a:rPr lang="en-GB"/>
              <a:t>Inductive hypothesis : m has been delivered before m</a:t>
            </a:r>
            <a:r>
              <a:rPr lang="en-GB" baseline="-25000"/>
              <a:t>k</a:t>
            </a:r>
          </a:p>
          <a:p>
            <a:pPr eaLnBrk="1" hangingPunct="1">
              <a:lnSpc>
                <a:spcPct val="125000"/>
              </a:lnSpc>
            </a:pPr>
            <a:r>
              <a:rPr lang="en-GB"/>
              <a:t>We have to prove that m</a:t>
            </a:r>
            <a:r>
              <a:rPr lang="en-GB" baseline="-25000"/>
              <a:t>k</a:t>
            </a:r>
            <a:r>
              <a:rPr lang="en-GB"/>
              <a:t> has been delivered before m’.</a:t>
            </a:r>
          </a:p>
          <a:p>
            <a:pPr lvl="1" eaLnBrk="1" hangingPunct="1">
              <a:lnSpc>
                <a:spcPct val="125000"/>
              </a:lnSpc>
            </a:pPr>
            <a:r>
              <a:rPr lang="it-IT"/>
              <a:t>It follows from the basic case</a:t>
            </a:r>
            <a:r>
              <a:rPr lang="en-GB"/>
              <a:t>.</a:t>
            </a:r>
          </a:p>
          <a:p>
            <a:pPr eaLnBrk="1" hangingPunct="1">
              <a:lnSpc>
                <a:spcPct val="125000"/>
              </a:lnSpc>
            </a:pPr>
            <a:r>
              <a:rPr lang="it-IT"/>
              <a:t>m</a:t>
            </a:r>
            <a:r>
              <a:rPr lang="en-GB"/>
              <a:t> has been delivered before m’.</a:t>
            </a:r>
          </a:p>
        </p:txBody>
      </p:sp>
    </p:spTree>
    <p:extLst>
      <p:ext uri="{BB962C8B-B14F-4D97-AF65-F5344CB8AC3E}">
        <p14:creationId xmlns:p14="http://schemas.microsoft.com/office/powerpoint/2010/main" val="1552179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3600" dirty="0" err="1"/>
              <a:t>Causal</a:t>
            </a:r>
            <a:r>
              <a:rPr lang="it-IT" sz="3600" dirty="0"/>
              <a:t> Order Broadcast: </a:t>
            </a:r>
            <a:r>
              <a:rPr lang="it-IT" sz="3600" dirty="0" err="1"/>
              <a:t>Liveness</a:t>
            </a:r>
            <a:endParaRPr lang="it-IT" sz="36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b="1" dirty="0"/>
              <a:t>Property</a:t>
            </a:r>
            <a:r>
              <a:rPr lang="en-GB" dirty="0"/>
              <a:t>:</a:t>
            </a:r>
          </a:p>
          <a:p>
            <a:pPr lvl="1" eaLnBrk="1" hangingPunct="1"/>
            <a:r>
              <a:rPr lang="en-GB" dirty="0"/>
              <a:t>Eventually each message will be delivered</a:t>
            </a:r>
          </a:p>
          <a:p>
            <a:pPr lvl="1" eaLnBrk="1" hangingPunct="1"/>
            <a:endParaRPr lang="en-GB" dirty="0"/>
          </a:p>
          <a:p>
            <a:pPr eaLnBrk="1" hangingPunct="1"/>
            <a:r>
              <a:rPr lang="en-GB" dirty="0" err="1"/>
              <a:t>Liveness</a:t>
            </a:r>
            <a:r>
              <a:rPr lang="en-GB" dirty="0"/>
              <a:t> is guaranteed by the following assumptions:</a:t>
            </a:r>
          </a:p>
          <a:p>
            <a:pPr lvl="1" eaLnBrk="1" hangingPunct="1"/>
            <a:r>
              <a:rPr lang="en-GB" dirty="0"/>
              <a:t>The number of broadcast events that precedes a certain event is finite</a:t>
            </a:r>
          </a:p>
          <a:p>
            <a:pPr lvl="1" eaLnBrk="1" hangingPunct="1"/>
            <a:r>
              <a:rPr lang="en-GB" dirty="0"/>
              <a:t>Channels are reliable</a:t>
            </a:r>
          </a:p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5265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Order Broadcast Implementation</a:t>
            </a:r>
          </a:p>
        </p:txBody>
      </p:sp>
      <p:sp>
        <p:nvSpPr>
          <p:cNvPr id="5" name="Rettangolo arrotondato 4"/>
          <p:cNvSpPr/>
          <p:nvPr/>
        </p:nvSpPr>
        <p:spPr>
          <a:xfrm>
            <a:off x="7367183" y="2856283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Causal Order Broadcast</a:t>
            </a:r>
          </a:p>
        </p:txBody>
      </p:sp>
      <p:cxnSp>
        <p:nvCxnSpPr>
          <p:cNvPr id="6" name="Connettore 2 5"/>
          <p:cNvCxnSpPr/>
          <p:nvPr/>
        </p:nvCxnSpPr>
        <p:spPr>
          <a:xfrm flipH="1" flipV="1">
            <a:off x="9238845" y="1977949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6979103" y="2320380"/>
            <a:ext cx="170655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CO_Broadcast</a:t>
            </a:r>
            <a:r>
              <a:rPr lang="en-US" dirty="0"/>
              <a:t> (m)</a:t>
            </a:r>
          </a:p>
        </p:txBody>
      </p:sp>
      <p:cxnSp>
        <p:nvCxnSpPr>
          <p:cNvPr id="8" name="Connettore 2 9"/>
          <p:cNvCxnSpPr/>
          <p:nvPr/>
        </p:nvCxnSpPr>
        <p:spPr>
          <a:xfrm>
            <a:off x="7851642" y="2087829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12"/>
          <p:cNvSpPr txBox="1"/>
          <p:nvPr/>
        </p:nvSpPr>
        <p:spPr>
          <a:xfrm>
            <a:off x="8709087" y="2336645"/>
            <a:ext cx="155459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CO_Deliver</a:t>
            </a:r>
            <a:r>
              <a:rPr lang="en-US" dirty="0"/>
              <a:t>(</a:t>
            </a:r>
            <a:r>
              <a:rPr lang="en-US" dirty="0" err="1"/>
              <a:t>s,m</a:t>
            </a:r>
            <a:r>
              <a:rPr lang="en-US" dirty="0"/>
              <a:t>)</a:t>
            </a:r>
          </a:p>
        </p:txBody>
      </p:sp>
      <p:sp>
        <p:nvSpPr>
          <p:cNvPr id="10" name="Rettangolo arrotondato 9"/>
          <p:cNvSpPr/>
          <p:nvPr/>
        </p:nvSpPr>
        <p:spPr>
          <a:xfrm>
            <a:off x="7418127" y="4620442"/>
            <a:ext cx="2528887" cy="88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</a:t>
            </a:r>
          </a:p>
        </p:txBody>
      </p:sp>
      <p:cxnSp>
        <p:nvCxnSpPr>
          <p:cNvPr id="11" name="Connettore 2 10"/>
          <p:cNvCxnSpPr/>
          <p:nvPr/>
        </p:nvCxnSpPr>
        <p:spPr>
          <a:xfrm flipH="1" flipV="1">
            <a:off x="9289789" y="3742108"/>
            <a:ext cx="1" cy="977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/>
          <p:cNvSpPr txBox="1"/>
          <p:nvPr/>
        </p:nvSpPr>
        <p:spPr>
          <a:xfrm>
            <a:off x="7296747" y="4100804"/>
            <a:ext cx="153205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Broadcast (m)</a:t>
            </a:r>
          </a:p>
        </p:txBody>
      </p:sp>
      <p:cxnSp>
        <p:nvCxnSpPr>
          <p:cNvPr id="13" name="Connettore 2 12"/>
          <p:cNvCxnSpPr/>
          <p:nvPr/>
        </p:nvCxnSpPr>
        <p:spPr>
          <a:xfrm>
            <a:off x="7902586" y="3780548"/>
            <a:ext cx="0" cy="76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2"/>
          <p:cNvSpPr txBox="1"/>
          <p:nvPr/>
        </p:nvSpPr>
        <p:spPr>
          <a:xfrm>
            <a:off x="8845759" y="4100804"/>
            <a:ext cx="120372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Deliver(</a:t>
            </a:r>
            <a:r>
              <a:rPr lang="en-US" dirty="0" err="1"/>
              <a:t>s,m</a:t>
            </a:r>
            <a:r>
              <a:rPr lang="en-US" dirty="0"/>
              <a:t>)</a:t>
            </a:r>
          </a:p>
        </p:txBody>
      </p:sp>
      <p:pic>
        <p:nvPicPr>
          <p:cNvPr id="16" name="Immagin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92" y="1738336"/>
            <a:ext cx="3016208" cy="4565071"/>
          </a:xfrm>
          <a:prstGeom prst="rect">
            <a:avLst/>
          </a:prstGeom>
        </p:spPr>
      </p:pic>
      <p:sp>
        <p:nvSpPr>
          <p:cNvPr id="15" name="Rectangle 24"/>
          <p:cNvSpPr/>
          <p:nvPr/>
        </p:nvSpPr>
        <p:spPr>
          <a:xfrm>
            <a:off x="1829174" y="1808128"/>
            <a:ext cx="1728409" cy="17783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llout 2 16"/>
          <p:cNvSpPr/>
          <p:nvPr/>
        </p:nvSpPr>
        <p:spPr>
          <a:xfrm>
            <a:off x="4500559" y="2854486"/>
            <a:ext cx="2286005" cy="748423"/>
          </a:xfrm>
          <a:prstGeom prst="borderCallout2">
            <a:avLst>
              <a:gd name="adj1" fmla="val 18750"/>
              <a:gd name="adj2" fmla="val -8333"/>
              <a:gd name="adj3" fmla="val 162919"/>
              <a:gd name="adj4" fmla="val -19467"/>
              <a:gd name="adj5" fmla="val 161142"/>
              <a:gd name="adj6" fmla="val -900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append</a:t>
            </a:r>
            <a:r>
              <a:rPr lang="it-IT" dirty="0"/>
              <a:t>(L, x) </a:t>
            </a:r>
            <a:r>
              <a:rPr lang="it-IT" dirty="0" err="1"/>
              <a:t>adds</a:t>
            </a:r>
            <a:r>
              <a:rPr lang="it-IT" dirty="0"/>
              <a:t> an </a:t>
            </a:r>
            <a:r>
              <a:rPr lang="it-IT" dirty="0" err="1"/>
              <a:t>element</a:t>
            </a:r>
            <a:r>
              <a:rPr lang="it-IT" dirty="0"/>
              <a:t> x </a:t>
            </a:r>
            <a:r>
              <a:rPr lang="it-IT" dirty="0" err="1"/>
              <a:t>at</a:t>
            </a:r>
            <a:r>
              <a:rPr lang="it-IT" dirty="0"/>
              <a:t> the end of list L </a:t>
            </a:r>
          </a:p>
        </p:txBody>
      </p:sp>
      <p:sp>
        <p:nvSpPr>
          <p:cNvPr id="18" name="Callout 2 17"/>
          <p:cNvSpPr/>
          <p:nvPr/>
        </p:nvSpPr>
        <p:spPr>
          <a:xfrm>
            <a:off x="5312545" y="4620442"/>
            <a:ext cx="1345886" cy="577583"/>
          </a:xfrm>
          <a:prstGeom prst="borderCallout2">
            <a:avLst>
              <a:gd name="adj1" fmla="val 45960"/>
              <a:gd name="adj2" fmla="val -8333"/>
              <a:gd name="adj3" fmla="val 18157"/>
              <a:gd name="adj4" fmla="val -32208"/>
              <a:gd name="adj5" fmla="val 15646"/>
              <a:gd name="adj6" fmla="val -1888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by the </a:t>
            </a:r>
            <a:r>
              <a:rPr lang="it-IT" dirty="0" err="1"/>
              <a:t>order</a:t>
            </a:r>
            <a:r>
              <a:rPr lang="it-IT" dirty="0"/>
              <a:t> in the list</a:t>
            </a:r>
          </a:p>
        </p:txBody>
      </p:sp>
      <p:sp>
        <p:nvSpPr>
          <p:cNvPr id="3" name="Callout 2 17">
            <a:extLst>
              <a:ext uri="{FF2B5EF4-FFF2-40B4-BE49-F238E27FC236}">
                <a16:creationId xmlns:a16="http://schemas.microsoft.com/office/drawing/2014/main" id="{A46A5104-0A6A-22D0-19C1-97D30729F10D}"/>
              </a:ext>
            </a:extLst>
          </p:cNvPr>
          <p:cNvSpPr/>
          <p:nvPr/>
        </p:nvSpPr>
        <p:spPr>
          <a:xfrm>
            <a:off x="4377739" y="3864853"/>
            <a:ext cx="2355620" cy="577583"/>
          </a:xfrm>
          <a:prstGeom prst="borderCallout2">
            <a:avLst>
              <a:gd name="adj1" fmla="val 45960"/>
              <a:gd name="adj2" fmla="val -8333"/>
              <a:gd name="adj3" fmla="val 121062"/>
              <a:gd name="adj4" fmla="val -21180"/>
              <a:gd name="adj5" fmla="val 118551"/>
              <a:gd name="adj6" fmla="val -858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(</a:t>
            </a:r>
            <a:r>
              <a:rPr lang="it-IT" sz="1200" dirty="0" err="1"/>
              <a:t>implicit</a:t>
            </a:r>
            <a:r>
              <a:rPr lang="it-IT" sz="1200" dirty="0"/>
              <a:t> </a:t>
            </a:r>
            <a:r>
              <a:rPr lang="it-IT" sz="1200" dirty="0" err="1"/>
              <a:t>assumption</a:t>
            </a:r>
            <a:r>
              <a:rPr lang="it-IT" sz="1200" dirty="0"/>
              <a:t>) No </a:t>
            </a:r>
            <a:r>
              <a:rPr lang="it-IT" sz="1200" dirty="0" err="1"/>
              <a:t>two</a:t>
            </a:r>
            <a:r>
              <a:rPr lang="it-IT" sz="1200" dirty="0"/>
              <a:t> </a:t>
            </a:r>
            <a:r>
              <a:rPr lang="it-IT" sz="1200" dirty="0" err="1"/>
              <a:t>processes</a:t>
            </a:r>
            <a:r>
              <a:rPr lang="it-IT" sz="1200" dirty="0"/>
              <a:t> broadcast the </a:t>
            </a:r>
            <a:r>
              <a:rPr lang="it-IT" sz="1200" dirty="0" err="1"/>
              <a:t>same</a:t>
            </a:r>
            <a:r>
              <a:rPr lang="it-IT" sz="1200" dirty="0"/>
              <a:t> m</a:t>
            </a:r>
          </a:p>
        </p:txBody>
      </p:sp>
    </p:spTree>
    <p:extLst>
      <p:ext uri="{BB962C8B-B14F-4D97-AF65-F5344CB8AC3E}">
        <p14:creationId xmlns:p14="http://schemas.microsoft.com/office/powerpoint/2010/main" val="849192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Non-Waiting Causal Broadcast example</a:t>
            </a:r>
          </a:p>
        </p:txBody>
      </p:sp>
      <p:sp>
        <p:nvSpPr>
          <p:cNvPr id="12" name="Line 177"/>
          <p:cNvSpPr>
            <a:spLocks noChangeShapeType="1"/>
          </p:cNvSpPr>
          <p:nvPr/>
        </p:nvSpPr>
        <p:spPr bwMode="auto">
          <a:xfrm>
            <a:off x="1441472" y="3082928"/>
            <a:ext cx="7488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3" name="Line 178"/>
          <p:cNvSpPr>
            <a:spLocks noChangeShapeType="1"/>
          </p:cNvSpPr>
          <p:nvPr/>
        </p:nvSpPr>
        <p:spPr bwMode="auto">
          <a:xfrm>
            <a:off x="1441472" y="4522791"/>
            <a:ext cx="7488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4" name="Line 179"/>
          <p:cNvSpPr>
            <a:spLocks noChangeShapeType="1"/>
          </p:cNvSpPr>
          <p:nvPr/>
        </p:nvSpPr>
        <p:spPr bwMode="auto">
          <a:xfrm>
            <a:off x="1441472" y="5891216"/>
            <a:ext cx="7488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1" name="Line 196"/>
          <p:cNvSpPr>
            <a:spLocks noChangeShapeType="1"/>
          </p:cNvSpPr>
          <p:nvPr/>
        </p:nvSpPr>
        <p:spPr bwMode="auto">
          <a:xfrm>
            <a:off x="2233634" y="3082928"/>
            <a:ext cx="720725" cy="2808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2" name="Line 197"/>
          <p:cNvSpPr>
            <a:spLocks noChangeShapeType="1"/>
          </p:cNvSpPr>
          <p:nvPr/>
        </p:nvSpPr>
        <p:spPr bwMode="auto">
          <a:xfrm>
            <a:off x="2233634" y="3082929"/>
            <a:ext cx="5976938" cy="14211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3" name="Freeform 198"/>
          <p:cNvSpPr>
            <a:spLocks/>
          </p:cNvSpPr>
          <p:nvPr/>
        </p:nvSpPr>
        <p:spPr bwMode="auto">
          <a:xfrm>
            <a:off x="2233634" y="2794003"/>
            <a:ext cx="1008063" cy="288925"/>
          </a:xfrm>
          <a:custGeom>
            <a:avLst/>
            <a:gdLst>
              <a:gd name="T0" fmla="*/ 0 w 635"/>
              <a:gd name="T1" fmla="*/ 2147483647 h 182"/>
              <a:gd name="T2" fmla="*/ 2147483647 w 635"/>
              <a:gd name="T3" fmla="*/ 0 h 182"/>
              <a:gd name="T4" fmla="*/ 2147483647 w 635"/>
              <a:gd name="T5" fmla="*/ 2147483647 h 182"/>
              <a:gd name="T6" fmla="*/ 0 60000 65536"/>
              <a:gd name="T7" fmla="*/ 0 60000 65536"/>
              <a:gd name="T8" fmla="*/ 0 60000 65536"/>
              <a:gd name="T9" fmla="*/ 0 w 635"/>
              <a:gd name="T10" fmla="*/ 0 h 182"/>
              <a:gd name="T11" fmla="*/ 635 w 635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182">
                <a:moveTo>
                  <a:pt x="0" y="182"/>
                </a:moveTo>
                <a:cubicBezTo>
                  <a:pt x="15" y="91"/>
                  <a:pt x="30" y="0"/>
                  <a:pt x="136" y="0"/>
                </a:cubicBezTo>
                <a:cubicBezTo>
                  <a:pt x="242" y="0"/>
                  <a:pt x="438" y="91"/>
                  <a:pt x="635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" name="Line 215"/>
          <p:cNvSpPr>
            <a:spLocks noChangeShapeType="1"/>
          </p:cNvSpPr>
          <p:nvPr/>
        </p:nvSpPr>
        <p:spPr bwMode="auto">
          <a:xfrm flipV="1">
            <a:off x="4249759" y="3082927"/>
            <a:ext cx="889000" cy="2808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" name="Line 216"/>
          <p:cNvSpPr>
            <a:spLocks noChangeShapeType="1"/>
          </p:cNvSpPr>
          <p:nvPr/>
        </p:nvSpPr>
        <p:spPr bwMode="auto">
          <a:xfrm flipV="1">
            <a:off x="4249759" y="4522791"/>
            <a:ext cx="7207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2" name="Freeform 217"/>
          <p:cNvSpPr>
            <a:spLocks/>
          </p:cNvSpPr>
          <p:nvPr/>
        </p:nvSpPr>
        <p:spPr bwMode="auto">
          <a:xfrm>
            <a:off x="4249759" y="5602291"/>
            <a:ext cx="1008063" cy="288925"/>
          </a:xfrm>
          <a:custGeom>
            <a:avLst/>
            <a:gdLst>
              <a:gd name="T0" fmla="*/ 0 w 635"/>
              <a:gd name="T1" fmla="*/ 2147483647 h 182"/>
              <a:gd name="T2" fmla="*/ 2147483647 w 635"/>
              <a:gd name="T3" fmla="*/ 0 h 182"/>
              <a:gd name="T4" fmla="*/ 2147483647 w 635"/>
              <a:gd name="T5" fmla="*/ 2147483647 h 182"/>
              <a:gd name="T6" fmla="*/ 0 60000 65536"/>
              <a:gd name="T7" fmla="*/ 0 60000 65536"/>
              <a:gd name="T8" fmla="*/ 0 60000 65536"/>
              <a:gd name="T9" fmla="*/ 0 w 635"/>
              <a:gd name="T10" fmla="*/ 0 h 182"/>
              <a:gd name="T11" fmla="*/ 635 w 635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182">
                <a:moveTo>
                  <a:pt x="0" y="182"/>
                </a:moveTo>
                <a:cubicBezTo>
                  <a:pt x="15" y="91"/>
                  <a:pt x="30" y="0"/>
                  <a:pt x="136" y="0"/>
                </a:cubicBezTo>
                <a:cubicBezTo>
                  <a:pt x="242" y="0"/>
                  <a:pt x="438" y="91"/>
                  <a:pt x="635" y="18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94" name="AutoShape 260"/>
          <p:cNvSpPr>
            <a:spLocks noChangeArrowheads="1"/>
          </p:cNvSpPr>
          <p:nvPr/>
        </p:nvSpPr>
        <p:spPr bwMode="auto">
          <a:xfrm>
            <a:off x="5186384" y="2651128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5" name="AutoShape 261"/>
          <p:cNvSpPr>
            <a:spLocks noChangeArrowheads="1"/>
          </p:cNvSpPr>
          <p:nvPr/>
        </p:nvSpPr>
        <p:spPr bwMode="auto">
          <a:xfrm>
            <a:off x="3246456" y="2651128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6" name="AutoShape 262"/>
          <p:cNvSpPr>
            <a:spLocks noChangeArrowheads="1"/>
          </p:cNvSpPr>
          <p:nvPr/>
        </p:nvSpPr>
        <p:spPr bwMode="auto">
          <a:xfrm>
            <a:off x="2954359" y="5440685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7" name="AutoShape 263"/>
          <p:cNvSpPr>
            <a:spLocks noChangeArrowheads="1"/>
          </p:cNvSpPr>
          <p:nvPr/>
        </p:nvSpPr>
        <p:spPr bwMode="auto">
          <a:xfrm>
            <a:off x="5305441" y="5459416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8" name="AutoShape 264"/>
          <p:cNvSpPr>
            <a:spLocks noChangeArrowheads="1"/>
          </p:cNvSpPr>
          <p:nvPr/>
        </p:nvSpPr>
        <p:spPr bwMode="auto">
          <a:xfrm>
            <a:off x="5129225" y="4076703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9" name="AutoShape 265"/>
          <p:cNvSpPr>
            <a:spLocks noChangeArrowheads="1"/>
          </p:cNvSpPr>
          <p:nvPr/>
        </p:nvSpPr>
        <p:spPr bwMode="auto">
          <a:xfrm>
            <a:off x="5408624" y="4090991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1" name="Text Box 267"/>
          <p:cNvSpPr txBox="1">
            <a:spLocks noChangeArrowheads="1"/>
          </p:cNvSpPr>
          <p:nvPr/>
        </p:nvSpPr>
        <p:spPr bwMode="auto">
          <a:xfrm>
            <a:off x="1009672" y="2787653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</a:t>
            </a:r>
            <a:r>
              <a:rPr lang="it-IT" baseline="-25000"/>
              <a:t>1</a:t>
            </a:r>
          </a:p>
        </p:txBody>
      </p:sp>
      <p:sp>
        <p:nvSpPr>
          <p:cNvPr id="102" name="Text Box 268"/>
          <p:cNvSpPr txBox="1">
            <a:spLocks noChangeArrowheads="1"/>
          </p:cNvSpPr>
          <p:nvPr/>
        </p:nvSpPr>
        <p:spPr bwMode="auto">
          <a:xfrm>
            <a:off x="1009672" y="5595941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</a:t>
            </a:r>
            <a:r>
              <a:rPr lang="it-IT" baseline="-25000"/>
              <a:t>3</a:t>
            </a:r>
          </a:p>
        </p:txBody>
      </p:sp>
      <p:sp>
        <p:nvSpPr>
          <p:cNvPr id="103" name="Text Box 269"/>
          <p:cNvSpPr txBox="1">
            <a:spLocks noChangeArrowheads="1"/>
          </p:cNvSpPr>
          <p:nvPr/>
        </p:nvSpPr>
        <p:spPr bwMode="auto">
          <a:xfrm>
            <a:off x="1009672" y="4227516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</a:t>
            </a:r>
            <a:r>
              <a:rPr lang="it-IT" baseline="-25000"/>
              <a:t>2</a:t>
            </a:r>
          </a:p>
        </p:txBody>
      </p:sp>
      <p:sp>
        <p:nvSpPr>
          <p:cNvPr id="104" name="CasellaDiTesto 103"/>
          <p:cNvSpPr txBox="1"/>
          <p:nvPr/>
        </p:nvSpPr>
        <p:spPr>
          <a:xfrm>
            <a:off x="1918691" y="2718215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5" name="CasellaDiTesto 104"/>
          <p:cNvSpPr txBox="1"/>
          <p:nvPr/>
        </p:nvSpPr>
        <p:spPr>
          <a:xfrm>
            <a:off x="2882128" y="5117197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6" name="CasellaDiTesto 105"/>
          <p:cNvSpPr txBox="1"/>
          <p:nvPr/>
        </p:nvSpPr>
        <p:spPr>
          <a:xfrm>
            <a:off x="3186131" y="2312658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7" name="CasellaDiTesto 106"/>
          <p:cNvSpPr txBox="1"/>
          <p:nvPr/>
        </p:nvSpPr>
        <p:spPr>
          <a:xfrm>
            <a:off x="5056200" y="3772806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1</a:t>
            </a:r>
          </a:p>
        </p:txBody>
      </p:sp>
      <p:sp>
        <p:nvSpPr>
          <p:cNvPr id="108" name="CasellaDiTesto 107"/>
          <p:cNvSpPr txBox="1"/>
          <p:nvPr/>
        </p:nvSpPr>
        <p:spPr>
          <a:xfrm>
            <a:off x="3864790" y="5557351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09" name="CasellaDiTesto 108"/>
          <p:cNvSpPr txBox="1"/>
          <p:nvPr/>
        </p:nvSpPr>
        <p:spPr>
          <a:xfrm>
            <a:off x="5244322" y="5099053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10" name="CasellaDiTesto 109"/>
          <p:cNvSpPr txBox="1"/>
          <p:nvPr/>
        </p:nvSpPr>
        <p:spPr>
          <a:xfrm>
            <a:off x="5368938" y="3779862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11" name="CasellaDiTesto 110"/>
          <p:cNvSpPr txBox="1"/>
          <p:nvPr/>
        </p:nvSpPr>
        <p:spPr>
          <a:xfrm>
            <a:off x="5100041" y="2250758"/>
            <a:ext cx="457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 baseline="-25000" dirty="0"/>
              <a:t>2</a:t>
            </a:r>
          </a:p>
        </p:txBody>
      </p:sp>
      <p:sp>
        <p:nvSpPr>
          <p:cNvPr id="112" name="Callout 2 111"/>
          <p:cNvSpPr/>
          <p:nvPr/>
        </p:nvSpPr>
        <p:spPr>
          <a:xfrm>
            <a:off x="722334" y="4928093"/>
            <a:ext cx="1595459" cy="503238"/>
          </a:xfrm>
          <a:prstGeom prst="borderCallout2">
            <a:avLst>
              <a:gd name="adj1" fmla="val 18750"/>
              <a:gd name="adj2" fmla="val 103606"/>
              <a:gd name="adj3" fmla="val 18750"/>
              <a:gd name="adj4" fmla="val 119451"/>
              <a:gd name="adj5" fmla="val 177800"/>
              <a:gd name="adj6" fmla="val 1351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&lt;p</a:t>
            </a:r>
            <a:r>
              <a:rPr lang="en-GB" baseline="-25000" dirty="0"/>
              <a:t>1</a:t>
            </a:r>
            <a:r>
              <a:rPr lang="en-GB" dirty="0"/>
              <a:t>, m</a:t>
            </a:r>
            <a:r>
              <a:rPr lang="en-GB" baseline="-25000" dirty="0"/>
              <a:t>1</a:t>
            </a:r>
            <a:r>
              <a:rPr lang="en-GB" dirty="0"/>
              <a:t>&gt; is added to past </a:t>
            </a:r>
          </a:p>
        </p:txBody>
      </p:sp>
      <p:sp>
        <p:nvSpPr>
          <p:cNvPr id="113" name="Callout 2 112"/>
          <p:cNvSpPr/>
          <p:nvPr/>
        </p:nvSpPr>
        <p:spPr>
          <a:xfrm>
            <a:off x="5408624" y="4632775"/>
            <a:ext cx="1757373" cy="503238"/>
          </a:xfrm>
          <a:prstGeom prst="borderCallout2">
            <a:avLst>
              <a:gd name="adj1" fmla="val 38624"/>
              <a:gd name="adj2" fmla="val -2084"/>
              <a:gd name="adj3" fmla="val 38624"/>
              <a:gd name="adj4" fmla="val -24451"/>
              <a:gd name="adj5" fmla="val 251957"/>
              <a:gd name="adj6" fmla="val -656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&lt;p</a:t>
            </a:r>
            <a:r>
              <a:rPr lang="en-GB" baseline="-25000" dirty="0"/>
              <a:t>1</a:t>
            </a:r>
            <a:r>
              <a:rPr lang="en-GB" dirty="0"/>
              <a:t>, m</a:t>
            </a:r>
            <a:r>
              <a:rPr lang="en-GB" baseline="-25000" dirty="0"/>
              <a:t>1</a:t>
            </a:r>
            <a:r>
              <a:rPr lang="en-GB" dirty="0"/>
              <a:t>&gt; is sent together with m</a:t>
            </a:r>
            <a:r>
              <a:rPr lang="en-GB" baseline="-25000" dirty="0"/>
              <a:t>2</a:t>
            </a:r>
            <a:r>
              <a:rPr lang="en-GB" dirty="0"/>
              <a:t> </a:t>
            </a:r>
          </a:p>
        </p:txBody>
      </p:sp>
      <p:sp>
        <p:nvSpPr>
          <p:cNvPr id="115" name="Callout 2 114"/>
          <p:cNvSpPr/>
          <p:nvPr/>
        </p:nvSpPr>
        <p:spPr>
          <a:xfrm>
            <a:off x="5957936" y="1888337"/>
            <a:ext cx="3128914" cy="930912"/>
          </a:xfrm>
          <a:prstGeom prst="borderCallout2">
            <a:avLst>
              <a:gd name="adj1" fmla="val 38624"/>
              <a:gd name="adj2" fmla="val -2084"/>
              <a:gd name="adj3" fmla="val 38624"/>
              <a:gd name="adj4" fmla="val -9382"/>
              <a:gd name="adj5" fmla="val 125382"/>
              <a:gd name="adj6" fmla="val -252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 is already aware of &lt;p</a:t>
            </a:r>
            <a:r>
              <a:rPr lang="en-GB" baseline="-25000" dirty="0"/>
              <a:t>1</a:t>
            </a:r>
            <a:r>
              <a:rPr lang="en-GB" dirty="0"/>
              <a:t>, m</a:t>
            </a:r>
            <a:r>
              <a:rPr lang="en-GB" baseline="-25000" dirty="0"/>
              <a:t>1</a:t>
            </a:r>
            <a:r>
              <a:rPr lang="en-GB" dirty="0"/>
              <a:t>&gt; so it just delivers m</a:t>
            </a:r>
            <a:r>
              <a:rPr lang="en-GB" baseline="-25000" dirty="0"/>
              <a:t>2</a:t>
            </a:r>
            <a:r>
              <a:rPr lang="en-GB" dirty="0"/>
              <a:t> </a:t>
            </a:r>
          </a:p>
        </p:txBody>
      </p:sp>
      <p:sp>
        <p:nvSpPr>
          <p:cNvPr id="116" name="Callout 2 115"/>
          <p:cNvSpPr/>
          <p:nvPr/>
        </p:nvSpPr>
        <p:spPr>
          <a:xfrm>
            <a:off x="6594488" y="3153897"/>
            <a:ext cx="3128914" cy="930912"/>
          </a:xfrm>
          <a:prstGeom prst="borderCallout2">
            <a:avLst>
              <a:gd name="adj1" fmla="val 38624"/>
              <a:gd name="adj2" fmla="val -2084"/>
              <a:gd name="adj3" fmla="val 38624"/>
              <a:gd name="adj4" fmla="val -9382"/>
              <a:gd name="adj5" fmla="val 145334"/>
              <a:gd name="adj6" fmla="val -526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GB" baseline="-25000" dirty="0"/>
              <a:t>2</a:t>
            </a:r>
            <a:r>
              <a:rPr lang="en-GB" dirty="0"/>
              <a:t> is not aware of &lt;p</a:t>
            </a:r>
            <a:r>
              <a:rPr lang="en-GB" baseline="-25000" dirty="0"/>
              <a:t>1</a:t>
            </a:r>
            <a:r>
              <a:rPr lang="en-GB" dirty="0"/>
              <a:t>, m</a:t>
            </a:r>
            <a:r>
              <a:rPr lang="en-GB" baseline="-25000" dirty="0"/>
              <a:t>1</a:t>
            </a:r>
            <a:r>
              <a:rPr lang="en-GB" dirty="0"/>
              <a:t>&gt; but it got it through m</a:t>
            </a:r>
            <a:r>
              <a:rPr lang="en-GB" baseline="-25000" dirty="0"/>
              <a:t>2</a:t>
            </a:r>
            <a:r>
              <a:rPr lang="mr-IN" dirty="0"/>
              <a:t>…</a:t>
            </a:r>
            <a:endParaRPr lang="it-IT" dirty="0"/>
          </a:p>
          <a:p>
            <a:pPr algn="ctr"/>
            <a:r>
              <a:rPr lang="en-GB" dirty="0"/>
              <a:t> So, it will deliver both m</a:t>
            </a:r>
            <a:r>
              <a:rPr lang="en-GB" baseline="-25000" dirty="0"/>
              <a:t>1</a:t>
            </a:r>
            <a:r>
              <a:rPr lang="en-GB" dirty="0"/>
              <a:t> and m</a:t>
            </a:r>
            <a:r>
              <a:rPr lang="en-GB" baseline="-25000" dirty="0"/>
              <a:t>2</a:t>
            </a:r>
          </a:p>
        </p:txBody>
      </p:sp>
      <p:sp>
        <p:nvSpPr>
          <p:cNvPr id="117" name="Callout 2 116"/>
          <p:cNvSpPr/>
          <p:nvPr/>
        </p:nvSpPr>
        <p:spPr>
          <a:xfrm>
            <a:off x="7432702" y="4726226"/>
            <a:ext cx="2725711" cy="930912"/>
          </a:xfrm>
          <a:prstGeom prst="borderCallout2">
            <a:avLst>
              <a:gd name="adj1" fmla="val -2816"/>
              <a:gd name="adj2" fmla="val 66583"/>
              <a:gd name="adj3" fmla="val -42720"/>
              <a:gd name="adj4" fmla="val 67148"/>
              <a:gd name="adj5" fmla="val -25027"/>
              <a:gd name="adj6" fmla="val 292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dirty="0"/>
              <a:t>p</a:t>
            </a:r>
            <a:r>
              <a:rPr lang="is-IS" baseline="-25000" dirty="0"/>
              <a:t>2</a:t>
            </a:r>
            <a:r>
              <a:rPr lang="en-GB" dirty="0"/>
              <a:t> already delivered m</a:t>
            </a:r>
            <a:r>
              <a:rPr lang="en-GB" baseline="-25000" dirty="0"/>
              <a:t>2</a:t>
            </a:r>
            <a:r>
              <a:rPr lang="en-GB" dirty="0"/>
              <a:t> so it discards it</a:t>
            </a:r>
          </a:p>
        </p:txBody>
      </p:sp>
    </p:spTree>
    <p:extLst>
      <p:ext uri="{BB962C8B-B14F-4D97-AF65-F5344CB8AC3E}">
        <p14:creationId xmlns:p14="http://schemas.microsoft.com/office/powerpoint/2010/main" val="149945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50" grpId="0" animBg="1"/>
      <p:bldP spid="51" grpId="0" animBg="1"/>
      <p:bldP spid="52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 animBg="1"/>
      <p:bldP spid="113" grpId="0" animBg="1"/>
      <p:bldP spid="115" grpId="0" animBg="1"/>
      <p:bldP spid="116" grpId="0" animBg="1"/>
      <p:bldP spid="1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600" dirty="0"/>
              <a:t>Advantages of Ordered Communication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00112" y="1774451"/>
            <a:ext cx="8486776" cy="590074"/>
          </a:xfrm>
        </p:spPr>
        <p:txBody>
          <a:bodyPr>
            <a:noAutofit/>
          </a:bodyPr>
          <a:lstStyle/>
          <a:p>
            <a:pPr lvl="1"/>
            <a:r>
              <a:rPr lang="en-GB" altLang="it-IT" dirty="0"/>
              <a:t>Causal Order is not enough strong to avoid anomalies</a:t>
            </a:r>
          </a:p>
          <a:p>
            <a:pPr lvl="1"/>
            <a:r>
              <a:rPr lang="en-GB" altLang="it-IT" dirty="0"/>
              <a:t>E.g. Bank account replicated on two sites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it-IT" sz="1600" dirty="0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2138363" y="3124215"/>
            <a:ext cx="5884862" cy="0"/>
          </a:xfrm>
          <a:prstGeom prst="line">
            <a:avLst/>
          </a:prstGeom>
          <a:noFill/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>
              <a:solidFill>
                <a:schemeClr val="lt1"/>
              </a:solidFill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2138363" y="4048140"/>
            <a:ext cx="58848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584661" y="2878673"/>
            <a:ext cx="470816" cy="4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400" b="1" dirty="0">
                <a:latin typeface="Times New Roman" charset="0"/>
              </a:rPr>
              <a:t>R</a:t>
            </a:r>
            <a:r>
              <a:rPr lang="en-GB" altLang="it-IT" sz="2400" b="1" baseline="-25000" dirty="0">
                <a:latin typeface="Times New Roman" charset="0"/>
              </a:rPr>
              <a:t>1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587836" y="3748623"/>
            <a:ext cx="470816" cy="4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400" b="1" dirty="0">
                <a:latin typeface="Times New Roman" charset="0"/>
              </a:rPr>
              <a:t>R</a:t>
            </a:r>
            <a:r>
              <a:rPr lang="en-GB" altLang="it-IT" sz="2400" b="1" baseline="-25000" dirty="0">
                <a:latin typeface="Times New Roman" charset="0"/>
              </a:rPr>
              <a:t>2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2616200" y="3054365"/>
            <a:ext cx="0" cy="141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2616200" y="3976704"/>
            <a:ext cx="0" cy="142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5081588" y="3054365"/>
            <a:ext cx="0" cy="141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7069138" y="3054365"/>
            <a:ext cx="0" cy="141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5081588" y="3976704"/>
            <a:ext cx="0" cy="142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7069138" y="3976704"/>
            <a:ext cx="0" cy="142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36000" rIns="72000" bIns="72000" anchor="ctr">
            <a:spAutoFit/>
          </a:bodyPr>
          <a:lstStyle/>
          <a:p>
            <a:endParaRPr lang="en-GB" dirty="0"/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2105174" y="2739895"/>
            <a:ext cx="837904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dirty="0">
                <a:latin typeface="Times New Roman" charset="0"/>
              </a:rPr>
              <a:t>A:£100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2105174" y="3663820"/>
            <a:ext cx="837904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dirty="0">
                <a:latin typeface="Times New Roman" charset="0"/>
              </a:rPr>
              <a:t>A:£100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3149345" y="2587123"/>
            <a:ext cx="921260" cy="593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i="1" dirty="0">
                <a:latin typeface="Times New Roman" charset="0"/>
              </a:rPr>
              <a:t>Deposit </a:t>
            </a:r>
            <a:endParaRPr lang="en-GB" altLang="it-IT" sz="2400" dirty="0">
              <a:latin typeface="Times New Roman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GB" altLang="it-IT" sz="1800" i="1" dirty="0">
                <a:latin typeface="Times New Roman" charset="0"/>
              </a:rPr>
              <a:t>£20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3141408" y="4092320"/>
            <a:ext cx="1055912" cy="593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i="1" dirty="0">
                <a:latin typeface="Times New Roman" charset="0"/>
              </a:rPr>
              <a:t>Add 10% </a:t>
            </a:r>
            <a:endParaRPr lang="en-GB" altLang="it-IT" sz="2400" dirty="0">
              <a:latin typeface="Times New Roman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GB" altLang="it-IT" sz="1800" i="1" dirty="0">
                <a:latin typeface="Times New Roman" charset="0"/>
              </a:rPr>
              <a:t>interest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4705499" y="2739895"/>
            <a:ext cx="837904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dirty="0">
                <a:latin typeface="Times New Roman" charset="0"/>
              </a:rPr>
              <a:t>A:£120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4710114" y="4051315"/>
            <a:ext cx="828675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dirty="0">
                <a:latin typeface="Times New Roman" charset="0"/>
              </a:rPr>
              <a:t>A:£110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6694636" y="2739895"/>
            <a:ext cx="837904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dirty="0">
                <a:latin typeface="Times New Roman" charset="0"/>
              </a:rPr>
              <a:t>A:£132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6683524" y="4049582"/>
            <a:ext cx="837904" cy="3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36000" rIns="72000" bIns="72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1800" dirty="0">
                <a:latin typeface="Times New Roman" charset="0"/>
              </a:rPr>
              <a:t>A:£130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1290" name="Rectangle 26"/>
          <p:cNvSpPr>
            <a:spLocks noChangeArrowheads="1"/>
          </p:cNvSpPr>
          <p:nvPr/>
        </p:nvSpPr>
        <p:spPr bwMode="auto">
          <a:xfrm>
            <a:off x="1017588" y="5149851"/>
            <a:ext cx="8374062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GB" altLang="it-IT" sz="1200" dirty="0"/>
          </a:p>
        </p:txBody>
      </p:sp>
      <p:sp>
        <p:nvSpPr>
          <p:cNvPr id="11292" name="Rectangle 28"/>
          <p:cNvSpPr>
            <a:spLocks noChangeArrowheads="1"/>
          </p:cNvSpPr>
          <p:nvPr/>
        </p:nvSpPr>
        <p:spPr bwMode="auto">
          <a:xfrm>
            <a:off x="925830" y="4728861"/>
            <a:ext cx="9144000" cy="160209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ourier New" charset="0"/>
              <a:buChar char="o"/>
            </a:pPr>
            <a:r>
              <a:rPr lang="en-GB" altLang="it-IT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 initial state, different final state at the two sites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ourier New" charset="0"/>
              <a:buChar char="o"/>
            </a:pPr>
            <a:r>
              <a:rPr lang="en-GB" altLang="it-IT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have the same final state we need to ensure that the order of deliveries is the same at each process.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ourier New" charset="0"/>
              <a:buChar char="o"/>
            </a:pPr>
            <a:r>
              <a:rPr lang="en-GB" altLang="it-IT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 that ensuring the same delivery order at each replicas does not consider the sending order of messages</a:t>
            </a:r>
          </a:p>
        </p:txBody>
      </p:sp>
      <p:cxnSp>
        <p:nvCxnSpPr>
          <p:cNvPr id="3" name="Connettore 2 2"/>
          <p:cNvCxnSpPr>
            <a:endCxn id="11275" idx="1"/>
          </p:cNvCxnSpPr>
          <p:nvPr/>
        </p:nvCxnSpPr>
        <p:spPr>
          <a:xfrm flipV="1">
            <a:off x="3602038" y="3195653"/>
            <a:ext cx="3467101" cy="852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igura a mano libera 10"/>
          <p:cNvSpPr/>
          <p:nvPr/>
        </p:nvSpPr>
        <p:spPr>
          <a:xfrm>
            <a:off x="3643313" y="3857531"/>
            <a:ext cx="1443037" cy="200119"/>
          </a:xfrm>
          <a:custGeom>
            <a:avLst/>
            <a:gdLst>
              <a:gd name="connsiteX0" fmla="*/ 0 w 1443037"/>
              <a:gd name="connsiteY0" fmla="*/ 200119 h 200119"/>
              <a:gd name="connsiteX1" fmla="*/ 657225 w 1443037"/>
              <a:gd name="connsiteY1" fmla="*/ 94 h 200119"/>
              <a:gd name="connsiteX2" fmla="*/ 1443037 w 1443037"/>
              <a:gd name="connsiteY2" fmla="*/ 171544 h 2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3037" h="200119">
                <a:moveTo>
                  <a:pt x="0" y="200119"/>
                </a:moveTo>
                <a:cubicBezTo>
                  <a:pt x="208359" y="102487"/>
                  <a:pt x="416719" y="4856"/>
                  <a:pt x="657225" y="94"/>
                </a:cubicBezTo>
                <a:cubicBezTo>
                  <a:pt x="897731" y="-4668"/>
                  <a:pt x="1443037" y="171544"/>
                  <a:pt x="1443037" y="171544"/>
                </a:cubicBezTo>
              </a:path>
            </a:pathLst>
          </a:custGeom>
          <a:noFill/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Connettore 2 13"/>
          <p:cNvCxnSpPr>
            <a:endCxn id="11289" idx="0"/>
          </p:cNvCxnSpPr>
          <p:nvPr/>
        </p:nvCxnSpPr>
        <p:spPr>
          <a:xfrm>
            <a:off x="3643313" y="3138846"/>
            <a:ext cx="3459163" cy="910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igura a mano libera 21"/>
          <p:cNvSpPr/>
          <p:nvPr/>
        </p:nvSpPr>
        <p:spPr>
          <a:xfrm>
            <a:off x="3657600" y="3128963"/>
            <a:ext cx="1428750" cy="285765"/>
          </a:xfrm>
          <a:custGeom>
            <a:avLst/>
            <a:gdLst>
              <a:gd name="connsiteX0" fmla="*/ 0 w 1428750"/>
              <a:gd name="connsiteY0" fmla="*/ 0 h 285765"/>
              <a:gd name="connsiteX1" fmla="*/ 600075 w 1428750"/>
              <a:gd name="connsiteY1" fmla="*/ 285750 h 285765"/>
              <a:gd name="connsiteX2" fmla="*/ 1428750 w 1428750"/>
              <a:gd name="connsiteY2" fmla="*/ 14287 h 28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0" h="285765">
                <a:moveTo>
                  <a:pt x="0" y="0"/>
                </a:moveTo>
                <a:cubicBezTo>
                  <a:pt x="180975" y="141684"/>
                  <a:pt x="361950" y="283369"/>
                  <a:pt x="600075" y="285750"/>
                </a:cubicBezTo>
                <a:cubicBezTo>
                  <a:pt x="838200" y="288131"/>
                  <a:pt x="1428750" y="14287"/>
                  <a:pt x="1428750" y="14287"/>
                </a:cubicBezTo>
              </a:path>
            </a:pathLst>
          </a:custGeom>
          <a:noFill/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4852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Total Order Broadcast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25829" y="1845734"/>
            <a:ext cx="8486776" cy="156897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</a:t>
            </a:r>
            <a:r>
              <a:rPr lang="en-GB" i="1" dirty="0"/>
              <a:t>total-order (reliable) broadcast </a:t>
            </a:r>
            <a:r>
              <a:rPr lang="en-GB" dirty="0"/>
              <a:t>abstraction orders </a:t>
            </a:r>
            <a:r>
              <a:rPr lang="en-GB" u="sng" dirty="0"/>
              <a:t>all</a:t>
            </a:r>
            <a:r>
              <a:rPr lang="en-GB" dirty="0"/>
              <a:t> messages, even those from different senders and those that are not causally related </a:t>
            </a:r>
          </a:p>
          <a:p>
            <a:endParaRPr lang="en-GB" dirty="0"/>
          </a:p>
          <a:p>
            <a:r>
              <a:rPr lang="en-GB" dirty="0"/>
              <a:t>Reliable Broadcast + Total Order</a:t>
            </a:r>
          </a:p>
          <a:p>
            <a:endParaRPr lang="en-GB" dirty="0"/>
          </a:p>
        </p:txBody>
      </p:sp>
      <p:sp>
        <p:nvSpPr>
          <p:cNvPr id="4" name="Callout 2 3"/>
          <p:cNvSpPr/>
          <p:nvPr/>
        </p:nvSpPr>
        <p:spPr>
          <a:xfrm>
            <a:off x="185738" y="3915436"/>
            <a:ext cx="2400300" cy="842963"/>
          </a:xfrm>
          <a:prstGeom prst="borderCallout2">
            <a:avLst>
              <a:gd name="adj1" fmla="val -10064"/>
              <a:gd name="adj2" fmla="val 49405"/>
              <a:gd name="adj3" fmla="val -49047"/>
              <a:gd name="adj4" fmla="val 49404"/>
              <a:gd name="adj5" fmla="val -84110"/>
              <a:gd name="adj6" fmla="val 688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processes agree on the same </a:t>
            </a:r>
            <a:r>
              <a:rPr lang="en-GB" i="1" u="sng" dirty="0"/>
              <a:t>set</a:t>
            </a:r>
            <a:r>
              <a:rPr lang="en-GB" i="1" dirty="0"/>
              <a:t> </a:t>
            </a:r>
            <a:r>
              <a:rPr lang="en-GB" dirty="0"/>
              <a:t>of messages they deliver </a:t>
            </a:r>
          </a:p>
        </p:txBody>
      </p:sp>
      <p:sp>
        <p:nvSpPr>
          <p:cNvPr id="6" name="Callout 2 5"/>
          <p:cNvSpPr/>
          <p:nvPr/>
        </p:nvSpPr>
        <p:spPr>
          <a:xfrm>
            <a:off x="2768917" y="3915436"/>
            <a:ext cx="2400300" cy="842963"/>
          </a:xfrm>
          <a:prstGeom prst="borderCallout2">
            <a:avLst>
              <a:gd name="adj1" fmla="val -10064"/>
              <a:gd name="adj2" fmla="val 49405"/>
              <a:gd name="adj3" fmla="val -49047"/>
              <a:gd name="adj4" fmla="val 49404"/>
              <a:gd name="adj5" fmla="val -84110"/>
              <a:gd name="adj6" fmla="val 39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Processes agree on the same </a:t>
            </a:r>
            <a:r>
              <a:rPr lang="en-GB" i="1" u="sng" dirty="0"/>
              <a:t>sequence</a:t>
            </a:r>
            <a:r>
              <a:rPr lang="en-GB" dirty="0"/>
              <a:t> of messages </a:t>
            </a:r>
          </a:p>
        </p:txBody>
      </p:sp>
      <p:sp>
        <p:nvSpPr>
          <p:cNvPr id="7" name="Segnaposto contenuto 2"/>
          <p:cNvSpPr txBox="1">
            <a:spLocks/>
          </p:cNvSpPr>
          <p:nvPr/>
        </p:nvSpPr>
        <p:spPr>
          <a:xfrm>
            <a:off x="5352096" y="2630223"/>
            <a:ext cx="4371975" cy="341339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1800" dirty="0"/>
              <a:t>The total-order broadcast abstraction is sometimes also called </a:t>
            </a:r>
            <a:r>
              <a:rPr lang="en-GB" sz="1800" u="sng" dirty="0"/>
              <a:t>atomic broadcast 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message delivery occurs as if the broadcast were an indivisible “atomic” action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the message is delivered to all or to none of the processes and, if the message is delivered, every other message is ordered either before or after this message. </a:t>
            </a:r>
          </a:p>
          <a:p>
            <a:pPr algn="just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29566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Total Order Broadcast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0" tIns="45720" rIns="0" bIns="45720" rtlCol="0">
            <a:normAutofit/>
          </a:bodyPr>
          <a:lstStyle/>
          <a:p>
            <a:pPr lvl="1"/>
            <a:endParaRPr lang="en-GB" dirty="0"/>
          </a:p>
          <a:p>
            <a:pPr marL="0" indent="0" algn="ctr">
              <a:buNone/>
            </a:pPr>
            <a:r>
              <a:rPr lang="en-GB" sz="2400" b="1" dirty="0"/>
              <a:t>Total order is orthogonal with respect to FIFO and Causal Order. </a:t>
            </a:r>
          </a:p>
          <a:p>
            <a:endParaRPr lang="en-GB" dirty="0"/>
          </a:p>
          <a:p>
            <a:pPr algn="just"/>
            <a:r>
              <a:rPr lang="en-GB" dirty="0"/>
              <a:t>Total order would accept indeed a computation in which a process p</a:t>
            </a:r>
            <a:r>
              <a:rPr lang="en-GB" baseline="-25000" dirty="0"/>
              <a:t>i</a:t>
            </a:r>
            <a:r>
              <a:rPr lang="en-GB" dirty="0"/>
              <a:t> sends n messages to a group, and each of the processes of the group delivers such messages in the reverse order of their sending. </a:t>
            </a:r>
          </a:p>
          <a:p>
            <a:r>
              <a:rPr lang="en-GB"/>
              <a:t>- </a:t>
            </a:r>
            <a:r>
              <a:rPr lang="en-GB" dirty="0"/>
              <a:t>The computation is totally ordered but it is not FIFO.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7873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6516691" y="5299080"/>
            <a:ext cx="2473323" cy="688975"/>
          </a:xfrm>
          <a:prstGeom prst="rect">
            <a:avLst/>
          </a:prstGeom>
          <a:solidFill>
            <a:srgbClr val="92D295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36000" rIns="72000" bIns="36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Causal Atomic </a:t>
            </a:r>
            <a:endParaRPr lang="en-GB" altLang="it-IT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broadcast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600" dirty="0"/>
              <a:t>Relationship between Broadcast Specifications</a:t>
            </a:r>
          </a:p>
        </p:txBody>
      </p:sp>
      <p:sp>
        <p:nvSpPr>
          <p:cNvPr id="13358" name="Text Box 5"/>
          <p:cNvSpPr txBox="1">
            <a:spLocks noChangeArrowheads="1"/>
          </p:cNvSpPr>
          <p:nvPr/>
        </p:nvSpPr>
        <p:spPr bwMode="auto">
          <a:xfrm>
            <a:off x="1487488" y="1979620"/>
            <a:ext cx="2160587" cy="676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72000" tIns="36000" rIns="72000" bIns="36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Reliable </a:t>
            </a:r>
            <a:endParaRPr lang="en-GB" altLang="it-IT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broadcast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3356" name="Text Box 8"/>
          <p:cNvSpPr txBox="1">
            <a:spLocks noChangeArrowheads="1"/>
          </p:cNvSpPr>
          <p:nvPr/>
        </p:nvSpPr>
        <p:spPr bwMode="auto">
          <a:xfrm>
            <a:off x="1487488" y="3656020"/>
            <a:ext cx="1322388" cy="676275"/>
          </a:xfrm>
          <a:prstGeom prst="rect">
            <a:avLst/>
          </a:prstGeom>
          <a:solidFill>
            <a:srgbClr val="FAFCB4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72000" tIns="36000" rIns="72000" bIns="36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FIFO </a:t>
            </a:r>
            <a:endParaRPr lang="en-GB" altLang="it-IT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broadcast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3354" name="Text Box 11"/>
          <p:cNvSpPr txBox="1">
            <a:spLocks noChangeArrowheads="1"/>
          </p:cNvSpPr>
          <p:nvPr/>
        </p:nvSpPr>
        <p:spPr bwMode="auto">
          <a:xfrm>
            <a:off x="1487488" y="5332420"/>
            <a:ext cx="2160587" cy="676275"/>
          </a:xfrm>
          <a:prstGeom prst="rect">
            <a:avLst/>
          </a:prstGeom>
          <a:solidFill>
            <a:srgbClr val="F9F67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72000" tIns="36000" rIns="72000" bIns="36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Causal </a:t>
            </a:r>
            <a:endParaRPr lang="en-GB" altLang="it-IT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broadcast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3352" name="Text Box 17"/>
          <p:cNvSpPr txBox="1">
            <a:spLocks noChangeArrowheads="1"/>
          </p:cNvSpPr>
          <p:nvPr/>
        </p:nvSpPr>
        <p:spPr bwMode="auto">
          <a:xfrm>
            <a:off x="7147719" y="3640781"/>
            <a:ext cx="1820863" cy="676275"/>
          </a:xfrm>
          <a:prstGeom prst="rect">
            <a:avLst/>
          </a:prstGeom>
          <a:solidFill>
            <a:srgbClr val="B7E1B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72000" tIns="36000" rIns="72000" bIns="36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FIFO Atomic </a:t>
            </a:r>
            <a:endParaRPr lang="en-GB" altLang="it-IT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broadcast</a:t>
            </a:r>
            <a:endParaRPr lang="en-GB" altLang="it-IT" sz="2400" dirty="0">
              <a:latin typeface="Times New Roman" charset="0"/>
            </a:endParaRPr>
          </a:p>
        </p:txBody>
      </p:sp>
      <p:sp>
        <p:nvSpPr>
          <p:cNvPr id="13350" name="Text Box 20"/>
          <p:cNvSpPr txBox="1">
            <a:spLocks noChangeArrowheads="1"/>
          </p:cNvSpPr>
          <p:nvPr/>
        </p:nvSpPr>
        <p:spPr bwMode="auto">
          <a:xfrm>
            <a:off x="6516691" y="1979620"/>
            <a:ext cx="2473324" cy="67627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72000" tIns="36000" rIns="72000" bIns="36000" anchor="ctr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Atomic </a:t>
            </a:r>
            <a:endParaRPr lang="en-GB" altLang="it-IT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it-IT" sz="2200" b="1" dirty="0">
                <a:latin typeface="Times New Roman" charset="0"/>
                <a:ea typeface="Times New Roman" charset="0"/>
                <a:cs typeface="Times New Roman" charset="0"/>
              </a:rPr>
              <a:t>broadcast</a:t>
            </a:r>
            <a:endParaRPr lang="en-GB" altLang="it-IT" sz="2400" dirty="0">
              <a:latin typeface="Times New Roman" charset="0"/>
            </a:endParaRPr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925888" y="1978033"/>
            <a:ext cx="2286000" cy="377825"/>
            <a:chOff x="2112" y="1129"/>
            <a:chExt cx="1440" cy="238"/>
          </a:xfrm>
        </p:grpSpPr>
        <p:sp>
          <p:nvSpPr>
            <p:cNvPr id="13347" name="Line 22"/>
            <p:cNvSpPr>
              <a:spLocks noChangeShapeType="1"/>
            </p:cNvSpPr>
            <p:nvPr/>
          </p:nvSpPr>
          <p:spPr bwMode="auto">
            <a:xfrm>
              <a:off x="2112" y="1344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48" name="Text Box 23"/>
            <p:cNvSpPr txBox="1">
              <a:spLocks noChangeArrowheads="1"/>
            </p:cNvSpPr>
            <p:nvPr/>
          </p:nvSpPr>
          <p:spPr bwMode="auto">
            <a:xfrm>
              <a:off x="2366" y="1129"/>
              <a:ext cx="8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36000" rIns="72000" bIns="3600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Total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400301" y="2665422"/>
            <a:ext cx="1523999" cy="2590800"/>
            <a:chOff x="1350" y="1488"/>
            <a:chExt cx="960" cy="1632"/>
          </a:xfrm>
        </p:grpSpPr>
        <p:sp>
          <p:nvSpPr>
            <p:cNvPr id="13345" name="Line 25"/>
            <p:cNvSpPr>
              <a:spLocks noChangeShapeType="1"/>
            </p:cNvSpPr>
            <p:nvPr/>
          </p:nvSpPr>
          <p:spPr bwMode="auto">
            <a:xfrm>
              <a:off x="1824" y="1488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46" name="Text Box 26"/>
            <p:cNvSpPr txBox="1">
              <a:spLocks noChangeArrowheads="1"/>
            </p:cNvSpPr>
            <p:nvPr/>
          </p:nvSpPr>
          <p:spPr bwMode="auto">
            <a:xfrm>
              <a:off x="1350" y="2640"/>
              <a:ext cx="960" cy="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Causal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3087688" y="3651258"/>
            <a:ext cx="4038600" cy="344487"/>
            <a:chOff x="1584" y="2087"/>
            <a:chExt cx="2544" cy="217"/>
          </a:xfrm>
        </p:grpSpPr>
        <p:sp>
          <p:nvSpPr>
            <p:cNvPr id="13343" name="Line 28"/>
            <p:cNvSpPr>
              <a:spLocks noChangeShapeType="1"/>
            </p:cNvSpPr>
            <p:nvPr/>
          </p:nvSpPr>
          <p:spPr bwMode="auto">
            <a:xfrm>
              <a:off x="1584" y="2304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44" name="Text Box 29"/>
            <p:cNvSpPr txBox="1">
              <a:spLocks noChangeArrowheads="1"/>
            </p:cNvSpPr>
            <p:nvPr/>
          </p:nvSpPr>
          <p:spPr bwMode="auto">
            <a:xfrm>
              <a:off x="2445" y="2087"/>
              <a:ext cx="808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Total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3925888" y="5327658"/>
            <a:ext cx="2286000" cy="344487"/>
            <a:chOff x="2112" y="3143"/>
            <a:chExt cx="1440" cy="217"/>
          </a:xfrm>
        </p:grpSpPr>
        <p:sp>
          <p:nvSpPr>
            <p:cNvPr id="13341" name="Line 31"/>
            <p:cNvSpPr>
              <a:spLocks noChangeShapeType="1"/>
            </p:cNvSpPr>
            <p:nvPr/>
          </p:nvSpPr>
          <p:spPr bwMode="auto">
            <a:xfrm>
              <a:off x="2112" y="3360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42" name="Text Box 32"/>
            <p:cNvSpPr txBox="1">
              <a:spLocks noChangeArrowheads="1"/>
            </p:cNvSpPr>
            <p:nvPr/>
          </p:nvSpPr>
          <p:spPr bwMode="auto">
            <a:xfrm>
              <a:off x="2411" y="3143"/>
              <a:ext cx="808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Total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11" name="Group 33"/>
          <p:cNvGrpSpPr>
            <a:grpSpLocks/>
          </p:cNvGrpSpPr>
          <p:nvPr/>
        </p:nvGrpSpPr>
        <p:grpSpPr bwMode="auto">
          <a:xfrm>
            <a:off x="1293814" y="2713363"/>
            <a:ext cx="1295400" cy="914400"/>
            <a:chOff x="672" y="1488"/>
            <a:chExt cx="816" cy="576"/>
          </a:xfrm>
        </p:grpSpPr>
        <p:sp>
          <p:nvSpPr>
            <p:cNvPr id="13339" name="Line 34"/>
            <p:cNvSpPr>
              <a:spLocks noChangeShapeType="1"/>
            </p:cNvSpPr>
            <p:nvPr/>
          </p:nvSpPr>
          <p:spPr bwMode="auto">
            <a:xfrm>
              <a:off x="1200" y="148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40" name="Text Box 35"/>
            <p:cNvSpPr txBox="1">
              <a:spLocks noChangeArrowheads="1"/>
            </p:cNvSpPr>
            <p:nvPr/>
          </p:nvSpPr>
          <p:spPr bwMode="auto">
            <a:xfrm>
              <a:off x="672" y="1657"/>
              <a:ext cx="816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FIFO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12" name="Group 36"/>
          <p:cNvGrpSpPr>
            <a:grpSpLocks/>
          </p:cNvGrpSpPr>
          <p:nvPr/>
        </p:nvGrpSpPr>
        <p:grpSpPr bwMode="auto">
          <a:xfrm>
            <a:off x="7874003" y="2687169"/>
            <a:ext cx="1295400" cy="914400"/>
            <a:chOff x="4224" y="1488"/>
            <a:chExt cx="816" cy="576"/>
          </a:xfrm>
        </p:grpSpPr>
        <p:sp>
          <p:nvSpPr>
            <p:cNvPr id="13337" name="Line 37"/>
            <p:cNvSpPr>
              <a:spLocks noChangeShapeType="1"/>
            </p:cNvSpPr>
            <p:nvPr/>
          </p:nvSpPr>
          <p:spPr bwMode="auto">
            <a:xfrm>
              <a:off x="4464" y="148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38" name="Text Box 38"/>
            <p:cNvSpPr txBox="1">
              <a:spLocks noChangeArrowheads="1"/>
            </p:cNvSpPr>
            <p:nvPr/>
          </p:nvSpPr>
          <p:spPr bwMode="auto">
            <a:xfrm>
              <a:off x="4224" y="1655"/>
              <a:ext cx="816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FIFO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13" name="Group 39"/>
          <p:cNvGrpSpPr>
            <a:grpSpLocks/>
          </p:cNvGrpSpPr>
          <p:nvPr/>
        </p:nvGrpSpPr>
        <p:grpSpPr bwMode="auto">
          <a:xfrm>
            <a:off x="7959725" y="4332295"/>
            <a:ext cx="1325563" cy="914400"/>
            <a:chOff x="4253" y="2544"/>
            <a:chExt cx="835" cy="576"/>
          </a:xfrm>
        </p:grpSpPr>
        <p:sp>
          <p:nvSpPr>
            <p:cNvPr id="13335" name="Line 40"/>
            <p:cNvSpPr>
              <a:spLocks noChangeShapeType="1"/>
            </p:cNvSpPr>
            <p:nvPr/>
          </p:nvSpPr>
          <p:spPr bwMode="auto">
            <a:xfrm>
              <a:off x="4464" y="254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36" name="Text Box 41"/>
            <p:cNvSpPr txBox="1">
              <a:spLocks noChangeArrowheads="1"/>
            </p:cNvSpPr>
            <p:nvPr/>
          </p:nvSpPr>
          <p:spPr bwMode="auto">
            <a:xfrm>
              <a:off x="4253" y="2711"/>
              <a:ext cx="835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Local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14" name="Group 42"/>
          <p:cNvGrpSpPr>
            <a:grpSpLocks/>
          </p:cNvGrpSpPr>
          <p:nvPr/>
        </p:nvGrpSpPr>
        <p:grpSpPr bwMode="auto">
          <a:xfrm>
            <a:off x="5754688" y="2675739"/>
            <a:ext cx="1509713" cy="2590800"/>
            <a:chOff x="3081" y="1488"/>
            <a:chExt cx="951" cy="1632"/>
          </a:xfrm>
        </p:grpSpPr>
        <p:sp>
          <p:nvSpPr>
            <p:cNvPr id="13333" name="Line 43"/>
            <p:cNvSpPr>
              <a:spLocks noChangeShapeType="1"/>
            </p:cNvSpPr>
            <p:nvPr/>
          </p:nvSpPr>
          <p:spPr bwMode="auto">
            <a:xfrm>
              <a:off x="3840" y="1488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34" name="Text Box 44"/>
            <p:cNvSpPr txBox="1">
              <a:spLocks noChangeArrowheads="1"/>
            </p:cNvSpPr>
            <p:nvPr/>
          </p:nvSpPr>
          <p:spPr bwMode="auto">
            <a:xfrm>
              <a:off x="3081" y="2640"/>
              <a:ext cx="951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Causal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  <p:grpSp>
        <p:nvGrpSpPr>
          <p:cNvPr id="15" name="Group 45"/>
          <p:cNvGrpSpPr>
            <a:grpSpLocks/>
          </p:cNvGrpSpPr>
          <p:nvPr/>
        </p:nvGrpSpPr>
        <p:grpSpPr bwMode="auto">
          <a:xfrm>
            <a:off x="1070768" y="4360552"/>
            <a:ext cx="1338262" cy="914400"/>
            <a:chOff x="524" y="2544"/>
            <a:chExt cx="843" cy="576"/>
          </a:xfrm>
        </p:grpSpPr>
        <p:sp>
          <p:nvSpPr>
            <p:cNvPr id="13331" name="Line 46"/>
            <p:cNvSpPr>
              <a:spLocks noChangeShapeType="1"/>
            </p:cNvSpPr>
            <p:nvPr/>
          </p:nvSpPr>
          <p:spPr bwMode="auto">
            <a:xfrm>
              <a:off x="1200" y="254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2000" tIns="36000" rIns="72000" bIns="36000" anchor="ctr">
              <a:spAutoFit/>
            </a:bodyPr>
            <a:lstStyle/>
            <a:p>
              <a:endParaRPr lang="en-GB" dirty="0"/>
            </a:p>
          </p:txBody>
        </p:sp>
        <p:sp>
          <p:nvSpPr>
            <p:cNvPr id="13332" name="Text Box 47"/>
            <p:cNvSpPr txBox="1">
              <a:spLocks noChangeArrowheads="1"/>
            </p:cNvSpPr>
            <p:nvPr/>
          </p:nvSpPr>
          <p:spPr bwMode="auto">
            <a:xfrm>
              <a:off x="524" y="2783"/>
              <a:ext cx="843" cy="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it-IT" sz="2000" dirty="0">
                  <a:latin typeface="Arial" charset="0"/>
                  <a:ea typeface="Arial" charset="0"/>
                  <a:cs typeface="Arial" charset="0"/>
                </a:rPr>
                <a:t>Local Order</a:t>
              </a:r>
              <a:endParaRPr lang="en-GB" altLang="it-IT" sz="2400" dirty="0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533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089F011-A3BF-3F42-BDEF-BD651431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Identify 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F2D0CC6F-E956-9549-8105-6D73FC1A01C5}"/>
              </a:ext>
            </a:extLst>
          </p:cNvPr>
          <p:cNvSpPr/>
          <p:nvPr/>
        </p:nvSpPr>
        <p:spPr>
          <a:xfrm>
            <a:off x="1465118" y="2348345"/>
            <a:ext cx="7481455" cy="36991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A2AE2B-C5EE-8F46-B9B7-6A0475C67091}"/>
              </a:ext>
            </a:extLst>
          </p:cNvPr>
          <p:cNvSpPr txBox="1"/>
          <p:nvPr/>
        </p:nvSpPr>
        <p:spPr>
          <a:xfrm>
            <a:off x="4727864" y="5309755"/>
            <a:ext cx="261850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Reliable Broadcast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810B2BE2-1845-5846-86C5-2F10AD922B2C}"/>
              </a:ext>
            </a:extLst>
          </p:cNvPr>
          <p:cNvSpPr/>
          <p:nvPr/>
        </p:nvSpPr>
        <p:spPr>
          <a:xfrm>
            <a:off x="2763982" y="3086100"/>
            <a:ext cx="5216236" cy="21301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1BB681-57C2-5A46-8915-CF50095543E6}"/>
              </a:ext>
            </a:extLst>
          </p:cNvPr>
          <p:cNvSpPr txBox="1"/>
          <p:nvPr/>
        </p:nvSpPr>
        <p:spPr>
          <a:xfrm>
            <a:off x="4610100" y="4742817"/>
            <a:ext cx="261850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Reliable Broadcast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B888B388-9CA6-4C4F-A50B-87D82C98E789}"/>
              </a:ext>
            </a:extLst>
          </p:cNvPr>
          <p:cNvSpPr/>
          <p:nvPr/>
        </p:nvSpPr>
        <p:spPr>
          <a:xfrm>
            <a:off x="3740728" y="3616444"/>
            <a:ext cx="3127663" cy="82088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895D240-B3E2-1644-86CC-867852C87B0D}"/>
              </a:ext>
            </a:extLst>
          </p:cNvPr>
          <p:cNvSpPr txBox="1"/>
          <p:nvPr/>
        </p:nvSpPr>
        <p:spPr>
          <a:xfrm>
            <a:off x="4161559" y="3856295"/>
            <a:ext cx="261850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Causal Reliable Broadcast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D311B5F0-95BF-AD4D-A1E3-ABE482EB2D21}"/>
              </a:ext>
            </a:extLst>
          </p:cNvPr>
          <p:cNvSpPr/>
          <p:nvPr/>
        </p:nvSpPr>
        <p:spPr>
          <a:xfrm>
            <a:off x="2561359" y="1922318"/>
            <a:ext cx="2322368" cy="4125191"/>
          </a:xfrm>
          <a:prstGeom prst="ellipse">
            <a:avLst/>
          </a:prstGeom>
          <a:solidFill>
            <a:schemeClr val="accent4">
              <a:lumMod val="20000"/>
              <a:lumOff val="80000"/>
              <a:alpha val="4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1C5123D-DD8A-C94A-A231-B91495E4D6C7}"/>
              </a:ext>
            </a:extLst>
          </p:cNvPr>
          <p:cNvSpPr txBox="1"/>
          <p:nvPr/>
        </p:nvSpPr>
        <p:spPr>
          <a:xfrm>
            <a:off x="3213388" y="2591723"/>
            <a:ext cx="261850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Total Order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6642FB65-929F-2349-8B61-22229806B884}"/>
              </a:ext>
            </a:extLst>
          </p:cNvPr>
          <p:cNvSpPr/>
          <p:nvPr/>
        </p:nvSpPr>
        <p:spPr>
          <a:xfrm>
            <a:off x="3345873" y="5216236"/>
            <a:ext cx="280554" cy="2701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allout 1 14">
            <a:extLst>
              <a:ext uri="{FF2B5EF4-FFF2-40B4-BE49-F238E27FC236}">
                <a16:creationId xmlns:a16="http://schemas.microsoft.com/office/drawing/2014/main" id="{766207E0-742F-084C-B9AD-7DD095DEC966}"/>
              </a:ext>
            </a:extLst>
          </p:cNvPr>
          <p:cNvSpPr/>
          <p:nvPr/>
        </p:nvSpPr>
        <p:spPr>
          <a:xfrm flipH="1">
            <a:off x="672811" y="5480571"/>
            <a:ext cx="1262496" cy="571500"/>
          </a:xfrm>
          <a:prstGeom prst="borderCallout1">
            <a:avLst>
              <a:gd name="adj1" fmla="val 18750"/>
              <a:gd name="adj2" fmla="val -8333"/>
              <a:gd name="adj3" fmla="val -22045"/>
              <a:gd name="adj4" fmla="val -1222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 1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2C32A8EA-740E-7A4F-9642-AD1E072FA2B2}"/>
              </a:ext>
            </a:extLst>
          </p:cNvPr>
          <p:cNvSpPr/>
          <p:nvPr/>
        </p:nvSpPr>
        <p:spPr>
          <a:xfrm>
            <a:off x="7585364" y="5094547"/>
            <a:ext cx="280554" cy="2701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allout 1 16">
            <a:extLst>
              <a:ext uri="{FF2B5EF4-FFF2-40B4-BE49-F238E27FC236}">
                <a16:creationId xmlns:a16="http://schemas.microsoft.com/office/drawing/2014/main" id="{BC0A8C72-FE42-1A4B-B170-62F785F859E5}"/>
              </a:ext>
            </a:extLst>
          </p:cNvPr>
          <p:cNvSpPr/>
          <p:nvPr/>
        </p:nvSpPr>
        <p:spPr>
          <a:xfrm>
            <a:off x="8491971" y="5583213"/>
            <a:ext cx="1254701" cy="571500"/>
          </a:xfrm>
          <a:prstGeom prst="borderCallout1">
            <a:avLst>
              <a:gd name="adj1" fmla="val 18750"/>
              <a:gd name="adj2" fmla="val -8333"/>
              <a:gd name="adj3" fmla="val -71136"/>
              <a:gd name="adj4" fmla="val -626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 2</a:t>
            </a: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085CC33A-6240-C143-B346-2018492C1EC1}"/>
              </a:ext>
            </a:extLst>
          </p:cNvPr>
          <p:cNvSpPr/>
          <p:nvPr/>
        </p:nvSpPr>
        <p:spPr>
          <a:xfrm>
            <a:off x="3501737" y="3509240"/>
            <a:ext cx="280554" cy="2701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llout 1 18">
            <a:extLst>
              <a:ext uri="{FF2B5EF4-FFF2-40B4-BE49-F238E27FC236}">
                <a16:creationId xmlns:a16="http://schemas.microsoft.com/office/drawing/2014/main" id="{D1C241EA-F215-B74D-B87A-DC6A1F2B6BEC}"/>
              </a:ext>
            </a:extLst>
          </p:cNvPr>
          <p:cNvSpPr/>
          <p:nvPr/>
        </p:nvSpPr>
        <p:spPr>
          <a:xfrm flipH="1">
            <a:off x="98712" y="2800122"/>
            <a:ext cx="1262496" cy="571500"/>
          </a:xfrm>
          <a:prstGeom prst="borderCallout1">
            <a:avLst>
              <a:gd name="adj1" fmla="val 18750"/>
              <a:gd name="adj2" fmla="val -8333"/>
              <a:gd name="adj3" fmla="val 152500"/>
              <a:gd name="adj4" fmla="val -1798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 3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D9A51886-A5A7-0D4E-AFF2-62D112F027BB}"/>
              </a:ext>
            </a:extLst>
          </p:cNvPr>
          <p:cNvSpPr/>
          <p:nvPr/>
        </p:nvSpPr>
        <p:spPr>
          <a:xfrm>
            <a:off x="3881005" y="3882906"/>
            <a:ext cx="280554" cy="27016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llout 1 20">
            <a:extLst>
              <a:ext uri="{FF2B5EF4-FFF2-40B4-BE49-F238E27FC236}">
                <a16:creationId xmlns:a16="http://schemas.microsoft.com/office/drawing/2014/main" id="{04C15364-A073-784E-9F78-3683CB7311B7}"/>
              </a:ext>
            </a:extLst>
          </p:cNvPr>
          <p:cNvSpPr/>
          <p:nvPr/>
        </p:nvSpPr>
        <p:spPr>
          <a:xfrm flipH="1">
            <a:off x="62345" y="3560561"/>
            <a:ext cx="1262496" cy="571500"/>
          </a:xfrm>
          <a:prstGeom prst="borderCallout1">
            <a:avLst>
              <a:gd name="adj1" fmla="val 18750"/>
              <a:gd name="adj2" fmla="val -8333"/>
              <a:gd name="adj3" fmla="val 85227"/>
              <a:gd name="adj4" fmla="val -2103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 4</a:t>
            </a:r>
          </a:p>
        </p:txBody>
      </p:sp>
    </p:spTree>
    <p:extLst>
      <p:ext uri="{BB962C8B-B14F-4D97-AF65-F5344CB8AC3E}">
        <p14:creationId xmlns:p14="http://schemas.microsoft.com/office/powerpoint/2010/main" val="1223322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FA2107-C9C7-8043-8760-3B06A9A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1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E7146E6-D127-8B40-AB7F-F98FF5971E37}"/>
              </a:ext>
            </a:extLst>
          </p:cNvPr>
          <p:cNvCxnSpPr/>
          <p:nvPr/>
        </p:nvCxnSpPr>
        <p:spPr>
          <a:xfrm>
            <a:off x="925830" y="316922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FFD1CFF-C0C6-934E-9C65-A4B8DEA49FA0}"/>
              </a:ext>
            </a:extLst>
          </p:cNvPr>
          <p:cNvCxnSpPr/>
          <p:nvPr/>
        </p:nvCxnSpPr>
        <p:spPr>
          <a:xfrm>
            <a:off x="925830" y="4339943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5E9CA3-3C8D-0F46-92AC-2C02630436EF}"/>
              </a:ext>
            </a:extLst>
          </p:cNvPr>
          <p:cNvCxnSpPr/>
          <p:nvPr/>
        </p:nvCxnSpPr>
        <p:spPr>
          <a:xfrm>
            <a:off x="925830" y="5555684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EC68A0B-BDAD-B645-A3C0-CC3D44AEF82C}"/>
              </a:ext>
            </a:extLst>
          </p:cNvPr>
          <p:cNvCxnSpPr/>
          <p:nvPr/>
        </p:nvCxnSpPr>
        <p:spPr>
          <a:xfrm>
            <a:off x="1070264" y="291984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AA59DA0-DFAE-B040-B462-43D846BE39F1}"/>
              </a:ext>
            </a:extLst>
          </p:cNvPr>
          <p:cNvCxnSpPr/>
          <p:nvPr/>
        </p:nvCxnSpPr>
        <p:spPr>
          <a:xfrm>
            <a:off x="1523604" y="2930244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28F29B8-1EB9-804B-BCBF-37ABB8C81071}"/>
              </a:ext>
            </a:extLst>
          </p:cNvPr>
          <p:cNvCxnSpPr/>
          <p:nvPr/>
        </p:nvCxnSpPr>
        <p:spPr>
          <a:xfrm>
            <a:off x="1070264" y="5295333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EAA763-ADC8-1A49-905E-601E0923EB09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41E0C6-16EC-C947-9871-6120035522C2}"/>
              </a:ext>
            </a:extLst>
          </p:cNvPr>
          <p:cNvSpPr txBox="1"/>
          <p:nvPr/>
        </p:nvSpPr>
        <p:spPr>
          <a:xfrm>
            <a:off x="1334018" y="257821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C671B5-DBEB-0E48-B7BC-9B308A4D815B}"/>
              </a:ext>
            </a:extLst>
          </p:cNvPr>
          <p:cNvSpPr txBox="1"/>
          <p:nvPr/>
        </p:nvSpPr>
        <p:spPr>
          <a:xfrm>
            <a:off x="875086" y="486063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404A06C-7190-574D-B839-6EBF53B308F3}"/>
              </a:ext>
            </a:extLst>
          </p:cNvPr>
          <p:cNvSpPr txBox="1"/>
          <p:nvPr/>
        </p:nvSpPr>
        <p:spPr>
          <a:xfrm>
            <a:off x="6172200" y="2586873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Reliable, Total, not FIFO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7CD31788-0D04-A748-BF13-00CC8ECBCEA0}"/>
              </a:ext>
            </a:extLst>
          </p:cNvPr>
          <p:cNvCxnSpPr/>
          <p:nvPr/>
        </p:nvCxnSpPr>
        <p:spPr>
          <a:xfrm>
            <a:off x="1485504" y="5308973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36B97E5-157C-184E-BE25-EFC41020E757}"/>
              </a:ext>
            </a:extLst>
          </p:cNvPr>
          <p:cNvSpPr txBox="1"/>
          <p:nvPr/>
        </p:nvSpPr>
        <p:spPr>
          <a:xfrm>
            <a:off x="1290326" y="487427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595D50D-EFA1-344B-9329-B93772D67680}"/>
              </a:ext>
            </a:extLst>
          </p:cNvPr>
          <p:cNvSpPr txBox="1"/>
          <p:nvPr/>
        </p:nvSpPr>
        <p:spPr>
          <a:xfrm>
            <a:off x="6299200" y="3429000"/>
            <a:ext cx="330200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m3 -&gt; m4</a:t>
            </a:r>
          </a:p>
        </p:txBody>
      </p:sp>
      <p:sp>
        <p:nvSpPr>
          <p:cNvPr id="3" name="Freccia su 2">
            <a:extLst>
              <a:ext uri="{FF2B5EF4-FFF2-40B4-BE49-F238E27FC236}">
                <a16:creationId xmlns:a16="http://schemas.microsoft.com/office/drawing/2014/main" id="{64F7DAF1-C0B0-0A4E-9667-CEDCC134E0D4}"/>
              </a:ext>
            </a:extLst>
          </p:cNvPr>
          <p:cNvSpPr/>
          <p:nvPr/>
        </p:nvSpPr>
        <p:spPr>
          <a:xfrm>
            <a:off x="2428240" y="28275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26414234-288B-5445-A1EE-6774284D9455}"/>
              </a:ext>
            </a:extLst>
          </p:cNvPr>
          <p:cNvSpPr/>
          <p:nvPr/>
        </p:nvSpPr>
        <p:spPr>
          <a:xfrm>
            <a:off x="2982369" y="28275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17D2EC1A-499E-AE47-9531-ED56348C28C1}"/>
              </a:ext>
            </a:extLst>
          </p:cNvPr>
          <p:cNvSpPr/>
          <p:nvPr/>
        </p:nvSpPr>
        <p:spPr>
          <a:xfrm>
            <a:off x="3538818" y="2817206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17294685-229C-B845-B0E6-47F278A13C3D}"/>
              </a:ext>
            </a:extLst>
          </p:cNvPr>
          <p:cNvSpPr/>
          <p:nvPr/>
        </p:nvSpPr>
        <p:spPr>
          <a:xfrm>
            <a:off x="4028441" y="2817206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AE0FAC4-D8D7-804B-9BEC-0184E8A3C7D9}"/>
              </a:ext>
            </a:extLst>
          </p:cNvPr>
          <p:cNvSpPr txBox="1"/>
          <p:nvPr/>
        </p:nvSpPr>
        <p:spPr>
          <a:xfrm>
            <a:off x="2296409" y="250866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B354315-FC35-6B40-80CB-2A8CD3B02363}"/>
              </a:ext>
            </a:extLst>
          </p:cNvPr>
          <p:cNvSpPr txBox="1"/>
          <p:nvPr/>
        </p:nvSpPr>
        <p:spPr>
          <a:xfrm>
            <a:off x="2863123" y="249826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F262F90-BA7A-5B42-B835-33116D38CEDB}"/>
              </a:ext>
            </a:extLst>
          </p:cNvPr>
          <p:cNvSpPr txBox="1"/>
          <p:nvPr/>
        </p:nvSpPr>
        <p:spPr>
          <a:xfrm>
            <a:off x="3422633" y="249731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F62D329-433F-C74A-81CF-4D051A2FFBBB}"/>
              </a:ext>
            </a:extLst>
          </p:cNvPr>
          <p:cNvSpPr txBox="1"/>
          <p:nvPr/>
        </p:nvSpPr>
        <p:spPr>
          <a:xfrm>
            <a:off x="3937406" y="2475574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EC7C4A77-34DF-FD42-92E3-25F3E4A7CF2C}"/>
              </a:ext>
            </a:extLst>
          </p:cNvPr>
          <p:cNvSpPr/>
          <p:nvPr/>
        </p:nvSpPr>
        <p:spPr>
          <a:xfrm>
            <a:off x="2428240" y="3983073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ccia su 25">
            <a:extLst>
              <a:ext uri="{FF2B5EF4-FFF2-40B4-BE49-F238E27FC236}">
                <a16:creationId xmlns:a16="http://schemas.microsoft.com/office/drawing/2014/main" id="{ADFE71BD-C323-8F4C-89E0-5567088D1B03}"/>
              </a:ext>
            </a:extLst>
          </p:cNvPr>
          <p:cNvSpPr/>
          <p:nvPr/>
        </p:nvSpPr>
        <p:spPr>
          <a:xfrm>
            <a:off x="2982369" y="3983073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12ABA83B-8D87-3F45-923C-CC1BD696D70F}"/>
              </a:ext>
            </a:extLst>
          </p:cNvPr>
          <p:cNvSpPr/>
          <p:nvPr/>
        </p:nvSpPr>
        <p:spPr>
          <a:xfrm>
            <a:off x="3538818" y="3972682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ccia su 27">
            <a:extLst>
              <a:ext uri="{FF2B5EF4-FFF2-40B4-BE49-F238E27FC236}">
                <a16:creationId xmlns:a16="http://schemas.microsoft.com/office/drawing/2014/main" id="{F09165E1-607A-1E40-B41D-C423858D854E}"/>
              </a:ext>
            </a:extLst>
          </p:cNvPr>
          <p:cNvSpPr/>
          <p:nvPr/>
        </p:nvSpPr>
        <p:spPr>
          <a:xfrm>
            <a:off x="4028441" y="3972682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63BBA52-FB7D-3C49-8CAF-208A82DD5DFA}"/>
              </a:ext>
            </a:extLst>
          </p:cNvPr>
          <p:cNvSpPr txBox="1"/>
          <p:nvPr/>
        </p:nvSpPr>
        <p:spPr>
          <a:xfrm>
            <a:off x="2296409" y="3664136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4653D46-6AB0-FE45-AD0F-AD64DD05B543}"/>
              </a:ext>
            </a:extLst>
          </p:cNvPr>
          <p:cNvSpPr txBox="1"/>
          <p:nvPr/>
        </p:nvSpPr>
        <p:spPr>
          <a:xfrm>
            <a:off x="2863123" y="365373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9486F42-96AE-664D-905B-4D6202AA0812}"/>
              </a:ext>
            </a:extLst>
          </p:cNvPr>
          <p:cNvSpPr txBox="1"/>
          <p:nvPr/>
        </p:nvSpPr>
        <p:spPr>
          <a:xfrm>
            <a:off x="3422633" y="365278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9DE9C30-7483-8040-A7C4-6BE1C37B8D44}"/>
              </a:ext>
            </a:extLst>
          </p:cNvPr>
          <p:cNvSpPr txBox="1"/>
          <p:nvPr/>
        </p:nvSpPr>
        <p:spPr>
          <a:xfrm>
            <a:off x="3937406" y="363105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3" name="Freccia su 32">
            <a:extLst>
              <a:ext uri="{FF2B5EF4-FFF2-40B4-BE49-F238E27FC236}">
                <a16:creationId xmlns:a16="http://schemas.microsoft.com/office/drawing/2014/main" id="{0737F8A3-05A9-2C41-B4F5-71A188CA3A18}"/>
              </a:ext>
            </a:extLst>
          </p:cNvPr>
          <p:cNvSpPr/>
          <p:nvPr/>
        </p:nvSpPr>
        <p:spPr>
          <a:xfrm>
            <a:off x="2428240" y="5215588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ccia su 34">
            <a:extLst>
              <a:ext uri="{FF2B5EF4-FFF2-40B4-BE49-F238E27FC236}">
                <a16:creationId xmlns:a16="http://schemas.microsoft.com/office/drawing/2014/main" id="{6827688D-3B71-2843-BD6F-970086821335}"/>
              </a:ext>
            </a:extLst>
          </p:cNvPr>
          <p:cNvSpPr/>
          <p:nvPr/>
        </p:nvSpPr>
        <p:spPr>
          <a:xfrm>
            <a:off x="2982369" y="5215588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ccia su 35">
            <a:extLst>
              <a:ext uri="{FF2B5EF4-FFF2-40B4-BE49-F238E27FC236}">
                <a16:creationId xmlns:a16="http://schemas.microsoft.com/office/drawing/2014/main" id="{3C53CA42-0817-9D44-81A7-AD2053A3B894}"/>
              </a:ext>
            </a:extLst>
          </p:cNvPr>
          <p:cNvSpPr/>
          <p:nvPr/>
        </p:nvSpPr>
        <p:spPr>
          <a:xfrm>
            <a:off x="3538818" y="52051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ccia su 38">
            <a:extLst>
              <a:ext uri="{FF2B5EF4-FFF2-40B4-BE49-F238E27FC236}">
                <a16:creationId xmlns:a16="http://schemas.microsoft.com/office/drawing/2014/main" id="{BB66A8BB-487A-0C41-835C-D3E15F80F339}"/>
              </a:ext>
            </a:extLst>
          </p:cNvPr>
          <p:cNvSpPr/>
          <p:nvPr/>
        </p:nvSpPr>
        <p:spPr>
          <a:xfrm>
            <a:off x="4028441" y="52051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48AA70C-62DA-3B4F-AFA5-483CD4A0AD31}"/>
              </a:ext>
            </a:extLst>
          </p:cNvPr>
          <p:cNvSpPr txBox="1"/>
          <p:nvPr/>
        </p:nvSpPr>
        <p:spPr>
          <a:xfrm>
            <a:off x="2296409" y="4896651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D6E2EE4-45F7-3C43-B6E9-66B7822891F3}"/>
              </a:ext>
            </a:extLst>
          </p:cNvPr>
          <p:cNvSpPr txBox="1"/>
          <p:nvPr/>
        </p:nvSpPr>
        <p:spPr>
          <a:xfrm>
            <a:off x="2863123" y="4886254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7769E80-6EED-E249-A73D-0127DA4F9A2D}"/>
              </a:ext>
            </a:extLst>
          </p:cNvPr>
          <p:cNvSpPr txBox="1"/>
          <p:nvPr/>
        </p:nvSpPr>
        <p:spPr>
          <a:xfrm>
            <a:off x="3422633" y="4885304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7CD710C1-B364-4346-A01C-72E11AF4B583}"/>
              </a:ext>
            </a:extLst>
          </p:cNvPr>
          <p:cNvSpPr txBox="1"/>
          <p:nvPr/>
        </p:nvSpPr>
        <p:spPr>
          <a:xfrm>
            <a:off x="3937406" y="486356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</p:spTree>
    <p:extLst>
      <p:ext uri="{BB962C8B-B14F-4D97-AF65-F5344CB8AC3E}">
        <p14:creationId xmlns:p14="http://schemas.microsoft.com/office/powerpoint/2010/main" val="309892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5" grpId="0" animBg="1"/>
      <p:bldP spid="36" grpId="0" animBg="1"/>
      <p:bldP spid="39" grpId="0" animBg="1"/>
      <p:bldP spid="40" grpId="0"/>
      <p:bldP spid="41" grpId="0"/>
      <p:bldP spid="42" grpId="0"/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FA2107-C9C7-8043-8760-3B06A9A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2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E7146E6-D127-8B40-AB7F-F98FF5971E37}"/>
              </a:ext>
            </a:extLst>
          </p:cNvPr>
          <p:cNvCxnSpPr/>
          <p:nvPr/>
        </p:nvCxnSpPr>
        <p:spPr>
          <a:xfrm>
            <a:off x="925830" y="316922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FFD1CFF-C0C6-934E-9C65-A4B8DEA49FA0}"/>
              </a:ext>
            </a:extLst>
          </p:cNvPr>
          <p:cNvCxnSpPr/>
          <p:nvPr/>
        </p:nvCxnSpPr>
        <p:spPr>
          <a:xfrm>
            <a:off x="925830" y="4339943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45E9CA3-3C8D-0F46-92AC-2C02630436EF}"/>
              </a:ext>
            </a:extLst>
          </p:cNvPr>
          <p:cNvCxnSpPr/>
          <p:nvPr/>
        </p:nvCxnSpPr>
        <p:spPr>
          <a:xfrm>
            <a:off x="925830" y="5555684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EC68A0B-BDAD-B645-A3C0-CC3D44AEF82C}"/>
              </a:ext>
            </a:extLst>
          </p:cNvPr>
          <p:cNvCxnSpPr/>
          <p:nvPr/>
        </p:nvCxnSpPr>
        <p:spPr>
          <a:xfrm>
            <a:off x="1070264" y="291984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AA59DA0-DFAE-B040-B462-43D846BE39F1}"/>
              </a:ext>
            </a:extLst>
          </p:cNvPr>
          <p:cNvCxnSpPr/>
          <p:nvPr/>
        </p:nvCxnSpPr>
        <p:spPr>
          <a:xfrm>
            <a:off x="1523604" y="2930244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28F29B8-1EB9-804B-BCBF-37ABB8C81071}"/>
              </a:ext>
            </a:extLst>
          </p:cNvPr>
          <p:cNvCxnSpPr/>
          <p:nvPr/>
        </p:nvCxnSpPr>
        <p:spPr>
          <a:xfrm>
            <a:off x="1070264" y="5295333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EAA763-ADC8-1A49-905E-601E0923EB09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41E0C6-16EC-C947-9871-6120035522C2}"/>
              </a:ext>
            </a:extLst>
          </p:cNvPr>
          <p:cNvSpPr txBox="1"/>
          <p:nvPr/>
        </p:nvSpPr>
        <p:spPr>
          <a:xfrm>
            <a:off x="1334018" y="257821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C671B5-DBEB-0E48-B7BC-9B308A4D815B}"/>
              </a:ext>
            </a:extLst>
          </p:cNvPr>
          <p:cNvSpPr txBox="1"/>
          <p:nvPr/>
        </p:nvSpPr>
        <p:spPr>
          <a:xfrm>
            <a:off x="875086" y="486063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404A06C-7190-574D-B839-6EBF53B308F3}"/>
              </a:ext>
            </a:extLst>
          </p:cNvPr>
          <p:cNvSpPr txBox="1"/>
          <p:nvPr/>
        </p:nvSpPr>
        <p:spPr>
          <a:xfrm>
            <a:off x="6172200" y="2586873"/>
            <a:ext cx="247303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Reliable, not total, not FIFO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7CD31788-0D04-A748-BF13-00CC8ECBCEA0}"/>
              </a:ext>
            </a:extLst>
          </p:cNvPr>
          <p:cNvCxnSpPr/>
          <p:nvPr/>
        </p:nvCxnSpPr>
        <p:spPr>
          <a:xfrm>
            <a:off x="1485504" y="5308973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36B97E5-157C-184E-BE25-EFC41020E757}"/>
              </a:ext>
            </a:extLst>
          </p:cNvPr>
          <p:cNvSpPr txBox="1"/>
          <p:nvPr/>
        </p:nvSpPr>
        <p:spPr>
          <a:xfrm>
            <a:off x="1290326" y="487427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C6EC5D7-5B91-F34B-94D8-19924F1733C7}"/>
              </a:ext>
            </a:extLst>
          </p:cNvPr>
          <p:cNvSpPr txBox="1"/>
          <p:nvPr/>
        </p:nvSpPr>
        <p:spPr>
          <a:xfrm>
            <a:off x="6299200" y="3429000"/>
            <a:ext cx="330200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FIFO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m3 -&gt; m4</a:t>
            </a:r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59D634BD-53C4-B344-B19B-6F0AAF61C7B3}"/>
              </a:ext>
            </a:extLst>
          </p:cNvPr>
          <p:cNvSpPr/>
          <p:nvPr/>
        </p:nvSpPr>
        <p:spPr>
          <a:xfrm>
            <a:off x="2428240" y="28275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ccia su 19">
            <a:extLst>
              <a:ext uri="{FF2B5EF4-FFF2-40B4-BE49-F238E27FC236}">
                <a16:creationId xmlns:a16="http://schemas.microsoft.com/office/drawing/2014/main" id="{2C44DDB0-9091-B549-B2BD-8B4DE013A734}"/>
              </a:ext>
            </a:extLst>
          </p:cNvPr>
          <p:cNvSpPr/>
          <p:nvPr/>
        </p:nvSpPr>
        <p:spPr>
          <a:xfrm>
            <a:off x="2982369" y="28275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ccia su 20">
            <a:extLst>
              <a:ext uri="{FF2B5EF4-FFF2-40B4-BE49-F238E27FC236}">
                <a16:creationId xmlns:a16="http://schemas.microsoft.com/office/drawing/2014/main" id="{ECA8AE71-EA68-5547-96D9-4F0F4FA152B3}"/>
              </a:ext>
            </a:extLst>
          </p:cNvPr>
          <p:cNvSpPr/>
          <p:nvPr/>
        </p:nvSpPr>
        <p:spPr>
          <a:xfrm>
            <a:off x="3538818" y="2817206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D7564360-980F-944E-85DB-DE9DF1A63912}"/>
              </a:ext>
            </a:extLst>
          </p:cNvPr>
          <p:cNvSpPr/>
          <p:nvPr/>
        </p:nvSpPr>
        <p:spPr>
          <a:xfrm>
            <a:off x="4028441" y="2817206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D7ABEF6-DD42-8247-B915-96D1E6CE4245}"/>
              </a:ext>
            </a:extLst>
          </p:cNvPr>
          <p:cNvSpPr txBox="1"/>
          <p:nvPr/>
        </p:nvSpPr>
        <p:spPr>
          <a:xfrm>
            <a:off x="2296409" y="250866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7DE0D17-EAF4-E948-ACDA-C621457D45E3}"/>
              </a:ext>
            </a:extLst>
          </p:cNvPr>
          <p:cNvSpPr txBox="1"/>
          <p:nvPr/>
        </p:nvSpPr>
        <p:spPr>
          <a:xfrm>
            <a:off x="2863123" y="249826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B9DCFB7-9DCF-5D4D-8BDE-F5D81F10215D}"/>
              </a:ext>
            </a:extLst>
          </p:cNvPr>
          <p:cNvSpPr txBox="1"/>
          <p:nvPr/>
        </p:nvSpPr>
        <p:spPr>
          <a:xfrm>
            <a:off x="3422633" y="249731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06D8778-F677-884D-B782-EA54B2546F7C}"/>
              </a:ext>
            </a:extLst>
          </p:cNvPr>
          <p:cNvSpPr txBox="1"/>
          <p:nvPr/>
        </p:nvSpPr>
        <p:spPr>
          <a:xfrm>
            <a:off x="3937406" y="2475574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7" name="Freccia su 26">
            <a:extLst>
              <a:ext uri="{FF2B5EF4-FFF2-40B4-BE49-F238E27FC236}">
                <a16:creationId xmlns:a16="http://schemas.microsoft.com/office/drawing/2014/main" id="{8B343991-74C4-C647-809A-AEEA52A98A6C}"/>
              </a:ext>
            </a:extLst>
          </p:cNvPr>
          <p:cNvSpPr/>
          <p:nvPr/>
        </p:nvSpPr>
        <p:spPr>
          <a:xfrm>
            <a:off x="2428240" y="3983073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ccia su 27">
            <a:extLst>
              <a:ext uri="{FF2B5EF4-FFF2-40B4-BE49-F238E27FC236}">
                <a16:creationId xmlns:a16="http://schemas.microsoft.com/office/drawing/2014/main" id="{11D1B1FF-1676-5A47-BF57-E8E9AF8E7EF3}"/>
              </a:ext>
            </a:extLst>
          </p:cNvPr>
          <p:cNvSpPr/>
          <p:nvPr/>
        </p:nvSpPr>
        <p:spPr>
          <a:xfrm>
            <a:off x="2982369" y="3983073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ccia su 28">
            <a:extLst>
              <a:ext uri="{FF2B5EF4-FFF2-40B4-BE49-F238E27FC236}">
                <a16:creationId xmlns:a16="http://schemas.microsoft.com/office/drawing/2014/main" id="{5EA38F6F-C2E4-6C46-A22B-01C51317D885}"/>
              </a:ext>
            </a:extLst>
          </p:cNvPr>
          <p:cNvSpPr/>
          <p:nvPr/>
        </p:nvSpPr>
        <p:spPr>
          <a:xfrm>
            <a:off x="3538818" y="3972682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ccia su 29">
            <a:extLst>
              <a:ext uri="{FF2B5EF4-FFF2-40B4-BE49-F238E27FC236}">
                <a16:creationId xmlns:a16="http://schemas.microsoft.com/office/drawing/2014/main" id="{BF514758-7498-5E48-823A-D9DFF19C5A23}"/>
              </a:ext>
            </a:extLst>
          </p:cNvPr>
          <p:cNvSpPr/>
          <p:nvPr/>
        </p:nvSpPr>
        <p:spPr>
          <a:xfrm>
            <a:off x="4028441" y="3972682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AE4FCE7-3928-0F4E-9161-C73EA5683439}"/>
              </a:ext>
            </a:extLst>
          </p:cNvPr>
          <p:cNvSpPr txBox="1"/>
          <p:nvPr/>
        </p:nvSpPr>
        <p:spPr>
          <a:xfrm>
            <a:off x="2296409" y="3664136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DA5255E-E128-8547-9BF4-5A3BCD5F7022}"/>
              </a:ext>
            </a:extLst>
          </p:cNvPr>
          <p:cNvSpPr txBox="1"/>
          <p:nvPr/>
        </p:nvSpPr>
        <p:spPr>
          <a:xfrm>
            <a:off x="2863123" y="365373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27D043CA-5E8A-E649-9C3B-64CAB47F25B6}"/>
              </a:ext>
            </a:extLst>
          </p:cNvPr>
          <p:cNvSpPr txBox="1"/>
          <p:nvPr/>
        </p:nvSpPr>
        <p:spPr>
          <a:xfrm>
            <a:off x="3422633" y="365278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313AC10C-14AA-1542-B92D-B33C9AED970F}"/>
              </a:ext>
            </a:extLst>
          </p:cNvPr>
          <p:cNvSpPr txBox="1"/>
          <p:nvPr/>
        </p:nvSpPr>
        <p:spPr>
          <a:xfrm>
            <a:off x="3937406" y="363105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6" name="Freccia su 35">
            <a:extLst>
              <a:ext uri="{FF2B5EF4-FFF2-40B4-BE49-F238E27FC236}">
                <a16:creationId xmlns:a16="http://schemas.microsoft.com/office/drawing/2014/main" id="{BD191830-80D8-9D44-8788-D3314F78CC3E}"/>
              </a:ext>
            </a:extLst>
          </p:cNvPr>
          <p:cNvSpPr/>
          <p:nvPr/>
        </p:nvSpPr>
        <p:spPr>
          <a:xfrm>
            <a:off x="3624171" y="5214052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ccia su 38">
            <a:extLst>
              <a:ext uri="{FF2B5EF4-FFF2-40B4-BE49-F238E27FC236}">
                <a16:creationId xmlns:a16="http://schemas.microsoft.com/office/drawing/2014/main" id="{28D09EED-576B-A94A-9585-A2D271096029}"/>
              </a:ext>
            </a:extLst>
          </p:cNvPr>
          <p:cNvSpPr/>
          <p:nvPr/>
        </p:nvSpPr>
        <p:spPr>
          <a:xfrm>
            <a:off x="4178300" y="5214052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ccia su 39">
            <a:extLst>
              <a:ext uri="{FF2B5EF4-FFF2-40B4-BE49-F238E27FC236}">
                <a16:creationId xmlns:a16="http://schemas.microsoft.com/office/drawing/2014/main" id="{41A8766E-9626-F248-A904-533A2D1E210D}"/>
              </a:ext>
            </a:extLst>
          </p:cNvPr>
          <p:cNvSpPr/>
          <p:nvPr/>
        </p:nvSpPr>
        <p:spPr>
          <a:xfrm>
            <a:off x="2573618" y="52051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ccia su 40">
            <a:extLst>
              <a:ext uri="{FF2B5EF4-FFF2-40B4-BE49-F238E27FC236}">
                <a16:creationId xmlns:a16="http://schemas.microsoft.com/office/drawing/2014/main" id="{21CCE121-9557-7E44-8D24-63D61CC6B791}"/>
              </a:ext>
            </a:extLst>
          </p:cNvPr>
          <p:cNvSpPr/>
          <p:nvPr/>
        </p:nvSpPr>
        <p:spPr>
          <a:xfrm>
            <a:off x="3063241" y="5205197"/>
            <a:ext cx="172719" cy="341632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1A4ABEB-2FD1-9E4D-BCA9-A3DC9606D195}"/>
              </a:ext>
            </a:extLst>
          </p:cNvPr>
          <p:cNvSpPr txBox="1"/>
          <p:nvPr/>
        </p:nvSpPr>
        <p:spPr>
          <a:xfrm>
            <a:off x="3492340" y="489511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82EA9B4-0246-E04F-8EA1-EF3E29E36085}"/>
              </a:ext>
            </a:extLst>
          </p:cNvPr>
          <p:cNvSpPr txBox="1"/>
          <p:nvPr/>
        </p:nvSpPr>
        <p:spPr>
          <a:xfrm>
            <a:off x="4059054" y="4884718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59A4733F-3246-C84B-874B-7BA2B8CBAFDA}"/>
              </a:ext>
            </a:extLst>
          </p:cNvPr>
          <p:cNvSpPr txBox="1"/>
          <p:nvPr/>
        </p:nvSpPr>
        <p:spPr>
          <a:xfrm>
            <a:off x="2457433" y="4885304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m4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3E190B92-B8AE-1842-AE2F-C24477369B87}"/>
              </a:ext>
            </a:extLst>
          </p:cNvPr>
          <p:cNvSpPr txBox="1"/>
          <p:nvPr/>
        </p:nvSpPr>
        <p:spPr>
          <a:xfrm>
            <a:off x="2972206" y="486356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</p:spTree>
    <p:extLst>
      <p:ext uri="{BB962C8B-B14F-4D97-AF65-F5344CB8AC3E}">
        <p14:creationId xmlns:p14="http://schemas.microsoft.com/office/powerpoint/2010/main" val="9667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5" grpId="0"/>
      <p:bldP spid="36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C32181-BC1B-FB44-BCFA-BD85B0C2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3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F4A3A957-2A20-6E42-9039-2701A062E757}"/>
              </a:ext>
            </a:extLst>
          </p:cNvPr>
          <p:cNvCxnSpPr/>
          <p:nvPr/>
        </p:nvCxnSpPr>
        <p:spPr>
          <a:xfrm>
            <a:off x="925830" y="316922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881D6B8E-23C9-1B4B-A99C-86BED95D3087}"/>
              </a:ext>
            </a:extLst>
          </p:cNvPr>
          <p:cNvCxnSpPr/>
          <p:nvPr/>
        </p:nvCxnSpPr>
        <p:spPr>
          <a:xfrm>
            <a:off x="925830" y="4339943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C114AF99-65F3-1C45-B052-A73F51B32D0A}"/>
              </a:ext>
            </a:extLst>
          </p:cNvPr>
          <p:cNvCxnSpPr/>
          <p:nvPr/>
        </p:nvCxnSpPr>
        <p:spPr>
          <a:xfrm>
            <a:off x="925830" y="5555684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22788E57-9E4E-874C-B14B-97DA6590CBC0}"/>
              </a:ext>
            </a:extLst>
          </p:cNvPr>
          <p:cNvCxnSpPr/>
          <p:nvPr/>
        </p:nvCxnSpPr>
        <p:spPr>
          <a:xfrm>
            <a:off x="1070264" y="291984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E0E2DB-8E5B-4242-B133-578F661C5002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EEDBCFC-B70B-744A-912E-7D26DEFF920A}"/>
              </a:ext>
            </a:extLst>
          </p:cNvPr>
          <p:cNvCxnSpPr/>
          <p:nvPr/>
        </p:nvCxnSpPr>
        <p:spPr>
          <a:xfrm>
            <a:off x="1742206" y="2930238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D526C3-3ED3-6447-AE6D-135E533DFB04}"/>
              </a:ext>
            </a:extLst>
          </p:cNvPr>
          <p:cNvSpPr txBox="1"/>
          <p:nvPr/>
        </p:nvSpPr>
        <p:spPr>
          <a:xfrm>
            <a:off x="1478452" y="259034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CAC7A3ED-C2A9-AB41-BF4D-3DA4D3B8CEC9}"/>
              </a:ext>
            </a:extLst>
          </p:cNvPr>
          <p:cNvSpPr/>
          <p:nvPr/>
        </p:nvSpPr>
        <p:spPr>
          <a:xfrm>
            <a:off x="1631373" y="3979718"/>
            <a:ext cx="259772" cy="3602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98D36D9-6769-5541-9294-5EFD0332A612}"/>
              </a:ext>
            </a:extLst>
          </p:cNvPr>
          <p:cNvCxnSpPr/>
          <p:nvPr/>
        </p:nvCxnSpPr>
        <p:spPr>
          <a:xfrm>
            <a:off x="2248932" y="4111344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1D04B1-FF75-F747-A4F0-4BA8F6A6EA47}"/>
              </a:ext>
            </a:extLst>
          </p:cNvPr>
          <p:cNvSpPr txBox="1"/>
          <p:nvPr/>
        </p:nvSpPr>
        <p:spPr>
          <a:xfrm>
            <a:off x="1985178" y="3771446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6EA877-91CA-E64F-A767-19DC88812C4C}"/>
              </a:ext>
            </a:extLst>
          </p:cNvPr>
          <p:cNvSpPr txBox="1"/>
          <p:nvPr/>
        </p:nvSpPr>
        <p:spPr>
          <a:xfrm>
            <a:off x="1497505" y="359762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26BB37-4F82-0C49-8585-E061645D88BF}"/>
              </a:ext>
            </a:extLst>
          </p:cNvPr>
          <p:cNvSpPr txBox="1"/>
          <p:nvPr/>
        </p:nvSpPr>
        <p:spPr>
          <a:xfrm>
            <a:off x="6509327" y="2409133"/>
            <a:ext cx="214052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Total, FIFO, Not Causal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30EB7D3-2383-9644-A20A-85FA2E9DADD1}"/>
              </a:ext>
            </a:extLst>
          </p:cNvPr>
          <p:cNvSpPr txBox="1"/>
          <p:nvPr/>
        </p:nvSpPr>
        <p:spPr>
          <a:xfrm>
            <a:off x="6509327" y="3169229"/>
            <a:ext cx="2492432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Ordering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 (FIFO order)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m3 (local order)</a:t>
            </a:r>
          </a:p>
        </p:txBody>
      </p:sp>
      <p:sp>
        <p:nvSpPr>
          <p:cNvPr id="16" name="Freccia su 15">
            <a:extLst>
              <a:ext uri="{FF2B5EF4-FFF2-40B4-BE49-F238E27FC236}">
                <a16:creationId xmlns:a16="http://schemas.microsoft.com/office/drawing/2014/main" id="{1E651BE9-ED22-A340-8575-3EC3E9E1B2BD}"/>
              </a:ext>
            </a:extLst>
          </p:cNvPr>
          <p:cNvSpPr/>
          <p:nvPr/>
        </p:nvSpPr>
        <p:spPr>
          <a:xfrm>
            <a:off x="2819511" y="2809004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180432C3-402D-A843-9990-4BB6EB9CF3BA}"/>
              </a:ext>
            </a:extLst>
          </p:cNvPr>
          <p:cNvSpPr/>
          <p:nvPr/>
        </p:nvSpPr>
        <p:spPr>
          <a:xfrm>
            <a:off x="3446834" y="2809004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A168A9F8-1313-D748-B167-11A73AC4E877}"/>
              </a:ext>
            </a:extLst>
          </p:cNvPr>
          <p:cNvSpPr/>
          <p:nvPr/>
        </p:nvSpPr>
        <p:spPr>
          <a:xfrm>
            <a:off x="4156587" y="2814087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545869C-7766-FB45-B882-132E81FA4046}"/>
              </a:ext>
            </a:extLst>
          </p:cNvPr>
          <p:cNvSpPr txBox="1"/>
          <p:nvPr/>
        </p:nvSpPr>
        <p:spPr>
          <a:xfrm>
            <a:off x="2685643" y="250866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DFDFDA0-EE36-DA4F-AE3A-C425CB7A439A}"/>
              </a:ext>
            </a:extLst>
          </p:cNvPr>
          <p:cNvSpPr txBox="1"/>
          <p:nvPr/>
        </p:nvSpPr>
        <p:spPr>
          <a:xfrm>
            <a:off x="3350480" y="245482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E439727-30C6-A248-98AC-BD52948EB58C}"/>
              </a:ext>
            </a:extLst>
          </p:cNvPr>
          <p:cNvSpPr txBox="1"/>
          <p:nvPr/>
        </p:nvSpPr>
        <p:spPr>
          <a:xfrm>
            <a:off x="4074157" y="247666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2" name="Freccia su 21">
            <a:extLst>
              <a:ext uri="{FF2B5EF4-FFF2-40B4-BE49-F238E27FC236}">
                <a16:creationId xmlns:a16="http://schemas.microsoft.com/office/drawing/2014/main" id="{4AA6FC2B-5F38-AE44-B036-2806B01FE7DF}"/>
              </a:ext>
            </a:extLst>
          </p:cNvPr>
          <p:cNvSpPr/>
          <p:nvPr/>
        </p:nvSpPr>
        <p:spPr>
          <a:xfrm>
            <a:off x="2824701" y="5187298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00E2979C-1D7C-8641-A67F-CC3FB7BAE05D}"/>
              </a:ext>
            </a:extLst>
          </p:cNvPr>
          <p:cNvSpPr/>
          <p:nvPr/>
        </p:nvSpPr>
        <p:spPr>
          <a:xfrm>
            <a:off x="3452024" y="5187298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931EB498-474F-C540-B6C1-8236A0336C46}"/>
              </a:ext>
            </a:extLst>
          </p:cNvPr>
          <p:cNvSpPr/>
          <p:nvPr/>
        </p:nvSpPr>
        <p:spPr>
          <a:xfrm>
            <a:off x="4161777" y="5192381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CE75775-C239-B545-A8E5-C3A521E860FA}"/>
              </a:ext>
            </a:extLst>
          </p:cNvPr>
          <p:cNvSpPr txBox="1"/>
          <p:nvPr/>
        </p:nvSpPr>
        <p:spPr>
          <a:xfrm>
            <a:off x="2690833" y="4886954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90A75CD-E15C-2644-940E-1B5F329FFA62}"/>
              </a:ext>
            </a:extLst>
          </p:cNvPr>
          <p:cNvSpPr txBox="1"/>
          <p:nvPr/>
        </p:nvSpPr>
        <p:spPr>
          <a:xfrm>
            <a:off x="3355670" y="483311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6D5D8A8-DD39-7A48-B432-C24588853103}"/>
              </a:ext>
            </a:extLst>
          </p:cNvPr>
          <p:cNvSpPr txBox="1"/>
          <p:nvPr/>
        </p:nvSpPr>
        <p:spPr>
          <a:xfrm>
            <a:off x="4079347" y="485496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5" name="Esplosione 1 14">
            <a:extLst>
              <a:ext uri="{FF2B5EF4-FFF2-40B4-BE49-F238E27FC236}">
                <a16:creationId xmlns:a16="http://schemas.microsoft.com/office/drawing/2014/main" id="{AF63790B-8528-004A-AED4-2549133B8803}"/>
              </a:ext>
            </a:extLst>
          </p:cNvPr>
          <p:cNvSpPr/>
          <p:nvPr/>
        </p:nvSpPr>
        <p:spPr>
          <a:xfrm>
            <a:off x="4520385" y="4100952"/>
            <a:ext cx="376735" cy="477982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85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/>
      <p:bldP spid="26" grpId="0"/>
      <p:bldP spid="27" grpId="0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C32181-BC1B-FB44-BCFA-BD85B0C2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4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F4A3A957-2A20-6E42-9039-2701A062E757}"/>
              </a:ext>
            </a:extLst>
          </p:cNvPr>
          <p:cNvCxnSpPr/>
          <p:nvPr/>
        </p:nvCxnSpPr>
        <p:spPr>
          <a:xfrm>
            <a:off x="925830" y="3169229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881D6B8E-23C9-1B4B-A99C-86BED95D3087}"/>
              </a:ext>
            </a:extLst>
          </p:cNvPr>
          <p:cNvCxnSpPr/>
          <p:nvPr/>
        </p:nvCxnSpPr>
        <p:spPr>
          <a:xfrm>
            <a:off x="925830" y="4339943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C114AF99-65F3-1C45-B052-A73F51B32D0A}"/>
              </a:ext>
            </a:extLst>
          </p:cNvPr>
          <p:cNvCxnSpPr/>
          <p:nvPr/>
        </p:nvCxnSpPr>
        <p:spPr>
          <a:xfrm>
            <a:off x="925830" y="5555684"/>
            <a:ext cx="42176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22788E57-9E4E-874C-B14B-97DA6590CBC0}"/>
              </a:ext>
            </a:extLst>
          </p:cNvPr>
          <p:cNvCxnSpPr/>
          <p:nvPr/>
        </p:nvCxnSpPr>
        <p:spPr>
          <a:xfrm>
            <a:off x="1070264" y="2919847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E0E2DB-8E5B-4242-B133-578F661C5002}"/>
              </a:ext>
            </a:extLst>
          </p:cNvPr>
          <p:cNvSpPr txBox="1"/>
          <p:nvPr/>
        </p:nvSpPr>
        <p:spPr>
          <a:xfrm>
            <a:off x="806510" y="257994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EEDBCFC-B70B-744A-912E-7D26DEFF920A}"/>
              </a:ext>
            </a:extLst>
          </p:cNvPr>
          <p:cNvCxnSpPr/>
          <p:nvPr/>
        </p:nvCxnSpPr>
        <p:spPr>
          <a:xfrm>
            <a:off x="1742206" y="2930238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D526C3-3ED3-6447-AE6D-135E533DFB04}"/>
              </a:ext>
            </a:extLst>
          </p:cNvPr>
          <p:cNvSpPr txBox="1"/>
          <p:nvPr/>
        </p:nvSpPr>
        <p:spPr>
          <a:xfrm>
            <a:off x="1478452" y="2590340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CAC7A3ED-C2A9-AB41-BF4D-3DA4D3B8CEC9}"/>
              </a:ext>
            </a:extLst>
          </p:cNvPr>
          <p:cNvSpPr/>
          <p:nvPr/>
        </p:nvSpPr>
        <p:spPr>
          <a:xfrm>
            <a:off x="1631373" y="3979718"/>
            <a:ext cx="259772" cy="3602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98D36D9-6769-5541-9294-5EFD0332A612}"/>
              </a:ext>
            </a:extLst>
          </p:cNvPr>
          <p:cNvCxnSpPr/>
          <p:nvPr/>
        </p:nvCxnSpPr>
        <p:spPr>
          <a:xfrm>
            <a:off x="2248932" y="4111344"/>
            <a:ext cx="0" cy="4779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1D04B1-FF75-F747-A4F0-4BA8F6A6EA47}"/>
              </a:ext>
            </a:extLst>
          </p:cNvPr>
          <p:cNvSpPr txBox="1"/>
          <p:nvPr/>
        </p:nvSpPr>
        <p:spPr>
          <a:xfrm>
            <a:off x="1985178" y="3771446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6EA877-91CA-E64F-A767-19DC88812C4C}"/>
              </a:ext>
            </a:extLst>
          </p:cNvPr>
          <p:cNvSpPr txBox="1"/>
          <p:nvPr/>
        </p:nvSpPr>
        <p:spPr>
          <a:xfrm>
            <a:off x="1497505" y="359762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26BB37-4F82-0C49-8585-E061645D88BF}"/>
              </a:ext>
            </a:extLst>
          </p:cNvPr>
          <p:cNvSpPr txBox="1"/>
          <p:nvPr/>
        </p:nvSpPr>
        <p:spPr>
          <a:xfrm>
            <a:off x="6668020" y="2697020"/>
            <a:ext cx="214052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Total, FIFO, Causal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70F9FA8-276D-2544-A054-D8FB83B685AA}"/>
              </a:ext>
            </a:extLst>
          </p:cNvPr>
          <p:cNvSpPr txBox="1"/>
          <p:nvPr/>
        </p:nvSpPr>
        <p:spPr>
          <a:xfrm>
            <a:off x="6492068" y="3499713"/>
            <a:ext cx="2492432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Ordering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m2 (FIFO order)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m1 -&gt; m3 (local order)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m1, m2, m3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m1, m3, m2</a:t>
            </a:r>
          </a:p>
        </p:txBody>
      </p:sp>
      <p:sp>
        <p:nvSpPr>
          <p:cNvPr id="14" name="Freccia giù 13">
            <a:extLst>
              <a:ext uri="{FF2B5EF4-FFF2-40B4-BE49-F238E27FC236}">
                <a16:creationId xmlns:a16="http://schemas.microsoft.com/office/drawing/2014/main" id="{90048744-DA10-A44F-9895-60027A5E1BC8}"/>
              </a:ext>
            </a:extLst>
          </p:cNvPr>
          <p:cNvSpPr/>
          <p:nvPr/>
        </p:nvSpPr>
        <p:spPr>
          <a:xfrm>
            <a:off x="7538720" y="4350335"/>
            <a:ext cx="199564" cy="3537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su 16">
            <a:extLst>
              <a:ext uri="{FF2B5EF4-FFF2-40B4-BE49-F238E27FC236}">
                <a16:creationId xmlns:a16="http://schemas.microsoft.com/office/drawing/2014/main" id="{88F18874-81B9-1444-93A4-40E12350715E}"/>
              </a:ext>
            </a:extLst>
          </p:cNvPr>
          <p:cNvSpPr/>
          <p:nvPr/>
        </p:nvSpPr>
        <p:spPr>
          <a:xfrm>
            <a:off x="4695898" y="5196595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ccia su 17">
            <a:extLst>
              <a:ext uri="{FF2B5EF4-FFF2-40B4-BE49-F238E27FC236}">
                <a16:creationId xmlns:a16="http://schemas.microsoft.com/office/drawing/2014/main" id="{B216B491-E97E-0641-B323-539F346A789B}"/>
              </a:ext>
            </a:extLst>
          </p:cNvPr>
          <p:cNvSpPr/>
          <p:nvPr/>
        </p:nvSpPr>
        <p:spPr>
          <a:xfrm>
            <a:off x="3452024" y="5187298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ccia su 18">
            <a:extLst>
              <a:ext uri="{FF2B5EF4-FFF2-40B4-BE49-F238E27FC236}">
                <a16:creationId xmlns:a16="http://schemas.microsoft.com/office/drawing/2014/main" id="{3D3BAA94-910A-BB4B-989E-C04F025AB27A}"/>
              </a:ext>
            </a:extLst>
          </p:cNvPr>
          <p:cNvSpPr/>
          <p:nvPr/>
        </p:nvSpPr>
        <p:spPr>
          <a:xfrm>
            <a:off x="4161777" y="5192381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1F5874F-869B-0A40-9A64-2C57C751881C}"/>
              </a:ext>
            </a:extLst>
          </p:cNvPr>
          <p:cNvSpPr txBox="1"/>
          <p:nvPr/>
        </p:nvSpPr>
        <p:spPr>
          <a:xfrm>
            <a:off x="4562030" y="4896251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16393EC-3E45-C14F-9E10-9104381C7844}"/>
              </a:ext>
            </a:extLst>
          </p:cNvPr>
          <p:cNvSpPr txBox="1"/>
          <p:nvPr/>
        </p:nvSpPr>
        <p:spPr>
          <a:xfrm>
            <a:off x="3355670" y="483311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476D638-4DBD-4E49-9318-F168A3F9D036}"/>
              </a:ext>
            </a:extLst>
          </p:cNvPr>
          <p:cNvSpPr txBox="1"/>
          <p:nvPr/>
        </p:nvSpPr>
        <p:spPr>
          <a:xfrm>
            <a:off x="4079347" y="485496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3" name="Freccia su 22">
            <a:extLst>
              <a:ext uri="{FF2B5EF4-FFF2-40B4-BE49-F238E27FC236}">
                <a16:creationId xmlns:a16="http://schemas.microsoft.com/office/drawing/2014/main" id="{15B0DC89-73F5-DF48-BA7F-6D1193A8A503}"/>
              </a:ext>
            </a:extLst>
          </p:cNvPr>
          <p:cNvSpPr/>
          <p:nvPr/>
        </p:nvSpPr>
        <p:spPr>
          <a:xfrm>
            <a:off x="3819575" y="2800843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su 23">
            <a:extLst>
              <a:ext uri="{FF2B5EF4-FFF2-40B4-BE49-F238E27FC236}">
                <a16:creationId xmlns:a16="http://schemas.microsoft.com/office/drawing/2014/main" id="{640B0888-D5F3-484E-BDBA-44B77D156024}"/>
              </a:ext>
            </a:extLst>
          </p:cNvPr>
          <p:cNvSpPr/>
          <p:nvPr/>
        </p:nvSpPr>
        <p:spPr>
          <a:xfrm>
            <a:off x="2575701" y="2791546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ccia su 24">
            <a:extLst>
              <a:ext uri="{FF2B5EF4-FFF2-40B4-BE49-F238E27FC236}">
                <a16:creationId xmlns:a16="http://schemas.microsoft.com/office/drawing/2014/main" id="{2D53C19E-82A0-564B-8345-BC4D2B6D4CAB}"/>
              </a:ext>
            </a:extLst>
          </p:cNvPr>
          <p:cNvSpPr/>
          <p:nvPr/>
        </p:nvSpPr>
        <p:spPr>
          <a:xfrm>
            <a:off x="3285454" y="2796629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4FE19E3-5E7C-0B4F-9B59-A21245C2B6F6}"/>
              </a:ext>
            </a:extLst>
          </p:cNvPr>
          <p:cNvSpPr txBox="1"/>
          <p:nvPr/>
        </p:nvSpPr>
        <p:spPr>
          <a:xfrm>
            <a:off x="3685707" y="2500499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542B733-FD84-534C-BDF6-47B9BBFCD1ED}"/>
              </a:ext>
            </a:extLst>
          </p:cNvPr>
          <p:cNvSpPr txBox="1"/>
          <p:nvPr/>
        </p:nvSpPr>
        <p:spPr>
          <a:xfrm>
            <a:off x="2479347" y="2437367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C3107D-A809-3341-9379-0CC42AAD6195}"/>
              </a:ext>
            </a:extLst>
          </p:cNvPr>
          <p:cNvSpPr txBox="1"/>
          <p:nvPr/>
        </p:nvSpPr>
        <p:spPr>
          <a:xfrm>
            <a:off x="3203024" y="2459211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  <p:sp>
        <p:nvSpPr>
          <p:cNvPr id="29" name="Freccia su 28">
            <a:extLst>
              <a:ext uri="{FF2B5EF4-FFF2-40B4-BE49-F238E27FC236}">
                <a16:creationId xmlns:a16="http://schemas.microsoft.com/office/drawing/2014/main" id="{468F97D9-CD6F-8242-BE2A-1B0545D321E5}"/>
              </a:ext>
            </a:extLst>
          </p:cNvPr>
          <p:cNvSpPr/>
          <p:nvPr/>
        </p:nvSpPr>
        <p:spPr>
          <a:xfrm>
            <a:off x="3902005" y="3987127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ccia su 31">
            <a:extLst>
              <a:ext uri="{FF2B5EF4-FFF2-40B4-BE49-F238E27FC236}">
                <a16:creationId xmlns:a16="http://schemas.microsoft.com/office/drawing/2014/main" id="{4E004528-E325-C34B-A988-F6D3119F56E7}"/>
              </a:ext>
            </a:extLst>
          </p:cNvPr>
          <p:cNvSpPr/>
          <p:nvPr/>
        </p:nvSpPr>
        <p:spPr>
          <a:xfrm>
            <a:off x="3367884" y="3982913"/>
            <a:ext cx="259772" cy="360225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41AA17EF-198F-FA48-8EE9-E442ACBAF74E}"/>
              </a:ext>
            </a:extLst>
          </p:cNvPr>
          <p:cNvSpPr txBox="1"/>
          <p:nvPr/>
        </p:nvSpPr>
        <p:spPr>
          <a:xfrm>
            <a:off x="3768137" y="3686783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m3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E24455C7-B0F9-D248-8611-D0FE82840051}"/>
              </a:ext>
            </a:extLst>
          </p:cNvPr>
          <p:cNvSpPr txBox="1"/>
          <p:nvPr/>
        </p:nvSpPr>
        <p:spPr>
          <a:xfrm>
            <a:off x="3285454" y="3645495"/>
            <a:ext cx="52750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m2</a:t>
            </a:r>
          </a:p>
        </p:txBody>
      </p:sp>
    </p:spTree>
    <p:extLst>
      <p:ext uri="{BB962C8B-B14F-4D97-AF65-F5344CB8AC3E}">
        <p14:creationId xmlns:p14="http://schemas.microsoft.com/office/powerpoint/2010/main" val="169116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 animBg="1"/>
      <p:bldP spid="32" grpId="0" animBg="1"/>
      <p:bldP spid="33" grpId="0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27" name="Rectangle 53"/>
          <p:cNvSpPr>
            <a:spLocks noChangeArrowheads="1"/>
          </p:cNvSpPr>
          <p:nvPr/>
        </p:nvSpPr>
        <p:spPr bwMode="auto">
          <a:xfrm>
            <a:off x="152400" y="152400"/>
            <a:ext cx="10287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28" name="Group 32"/>
          <p:cNvGrpSpPr>
            <a:grpSpLocks noChangeAspect="1"/>
          </p:cNvGrpSpPr>
          <p:nvPr/>
        </p:nvGrpSpPr>
        <p:grpSpPr bwMode="auto">
          <a:xfrm>
            <a:off x="138108" y="2628906"/>
            <a:ext cx="10007413" cy="3209925"/>
            <a:chOff x="1134" y="6201"/>
            <a:chExt cx="9540" cy="3060"/>
          </a:xfrm>
        </p:grpSpPr>
        <p:sp>
          <p:nvSpPr>
            <p:cNvPr id="29" name="AutoShape 52"/>
            <p:cNvSpPr>
              <a:spLocks noChangeAspect="1" noChangeArrowheads="1" noTextEdit="1"/>
            </p:cNvSpPr>
            <p:nvPr/>
          </p:nvSpPr>
          <p:spPr bwMode="auto">
            <a:xfrm>
              <a:off x="1134" y="6201"/>
              <a:ext cx="9540" cy="3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Line 51"/>
            <p:cNvSpPr>
              <a:spLocks noChangeShapeType="1"/>
            </p:cNvSpPr>
            <p:nvPr/>
          </p:nvSpPr>
          <p:spPr bwMode="auto">
            <a:xfrm>
              <a:off x="1494" y="6921"/>
              <a:ext cx="57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Line 50"/>
            <p:cNvSpPr>
              <a:spLocks noChangeShapeType="1"/>
            </p:cNvSpPr>
            <p:nvPr/>
          </p:nvSpPr>
          <p:spPr bwMode="auto">
            <a:xfrm>
              <a:off x="1494" y="7821"/>
              <a:ext cx="57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Line 49"/>
            <p:cNvSpPr>
              <a:spLocks noChangeShapeType="1"/>
            </p:cNvSpPr>
            <p:nvPr/>
          </p:nvSpPr>
          <p:spPr bwMode="auto">
            <a:xfrm>
              <a:off x="1521" y="8901"/>
              <a:ext cx="57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Line 48"/>
            <p:cNvSpPr>
              <a:spLocks noChangeShapeType="1"/>
            </p:cNvSpPr>
            <p:nvPr/>
          </p:nvSpPr>
          <p:spPr bwMode="auto">
            <a:xfrm>
              <a:off x="2214" y="6741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Line 47"/>
            <p:cNvSpPr>
              <a:spLocks noChangeShapeType="1"/>
            </p:cNvSpPr>
            <p:nvPr/>
          </p:nvSpPr>
          <p:spPr bwMode="auto">
            <a:xfrm>
              <a:off x="2961" y="8721"/>
              <a:ext cx="1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Line 46"/>
            <p:cNvSpPr>
              <a:spLocks noChangeShapeType="1"/>
            </p:cNvSpPr>
            <p:nvPr/>
          </p:nvSpPr>
          <p:spPr bwMode="auto">
            <a:xfrm>
              <a:off x="3833" y="7641"/>
              <a:ext cx="1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AutoShape 45"/>
            <p:cNvSpPr>
              <a:spLocks noChangeArrowheads="1"/>
            </p:cNvSpPr>
            <p:nvPr/>
          </p:nvSpPr>
          <p:spPr bwMode="auto">
            <a:xfrm>
              <a:off x="2934" y="7461"/>
              <a:ext cx="180" cy="36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AutoShape 44"/>
            <p:cNvSpPr>
              <a:spLocks noChangeArrowheads="1"/>
            </p:cNvSpPr>
            <p:nvPr/>
          </p:nvSpPr>
          <p:spPr bwMode="auto">
            <a:xfrm>
              <a:off x="4914" y="8541"/>
              <a:ext cx="180" cy="36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Line 43"/>
            <p:cNvSpPr>
              <a:spLocks noChangeShapeType="1"/>
            </p:cNvSpPr>
            <p:nvPr/>
          </p:nvSpPr>
          <p:spPr bwMode="auto">
            <a:xfrm>
              <a:off x="6074" y="8721"/>
              <a:ext cx="1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1974" y="647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m1</a:t>
              </a:r>
            </a:p>
          </p:txBody>
        </p:sp>
        <p:sp>
          <p:nvSpPr>
            <p:cNvPr id="40" name="Text Box 41"/>
            <p:cNvSpPr txBox="1">
              <a:spLocks noChangeArrowheads="1"/>
            </p:cNvSpPr>
            <p:nvPr/>
          </p:nvSpPr>
          <p:spPr bwMode="auto">
            <a:xfrm>
              <a:off x="2754" y="717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m1</a:t>
              </a:r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8623" y="7461"/>
              <a:ext cx="1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AutoShape 39"/>
            <p:cNvSpPr>
              <a:spLocks noChangeArrowheads="1"/>
            </p:cNvSpPr>
            <p:nvPr/>
          </p:nvSpPr>
          <p:spPr bwMode="auto">
            <a:xfrm>
              <a:off x="8514" y="8181"/>
              <a:ext cx="180" cy="36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Text Box 38"/>
            <p:cNvSpPr txBox="1">
              <a:spLocks noChangeArrowheads="1"/>
            </p:cNvSpPr>
            <p:nvPr/>
          </p:nvSpPr>
          <p:spPr bwMode="auto">
            <a:xfrm>
              <a:off x="3594" y="733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m2</a:t>
              </a:r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4734" y="825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m2</a:t>
              </a:r>
            </a:p>
          </p:txBody>
        </p:sp>
        <p:sp>
          <p:nvSpPr>
            <p:cNvPr id="45" name="Text Box 36"/>
            <p:cNvSpPr txBox="1">
              <a:spLocks noChangeArrowheads="1"/>
            </p:cNvSpPr>
            <p:nvPr/>
          </p:nvSpPr>
          <p:spPr bwMode="auto">
            <a:xfrm>
              <a:off x="2724" y="841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m3</a:t>
              </a:r>
            </a:p>
          </p:txBody>
        </p:sp>
        <p:sp>
          <p:nvSpPr>
            <p:cNvPr id="46" name="Text Box 35"/>
            <p:cNvSpPr txBox="1">
              <a:spLocks noChangeArrowheads="1"/>
            </p:cNvSpPr>
            <p:nvPr/>
          </p:nvSpPr>
          <p:spPr bwMode="auto">
            <a:xfrm>
              <a:off x="5814" y="842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m4</a:t>
              </a:r>
            </a:p>
          </p:txBody>
        </p:sp>
        <p:sp>
          <p:nvSpPr>
            <p:cNvPr id="47" name="Text Box 34"/>
            <p:cNvSpPr txBox="1">
              <a:spLocks noChangeArrowheads="1"/>
            </p:cNvSpPr>
            <p:nvPr/>
          </p:nvSpPr>
          <p:spPr bwMode="auto">
            <a:xfrm>
              <a:off x="8694" y="7461"/>
              <a:ext cx="16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Broadcast</a:t>
              </a:r>
            </a:p>
          </p:txBody>
        </p:sp>
        <p:sp>
          <p:nvSpPr>
            <p:cNvPr id="48" name="Text Box 33"/>
            <p:cNvSpPr txBox="1">
              <a:spLocks noChangeArrowheads="1"/>
            </p:cNvSpPr>
            <p:nvPr/>
          </p:nvSpPr>
          <p:spPr bwMode="auto">
            <a:xfrm>
              <a:off x="8694" y="8181"/>
              <a:ext cx="9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alt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Deliver</a:t>
              </a:r>
            </a:p>
          </p:txBody>
        </p:sp>
      </p:grpSp>
      <p:sp>
        <p:nvSpPr>
          <p:cNvPr id="49" name="CasellaDiTesto 48"/>
          <p:cNvSpPr txBox="1"/>
          <p:nvPr/>
        </p:nvSpPr>
        <p:spPr>
          <a:xfrm>
            <a:off x="515746" y="2229411"/>
            <a:ext cx="899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/>
              <a:t>Provide all the delivery sequences such that both total order and causal order are satisfied.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16589749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79066" y="2066290"/>
            <a:ext cx="8486776" cy="825606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GB" sz="1800" dirty="0"/>
              <a:t>Provide all the possible sequences satisfying Causal Order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1800" dirty="0"/>
              <a:t>Complete the execution in order to have a run satisfying FIFO order but not causal order</a:t>
            </a:r>
          </a:p>
          <a:p>
            <a:pPr marL="457200" indent="-457200">
              <a:buFont typeface="+mj-lt"/>
              <a:buAutoNum type="arabicPeriod"/>
            </a:pPr>
            <a:endParaRPr lang="en-GB" sz="1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1271588" y="3600449"/>
            <a:ext cx="1859046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15" y="3411217"/>
            <a:ext cx="7901732" cy="232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893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25829" y="1845734"/>
            <a:ext cx="8486776" cy="2224267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GB" dirty="0"/>
              <a:t>Provide the list al all the possible delivery sequences that satisfy both Total Order and Causal Order</a:t>
            </a:r>
            <a:endParaRPr lang="it-IT" dirty="0"/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Complete the history (by adding the missing delivery events) in order to satisfy Total Order but not Causal Order</a:t>
            </a:r>
            <a:endParaRPr lang="it-IT" dirty="0"/>
          </a:p>
          <a:p>
            <a:pPr marL="457200" lvl="0" indent="-457200">
              <a:buFont typeface="+mj-lt"/>
              <a:buAutoNum type="arabicPeriod"/>
            </a:pPr>
            <a:r>
              <a:rPr lang="en-GB" dirty="0"/>
              <a:t>Complete the history (by adding the missing delivery events) in order to satisfy FIFO Order but not Causal Order nor Total Order</a:t>
            </a:r>
            <a:endParaRPr lang="it-IT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43025" y="4814887"/>
            <a:ext cx="10287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4070001"/>
            <a:ext cx="5957888" cy="222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21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C. </a:t>
            </a:r>
            <a:r>
              <a:rPr lang="en-GB" dirty="0" err="1"/>
              <a:t>Cachin</a:t>
            </a:r>
            <a:r>
              <a:rPr lang="en-GB" dirty="0"/>
              <a:t>, R. </a:t>
            </a:r>
            <a:r>
              <a:rPr lang="en-GB" dirty="0" err="1"/>
              <a:t>Guerraoui</a:t>
            </a:r>
            <a:r>
              <a:rPr lang="en-GB" dirty="0"/>
              <a:t> and L. Rodrigues. Introduction to Reliable and Secure Distributed Programming, Springer, 2011</a:t>
            </a:r>
          </a:p>
          <a:p>
            <a:pPr lvl="1"/>
            <a:r>
              <a:rPr lang="en-GB" dirty="0"/>
              <a:t>Chapter 3 - from Section 3.9 (except 3.9.6)</a:t>
            </a:r>
          </a:p>
          <a:p>
            <a:pPr marL="201168" lvl="1" indent="0">
              <a:buNone/>
            </a:pPr>
            <a:endParaRPr lang="en-GB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672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9893</TotalTime>
  <Words>2342</Words>
  <Application>Microsoft Macintosh PowerPoint</Application>
  <PresentationFormat>Diapositive 35 mm</PresentationFormat>
  <Paragraphs>595</Paragraphs>
  <Slides>40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40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Retrospettivo</vt:lpstr>
      <vt:lpstr>Dependable Distributed Systems Master of Science in Engineering in Computer Science    AA 2026/2027</vt:lpstr>
      <vt:lpstr>Ordered Communication</vt:lpstr>
      <vt:lpstr>Advantages of ordered communication</vt:lpstr>
      <vt:lpstr>FIFO Broadcast - Specification</vt:lpstr>
      <vt:lpstr>Example</vt:lpstr>
      <vt:lpstr>Example</vt:lpstr>
      <vt:lpstr>Example</vt:lpstr>
      <vt:lpstr>FIFO Broadcast - Implementation</vt:lpstr>
      <vt:lpstr>Example 1</vt:lpstr>
      <vt:lpstr>Example 2</vt:lpstr>
      <vt:lpstr>Example 3</vt:lpstr>
      <vt:lpstr>Causal Order Broadcast</vt:lpstr>
      <vt:lpstr>Causal Order Broadcast Specification</vt:lpstr>
      <vt:lpstr>Causal Order Broadcast</vt:lpstr>
      <vt:lpstr>Example 1</vt:lpstr>
      <vt:lpstr>Example 2</vt:lpstr>
      <vt:lpstr>Example 3</vt:lpstr>
      <vt:lpstr>Causal Order Broadcast Implementation</vt:lpstr>
      <vt:lpstr>Waiting Causal Broadcast example</vt:lpstr>
      <vt:lpstr>Causal Order Broadcast: Safety</vt:lpstr>
      <vt:lpstr>Proof – basic case (K=0)</vt:lpstr>
      <vt:lpstr>Case 1 – brodacast produced by the same process</vt:lpstr>
      <vt:lpstr>Case 2 – brodacast produced by distinct processes</vt:lpstr>
      <vt:lpstr>Proof  – Inductive step(k&gt;0)</vt:lpstr>
      <vt:lpstr>Causal Order Broadcast: Liveness</vt:lpstr>
      <vt:lpstr>Causal Order Broadcast Implementation</vt:lpstr>
      <vt:lpstr>Non-Waiting Causal Broadcast example</vt:lpstr>
      <vt:lpstr>Advantages of Ordered Communication</vt:lpstr>
      <vt:lpstr>Total Order Broadcast</vt:lpstr>
      <vt:lpstr>Total Order Broadcast</vt:lpstr>
      <vt:lpstr>Relationship between Broadcast Specifications</vt:lpstr>
      <vt:lpstr>Let’s Identify </vt:lpstr>
      <vt:lpstr>Execution 1</vt:lpstr>
      <vt:lpstr>Execution 2</vt:lpstr>
      <vt:lpstr>Execution 3</vt:lpstr>
      <vt:lpstr>Execution 4</vt:lpstr>
      <vt:lpstr>Exercise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Master of Science in Engineering in Computer Science    AA 2017/2018</dc:title>
  <dc:creator>Silvia Bonomi</dc:creator>
  <cp:lastModifiedBy>Silvia Bonomi</cp:lastModifiedBy>
  <cp:revision>347</cp:revision>
  <cp:lastPrinted>2017-11-01T16:05:25Z</cp:lastPrinted>
  <dcterms:created xsi:type="dcterms:W3CDTF">2017-09-15T08:51:14Z</dcterms:created>
  <dcterms:modified xsi:type="dcterms:W3CDTF">2026-10-20T21:04:57Z</dcterms:modified>
</cp:coreProperties>
</file>