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5" r:id="rId1"/>
  </p:sldMasterIdLst>
  <p:notesMasterIdLst>
    <p:notesMasterId r:id="rId27"/>
  </p:notesMasterIdLst>
  <p:sldIdLst>
    <p:sldId id="256" r:id="rId2"/>
    <p:sldId id="284" r:id="rId3"/>
    <p:sldId id="303" r:id="rId4"/>
    <p:sldId id="304" r:id="rId5"/>
    <p:sldId id="305" r:id="rId6"/>
    <p:sldId id="306" r:id="rId7"/>
    <p:sldId id="285" r:id="rId8"/>
    <p:sldId id="307" r:id="rId9"/>
    <p:sldId id="308" r:id="rId10"/>
    <p:sldId id="309" r:id="rId11"/>
    <p:sldId id="287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8" r:id="rId21"/>
    <p:sldId id="299" r:id="rId22"/>
    <p:sldId id="300" r:id="rId23"/>
    <p:sldId id="301" r:id="rId24"/>
    <p:sldId id="302" r:id="rId25"/>
    <p:sldId id="283" r:id="rId26"/>
  </p:sldIdLst>
  <p:sldSz cx="10287000" cy="6858000" type="35mm"/>
  <p:notesSz cx="6858000" cy="9144000"/>
  <p:defaultTextStyle>
    <a:defPPr>
      <a:defRPr lang="en-US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591"/>
  </p:normalViewPr>
  <p:slideViewPr>
    <p:cSldViewPr snapToGrid="0" snapToObjects="1">
      <p:cViewPr varScale="1">
        <p:scale>
          <a:sx n="118" d="100"/>
          <a:sy n="118" d="100"/>
        </p:scale>
        <p:origin x="1248" y="208"/>
      </p:cViewPr>
      <p:guideLst>
        <p:guide orient="horz" pos="21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34F95-BFF0-184C-9CF7-1FBA526794A6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66C1B-9924-9649-9BEF-5BF5C1F203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830" y="758952"/>
            <a:ext cx="8486775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168" y="4455621"/>
            <a:ext cx="848677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9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758952"/>
            <a:ext cx="8486775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4453128"/>
            <a:ext cx="8486775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10/27/26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5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830" y="1845736"/>
            <a:ext cx="4166235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1845735"/>
            <a:ext cx="4166235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582335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2582334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4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7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6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4178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408810" y="0"/>
            <a:ext cx="54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594359"/>
            <a:ext cx="2700338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506" y="731520"/>
            <a:ext cx="5477828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762" y="2926080"/>
            <a:ext cx="2700338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2777" y="6459787"/>
            <a:ext cx="2209368" cy="365125"/>
          </a:xfrm>
        </p:spPr>
        <p:txBody>
          <a:bodyPr/>
          <a:lstStyle>
            <a:lvl1pPr algn="l">
              <a:defRPr/>
            </a:lvl1pPr>
          </a:lstStyle>
          <a:p>
            <a:fld id="{DA16AA21-1863-4931-97CB-99D0A168701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0506" y="6459787"/>
            <a:ext cx="39219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02843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491507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5074920"/>
            <a:ext cx="853821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286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30" y="5907024"/>
            <a:ext cx="853821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412302"/>
            <a:ext cx="2218134" cy="5759898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412302"/>
            <a:ext cx="6525816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63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18599" y="697230"/>
            <a:ext cx="9798368" cy="60579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18599" y="1440180"/>
            <a:ext cx="4822031" cy="51435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194935" y="1440180"/>
            <a:ext cx="4822031" cy="51435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30601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7"/>
          <p:cNvSpPr>
            <a:spLocks noChangeShapeType="1"/>
          </p:cNvSpPr>
          <p:nvPr userDrawn="1"/>
        </p:nvSpPr>
        <p:spPr bwMode="auto">
          <a:xfrm>
            <a:off x="2103834" y="3644900"/>
            <a:ext cx="8143875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 sz="1620"/>
          </a:p>
        </p:txBody>
      </p:sp>
      <p:sp>
        <p:nvSpPr>
          <p:cNvPr id="4" name="AutoShape 19"/>
          <p:cNvSpPr>
            <a:spLocks noChangeArrowheads="1"/>
          </p:cNvSpPr>
          <p:nvPr userDrawn="1"/>
        </p:nvSpPr>
        <p:spPr bwMode="auto">
          <a:xfrm>
            <a:off x="-3625453" y="-393700"/>
            <a:ext cx="4543425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1620">
              <a:latin typeface="Arial" charset="0"/>
            </a:endParaRPr>
          </a:p>
        </p:txBody>
      </p:sp>
      <p:sp>
        <p:nvSpPr>
          <p:cNvPr id="5" name="AutoShape 26"/>
          <p:cNvSpPr>
            <a:spLocks noChangeArrowheads="1"/>
          </p:cNvSpPr>
          <p:nvPr userDrawn="1"/>
        </p:nvSpPr>
        <p:spPr bwMode="auto">
          <a:xfrm rot="10800000">
            <a:off x="9356527" y="3213100"/>
            <a:ext cx="4543425" cy="4038600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rgbClr val="FFC6B9"/>
          </a:solidFill>
          <a:ln w="9525">
            <a:noFill/>
            <a:miter lim="800000"/>
            <a:headEnd/>
            <a:tailEnd/>
          </a:ln>
        </p:spPr>
        <p:txBody>
          <a:bodyPr rot="10800000"/>
          <a:lstStyle/>
          <a:p>
            <a:pPr>
              <a:defRPr/>
            </a:pPr>
            <a:endParaRPr lang="fr-FR" sz="1620">
              <a:latin typeface="Arial" charset="0"/>
            </a:endParaRPr>
          </a:p>
        </p:txBody>
      </p:sp>
      <p:sp>
        <p:nvSpPr>
          <p:cNvPr id="6" name="AutoShape 27"/>
          <p:cNvSpPr>
            <a:spLocks noChangeArrowheads="1"/>
          </p:cNvSpPr>
          <p:nvPr userDrawn="1"/>
        </p:nvSpPr>
        <p:spPr bwMode="auto">
          <a:xfrm rot="16200000">
            <a:off x="-201216" y="5768975"/>
            <a:ext cx="4038600" cy="4543425"/>
          </a:xfrm>
          <a:custGeom>
            <a:avLst/>
            <a:gdLst>
              <a:gd name="G0" fmla="+- 18994 0 0"/>
              <a:gd name="G1" fmla="+- -30013 0 0"/>
              <a:gd name="G2" fmla="+- 32000 0 0"/>
              <a:gd name="T0" fmla="*/ 32000 32000  1"/>
              <a:gd name="T1" fmla="*/ G0 G0  1"/>
              <a:gd name="T2" fmla="+- 0 T0 T1"/>
              <a:gd name="T3" fmla="sqrt T2"/>
              <a:gd name="G3" fmla="*/ 32000 T3 32000"/>
              <a:gd name="T4" fmla="*/ 32000 32000  1"/>
              <a:gd name="T5" fmla="*/ G1 G1  1"/>
              <a:gd name="T6" fmla="+- 0 T4 T5"/>
              <a:gd name="T7" fmla="sqrt T6"/>
              <a:gd name="G4" fmla="*/ 32000 T7 32000"/>
              <a:gd name="T8" fmla="*/ 32000 32000  1"/>
              <a:gd name="T9" fmla="*/ G2 G2  1"/>
              <a:gd name="T10" fmla="+- 0 T8 T9"/>
              <a:gd name="T11" fmla="sqrt T10"/>
              <a:gd name="G5" fmla="*/ 32000 T11 32000"/>
              <a:gd name="G6" fmla="+- 0 0 G3"/>
              <a:gd name="G7" fmla="+- 0 0 G4"/>
              <a:gd name="G8" fmla="+- 0 0 G5"/>
              <a:gd name="G9" fmla="+- 0 G4 G0"/>
              <a:gd name="G10" fmla="?: G9 G4 G0"/>
              <a:gd name="G11" fmla="?: G9 G1 G6"/>
              <a:gd name="G12" fmla="+- 0 G5 G0"/>
              <a:gd name="G13" fmla="?: G12 G5 G0"/>
              <a:gd name="G14" fmla="?: G12 G2 G3"/>
              <a:gd name="G15" fmla="+- G11 0 1"/>
              <a:gd name="G16" fmla="+- G14 1 0"/>
              <a:gd name="G17" fmla="+- 0 G14 G3"/>
              <a:gd name="G18" fmla="?: G17 G8 G13"/>
              <a:gd name="G19" fmla="?: G17 G0 G13"/>
              <a:gd name="G20" fmla="?: G17 G3 G16"/>
              <a:gd name="G21" fmla="+- 0 G6 G11"/>
              <a:gd name="G22" fmla="?: G21 G7 G10"/>
              <a:gd name="G23" fmla="?: G21 G0 G10"/>
              <a:gd name="G24" fmla="?: G21 G6 G15"/>
              <a:gd name="G25" fmla="min G10 G13"/>
              <a:gd name="G26" fmla="max G8 G7"/>
              <a:gd name="G27" fmla="max G26 G0"/>
              <a:gd name="T12" fmla="+- 0 G27 -32000"/>
              <a:gd name="T13" fmla="*/ T12 w 64000"/>
              <a:gd name="T14" fmla="+- 0 G11 -32000"/>
              <a:gd name="T15" fmla="*/ G11 h 64000"/>
              <a:gd name="T16" fmla="+- 0 G25 -32000"/>
              <a:gd name="T17" fmla="*/ T16 w 64000"/>
              <a:gd name="T18" fmla="+- 0 G14 -32000"/>
              <a:gd name="T19" fmla="*/ G14 h 64000"/>
            </a:gdLst>
            <a:ahLst/>
            <a:cxnLst>
              <a:cxn ang="0">
                <a:pos x="50994" y="6246"/>
              </a:cxn>
              <a:cxn ang="0">
                <a:pos x="64000" y="32000"/>
              </a:cxn>
              <a:cxn ang="0">
                <a:pos x="50994" y="57753"/>
              </a:cxn>
              <a:cxn ang="0">
                <a:pos x="50994" y="57753"/>
              </a:cxn>
              <a:cxn ang="0">
                <a:pos x="50993" y="57753"/>
              </a:cxn>
              <a:cxn ang="0">
                <a:pos x="50994" y="57754"/>
              </a:cxn>
              <a:cxn ang="0">
                <a:pos x="50994" y="6246"/>
              </a:cxn>
              <a:cxn ang="0">
                <a:pos x="50993" y="6246"/>
              </a:cxn>
              <a:cxn ang="0">
                <a:pos x="50994" y="6246"/>
              </a:cxn>
            </a:cxnLst>
            <a:rect l="T13" t="T15" r="T17" b="T19"/>
            <a:pathLst>
              <a:path w="64000" h="64000">
                <a:moveTo>
                  <a:pt x="50994" y="6246"/>
                </a:moveTo>
                <a:cubicBezTo>
                  <a:pt x="59172" y="12279"/>
                  <a:pt x="64000" y="21837"/>
                  <a:pt x="64000" y="32000"/>
                </a:cubicBezTo>
                <a:cubicBezTo>
                  <a:pt x="64000" y="42162"/>
                  <a:pt x="59172" y="51720"/>
                  <a:pt x="50994" y="57753"/>
                </a:cubicBezTo>
                <a:cubicBezTo>
                  <a:pt x="50993" y="57753"/>
                  <a:pt x="50993" y="57753"/>
                  <a:pt x="50993" y="57753"/>
                </a:cubicBezTo>
                <a:lnTo>
                  <a:pt x="50994" y="57754"/>
                </a:lnTo>
                <a:lnTo>
                  <a:pt x="50994" y="6246"/>
                </a:lnTo>
                <a:lnTo>
                  <a:pt x="50993" y="6246"/>
                </a:lnTo>
                <a:cubicBezTo>
                  <a:pt x="50993" y="6246"/>
                  <a:pt x="50993" y="6246"/>
                  <a:pt x="50994" y="6246"/>
                </a:cubicBezTo>
                <a:close/>
              </a:path>
            </a:pathLst>
          </a:custGeom>
          <a:solidFill>
            <a:srgbClr val="E3F1C7"/>
          </a:solidFill>
          <a:ln w="9525">
            <a:noFill/>
            <a:miter lim="800000"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fr-FR" sz="1620">
              <a:latin typeface="Arial" charset="0"/>
            </a:endParaRPr>
          </a:p>
        </p:txBody>
      </p:sp>
      <p:sp>
        <p:nvSpPr>
          <p:cNvPr id="19149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623418" y="3427413"/>
            <a:ext cx="8143875" cy="1752600"/>
          </a:xfrm>
        </p:spPr>
        <p:txBody>
          <a:bodyPr/>
          <a:lstStyle>
            <a:lvl1pPr marL="0" indent="0" algn="ctr">
              <a:lnSpc>
                <a:spcPct val="150000"/>
              </a:lnSpc>
              <a:buFont typeface="Wingdings" pitchFamily="2" charset="2"/>
              <a:buNone/>
              <a:defRPr sz="3200"/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514350" y="6248400"/>
            <a:ext cx="2400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E227E440-C286-4970-A1F1-E70DDF6E28DB}" type="datetime1">
              <a:rPr lang="en-US"/>
              <a:pPr>
                <a:defRPr/>
              </a:pPr>
              <a:t>10/27/26</a:t>
            </a:fld>
            <a:endParaRPr lang="fr-FR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514725" y="6248400"/>
            <a:ext cx="32575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fr-FR"/>
              <a:t>Teoria della Replicazione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fld id="{17DAED44-DEC8-432E-80C8-88C72633751F}" type="slidenum">
              <a:rPr lang="fr-FR"/>
              <a:pPr>
                <a:defRPr/>
              </a:pPr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951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41264" y="301625"/>
            <a:ext cx="8227814" cy="7508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541264" y="1827213"/>
            <a:ext cx="8227814" cy="1981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541264" y="3960813"/>
            <a:ext cx="8227814" cy="1981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EEA40-D070-4AC6-88F4-19CC2A9B60F6}" type="slidenum">
              <a:rPr lang="fr-FR"/>
              <a:pPr>
                <a:defRPr/>
              </a:pPr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10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0287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0287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29" y="1845734"/>
            <a:ext cx="848677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5832" y="6459787"/>
            <a:ext cx="2085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0219" y="6459787"/>
            <a:ext cx="4069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513" y="6459787"/>
            <a:ext cx="1107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07042" y="1737845"/>
            <a:ext cx="84096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80" r:id="rId5"/>
    <p:sldLayoutId id="2147484081" r:id="rId6"/>
    <p:sldLayoutId id="2147484082" r:id="rId7"/>
    <p:sldLayoutId id="2147484083" r:id="rId8"/>
    <p:sldLayoutId id="2147484084" r:id="rId9"/>
    <p:sldLayoutId id="2147484085" r:id="rId10"/>
    <p:sldLayoutId id="2147484086" r:id="rId11"/>
    <p:sldLayoutId id="2147484087" r:id="rId12"/>
    <p:sldLayoutId id="2147484088" r:id="rId13"/>
    <p:sldLayoutId id="2147484089" r:id="rId14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000" dirty="0"/>
              <a:t>Dependable Distributed Systems</a:t>
            </a:r>
            <a:br>
              <a:rPr lang="en-GB" sz="4000" dirty="0"/>
            </a:br>
            <a:r>
              <a:rPr lang="en-GB" sz="4000" dirty="0"/>
              <a:t>Master of Science in Engineering in Computer Science  </a:t>
            </a:r>
            <a:br>
              <a:rPr lang="en-GB" sz="4000" dirty="0"/>
            </a:br>
            <a:br>
              <a:rPr lang="en-GB" sz="4000" dirty="0"/>
            </a:br>
            <a:r>
              <a:rPr lang="en-GB" sz="4000" dirty="0"/>
              <a:t>AA 2026/2027</a:t>
            </a:r>
          </a:p>
        </p:txBody>
      </p:sp>
      <p:sp>
        <p:nvSpPr>
          <p:cNvPr id="7" name="Sottotitolo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Lectures 14: Software Replication</a:t>
            </a:r>
          </a:p>
        </p:txBody>
      </p:sp>
    </p:spTree>
    <p:extLst>
      <p:ext uri="{BB962C8B-B14F-4D97-AF65-F5344CB8AC3E}">
        <p14:creationId xmlns:p14="http://schemas.microsoft.com/office/powerpoint/2010/main" val="65483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Motivation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en-GB" dirty="0"/>
              <a:t>Fault Tolerance</a:t>
            </a:r>
          </a:p>
          <a:p>
            <a:pPr lvl="1">
              <a:buFont typeface="Wingdings" charset="2"/>
              <a:buChar char="Ø"/>
            </a:pPr>
            <a:r>
              <a:rPr lang="en-GB" dirty="0"/>
              <a:t> Guarantee the availability of a service (also called object) despite failures</a:t>
            </a:r>
          </a:p>
          <a:p>
            <a:pPr eaLnBrk="1" hangingPunct="1">
              <a:lnSpc>
                <a:spcPct val="40000"/>
              </a:lnSpc>
              <a:buFont typeface="Wingdings" charset="2"/>
              <a:buChar char="Ø"/>
            </a:pPr>
            <a:endParaRPr lang="en-GB" dirty="0"/>
          </a:p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en-GB" dirty="0"/>
              <a:t>Assuming p the failure probability of an object O.  O’s availability is 1-p.</a:t>
            </a:r>
          </a:p>
          <a:p>
            <a:pPr marL="0" indent="0">
              <a:buNone/>
            </a:pPr>
            <a:endParaRPr lang="en-GB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charset="2"/>
              <a:buChar char="Ø"/>
            </a:pPr>
            <a:r>
              <a:rPr lang="en-GB" sz="2000" dirty="0"/>
              <a:t>Replicating an object O on n nodes and assuming p the failure probability of each replica, O’s availability is </a:t>
            </a:r>
            <a:r>
              <a:rPr lang="en-GB" sz="1900" dirty="0"/>
              <a:t>1- </a:t>
            </a:r>
            <a:r>
              <a:rPr lang="en-GB" dirty="0" err="1"/>
              <a:t>p</a:t>
            </a:r>
            <a:r>
              <a:rPr lang="en-GB" sz="1900" b="1" i="1" baseline="30000" dirty="0" err="1">
                <a:solidFill>
                  <a:srgbClr val="990000"/>
                </a:solidFill>
              </a:rPr>
              <a:t>n</a:t>
            </a:r>
            <a:r>
              <a:rPr lang="en-GB" sz="1900" b="1" i="1" baseline="30000" dirty="0">
                <a:solidFill>
                  <a:srgbClr val="990000"/>
                </a:solidFill>
              </a:rPr>
              <a:t>  </a:t>
            </a:r>
            <a:r>
              <a:rPr lang="en-GB" dirty="0"/>
              <a:t>(considering independent failures probability)</a:t>
            </a:r>
            <a:endParaRPr lang="en-GB" sz="1900" b="1" i="1" baseline="30000" dirty="0">
              <a:solidFill>
                <a:srgbClr val="990000"/>
              </a:solidFill>
            </a:endParaRPr>
          </a:p>
        </p:txBody>
      </p:sp>
      <p:sp>
        <p:nvSpPr>
          <p:cNvPr id="4098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FDFA62-5CE8-4AC7-B004-AF81B8F4620C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5936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Model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The system is composed of a set of processes (clients) </a:t>
            </a:r>
          </a:p>
          <a:p>
            <a:pPr lvl="1"/>
            <a:r>
              <a:rPr lang="en-GB" dirty="0"/>
              <a:t>Processes are connected through Perfect point-to-point links</a:t>
            </a:r>
          </a:p>
          <a:p>
            <a:pPr lvl="1"/>
            <a:r>
              <a:rPr lang="en-GB" dirty="0"/>
              <a:t>Processes may fail by crash</a:t>
            </a:r>
          </a:p>
          <a:p>
            <a:pPr lvl="1"/>
            <a:endParaRPr lang="en-GB" dirty="0"/>
          </a:p>
          <a:p>
            <a:r>
              <a:rPr lang="en-GB" dirty="0"/>
              <a:t>Processes interacts wit a set of objects X located at different sites managed managed by processes</a:t>
            </a:r>
          </a:p>
          <a:p>
            <a:pPr lvl="1"/>
            <a:r>
              <a:rPr lang="en-GB" dirty="0"/>
              <a:t>Each object has a state accessed trough a set of operations</a:t>
            </a:r>
          </a:p>
          <a:p>
            <a:pPr lvl="1"/>
            <a:r>
              <a:rPr lang="en-GB" dirty="0"/>
              <a:t>An operation by a process p</a:t>
            </a:r>
            <a:r>
              <a:rPr lang="en-GB" baseline="-25000" dirty="0"/>
              <a:t>i</a:t>
            </a:r>
            <a:r>
              <a:rPr lang="en-GB" dirty="0"/>
              <a:t> on an object </a:t>
            </a:r>
            <a:r>
              <a:rPr lang="en-GB" i="1" dirty="0"/>
              <a:t>x</a:t>
            </a:r>
            <a:r>
              <a:rPr lang="en-GB" dirty="0"/>
              <a:t> ∈ X is a pair invocation/response </a:t>
            </a:r>
          </a:p>
          <a:p>
            <a:pPr lvl="2"/>
            <a:r>
              <a:rPr lang="en-GB" dirty="0"/>
              <a:t>The operation invocation is noted [</a:t>
            </a:r>
            <a:r>
              <a:rPr lang="en-GB" i="1" dirty="0"/>
              <a:t>x</a:t>
            </a:r>
            <a:r>
              <a:rPr lang="en-GB" dirty="0"/>
              <a:t> op(</a:t>
            </a:r>
            <a:r>
              <a:rPr lang="en-GB" dirty="0" err="1"/>
              <a:t>arg</a:t>
            </a:r>
            <a:r>
              <a:rPr lang="en-GB" dirty="0"/>
              <a:t>) p</a:t>
            </a:r>
            <a:r>
              <a:rPr lang="en-GB" baseline="-25000" dirty="0"/>
              <a:t>i</a:t>
            </a:r>
            <a:r>
              <a:rPr lang="en-GB" dirty="0"/>
              <a:t>] where </a:t>
            </a:r>
            <a:r>
              <a:rPr lang="en-GB" dirty="0" err="1"/>
              <a:t>arg</a:t>
            </a:r>
            <a:r>
              <a:rPr lang="en-GB" dirty="0"/>
              <a:t> are the arguments of the operation op </a:t>
            </a:r>
          </a:p>
          <a:p>
            <a:pPr lvl="2"/>
            <a:r>
              <a:rPr lang="en-GB" dirty="0"/>
              <a:t>The operation response is noted [x ok(res) p</a:t>
            </a:r>
            <a:r>
              <a:rPr lang="en-GB" baseline="-25000" dirty="0"/>
              <a:t>i</a:t>
            </a:r>
            <a:r>
              <a:rPr lang="en-GB" dirty="0"/>
              <a:t>] where res is the result returned </a:t>
            </a:r>
          </a:p>
          <a:p>
            <a:pPr lvl="2"/>
            <a:r>
              <a:rPr lang="en-GB" dirty="0"/>
              <a:t>The pair invocation/response is noted [x op(</a:t>
            </a:r>
            <a:r>
              <a:rPr lang="en-GB" dirty="0" err="1"/>
              <a:t>arg</a:t>
            </a:r>
            <a:r>
              <a:rPr lang="en-GB" dirty="0"/>
              <a:t>)/ok(res) p</a:t>
            </a:r>
            <a:r>
              <a:rPr lang="en-GB" baseline="-25000" dirty="0"/>
              <a:t>i</a:t>
            </a:r>
            <a:r>
              <a:rPr lang="en-GB" dirty="0"/>
              <a:t>] </a:t>
            </a:r>
          </a:p>
          <a:p>
            <a:pPr lvl="1"/>
            <a:r>
              <a:rPr lang="en-GB" dirty="0"/>
              <a:t>After issuing an invocation a process is blocked until it receives the matching response 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971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Replication: requirements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order to tolerate process crash failures a logical object must have several physical replicas located at different sites of the distributed system</a:t>
            </a:r>
          </a:p>
          <a:p>
            <a:pPr lvl="1"/>
            <a:r>
              <a:rPr lang="en-GB" dirty="0"/>
              <a:t>replicas of an object </a:t>
            </a:r>
            <a:r>
              <a:rPr lang="en-GB" i="1" dirty="0"/>
              <a:t>x</a:t>
            </a:r>
            <a:r>
              <a:rPr lang="en-GB" dirty="0"/>
              <a:t> are noted </a:t>
            </a:r>
            <a:r>
              <a:rPr lang="en-GB" i="1" dirty="0"/>
              <a:t>x</a:t>
            </a:r>
            <a:r>
              <a:rPr lang="en-GB" i="1" baseline="30000" dirty="0"/>
              <a:t>1</a:t>
            </a:r>
            <a:r>
              <a:rPr lang="en-GB" i="1" dirty="0"/>
              <a:t>, x</a:t>
            </a:r>
            <a:r>
              <a:rPr lang="en-GB" i="1" baseline="30000" dirty="0"/>
              <a:t>2</a:t>
            </a:r>
            <a:r>
              <a:rPr lang="en-GB" i="1" dirty="0"/>
              <a:t>, </a:t>
            </a:r>
            <a:r>
              <a:rPr lang="mr-IN" i="1" dirty="0"/>
              <a:t>…</a:t>
            </a:r>
            <a:r>
              <a:rPr lang="en-GB" i="1" dirty="0"/>
              <a:t> x</a:t>
            </a:r>
            <a:r>
              <a:rPr lang="en-GB" i="1" baseline="30000" dirty="0"/>
              <a:t>l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 Invocation of replica </a:t>
            </a:r>
            <a:r>
              <a:rPr lang="en-GB" dirty="0" err="1"/>
              <a:t>x</a:t>
            </a:r>
            <a:r>
              <a:rPr lang="en-GB" baseline="30000" dirty="0" err="1"/>
              <a:t>j</a:t>
            </a:r>
            <a:r>
              <a:rPr lang="en-GB" dirty="0"/>
              <a:t> located on site s is handled by a process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r>
              <a:rPr lang="en-GB" dirty="0"/>
              <a:t> also located on s</a:t>
            </a:r>
          </a:p>
          <a:p>
            <a:pPr lvl="1"/>
            <a:r>
              <a:rPr lang="en-GB" dirty="0"/>
              <a:t>We assume that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r>
              <a:rPr lang="en-GB" dirty="0"/>
              <a:t> crashes exactly when </a:t>
            </a:r>
            <a:r>
              <a:rPr lang="en-GB" dirty="0" err="1"/>
              <a:t>x</a:t>
            </a:r>
            <a:r>
              <a:rPr lang="en-GB" baseline="30000" dirty="0" err="1"/>
              <a:t>j</a:t>
            </a:r>
            <a:r>
              <a:rPr lang="en-GB" dirty="0"/>
              <a:t> crashes </a:t>
            </a:r>
          </a:p>
          <a:p>
            <a:pPr lvl="1"/>
            <a:endParaRPr lang="en-GB" dirty="0"/>
          </a:p>
          <a:p>
            <a:r>
              <a:rPr lang="en-GB" dirty="0"/>
              <a:t>Replication is transparent to the client processes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761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Consistency criteria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25829" y="1845733"/>
            <a:ext cx="8486776" cy="395499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consistency criterion defines the result returned by an operation </a:t>
            </a:r>
          </a:p>
          <a:p>
            <a:pPr lvl="1"/>
            <a:r>
              <a:rPr lang="en-GB" dirty="0"/>
              <a:t>It can be seen as a contract between the programmer and the system implementing replication </a:t>
            </a:r>
          </a:p>
          <a:p>
            <a:pPr lvl="1"/>
            <a:endParaRPr lang="en-GB" dirty="0"/>
          </a:p>
          <a:p>
            <a:r>
              <a:rPr lang="en-GB" dirty="0"/>
              <a:t>Three main consistency criteria are defined in literature</a:t>
            </a:r>
          </a:p>
          <a:p>
            <a:pPr lvl="1"/>
            <a:r>
              <a:rPr lang="en-GB" sz="2100" dirty="0" err="1"/>
              <a:t>Linearizability</a:t>
            </a:r>
            <a:endParaRPr lang="en-GB" sz="2100" dirty="0"/>
          </a:p>
          <a:p>
            <a:pPr lvl="1"/>
            <a:r>
              <a:rPr lang="en-GB" sz="2100" dirty="0"/>
              <a:t>Sequential consistency </a:t>
            </a:r>
          </a:p>
          <a:p>
            <a:pPr lvl="1"/>
            <a:r>
              <a:rPr lang="en-GB" sz="2100" dirty="0"/>
              <a:t>Causal consistency</a:t>
            </a:r>
          </a:p>
          <a:p>
            <a:pPr marL="201168" lvl="1" indent="0">
              <a:buNone/>
            </a:pPr>
            <a:endParaRPr lang="en-GB" dirty="0"/>
          </a:p>
          <a:p>
            <a:pPr marL="201168" lvl="1" indent="0">
              <a:buNone/>
            </a:pPr>
            <a:endParaRPr lang="en-GB" dirty="0"/>
          </a:p>
          <a:p>
            <a:r>
              <a:rPr lang="en-GB" dirty="0"/>
              <a:t>The three consistency criteria differ however in the definition of the most recent state </a:t>
            </a: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9" name="Parentesi graffa chiusa 8"/>
          <p:cNvSpPr/>
          <p:nvPr/>
        </p:nvSpPr>
        <p:spPr>
          <a:xfrm>
            <a:off x="4129088" y="3257550"/>
            <a:ext cx="200025" cy="4286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asellaDiTesto 9"/>
          <p:cNvSpPr txBox="1"/>
          <p:nvPr/>
        </p:nvSpPr>
        <p:spPr>
          <a:xfrm>
            <a:off x="4586288" y="3300410"/>
            <a:ext cx="207168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2"/>
                </a:solidFill>
              </a:rPr>
              <a:t>Strong Consistency</a:t>
            </a:r>
          </a:p>
        </p:txBody>
      </p:sp>
      <p:sp>
        <p:nvSpPr>
          <p:cNvPr id="11" name="Parentesi graffa chiusa 10"/>
          <p:cNvSpPr/>
          <p:nvPr/>
        </p:nvSpPr>
        <p:spPr>
          <a:xfrm>
            <a:off x="4129087" y="3751683"/>
            <a:ext cx="200026" cy="2631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asellaDiTesto 11"/>
          <p:cNvSpPr txBox="1"/>
          <p:nvPr/>
        </p:nvSpPr>
        <p:spPr>
          <a:xfrm>
            <a:off x="4586288" y="3686175"/>
            <a:ext cx="207168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Weak Consistency</a:t>
            </a:r>
          </a:p>
        </p:txBody>
      </p:sp>
    </p:spTree>
    <p:extLst>
      <p:ext uri="{BB962C8B-B14F-4D97-AF65-F5344CB8AC3E}">
        <p14:creationId xmlns:p14="http://schemas.microsoft.com/office/powerpoint/2010/main" val="188665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Linearizability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 us consider the precedence relation ( denoted ≺) and the concurrency relation (denoted ||) defined between two operations.</a:t>
            </a:r>
          </a:p>
          <a:p>
            <a:endParaRPr lang="en-GB" dirty="0"/>
          </a:p>
          <a:p>
            <a:r>
              <a:rPr lang="en-GB" dirty="0"/>
              <a:t>An execution E is </a:t>
            </a:r>
            <a:r>
              <a:rPr lang="en-GB" dirty="0" err="1"/>
              <a:t>linearizable</a:t>
            </a:r>
            <a:r>
              <a:rPr lang="en-GB" dirty="0"/>
              <a:t> if there exists a sequence S including all operations of E such that the following two conditions hold: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for any two operations O</a:t>
            </a:r>
            <a:r>
              <a:rPr lang="en-GB" baseline="-25000" dirty="0"/>
              <a:t>1</a:t>
            </a:r>
            <a:r>
              <a:rPr lang="en-GB" dirty="0"/>
              <a:t> and O</a:t>
            </a:r>
            <a:r>
              <a:rPr lang="en-GB" baseline="-25000" dirty="0"/>
              <a:t>2</a:t>
            </a:r>
            <a:r>
              <a:rPr lang="en-GB" dirty="0"/>
              <a:t> such that O</a:t>
            </a:r>
            <a:r>
              <a:rPr lang="en-GB" baseline="-25000" dirty="0"/>
              <a:t>1</a:t>
            </a:r>
            <a:r>
              <a:rPr lang="en-GB" dirty="0"/>
              <a:t> ≺ O</a:t>
            </a:r>
            <a:r>
              <a:rPr lang="en-GB" baseline="-25000" dirty="0"/>
              <a:t>2</a:t>
            </a:r>
            <a:r>
              <a:rPr lang="en-GB" dirty="0"/>
              <a:t>,  O</a:t>
            </a:r>
            <a:r>
              <a:rPr lang="en-GB" baseline="-25000" dirty="0"/>
              <a:t>1</a:t>
            </a:r>
            <a:r>
              <a:rPr lang="en-GB" dirty="0"/>
              <a:t> appears before O</a:t>
            </a:r>
            <a:r>
              <a:rPr lang="en-GB" baseline="-25000" dirty="0"/>
              <a:t>2</a:t>
            </a:r>
            <a:r>
              <a:rPr lang="en-GB" dirty="0"/>
              <a:t> in the sequence S 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the sequence S is </a:t>
            </a:r>
            <a:r>
              <a:rPr lang="en-GB" i="1" dirty="0"/>
              <a:t>legal</a:t>
            </a:r>
            <a:r>
              <a:rPr lang="en-GB" dirty="0"/>
              <a:t> i.e., for every object x the subsequence of S of which operations are on x belongs to the sequential specification of x.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441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Example: simple variable</a:t>
            </a:r>
          </a:p>
        </p:txBody>
      </p:sp>
      <p:sp>
        <p:nvSpPr>
          <p:cNvPr id="22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023630" y="6174036"/>
            <a:ext cx="1107021" cy="365125"/>
          </a:xfrm>
          <a:prstGeom prst="rect">
            <a:avLst/>
          </a:prstGeom>
        </p:spPr>
        <p:txBody>
          <a:bodyPr/>
          <a:lstStyle/>
          <a:p>
            <a:fld id="{2C244DD6-3F15-4C4E-8529-934D9AD709E8}" type="slidenum">
              <a:rPr lang="fr-FR"/>
              <a:pPr/>
              <a:t>7</a:t>
            </a:fld>
            <a:endParaRPr lang="fr-FR"/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925830" y="1990725"/>
            <a:ext cx="8351838" cy="4098925"/>
            <a:chOff x="431" y="1434"/>
            <a:chExt cx="5261" cy="2582"/>
          </a:xfrm>
        </p:grpSpPr>
        <p:sp>
          <p:nvSpPr>
            <p:cNvPr id="327685" name="Line 5"/>
            <p:cNvSpPr>
              <a:spLocks noChangeShapeType="1"/>
            </p:cNvSpPr>
            <p:nvPr/>
          </p:nvSpPr>
          <p:spPr bwMode="auto">
            <a:xfrm>
              <a:off x="4241" y="1974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it-IT"/>
            </a:p>
          </p:txBody>
        </p:sp>
        <p:sp>
          <p:nvSpPr>
            <p:cNvPr id="327686" name="Line 6"/>
            <p:cNvSpPr>
              <a:spLocks noChangeShapeType="1"/>
            </p:cNvSpPr>
            <p:nvPr/>
          </p:nvSpPr>
          <p:spPr bwMode="auto">
            <a:xfrm>
              <a:off x="1156" y="1974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it-IT"/>
            </a:p>
          </p:txBody>
        </p:sp>
        <p:sp>
          <p:nvSpPr>
            <p:cNvPr id="327687" name="Line 7"/>
            <p:cNvSpPr>
              <a:spLocks noChangeShapeType="1"/>
            </p:cNvSpPr>
            <p:nvPr/>
          </p:nvSpPr>
          <p:spPr bwMode="auto">
            <a:xfrm>
              <a:off x="2563" y="2564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it-IT"/>
            </a:p>
          </p:txBody>
        </p:sp>
        <p:sp>
          <p:nvSpPr>
            <p:cNvPr id="327689" name="Text Box 9"/>
            <p:cNvSpPr txBox="1">
              <a:spLocks noChangeArrowheads="1"/>
            </p:cNvSpPr>
            <p:nvPr/>
          </p:nvSpPr>
          <p:spPr bwMode="auto">
            <a:xfrm>
              <a:off x="855" y="1661"/>
              <a:ext cx="1997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dirty="0"/>
                <a:t>x </a:t>
              </a:r>
              <a:r>
                <a:rPr lang="it-IT" dirty="0" err="1"/>
                <a:t>write</a:t>
              </a:r>
              <a:r>
                <a:rPr lang="it-IT" dirty="0"/>
                <a:t>(a) p</a:t>
              </a:r>
              <a:r>
                <a:rPr lang="it-IT" baseline="-25000" dirty="0"/>
                <a:t>1                          </a:t>
              </a:r>
              <a:r>
                <a:rPr lang="it-IT" dirty="0"/>
                <a:t>ok()</a:t>
              </a:r>
            </a:p>
          </p:txBody>
        </p:sp>
        <p:sp>
          <p:nvSpPr>
            <p:cNvPr id="327690" name="Text Box 10"/>
            <p:cNvSpPr txBox="1">
              <a:spLocks noChangeArrowheads="1"/>
            </p:cNvSpPr>
            <p:nvPr/>
          </p:nvSpPr>
          <p:spPr bwMode="auto">
            <a:xfrm>
              <a:off x="2287" y="2296"/>
              <a:ext cx="1403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dirty="0"/>
                <a:t>x </a:t>
              </a:r>
              <a:r>
                <a:rPr lang="it-IT" dirty="0" err="1"/>
                <a:t>write</a:t>
              </a:r>
              <a:r>
                <a:rPr lang="it-IT" dirty="0"/>
                <a:t>(b) p</a:t>
              </a:r>
              <a:r>
                <a:rPr lang="it-IT" baseline="-25000" dirty="0"/>
                <a:t>2                    </a:t>
              </a:r>
              <a:r>
                <a:rPr lang="it-IT" dirty="0"/>
                <a:t>ok()</a:t>
              </a:r>
            </a:p>
          </p:txBody>
        </p:sp>
        <p:sp>
          <p:nvSpPr>
            <p:cNvPr id="327691" name="Text Box 11"/>
            <p:cNvSpPr txBox="1">
              <a:spLocks noChangeArrowheads="1"/>
            </p:cNvSpPr>
            <p:nvPr/>
          </p:nvSpPr>
          <p:spPr bwMode="auto">
            <a:xfrm>
              <a:off x="4150" y="1644"/>
              <a:ext cx="1542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dirty="0"/>
                <a:t>x </a:t>
              </a:r>
              <a:r>
                <a:rPr lang="it-IT" dirty="0" err="1"/>
                <a:t>read</a:t>
              </a:r>
              <a:r>
                <a:rPr lang="it-IT" dirty="0"/>
                <a:t>() p</a:t>
              </a:r>
              <a:r>
                <a:rPr lang="it-IT" baseline="-25000" dirty="0"/>
                <a:t>1             </a:t>
              </a:r>
              <a:r>
                <a:rPr lang="it-IT" dirty="0"/>
                <a:t>ok(b)</a:t>
              </a:r>
            </a:p>
          </p:txBody>
        </p:sp>
        <p:sp>
          <p:nvSpPr>
            <p:cNvPr id="327693" name="Text Box 13"/>
            <p:cNvSpPr txBox="1">
              <a:spLocks noChangeArrowheads="1"/>
            </p:cNvSpPr>
            <p:nvPr/>
          </p:nvSpPr>
          <p:spPr bwMode="auto">
            <a:xfrm>
              <a:off x="454" y="1792"/>
              <a:ext cx="229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it-IT"/>
                <a:t>p</a:t>
              </a:r>
              <a:r>
                <a:rPr lang="it-IT" baseline="-25000"/>
                <a:t>1</a:t>
              </a:r>
            </a:p>
          </p:txBody>
        </p:sp>
        <p:sp>
          <p:nvSpPr>
            <p:cNvPr id="327694" name="Text Box 14"/>
            <p:cNvSpPr txBox="1">
              <a:spLocks noChangeArrowheads="1"/>
            </p:cNvSpPr>
            <p:nvPr/>
          </p:nvSpPr>
          <p:spPr bwMode="auto">
            <a:xfrm>
              <a:off x="454" y="2337"/>
              <a:ext cx="229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it-IT"/>
                <a:t>p</a:t>
              </a:r>
              <a:r>
                <a:rPr lang="it-IT" baseline="-25000"/>
                <a:t>2</a:t>
              </a:r>
            </a:p>
          </p:txBody>
        </p:sp>
        <p:sp>
          <p:nvSpPr>
            <p:cNvPr id="327700" name="Line 20"/>
            <p:cNvSpPr>
              <a:spLocks noChangeShapeType="1"/>
            </p:cNvSpPr>
            <p:nvPr/>
          </p:nvSpPr>
          <p:spPr bwMode="auto">
            <a:xfrm>
              <a:off x="4150" y="3426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it-IT"/>
            </a:p>
          </p:txBody>
        </p:sp>
        <p:sp>
          <p:nvSpPr>
            <p:cNvPr id="327701" name="Line 21"/>
            <p:cNvSpPr>
              <a:spLocks noChangeShapeType="1"/>
            </p:cNvSpPr>
            <p:nvPr/>
          </p:nvSpPr>
          <p:spPr bwMode="auto">
            <a:xfrm>
              <a:off x="1088" y="3426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it-IT"/>
            </a:p>
          </p:txBody>
        </p:sp>
        <p:sp>
          <p:nvSpPr>
            <p:cNvPr id="327702" name="Line 22"/>
            <p:cNvSpPr>
              <a:spLocks noChangeShapeType="1"/>
            </p:cNvSpPr>
            <p:nvPr/>
          </p:nvSpPr>
          <p:spPr bwMode="auto">
            <a:xfrm>
              <a:off x="2608" y="4016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it-IT"/>
            </a:p>
          </p:txBody>
        </p:sp>
        <p:sp>
          <p:nvSpPr>
            <p:cNvPr id="327704" name="Text Box 24"/>
            <p:cNvSpPr txBox="1">
              <a:spLocks noChangeArrowheads="1"/>
            </p:cNvSpPr>
            <p:nvPr/>
          </p:nvSpPr>
          <p:spPr bwMode="auto">
            <a:xfrm>
              <a:off x="704" y="3161"/>
              <a:ext cx="1511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dirty="0"/>
                <a:t>x </a:t>
              </a:r>
              <a:r>
                <a:rPr lang="it-IT" dirty="0" err="1"/>
                <a:t>write</a:t>
              </a:r>
              <a:r>
                <a:rPr lang="it-IT" dirty="0"/>
                <a:t>(a) p</a:t>
              </a:r>
              <a:r>
                <a:rPr lang="it-IT" baseline="-25000" dirty="0"/>
                <a:t>1                         </a:t>
              </a:r>
              <a:r>
                <a:rPr lang="it-IT" dirty="0"/>
                <a:t>ok()</a:t>
              </a:r>
            </a:p>
          </p:txBody>
        </p:sp>
        <p:sp>
          <p:nvSpPr>
            <p:cNvPr id="327705" name="Text Box 25"/>
            <p:cNvSpPr txBox="1">
              <a:spLocks noChangeArrowheads="1"/>
            </p:cNvSpPr>
            <p:nvPr/>
          </p:nvSpPr>
          <p:spPr bwMode="auto">
            <a:xfrm>
              <a:off x="2157" y="3748"/>
              <a:ext cx="1894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dirty="0"/>
                <a:t>x </a:t>
              </a:r>
              <a:r>
                <a:rPr lang="it-IT" dirty="0" err="1"/>
                <a:t>write</a:t>
              </a:r>
              <a:r>
                <a:rPr lang="it-IT" dirty="0"/>
                <a:t>(b) p</a:t>
              </a:r>
              <a:r>
                <a:rPr lang="it-IT" baseline="-25000" dirty="0"/>
                <a:t>2                                 </a:t>
              </a:r>
              <a:r>
                <a:rPr lang="it-IT" dirty="0"/>
                <a:t>ok()</a:t>
              </a:r>
            </a:p>
          </p:txBody>
        </p:sp>
        <p:sp>
          <p:nvSpPr>
            <p:cNvPr id="327706" name="Text Box 26"/>
            <p:cNvSpPr txBox="1">
              <a:spLocks noChangeArrowheads="1"/>
            </p:cNvSpPr>
            <p:nvPr/>
          </p:nvSpPr>
          <p:spPr bwMode="auto">
            <a:xfrm>
              <a:off x="3762" y="3161"/>
              <a:ext cx="1837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dirty="0"/>
                <a:t>x </a:t>
              </a:r>
              <a:r>
                <a:rPr lang="it-IT" dirty="0" err="1"/>
                <a:t>read</a:t>
              </a:r>
              <a:r>
                <a:rPr lang="it-IT" dirty="0"/>
                <a:t>() p</a:t>
              </a:r>
              <a:r>
                <a:rPr lang="it-IT" baseline="-25000" dirty="0"/>
                <a:t>1                                 </a:t>
              </a:r>
              <a:r>
                <a:rPr lang="it-IT" dirty="0"/>
                <a:t>ok(a)</a:t>
              </a:r>
            </a:p>
          </p:txBody>
        </p:sp>
        <p:sp>
          <p:nvSpPr>
            <p:cNvPr id="327708" name="Text Box 28"/>
            <p:cNvSpPr txBox="1">
              <a:spLocks noChangeArrowheads="1"/>
            </p:cNvSpPr>
            <p:nvPr/>
          </p:nvSpPr>
          <p:spPr bwMode="auto">
            <a:xfrm>
              <a:off x="431" y="3244"/>
              <a:ext cx="229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it-IT"/>
                <a:t>p</a:t>
              </a:r>
              <a:r>
                <a:rPr lang="it-IT" baseline="-25000"/>
                <a:t>1</a:t>
              </a:r>
            </a:p>
          </p:txBody>
        </p:sp>
        <p:sp>
          <p:nvSpPr>
            <p:cNvPr id="327709" name="Text Box 29"/>
            <p:cNvSpPr txBox="1">
              <a:spLocks noChangeArrowheads="1"/>
            </p:cNvSpPr>
            <p:nvPr/>
          </p:nvSpPr>
          <p:spPr bwMode="auto">
            <a:xfrm>
              <a:off x="431" y="3789"/>
              <a:ext cx="229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it-IT"/>
                <a:t>p</a:t>
              </a:r>
              <a:r>
                <a:rPr lang="it-IT" baseline="-25000"/>
                <a:t>2</a:t>
              </a:r>
            </a:p>
          </p:txBody>
        </p:sp>
        <p:sp>
          <p:nvSpPr>
            <p:cNvPr id="327711" name="Text Box 31"/>
            <p:cNvSpPr txBox="1">
              <a:spLocks noChangeArrowheads="1"/>
            </p:cNvSpPr>
            <p:nvPr/>
          </p:nvSpPr>
          <p:spPr bwMode="auto">
            <a:xfrm>
              <a:off x="476" y="1434"/>
              <a:ext cx="1026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indent="-457200">
                <a:buFontTx/>
                <a:buAutoNum type="arabicPeriod"/>
              </a:pPr>
              <a:r>
                <a:rPr lang="it-IT" sz="1200" dirty="0">
                  <a:solidFill>
                    <a:srgbClr val="FAAAED"/>
                  </a:solidFill>
                </a:rPr>
                <a:t>LINEARIZZABILE</a:t>
              </a:r>
            </a:p>
          </p:txBody>
        </p:sp>
        <p:sp>
          <p:nvSpPr>
            <p:cNvPr id="327712" name="Text Box 32"/>
            <p:cNvSpPr txBox="1">
              <a:spLocks noChangeArrowheads="1"/>
            </p:cNvSpPr>
            <p:nvPr/>
          </p:nvSpPr>
          <p:spPr bwMode="auto">
            <a:xfrm>
              <a:off x="476" y="2795"/>
              <a:ext cx="123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indent="-457200">
                <a:buFontTx/>
                <a:buAutoNum type="arabicPeriod" startAt="2"/>
              </a:pPr>
              <a:r>
                <a:rPr lang="it-IT" sz="1200">
                  <a:solidFill>
                    <a:srgbClr val="FE3C00"/>
                  </a:solidFill>
                </a:rPr>
                <a:t>NON LINEARIZZABILE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961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FIFO Queue</a:t>
            </a:r>
          </a:p>
        </p:txBody>
      </p:sp>
      <p:cxnSp>
        <p:nvCxnSpPr>
          <p:cNvPr id="4" name="Connettore 1 3"/>
          <p:cNvCxnSpPr/>
          <p:nvPr/>
        </p:nvCxnSpPr>
        <p:spPr>
          <a:xfrm>
            <a:off x="1700213" y="2671763"/>
            <a:ext cx="1471613" cy="0"/>
          </a:xfrm>
          <a:prstGeom prst="line">
            <a:avLst/>
          </a:prstGeom>
          <a:ln cap="rnd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1107281" y="2296794"/>
            <a:ext cx="1185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</a:t>
            </a:r>
            <a:r>
              <a:rPr lang="en-GB" dirty="0" err="1"/>
              <a:t>enq</a:t>
            </a:r>
            <a:r>
              <a:rPr lang="en-GB" dirty="0"/>
              <a:t>(a) p</a:t>
            </a:r>
            <a:r>
              <a:rPr lang="en-GB" baseline="-25000" dirty="0"/>
              <a:t>i</a:t>
            </a:r>
          </a:p>
        </p:txBody>
      </p:sp>
      <p:cxnSp>
        <p:nvCxnSpPr>
          <p:cNvPr id="7" name="Connettore 1 6"/>
          <p:cNvCxnSpPr/>
          <p:nvPr/>
        </p:nvCxnSpPr>
        <p:spPr>
          <a:xfrm>
            <a:off x="2667001" y="3752853"/>
            <a:ext cx="1471613" cy="0"/>
          </a:xfrm>
          <a:prstGeom prst="line">
            <a:avLst/>
          </a:prstGeom>
          <a:ln cap="rnd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>
            <a:off x="5381625" y="2638426"/>
            <a:ext cx="1471613" cy="0"/>
          </a:xfrm>
          <a:prstGeom prst="line">
            <a:avLst/>
          </a:prstGeom>
          <a:ln cap="rnd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>
            <a:off x="6160294" y="3733803"/>
            <a:ext cx="1471613" cy="0"/>
          </a:xfrm>
          <a:prstGeom prst="line">
            <a:avLst/>
          </a:prstGeom>
          <a:ln cap="rnd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2131218" y="3316923"/>
            <a:ext cx="1185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</a:t>
            </a:r>
            <a:r>
              <a:rPr lang="en-GB" dirty="0" err="1"/>
              <a:t>enq</a:t>
            </a:r>
            <a:r>
              <a:rPr lang="en-GB" dirty="0"/>
              <a:t>(b)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endParaRPr lang="en-GB" baseline="-250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4931568" y="2227896"/>
            <a:ext cx="1185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</a:t>
            </a:r>
            <a:r>
              <a:rPr lang="en-GB" dirty="0" err="1"/>
              <a:t>deq</a:t>
            </a:r>
            <a:r>
              <a:rPr lang="en-GB" dirty="0"/>
              <a:t>() p</a:t>
            </a:r>
            <a:r>
              <a:rPr lang="en-GB" baseline="-25000" dirty="0"/>
              <a:t>i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5710237" y="3316923"/>
            <a:ext cx="1185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</a:t>
            </a:r>
            <a:r>
              <a:rPr lang="en-GB" dirty="0" err="1"/>
              <a:t>deq</a:t>
            </a:r>
            <a:r>
              <a:rPr lang="en-GB" dirty="0"/>
              <a:t>()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endParaRPr lang="en-GB" baseline="-25000" dirty="0"/>
          </a:p>
        </p:txBody>
      </p:sp>
      <p:sp>
        <p:nvSpPr>
          <p:cNvPr id="13" name="CasellaDiTesto 12"/>
          <p:cNvSpPr txBox="1"/>
          <p:nvPr/>
        </p:nvSpPr>
        <p:spPr>
          <a:xfrm>
            <a:off x="2690810" y="2235833"/>
            <a:ext cx="1028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ok() p</a:t>
            </a:r>
            <a:r>
              <a:rPr lang="en-GB" baseline="-25000" dirty="0"/>
              <a:t>i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3624264" y="3316923"/>
            <a:ext cx="1028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ok()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endParaRPr lang="en-GB" baseline="-25000" dirty="0"/>
          </a:p>
        </p:txBody>
      </p:sp>
      <p:sp>
        <p:nvSpPr>
          <p:cNvPr id="15" name="CasellaDiTesto 14"/>
          <p:cNvSpPr txBox="1"/>
          <p:nvPr/>
        </p:nvSpPr>
        <p:spPr>
          <a:xfrm>
            <a:off x="6338887" y="2227896"/>
            <a:ext cx="1028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ok(b) p</a:t>
            </a:r>
            <a:r>
              <a:rPr lang="en-GB" baseline="-25000" dirty="0"/>
              <a:t>i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7117557" y="3316923"/>
            <a:ext cx="1028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ok(a)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endParaRPr lang="en-GB" baseline="-25000" dirty="0"/>
          </a:p>
        </p:txBody>
      </p:sp>
      <p:sp>
        <p:nvSpPr>
          <p:cNvPr id="17" name="CasellaDiTesto 16"/>
          <p:cNvSpPr txBox="1"/>
          <p:nvPr/>
        </p:nvSpPr>
        <p:spPr>
          <a:xfrm>
            <a:off x="4352924" y="4149089"/>
            <a:ext cx="1357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>
                <a:solidFill>
                  <a:schemeClr val="accent2"/>
                </a:solidFill>
              </a:rPr>
              <a:t>Linearizable</a:t>
            </a:r>
            <a:endParaRPr lang="en-GB" sz="1800" dirty="0">
              <a:solidFill>
                <a:schemeClr val="accent2"/>
              </a:solidFill>
            </a:endParaRPr>
          </a:p>
        </p:txBody>
      </p:sp>
      <p:sp>
        <p:nvSpPr>
          <p:cNvPr id="18" name="CasellaDiTesto 17"/>
          <p:cNvSpPr txBox="1"/>
          <p:nvPr/>
        </p:nvSpPr>
        <p:spPr>
          <a:xfrm>
            <a:off x="2724149" y="4571047"/>
            <a:ext cx="444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S= {O2, O1, O3, O4}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060280" y="2638426"/>
            <a:ext cx="48577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O</a:t>
            </a:r>
            <a:r>
              <a:rPr lang="en-GB" baseline="-25000" dirty="0"/>
              <a:t>3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2193131" y="2638426"/>
            <a:ext cx="48577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</a:t>
            </a:r>
            <a:r>
              <a:rPr lang="en-GB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3159919" y="3733006"/>
            <a:ext cx="48577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O</a:t>
            </a:r>
            <a:r>
              <a:rPr lang="en-GB" baseline="-25000"/>
              <a:t>2</a:t>
            </a:r>
            <a:endParaRPr lang="en-GB" baseline="-25000" dirty="0"/>
          </a:p>
        </p:txBody>
      </p:sp>
      <p:sp>
        <p:nvSpPr>
          <p:cNvPr id="22" name="CasellaDiTesto 21"/>
          <p:cNvSpPr txBox="1"/>
          <p:nvPr/>
        </p:nvSpPr>
        <p:spPr>
          <a:xfrm>
            <a:off x="6653214" y="3731568"/>
            <a:ext cx="48577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O</a:t>
            </a:r>
            <a:r>
              <a:rPr lang="en-GB" baseline="-25000" dirty="0"/>
              <a:t>4</a:t>
            </a:r>
          </a:p>
        </p:txBody>
      </p:sp>
      <p:sp>
        <p:nvSpPr>
          <p:cNvPr id="23" name="Ovale 22"/>
          <p:cNvSpPr/>
          <p:nvPr/>
        </p:nvSpPr>
        <p:spPr>
          <a:xfrm>
            <a:off x="2847978" y="3702846"/>
            <a:ext cx="50005" cy="10001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e 23"/>
          <p:cNvSpPr/>
          <p:nvPr/>
        </p:nvSpPr>
        <p:spPr>
          <a:xfrm>
            <a:off x="3052761" y="2625804"/>
            <a:ext cx="50005" cy="10001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e 24"/>
          <p:cNvSpPr/>
          <p:nvPr/>
        </p:nvSpPr>
        <p:spPr>
          <a:xfrm>
            <a:off x="5966217" y="2607866"/>
            <a:ext cx="50005" cy="10001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e 25"/>
          <p:cNvSpPr/>
          <p:nvPr/>
        </p:nvSpPr>
        <p:spPr>
          <a:xfrm>
            <a:off x="7177089" y="3681561"/>
            <a:ext cx="50005" cy="10001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21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FIFO Queue</a:t>
            </a:r>
          </a:p>
        </p:txBody>
      </p:sp>
      <p:cxnSp>
        <p:nvCxnSpPr>
          <p:cNvPr id="4" name="Connettore 1 3"/>
          <p:cNvCxnSpPr/>
          <p:nvPr/>
        </p:nvCxnSpPr>
        <p:spPr>
          <a:xfrm>
            <a:off x="1700213" y="2671763"/>
            <a:ext cx="1471613" cy="0"/>
          </a:xfrm>
          <a:prstGeom prst="line">
            <a:avLst/>
          </a:prstGeom>
          <a:ln cap="rnd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1107281" y="2296794"/>
            <a:ext cx="1185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</a:t>
            </a:r>
            <a:r>
              <a:rPr lang="en-GB" dirty="0" err="1"/>
              <a:t>enq</a:t>
            </a:r>
            <a:r>
              <a:rPr lang="en-GB" dirty="0"/>
              <a:t>(a) p</a:t>
            </a:r>
            <a:r>
              <a:rPr lang="en-GB" baseline="-25000" dirty="0"/>
              <a:t>i</a:t>
            </a:r>
          </a:p>
        </p:txBody>
      </p:sp>
      <p:cxnSp>
        <p:nvCxnSpPr>
          <p:cNvPr id="7" name="Connettore 1 6"/>
          <p:cNvCxnSpPr/>
          <p:nvPr/>
        </p:nvCxnSpPr>
        <p:spPr>
          <a:xfrm>
            <a:off x="2667001" y="3752853"/>
            <a:ext cx="1471613" cy="0"/>
          </a:xfrm>
          <a:prstGeom prst="line">
            <a:avLst/>
          </a:prstGeom>
          <a:ln cap="rnd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>
            <a:off x="5381625" y="2638426"/>
            <a:ext cx="1471613" cy="0"/>
          </a:xfrm>
          <a:prstGeom prst="line">
            <a:avLst/>
          </a:prstGeom>
          <a:ln cap="rnd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>
            <a:off x="6160294" y="3733803"/>
            <a:ext cx="1471613" cy="0"/>
          </a:xfrm>
          <a:prstGeom prst="line">
            <a:avLst/>
          </a:prstGeom>
          <a:ln cap="rnd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2131218" y="3316923"/>
            <a:ext cx="1185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</a:t>
            </a:r>
            <a:r>
              <a:rPr lang="en-GB" dirty="0" err="1"/>
              <a:t>enq</a:t>
            </a:r>
            <a:r>
              <a:rPr lang="en-GB" dirty="0"/>
              <a:t>(b)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endParaRPr lang="en-GB" baseline="-250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4931568" y="2227896"/>
            <a:ext cx="1185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</a:t>
            </a:r>
            <a:r>
              <a:rPr lang="en-GB" dirty="0" err="1"/>
              <a:t>deq</a:t>
            </a:r>
            <a:r>
              <a:rPr lang="en-GB" dirty="0"/>
              <a:t>() p</a:t>
            </a:r>
            <a:r>
              <a:rPr lang="en-GB" baseline="-25000" dirty="0"/>
              <a:t>i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5710237" y="3316923"/>
            <a:ext cx="11858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</a:t>
            </a:r>
            <a:r>
              <a:rPr lang="en-GB" dirty="0" err="1"/>
              <a:t>deq</a:t>
            </a:r>
            <a:r>
              <a:rPr lang="en-GB" dirty="0"/>
              <a:t>()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endParaRPr lang="en-GB" baseline="-25000" dirty="0"/>
          </a:p>
        </p:txBody>
      </p:sp>
      <p:sp>
        <p:nvSpPr>
          <p:cNvPr id="13" name="CasellaDiTesto 12"/>
          <p:cNvSpPr txBox="1"/>
          <p:nvPr/>
        </p:nvSpPr>
        <p:spPr>
          <a:xfrm>
            <a:off x="2690810" y="2235833"/>
            <a:ext cx="1028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ok() p</a:t>
            </a:r>
            <a:r>
              <a:rPr lang="en-GB" baseline="-25000" dirty="0"/>
              <a:t>i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3624264" y="3316923"/>
            <a:ext cx="1028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ok()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endParaRPr lang="en-GB" baseline="-25000" dirty="0"/>
          </a:p>
        </p:txBody>
      </p:sp>
      <p:sp>
        <p:nvSpPr>
          <p:cNvPr id="15" name="CasellaDiTesto 14"/>
          <p:cNvSpPr txBox="1"/>
          <p:nvPr/>
        </p:nvSpPr>
        <p:spPr>
          <a:xfrm>
            <a:off x="6338887" y="2227896"/>
            <a:ext cx="1028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ok(b) p</a:t>
            </a:r>
            <a:r>
              <a:rPr lang="en-GB" baseline="-25000" dirty="0"/>
              <a:t>i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7117557" y="3316923"/>
            <a:ext cx="1028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x</a:t>
            </a:r>
            <a:r>
              <a:rPr lang="en-GB" dirty="0"/>
              <a:t> ok(b)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endParaRPr lang="en-GB" baseline="-25000" dirty="0"/>
          </a:p>
        </p:txBody>
      </p:sp>
      <p:sp>
        <p:nvSpPr>
          <p:cNvPr id="17" name="CasellaDiTesto 16"/>
          <p:cNvSpPr txBox="1"/>
          <p:nvPr/>
        </p:nvSpPr>
        <p:spPr>
          <a:xfrm>
            <a:off x="4145755" y="4201715"/>
            <a:ext cx="1881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2"/>
                </a:solidFill>
              </a:rPr>
              <a:t>NON-</a:t>
            </a:r>
            <a:r>
              <a:rPr lang="en-GB" sz="1800" dirty="0" err="1">
                <a:solidFill>
                  <a:schemeClr val="accent2"/>
                </a:solidFill>
              </a:rPr>
              <a:t>Linearizable</a:t>
            </a:r>
            <a:endParaRPr lang="en-GB" sz="1800" dirty="0">
              <a:solidFill>
                <a:schemeClr val="accent2"/>
              </a:solidFill>
            </a:endParaRPr>
          </a:p>
        </p:txBody>
      </p:sp>
      <p:sp>
        <p:nvSpPr>
          <p:cNvPr id="19" name="CasellaDiTesto 18"/>
          <p:cNvSpPr txBox="1"/>
          <p:nvPr/>
        </p:nvSpPr>
        <p:spPr>
          <a:xfrm>
            <a:off x="6060280" y="2638426"/>
            <a:ext cx="48577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O</a:t>
            </a:r>
            <a:r>
              <a:rPr lang="en-GB" baseline="-25000" dirty="0"/>
              <a:t>3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2193131" y="2638426"/>
            <a:ext cx="48577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</a:t>
            </a:r>
            <a:r>
              <a:rPr lang="en-GB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3159919" y="3733006"/>
            <a:ext cx="48577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O</a:t>
            </a:r>
            <a:r>
              <a:rPr lang="en-GB" baseline="-25000"/>
              <a:t>2</a:t>
            </a:r>
            <a:endParaRPr lang="en-GB" baseline="-25000" dirty="0"/>
          </a:p>
        </p:txBody>
      </p:sp>
      <p:sp>
        <p:nvSpPr>
          <p:cNvPr id="22" name="CasellaDiTesto 21"/>
          <p:cNvSpPr txBox="1"/>
          <p:nvPr/>
        </p:nvSpPr>
        <p:spPr>
          <a:xfrm>
            <a:off x="6653214" y="3731568"/>
            <a:ext cx="48577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O</a:t>
            </a:r>
            <a:r>
              <a:rPr lang="en-GB" baseline="-25000" dirty="0"/>
              <a:t>4</a:t>
            </a:r>
          </a:p>
        </p:txBody>
      </p:sp>
      <p:sp>
        <p:nvSpPr>
          <p:cNvPr id="3" name="Ovale 2"/>
          <p:cNvSpPr/>
          <p:nvPr/>
        </p:nvSpPr>
        <p:spPr>
          <a:xfrm rot="19745135">
            <a:off x="6557478" y="1945870"/>
            <a:ext cx="1345556" cy="24173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4"/>
          <p:cNvSpPr txBox="1"/>
          <p:nvPr/>
        </p:nvSpPr>
        <p:spPr>
          <a:xfrm>
            <a:off x="8043863" y="2227896"/>
            <a:ext cx="1585912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 Legal </a:t>
            </a:r>
            <a:r>
              <a:rPr lang="en-GB" dirty="0" err="1">
                <a:solidFill>
                  <a:srgbClr val="FF0000"/>
                </a:solidFill>
              </a:rPr>
              <a:t>wrt</a:t>
            </a:r>
            <a:r>
              <a:rPr lang="en-GB" dirty="0">
                <a:solidFill>
                  <a:srgbClr val="FF0000"/>
                </a:solidFill>
              </a:rPr>
              <a:t> the sequential specification of a FIFO queue</a:t>
            </a:r>
          </a:p>
        </p:txBody>
      </p:sp>
    </p:spTree>
    <p:extLst>
      <p:ext uri="{BB962C8B-B14F-4D97-AF65-F5344CB8AC3E}">
        <p14:creationId xmlns:p14="http://schemas.microsoft.com/office/powerpoint/2010/main" val="192994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Sufficient Condition for </a:t>
            </a:r>
            <a:r>
              <a:rPr lang="en-GB" dirty="0" err="1"/>
              <a:t>Linearizability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i="1" dirty="0"/>
              <a:t>Replicas must agree on the set of invocations they handle and on the order according to which they handle these invocations </a:t>
            </a:r>
          </a:p>
          <a:p>
            <a:pPr marL="0" indent="0" algn="ctr">
              <a:buNone/>
            </a:pPr>
            <a:endParaRPr lang="en-GB" dirty="0"/>
          </a:p>
          <a:p>
            <a:pPr algn="just"/>
            <a:r>
              <a:rPr lang="en-GB" b="1" dirty="0"/>
              <a:t>Atomicity:</a:t>
            </a:r>
            <a:r>
              <a:rPr lang="en-GB" dirty="0"/>
              <a:t> Given an invocation [</a:t>
            </a:r>
            <a:r>
              <a:rPr lang="en-GB" i="1" dirty="0"/>
              <a:t>x</a:t>
            </a:r>
            <a:r>
              <a:rPr lang="en-GB" dirty="0"/>
              <a:t> op(</a:t>
            </a:r>
            <a:r>
              <a:rPr lang="en-GB" dirty="0" err="1"/>
              <a:t>arg</a:t>
            </a:r>
            <a:r>
              <a:rPr lang="en-GB" dirty="0"/>
              <a:t>) p</a:t>
            </a:r>
            <a:r>
              <a:rPr lang="en-GB" baseline="-25000" dirty="0"/>
              <a:t>i</a:t>
            </a:r>
            <a:r>
              <a:rPr lang="en-GB" dirty="0"/>
              <a:t>], if one replica of the object x handles this invocation, then every correct replica of x also handles the invocation [</a:t>
            </a:r>
            <a:r>
              <a:rPr lang="en-GB" i="1" dirty="0"/>
              <a:t>x</a:t>
            </a:r>
            <a:r>
              <a:rPr lang="en-GB" dirty="0"/>
              <a:t> op(</a:t>
            </a:r>
            <a:r>
              <a:rPr lang="en-GB" dirty="0" err="1"/>
              <a:t>arg</a:t>
            </a:r>
            <a:r>
              <a:rPr lang="en-GB" dirty="0"/>
              <a:t>) p</a:t>
            </a:r>
            <a:r>
              <a:rPr lang="en-GB" baseline="-25000" dirty="0"/>
              <a:t>i</a:t>
            </a:r>
            <a:r>
              <a:rPr lang="en-GB" dirty="0"/>
              <a:t>].</a:t>
            </a:r>
          </a:p>
          <a:p>
            <a:pPr algn="just"/>
            <a:endParaRPr lang="en-GB" dirty="0"/>
          </a:p>
          <a:p>
            <a:pPr algn="just"/>
            <a:r>
              <a:rPr lang="en-GB" b="1" dirty="0"/>
              <a:t>Ordering:</a:t>
            </a:r>
            <a:r>
              <a:rPr lang="en-GB" dirty="0"/>
              <a:t> Given two invocations [</a:t>
            </a:r>
            <a:r>
              <a:rPr lang="en-GB" i="1" dirty="0"/>
              <a:t>x</a:t>
            </a:r>
            <a:r>
              <a:rPr lang="en-GB" dirty="0"/>
              <a:t> op(</a:t>
            </a:r>
            <a:r>
              <a:rPr lang="en-GB" dirty="0" err="1"/>
              <a:t>arg</a:t>
            </a:r>
            <a:r>
              <a:rPr lang="en-GB" dirty="0"/>
              <a:t>) p</a:t>
            </a:r>
            <a:r>
              <a:rPr lang="en-GB" baseline="-25000" dirty="0"/>
              <a:t>i</a:t>
            </a:r>
            <a:r>
              <a:rPr lang="en-GB" dirty="0"/>
              <a:t>] and [</a:t>
            </a:r>
            <a:r>
              <a:rPr lang="en-GB" i="1" dirty="0"/>
              <a:t>x</a:t>
            </a:r>
            <a:r>
              <a:rPr lang="en-GB" dirty="0"/>
              <a:t> op(</a:t>
            </a:r>
            <a:r>
              <a:rPr lang="en-GB" dirty="0" err="1"/>
              <a:t>arg</a:t>
            </a:r>
            <a:r>
              <a:rPr lang="en-GB" dirty="0"/>
              <a:t>) </a:t>
            </a:r>
            <a:r>
              <a:rPr lang="en-GB" dirty="0" err="1"/>
              <a:t>p</a:t>
            </a:r>
            <a:r>
              <a:rPr lang="en-GB" baseline="-25000" dirty="0" err="1"/>
              <a:t>j</a:t>
            </a:r>
            <a:r>
              <a:rPr lang="en-GB" dirty="0"/>
              <a:t>] if two replicas handle both the invocations, they handle them in the same order</a:t>
            </a:r>
          </a:p>
          <a:p>
            <a:pPr algn="just"/>
            <a:endParaRPr lang="en-GB" dirty="0"/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56166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Replication</a:t>
            </a:r>
            <a:r>
              <a:rPr lang="en-GB" sz="3200" dirty="0"/>
              <a:t> </a:t>
            </a:r>
            <a:r>
              <a:rPr lang="en-GB" dirty="0"/>
              <a:t>Techniques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0" tIns="45720" rIns="0" bIns="45720" rtlCol="0">
            <a:normAutofit/>
          </a:bodyPr>
          <a:lstStyle/>
          <a:p>
            <a:r>
              <a:rPr lang="en-GB" sz="2400" dirty="0"/>
              <a:t>Two main techniques implementing </a:t>
            </a:r>
            <a:r>
              <a:rPr lang="en-GB" sz="2400" dirty="0" err="1"/>
              <a:t>linearizability</a:t>
            </a:r>
            <a:r>
              <a:rPr lang="en-GB" sz="2400" dirty="0"/>
              <a:t>:</a:t>
            </a:r>
          </a:p>
          <a:p>
            <a:endParaRPr lang="en-GB" sz="2400" i="1" dirty="0"/>
          </a:p>
          <a:p>
            <a:pPr lvl="1"/>
            <a:r>
              <a:rPr lang="en-GB" sz="2400" dirty="0">
                <a:solidFill>
                  <a:schemeClr val="accent2"/>
                </a:solidFill>
              </a:rPr>
              <a:t>Primary Backup</a:t>
            </a:r>
          </a:p>
          <a:p>
            <a:pPr lvl="1"/>
            <a:r>
              <a:rPr lang="en-GB" sz="2400" dirty="0">
                <a:solidFill>
                  <a:schemeClr val="accent2"/>
                </a:solidFill>
              </a:rPr>
              <a:t>Active Replication</a:t>
            </a:r>
          </a:p>
          <a:p>
            <a:pPr lvl="1"/>
            <a:endParaRPr lang="en-GB" dirty="0"/>
          </a:p>
        </p:txBody>
      </p:sp>
      <p:sp>
        <p:nvSpPr>
          <p:cNvPr id="5122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4140BC-AD13-4519-87C5-85B157C4659B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227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Passive Replication</a:t>
            </a:r>
          </a:p>
        </p:txBody>
      </p:sp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Primary-Backup</a:t>
            </a:r>
          </a:p>
        </p:txBody>
      </p:sp>
    </p:spTree>
    <p:extLst>
      <p:ext uri="{BB962C8B-B14F-4D97-AF65-F5344CB8AC3E}">
        <p14:creationId xmlns:p14="http://schemas.microsoft.com/office/powerpoint/2010/main" val="673071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/>
              <a:t>Primary Backup</a:t>
            </a: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defRPr/>
            </a:pPr>
            <a:r>
              <a:rPr lang="en-GB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</a:t>
            </a:r>
            <a:r>
              <a:rPr lang="en-GB" sz="2800" dirty="0"/>
              <a:t>: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GB" sz="2000" dirty="0"/>
              <a:t>Receives invocations from clients and sends back the answers.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GB" sz="2000" dirty="0"/>
              <a:t>Given an object </a:t>
            </a:r>
            <a:r>
              <a:rPr lang="en-GB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GB" sz="2000" dirty="0"/>
              <a:t>, </a:t>
            </a: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prim(</a:t>
            </a:r>
            <a:r>
              <a:rPr lang="en-GB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  <a:r>
              <a:rPr lang="en-GB" sz="2000" dirty="0"/>
              <a:t>returns the primary of </a:t>
            </a:r>
            <a:r>
              <a:rPr lang="en-GB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x.</a:t>
            </a:r>
          </a:p>
          <a:p>
            <a:pPr lvl="2" eaLnBrk="1" hangingPunct="1">
              <a:lnSpc>
                <a:spcPct val="90000"/>
              </a:lnSpc>
              <a:buNone/>
              <a:defRPr/>
            </a:pPr>
            <a:endParaRPr lang="en-GB" sz="20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Backup: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GB" sz="2000" dirty="0"/>
              <a:t>Interacts with </a:t>
            </a: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prim(</a:t>
            </a:r>
            <a:r>
              <a:rPr lang="en-GB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GB" sz="2000" dirty="0"/>
              <a:t>is used to guarantee fault tolerance by replacing a primary when crashes</a:t>
            </a:r>
          </a:p>
        </p:txBody>
      </p:sp>
      <p:sp>
        <p:nvSpPr>
          <p:cNvPr id="8194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E1FA88-A943-49A5-94F7-825A3D849E1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72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Primary Backup Scenario</a:t>
            </a:r>
          </a:p>
        </p:txBody>
      </p:sp>
      <p:sp>
        <p:nvSpPr>
          <p:cNvPr id="9218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BF1951-2754-4DEB-AF92-99AD7B3B952A}" type="slidenum">
              <a:rPr lang="fr-FR" smtClean="0"/>
              <a:pPr/>
              <a:t>14</a:t>
            </a:fld>
            <a:endParaRPr lang="fr-FR"/>
          </a:p>
        </p:txBody>
      </p:sp>
      <p:grpSp>
        <p:nvGrpSpPr>
          <p:cNvPr id="9220" name="Group 8"/>
          <p:cNvGrpSpPr>
            <a:grpSpLocks/>
          </p:cNvGrpSpPr>
          <p:nvPr/>
        </p:nvGrpSpPr>
        <p:grpSpPr bwMode="auto">
          <a:xfrm>
            <a:off x="925830" y="1992314"/>
            <a:ext cx="8142287" cy="3851275"/>
            <a:chOff x="336" y="1174"/>
            <a:chExt cx="5247" cy="2426"/>
          </a:xfrm>
        </p:grpSpPr>
        <p:pic>
          <p:nvPicPr>
            <p:cNvPr id="9221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36" y="1174"/>
              <a:ext cx="5247" cy="2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22" name="Rectangle 6"/>
            <p:cNvSpPr>
              <a:spLocks noChangeArrowheads="1"/>
            </p:cNvSpPr>
            <p:nvPr/>
          </p:nvSpPr>
          <p:spPr bwMode="auto">
            <a:xfrm>
              <a:off x="2653" y="2205"/>
              <a:ext cx="771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223" name="Rectangle 7"/>
            <p:cNvSpPr>
              <a:spLocks noChangeArrowheads="1"/>
            </p:cNvSpPr>
            <p:nvPr/>
          </p:nvSpPr>
          <p:spPr bwMode="auto">
            <a:xfrm>
              <a:off x="4059" y="2251"/>
              <a:ext cx="499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585528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Primary Backup: </a:t>
            </a:r>
            <a:br>
              <a:rPr lang="en-GB" dirty="0"/>
            </a:br>
            <a:r>
              <a:rPr lang="en-GB" dirty="0"/>
              <a:t>the case of no crash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GB" sz="2500" dirty="0"/>
              <a:t>When update messages are received by backups, they update their state and send back the </a:t>
            </a:r>
            <a:r>
              <a:rPr lang="en-GB" sz="2500" dirty="0" err="1"/>
              <a:t>ack</a:t>
            </a:r>
            <a:r>
              <a:rPr lang="en-GB" sz="2500" dirty="0"/>
              <a:t> to prim(x).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GB" sz="2500" dirty="0"/>
              <a:t>prim(x) waits for an </a:t>
            </a:r>
            <a:r>
              <a:rPr lang="en-GB" sz="2500" dirty="0" err="1"/>
              <a:t>ack</a:t>
            </a:r>
            <a:r>
              <a:rPr lang="en-GB" sz="2500" dirty="0"/>
              <a:t> message from each correct backup and then sends back the answer, res, to the client.</a:t>
            </a:r>
          </a:p>
          <a:p>
            <a:pPr marL="0" indent="0" eaLnBrk="1" hangingPunct="1">
              <a:buNone/>
              <a:defRPr/>
            </a:pPr>
            <a:endParaRPr lang="en-GB" sz="2500" dirty="0"/>
          </a:p>
          <a:p>
            <a:pPr marL="0" indent="0" eaLnBrk="1" hangingPunct="1">
              <a:buNone/>
              <a:defRPr/>
            </a:pPr>
            <a:r>
              <a:rPr lang="en-GB" sz="2500" dirty="0"/>
              <a:t>How to guarantee </a:t>
            </a:r>
            <a:r>
              <a:rPr lang="en-GB" sz="2500" dirty="0" err="1"/>
              <a:t>Linearizability</a:t>
            </a:r>
            <a:r>
              <a:rPr lang="en-GB" sz="2500" dirty="0"/>
              <a:t>: the order in which prim(x) receive clients’ invocations define the order of the operation on the object.</a:t>
            </a:r>
          </a:p>
        </p:txBody>
      </p:sp>
      <p:sp>
        <p:nvSpPr>
          <p:cNvPr id="11266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2C4F18-8D93-4B5B-B959-2778E9820CB3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794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 Primary Backup: </a:t>
            </a:r>
            <a:br>
              <a:rPr lang="en-GB" dirty="0"/>
            </a:br>
            <a:r>
              <a:rPr lang="en-GB" dirty="0"/>
              <a:t>Presence of Crash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en-GB" sz="2500" dirty="0"/>
              <a:t>Three scenarios </a:t>
            </a:r>
            <a:r>
              <a:rPr lang="en-GB" sz="25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 eaLnBrk="1" hangingPunct="1">
              <a:lnSpc>
                <a:spcPct val="85000"/>
              </a:lnSpc>
              <a:buFont typeface="Courier New" charset="0"/>
              <a:buChar char="o"/>
              <a:defRPr/>
            </a:pPr>
            <a:r>
              <a:rPr lang="en-GB" sz="2500" b="1" dirty="0">
                <a:solidFill>
                  <a:schemeClr val="tx2"/>
                </a:solidFill>
              </a:rPr>
              <a:t> </a:t>
            </a:r>
            <a:r>
              <a:rPr lang="en-GB" sz="2500" b="1" dirty="0">
                <a:solidFill>
                  <a:schemeClr val="accent2"/>
                </a:solidFill>
              </a:rPr>
              <a:t>Scenario 1</a:t>
            </a:r>
            <a:r>
              <a:rPr lang="en-GB" sz="2500" dirty="0">
                <a:solidFill>
                  <a:schemeClr val="accent2"/>
                </a:solidFill>
              </a:rPr>
              <a:t>: </a:t>
            </a:r>
            <a:r>
              <a:rPr lang="en-GB" sz="2500" dirty="0"/>
              <a:t>Primary fails after the client receives the answer. </a:t>
            </a:r>
          </a:p>
          <a:p>
            <a:pPr eaLnBrk="1" hangingPunct="1">
              <a:lnSpc>
                <a:spcPct val="15000"/>
              </a:lnSpc>
              <a:buFont typeface="Courier New" charset="0"/>
              <a:buChar char="o"/>
              <a:defRPr/>
            </a:pPr>
            <a:endParaRPr lang="en-GB" sz="2500" dirty="0"/>
          </a:p>
          <a:p>
            <a:pPr eaLnBrk="1" hangingPunct="1">
              <a:lnSpc>
                <a:spcPct val="85000"/>
              </a:lnSpc>
              <a:buFont typeface="Courier New" charset="0"/>
              <a:buChar char="o"/>
              <a:defRPr/>
            </a:pPr>
            <a:r>
              <a:rPr lang="en-GB" sz="2500" b="1" dirty="0">
                <a:solidFill>
                  <a:srgbClr val="D5EAAA"/>
                </a:solidFill>
              </a:rPr>
              <a:t> </a:t>
            </a:r>
            <a:r>
              <a:rPr lang="en-GB" sz="2500" b="1" dirty="0">
                <a:solidFill>
                  <a:schemeClr val="accent2"/>
                </a:solidFill>
              </a:rPr>
              <a:t>Scenario 2</a:t>
            </a:r>
            <a:r>
              <a:rPr lang="en-GB" sz="2500" dirty="0">
                <a:solidFill>
                  <a:schemeClr val="accent2"/>
                </a:solidFill>
              </a:rPr>
              <a:t>: </a:t>
            </a:r>
            <a:r>
              <a:rPr lang="en-GB" sz="2500" dirty="0"/>
              <a:t>Primary fails before sending update messages</a:t>
            </a:r>
          </a:p>
          <a:p>
            <a:pPr eaLnBrk="1" hangingPunct="1">
              <a:lnSpc>
                <a:spcPct val="25000"/>
              </a:lnSpc>
              <a:buFont typeface="Courier New" charset="0"/>
              <a:buChar char="o"/>
              <a:defRPr/>
            </a:pPr>
            <a:endParaRPr lang="en-GB" sz="2500" dirty="0"/>
          </a:p>
          <a:p>
            <a:pPr eaLnBrk="1" hangingPunct="1">
              <a:lnSpc>
                <a:spcPct val="85000"/>
              </a:lnSpc>
              <a:buFont typeface="Courier New" charset="0"/>
              <a:buChar char="o"/>
              <a:defRPr/>
            </a:pPr>
            <a:r>
              <a:rPr lang="en-GB" sz="2500" b="1" dirty="0">
                <a:solidFill>
                  <a:srgbClr val="FF3D0F"/>
                </a:solidFill>
              </a:rPr>
              <a:t> </a:t>
            </a:r>
            <a:r>
              <a:rPr lang="en-GB" sz="2500" b="1" dirty="0">
                <a:solidFill>
                  <a:schemeClr val="accent2"/>
                </a:solidFill>
              </a:rPr>
              <a:t>Scenario 3</a:t>
            </a:r>
            <a:r>
              <a:rPr lang="en-GB" sz="2500" dirty="0">
                <a:solidFill>
                  <a:schemeClr val="accent2"/>
                </a:solidFill>
              </a:rPr>
              <a:t>:</a:t>
            </a:r>
            <a:r>
              <a:rPr lang="en-GB" sz="2500" dirty="0"/>
              <a:t> Primary fails after sending update messages and before receiving all the </a:t>
            </a:r>
            <a:r>
              <a:rPr lang="en-GB" sz="2500" dirty="0" err="1"/>
              <a:t>ack</a:t>
            </a:r>
            <a:r>
              <a:rPr lang="en-GB" sz="2500" dirty="0"/>
              <a:t> messages.</a:t>
            </a:r>
          </a:p>
          <a:p>
            <a:pPr eaLnBrk="1" hangingPunct="1">
              <a:lnSpc>
                <a:spcPct val="60000"/>
              </a:lnSpc>
              <a:buFont typeface="Wingdings" pitchFamily="2" charset="2"/>
              <a:buNone/>
              <a:defRPr/>
            </a:pPr>
            <a:endParaRPr lang="en-GB" sz="25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GB" sz="2500" dirty="0"/>
              <a:t>In all cases there is the need of electing a new leader.</a:t>
            </a:r>
            <a:endParaRPr lang="en-GB" sz="2500" dirty="0">
              <a:solidFill>
                <a:schemeClr val="hlink"/>
              </a:solidFill>
            </a:endParaRPr>
          </a:p>
        </p:txBody>
      </p:sp>
      <p:sp>
        <p:nvSpPr>
          <p:cNvPr id="12290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1F2265-9C6B-4673-9A04-9A38BF3D856B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724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Scenario 1</a:t>
            </a:r>
            <a:br>
              <a:rPr lang="it-IT" dirty="0"/>
            </a:br>
            <a:r>
              <a:rPr lang="en-GB" dirty="0"/>
              <a:t>Primary fails after sending the answer</a:t>
            </a:r>
            <a:endParaRPr lang="fr-FR" b="1" dirty="0"/>
          </a:p>
        </p:txBody>
      </p:sp>
      <p:sp>
        <p:nvSpPr>
          <p:cNvPr id="13314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998D08-0D5F-4C97-BA3A-26C6AE581599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11467" y="4088749"/>
            <a:ext cx="9715500" cy="2126314"/>
          </a:xfrm>
        </p:spPr>
        <p:txBody>
          <a:bodyPr>
            <a:noAutofit/>
          </a:bodyPr>
          <a:lstStyle/>
          <a:p>
            <a:pPr eaLnBrk="1" hangingPunct="1"/>
            <a:r>
              <a:rPr lang="en-GB" dirty="0"/>
              <a:t>Two cases</a:t>
            </a:r>
          </a:p>
          <a:p>
            <a:pPr marL="544068" lvl="1" indent="-342900" eaLnBrk="1" hangingPunct="1">
              <a:buFont typeface="+mj-lt"/>
              <a:buAutoNum type="arabicPeriod"/>
            </a:pPr>
            <a:r>
              <a:rPr lang="en-GB" sz="1600" dirty="0"/>
              <a:t>Client does not receive the response due to perfect point-to-point link. If the response is lost, client retransmits the request after a timeout</a:t>
            </a:r>
          </a:p>
          <a:p>
            <a:pPr marL="544068" lvl="1" indent="-342900" eaLnBrk="1" hangingPunct="1">
              <a:buFont typeface="+mj-lt"/>
              <a:buAutoNum type="arabicPeriod"/>
            </a:pPr>
            <a:r>
              <a:rPr lang="en-GB" sz="1600" dirty="0"/>
              <a:t>Client receives the answer, everybody is happy (but the primary </a:t>
            </a:r>
            <a:r>
              <a:rPr lang="en-GB" sz="1600" dirty="0">
                <a:sym typeface="Wingdings" pitchFamily="2" charset="2"/>
              </a:rPr>
              <a:t>)</a:t>
            </a:r>
            <a:endParaRPr lang="en-GB" sz="1600" dirty="0"/>
          </a:p>
          <a:p>
            <a:pPr eaLnBrk="1" hangingPunct="1"/>
            <a:r>
              <a:rPr lang="en-GB" dirty="0"/>
              <a:t>The new primary will recognize the request re-issued by the client as already processed and sends back the result without updating the replicas</a:t>
            </a:r>
          </a:p>
        </p:txBody>
      </p:sp>
      <p:grpSp>
        <p:nvGrpSpPr>
          <p:cNvPr id="13317" name="Group 4"/>
          <p:cNvGrpSpPr>
            <a:grpSpLocks/>
          </p:cNvGrpSpPr>
          <p:nvPr/>
        </p:nvGrpSpPr>
        <p:grpSpPr bwMode="auto">
          <a:xfrm>
            <a:off x="1674813" y="1850703"/>
            <a:ext cx="6497637" cy="2124705"/>
            <a:chOff x="336" y="1174"/>
            <a:chExt cx="5247" cy="2426"/>
          </a:xfrm>
        </p:grpSpPr>
        <p:pic>
          <p:nvPicPr>
            <p:cNvPr id="1331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36" y="1174"/>
              <a:ext cx="5247" cy="2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20" name="Rectangle 6"/>
            <p:cNvSpPr>
              <a:spLocks noChangeArrowheads="1"/>
            </p:cNvSpPr>
            <p:nvPr/>
          </p:nvSpPr>
          <p:spPr bwMode="auto">
            <a:xfrm>
              <a:off x="2653" y="2205"/>
              <a:ext cx="771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3321" name="Rectangle 7"/>
            <p:cNvSpPr>
              <a:spLocks noChangeArrowheads="1"/>
            </p:cNvSpPr>
            <p:nvPr/>
          </p:nvSpPr>
          <p:spPr bwMode="auto">
            <a:xfrm>
              <a:off x="4059" y="2251"/>
              <a:ext cx="499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3318" name="AutoShape 8"/>
          <p:cNvSpPr>
            <a:spLocks noChangeArrowheads="1"/>
          </p:cNvSpPr>
          <p:nvPr/>
        </p:nvSpPr>
        <p:spPr bwMode="auto">
          <a:xfrm>
            <a:off x="5997863" y="2753659"/>
            <a:ext cx="287337" cy="484188"/>
          </a:xfrm>
          <a:prstGeom prst="irregularSeal1">
            <a:avLst/>
          </a:prstGeom>
          <a:solidFill>
            <a:srgbClr val="FF3D0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0424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it-IT" sz="3600" dirty="0"/>
              <a:t>Scenario 2</a:t>
            </a:r>
            <a:br>
              <a:rPr lang="it-IT" sz="3600" dirty="0"/>
            </a:br>
            <a:r>
              <a:rPr lang="en-GB" sz="3600" dirty="0"/>
              <a:t>Primary fails before sending update messages </a:t>
            </a:r>
            <a:endParaRPr lang="fr-FR" sz="3600" dirty="0"/>
          </a:p>
        </p:txBody>
      </p:sp>
      <p:sp>
        <p:nvSpPr>
          <p:cNvPr id="14338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B847DBF-2D36-4863-B928-5409D28163D6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32206" y="4755275"/>
            <a:ext cx="8255000" cy="1419612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Client does not get an answer and resends the requests after a timeout</a:t>
            </a:r>
          </a:p>
          <a:p>
            <a:pPr marL="0" indent="0">
              <a:buNone/>
            </a:pPr>
            <a:r>
              <a:rPr lang="en-GB" sz="2400" dirty="0"/>
              <a:t>The new primary will handle the request as new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1611314" y="1815308"/>
            <a:ext cx="7207250" cy="2646363"/>
            <a:chOff x="336" y="1174"/>
            <a:chExt cx="5247" cy="2426"/>
          </a:xfrm>
        </p:grpSpPr>
        <p:pic>
          <p:nvPicPr>
            <p:cNvPr id="14345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36" y="1174"/>
              <a:ext cx="5247" cy="2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46" name="Rectangle 6"/>
            <p:cNvSpPr>
              <a:spLocks noChangeArrowheads="1"/>
            </p:cNvSpPr>
            <p:nvPr/>
          </p:nvSpPr>
          <p:spPr bwMode="auto">
            <a:xfrm>
              <a:off x="2653" y="2205"/>
              <a:ext cx="771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4347" name="Rectangle 7"/>
            <p:cNvSpPr>
              <a:spLocks noChangeArrowheads="1"/>
            </p:cNvSpPr>
            <p:nvPr/>
          </p:nvSpPr>
          <p:spPr bwMode="auto">
            <a:xfrm>
              <a:off x="4059" y="2251"/>
              <a:ext cx="499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4344" name="AutoShape 15"/>
          <p:cNvSpPr>
            <a:spLocks noChangeArrowheads="1"/>
          </p:cNvSpPr>
          <p:nvPr/>
        </p:nvSpPr>
        <p:spPr bwMode="auto">
          <a:xfrm>
            <a:off x="5317272" y="2947906"/>
            <a:ext cx="287337" cy="484188"/>
          </a:xfrm>
          <a:prstGeom prst="irregularSeal1">
            <a:avLst/>
          </a:prstGeom>
          <a:solidFill>
            <a:srgbClr val="FF3D0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5857880" y="2214554"/>
            <a:ext cx="2143140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257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Scenario 3 </a:t>
            </a:r>
            <a:br>
              <a:rPr lang="en-GB" sz="3200" b="1" dirty="0">
                <a:solidFill>
                  <a:srgbClr val="FF3D0F"/>
                </a:solidFill>
              </a:rPr>
            </a:br>
            <a:r>
              <a:rPr lang="en-GB" sz="3200" dirty="0"/>
              <a:t>Primary fails after sending update messages and before receiving all the </a:t>
            </a:r>
            <a:r>
              <a:rPr lang="en-GB" sz="3200" dirty="0" err="1"/>
              <a:t>ack</a:t>
            </a:r>
            <a:r>
              <a:rPr lang="en-GB" sz="3200" dirty="0"/>
              <a:t> messages</a:t>
            </a:r>
            <a:endParaRPr lang="en-GB" sz="3200" b="1" dirty="0">
              <a:solidFill>
                <a:srgbClr val="FF3D0F"/>
              </a:solidFill>
            </a:endParaRPr>
          </a:p>
        </p:txBody>
      </p:sp>
      <p:sp>
        <p:nvSpPr>
          <p:cNvPr id="15362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5F79CB-1878-442D-BD94-56F4C20F9504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4473746"/>
            <a:ext cx="8486775" cy="1659663"/>
          </a:xfrm>
        </p:spPr>
        <p:txBody>
          <a:bodyPr/>
          <a:lstStyle/>
          <a:p>
            <a:pPr marL="0" indent="0">
              <a:buNone/>
            </a:pPr>
            <a:r>
              <a:rPr lang="en-GB" sz="2100" b="1" dirty="0">
                <a:solidFill>
                  <a:schemeClr val="accent1"/>
                </a:solidFill>
              </a:rPr>
              <a:t>How to Guarantee atomicity?</a:t>
            </a:r>
            <a:r>
              <a:rPr lang="en-GB" sz="2100" dirty="0"/>
              <a:t> update it is received either by all or by no one.</a:t>
            </a:r>
          </a:p>
          <a:p>
            <a:pPr marL="57150" indent="0">
              <a:buNone/>
            </a:pPr>
            <a:r>
              <a:rPr lang="en-GB" sz="2400" dirty="0"/>
              <a:t>When a primary fails there is the need to elect another primary among the correct replicas</a:t>
            </a:r>
            <a:endParaRPr lang="en-GB" sz="3200" dirty="0"/>
          </a:p>
          <a:p>
            <a:pPr marL="457200" indent="-400050"/>
            <a:endParaRPr lang="en-GB" dirty="0"/>
          </a:p>
          <a:p>
            <a:pPr marL="476250" indent="-476250">
              <a:buNone/>
            </a:pPr>
            <a:endParaRPr lang="en-GB" sz="2500" dirty="0"/>
          </a:p>
        </p:txBody>
      </p:sp>
      <p:grpSp>
        <p:nvGrpSpPr>
          <p:cNvPr id="15365" name="Group 4"/>
          <p:cNvGrpSpPr>
            <a:grpSpLocks/>
          </p:cNvGrpSpPr>
          <p:nvPr/>
        </p:nvGrpSpPr>
        <p:grpSpPr bwMode="auto">
          <a:xfrm>
            <a:off x="1903413" y="1782373"/>
            <a:ext cx="7207250" cy="2646363"/>
            <a:chOff x="336" y="1174"/>
            <a:chExt cx="5247" cy="2426"/>
          </a:xfrm>
        </p:grpSpPr>
        <p:pic>
          <p:nvPicPr>
            <p:cNvPr id="1536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36" y="1174"/>
              <a:ext cx="5247" cy="2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68" name="Rectangle 6"/>
            <p:cNvSpPr>
              <a:spLocks noChangeArrowheads="1"/>
            </p:cNvSpPr>
            <p:nvPr/>
          </p:nvSpPr>
          <p:spPr bwMode="auto">
            <a:xfrm>
              <a:off x="2653" y="2205"/>
              <a:ext cx="771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15369" name="Rectangle 7"/>
            <p:cNvSpPr>
              <a:spLocks noChangeArrowheads="1"/>
            </p:cNvSpPr>
            <p:nvPr/>
          </p:nvSpPr>
          <p:spPr bwMode="auto">
            <a:xfrm>
              <a:off x="4059" y="2251"/>
              <a:ext cx="499" cy="18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15366" name="AutoShape 8"/>
          <p:cNvSpPr>
            <a:spLocks noChangeArrowheads="1"/>
          </p:cNvSpPr>
          <p:nvPr/>
        </p:nvSpPr>
        <p:spPr bwMode="auto">
          <a:xfrm>
            <a:off x="6001403" y="2971327"/>
            <a:ext cx="287338" cy="484188"/>
          </a:xfrm>
          <a:prstGeom prst="irregularSeal1">
            <a:avLst/>
          </a:prstGeom>
          <a:solidFill>
            <a:srgbClr val="FF3D0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5781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sz="4000"/>
              <a:t>Active Replication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831887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 Active Replication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GB" sz="1800" dirty="0"/>
              <a:t>There is no coordinator all replicas have the same role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GB" sz="1800" dirty="0"/>
              <a:t>Each replica is deterministic. If any replica starts from the same state and receives the same input, they will produce the same output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GB" sz="1800" dirty="0"/>
              <a:t>As a matter of fact clients will receive the same response one from each replica</a:t>
            </a:r>
          </a:p>
          <a:p>
            <a:pPr eaLnBrk="1" hangingPunct="1">
              <a:lnSpc>
                <a:spcPct val="130000"/>
              </a:lnSpc>
              <a:defRPr/>
            </a:pPr>
            <a:endParaRPr lang="en-GB" sz="1800" dirty="0"/>
          </a:p>
          <a:p>
            <a:pPr eaLnBrk="1" hangingPunct="1">
              <a:lnSpc>
                <a:spcPct val="130000"/>
              </a:lnSpc>
              <a:defRPr/>
            </a:pPr>
            <a:endParaRPr lang="en-GB" sz="1800" dirty="0"/>
          </a:p>
          <a:p>
            <a:pPr eaLnBrk="1" hangingPunct="1">
              <a:lnSpc>
                <a:spcPct val="130000"/>
              </a:lnSpc>
              <a:buNone/>
              <a:defRPr/>
            </a:pPr>
            <a:endParaRPr lang="en-GB" sz="1800" dirty="0"/>
          </a:p>
        </p:txBody>
      </p:sp>
      <p:sp>
        <p:nvSpPr>
          <p:cNvPr id="28674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426984-45B7-4A50-86C3-7748655C8B29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400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 err="1"/>
              <a:t>Active</a:t>
            </a:r>
            <a:r>
              <a:rPr lang="it-IT" dirty="0"/>
              <a:t> </a:t>
            </a:r>
            <a:r>
              <a:rPr lang="it-IT" dirty="0" err="1"/>
              <a:t>Replication</a:t>
            </a:r>
            <a:endParaRPr lang="en-US" dirty="0"/>
          </a:p>
        </p:txBody>
      </p:sp>
      <p:sp>
        <p:nvSpPr>
          <p:cNvPr id="29698" name="Segnaposto numero diapositiva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823628-FE64-49CC-A512-AD30F36E3DCF}" type="slidenum">
              <a:rPr lang="fr-FR" smtClean="0"/>
              <a:pPr/>
              <a:t>22</a:t>
            </a:fld>
            <a:endParaRPr lang="fr-FR"/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2" cstate="print"/>
          <a:srcRect l="1797" r="3352"/>
          <a:stretch>
            <a:fillRect/>
          </a:stretch>
        </p:blipFill>
        <p:spPr bwMode="auto">
          <a:xfrm>
            <a:off x="1552575" y="2205039"/>
            <a:ext cx="8128000" cy="319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31342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Active Replication</a:t>
            </a:r>
            <a:br>
              <a:rPr lang="en-GB" dirty="0"/>
            </a:br>
            <a:r>
              <a:rPr lang="en-GB" dirty="0"/>
              <a:t>How to Guarantee </a:t>
            </a:r>
            <a:r>
              <a:rPr lang="en-GB" dirty="0" err="1"/>
              <a:t>Linearizability</a:t>
            </a:r>
            <a:endParaRPr lang="en-GB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en-GB" sz="2100" dirty="0"/>
              <a:t>To ensure </a:t>
            </a:r>
            <a:r>
              <a:rPr lang="en-GB" sz="2100" dirty="0" err="1"/>
              <a:t>linearlizability</a:t>
            </a:r>
            <a:r>
              <a:rPr lang="en-GB" sz="2100" dirty="0"/>
              <a:t> we need to preserve: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GB" sz="1900" dirty="0">
                <a:solidFill>
                  <a:srgbClr val="DA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Atomicity</a:t>
            </a:r>
            <a:r>
              <a:rPr lang="en-GB" sz="1900" dirty="0"/>
              <a:t>: if a replica executes an invocation, all correct replicas execute the same invocation.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GB" sz="1900" dirty="0">
                <a:solidFill>
                  <a:srgbClr val="DA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Ordering</a:t>
            </a:r>
            <a:r>
              <a:rPr lang="en-GB" sz="1900" dirty="0"/>
              <a:t>: (at least) no two correct replicas have to execute two invocations in different order.</a:t>
            </a:r>
          </a:p>
          <a:p>
            <a:pPr lvl="1" eaLnBrk="1" hangingPunct="1">
              <a:lnSpc>
                <a:spcPct val="140000"/>
              </a:lnSpc>
              <a:buNone/>
              <a:defRPr/>
            </a:pPr>
            <a:endParaRPr lang="en-GB" sz="1900" dirty="0"/>
          </a:p>
          <a:p>
            <a:pPr eaLnBrk="1" hangingPunct="1">
              <a:lnSpc>
                <a:spcPct val="140000"/>
              </a:lnSpc>
              <a:defRPr/>
            </a:pPr>
            <a:r>
              <a:rPr lang="en-GB" sz="2100" dirty="0">
                <a:sym typeface="Symbol" pitchFamily="18" charset="2"/>
              </a:rPr>
              <a:t> We need: </a:t>
            </a:r>
            <a:r>
              <a:rPr lang="en-GB" sz="2100" dirty="0">
                <a:solidFill>
                  <a:srgbClr val="DA0000"/>
                </a:solidFill>
                <a:sym typeface="Symbol" pitchFamily="18" charset="2"/>
              </a:rPr>
              <a:t>TOTAL ORDER Broadcast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GB" sz="1700" dirty="0">
                <a:solidFill>
                  <a:srgbClr val="DA0000"/>
                </a:solidFill>
                <a:sym typeface="Symbol" pitchFamily="18" charset="2"/>
              </a:rPr>
              <a:t>INCLUDING THE CLIENTS!</a:t>
            </a:r>
            <a:endParaRPr lang="en-GB" sz="1700" dirty="0">
              <a:sym typeface="Symbol" pitchFamily="18" charset="2"/>
            </a:endParaRPr>
          </a:p>
        </p:txBody>
      </p:sp>
      <p:sp>
        <p:nvSpPr>
          <p:cNvPr id="30722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BFB5E8-1843-4F56-ABEB-FC80AF4547F7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2113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Active Replication</a:t>
            </a:r>
            <a:br>
              <a:rPr lang="en-GB" dirty="0"/>
            </a:br>
            <a:r>
              <a:rPr lang="en-GB" dirty="0"/>
              <a:t>Crash 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2400" dirty="0"/>
              <a:t>Active Replication does not need recovery action upon the failure of a replica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GB" sz="2400" dirty="0"/>
          </a:p>
        </p:txBody>
      </p:sp>
      <p:sp>
        <p:nvSpPr>
          <p:cNvPr id="31746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318A534-6CF7-4CD5-8794-164EE7C3FCBA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7312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Rachid</a:t>
            </a:r>
            <a:r>
              <a:rPr lang="it-IT" dirty="0"/>
              <a:t> </a:t>
            </a:r>
            <a:r>
              <a:rPr lang="it-IT" dirty="0" err="1"/>
              <a:t>Guerraoui</a:t>
            </a:r>
            <a:r>
              <a:rPr lang="it-IT" dirty="0"/>
              <a:t> and André </a:t>
            </a:r>
            <a:r>
              <a:rPr lang="it-IT" dirty="0" err="1"/>
              <a:t>Schiper</a:t>
            </a:r>
            <a:r>
              <a:rPr lang="it-IT" dirty="0"/>
              <a:t>: “</a:t>
            </a:r>
            <a:r>
              <a:rPr lang="it-IT" i="1" dirty="0"/>
              <a:t>Fault-</a:t>
            </a:r>
            <a:r>
              <a:rPr lang="it-IT" i="1" dirty="0" err="1"/>
              <a:t>Tolerance</a:t>
            </a:r>
            <a:r>
              <a:rPr lang="it-IT" i="1" dirty="0"/>
              <a:t> by Replication in Distributed Systems</a:t>
            </a:r>
            <a:r>
              <a:rPr lang="it-IT" dirty="0"/>
              <a:t>”. In </a:t>
            </a:r>
            <a:r>
              <a:rPr lang="it-IT" i="1" dirty="0" err="1"/>
              <a:t>Proceedings</a:t>
            </a:r>
            <a:r>
              <a:rPr lang="it-IT" i="1" dirty="0"/>
              <a:t> of the 1996 Ada-Europe International Conference on </a:t>
            </a:r>
            <a:r>
              <a:rPr lang="it-IT" i="1" dirty="0" err="1"/>
              <a:t>Reliable</a:t>
            </a:r>
            <a:r>
              <a:rPr lang="it-IT" i="1" dirty="0"/>
              <a:t> Software Technologies</a:t>
            </a:r>
            <a:r>
              <a:rPr lang="it-IT" dirty="0"/>
              <a:t> (Ada-Europe '96).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7672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13908</TotalTime>
  <Words>1291</Words>
  <Application>Microsoft Macintosh PowerPoint</Application>
  <PresentationFormat>Diapositive 35 mm</PresentationFormat>
  <Paragraphs>171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Symbol</vt:lpstr>
      <vt:lpstr>Wingdings</vt:lpstr>
      <vt:lpstr>Retrospettivo</vt:lpstr>
      <vt:lpstr>Dependable Distributed Systems Master of Science in Engineering in Computer Science    AA 2026/2027</vt:lpstr>
      <vt:lpstr>Motivation</vt:lpstr>
      <vt:lpstr>System Model</vt:lpstr>
      <vt:lpstr>Replication: requirements</vt:lpstr>
      <vt:lpstr>Consistency criteria</vt:lpstr>
      <vt:lpstr>Linearizability</vt:lpstr>
      <vt:lpstr>Example: simple variable</vt:lpstr>
      <vt:lpstr>Example: FIFO Queue</vt:lpstr>
      <vt:lpstr>Example: FIFO Queue</vt:lpstr>
      <vt:lpstr>A Sufficient Condition for Linearizability</vt:lpstr>
      <vt:lpstr>Replication Techniques</vt:lpstr>
      <vt:lpstr>Passive Replication</vt:lpstr>
      <vt:lpstr>Primary Backup</vt:lpstr>
      <vt:lpstr>Primary Backup Scenario</vt:lpstr>
      <vt:lpstr>Primary Backup:  the case of no crash</vt:lpstr>
      <vt:lpstr> Primary Backup:  Presence of Crash</vt:lpstr>
      <vt:lpstr>Scenario 1 Primary fails after sending the answer</vt:lpstr>
      <vt:lpstr>Scenario 2 Primary fails before sending update messages </vt:lpstr>
      <vt:lpstr>Scenario 3  Primary fails after sending update messages and before receiving all the ack messages</vt:lpstr>
      <vt:lpstr>Active Replication</vt:lpstr>
      <vt:lpstr> Active Replication</vt:lpstr>
      <vt:lpstr>Active Replication</vt:lpstr>
      <vt:lpstr>Active Replication How to Guarantee Linearizability</vt:lpstr>
      <vt:lpstr>Active Replication Crash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Master of Science in Engineering in Computer Science    AA 2017/2018</dc:title>
  <dc:creator>Silvia Bonomi</dc:creator>
  <cp:lastModifiedBy>Silvia Bonomi</cp:lastModifiedBy>
  <cp:revision>365</cp:revision>
  <cp:lastPrinted>2017-11-13T20:00:36Z</cp:lastPrinted>
  <dcterms:created xsi:type="dcterms:W3CDTF">2017-09-15T08:51:14Z</dcterms:created>
  <dcterms:modified xsi:type="dcterms:W3CDTF">2026-10-27T07:48:08Z</dcterms:modified>
</cp:coreProperties>
</file>